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d8c56bee84ca9" /><Relationship Type="http://schemas.openxmlformats.org/officeDocument/2006/relationships/extended-properties" Target="/docProps/app.xml" Id="R8b16912ad8364f79" /><Relationship Type="http://schemas.openxmlformats.org/officeDocument/2006/relationships/officeDocument" Target="/ppt/presentation.xml" Id="Rcf1b0f25ccbf4e8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b4a5eabeffd4d70"/>
  </p:sldMasterIdLst>
  <p:notesMasterIdLst>
    <p:notesMasterId xmlns:r="http://schemas.openxmlformats.org/officeDocument/2006/relationships" r:id="R1dbe0822ceac409a"/>
  </p:notesMasterIdLst>
  <p:sldIdLst>
    <p:sldId xmlns:r="http://schemas.openxmlformats.org/officeDocument/2006/relationships" id="256" r:id="R18845b68e891488e"/>
    <p:sldId xmlns:r="http://schemas.openxmlformats.org/officeDocument/2006/relationships" id="257" r:id="R1d814dae95484a85"/>
    <p:sldId xmlns:r="http://schemas.openxmlformats.org/officeDocument/2006/relationships" id="258" r:id="R9e954aa1fa444c6e"/>
    <p:sldId xmlns:r="http://schemas.openxmlformats.org/officeDocument/2006/relationships" id="259" r:id="R9900fee32a754632"/>
    <p:sldId xmlns:r="http://schemas.openxmlformats.org/officeDocument/2006/relationships" id="260" r:id="R7b6ca4a1f38e4eee"/>
    <p:sldId xmlns:r="http://schemas.openxmlformats.org/officeDocument/2006/relationships" id="261" r:id="R09c977768b8443e0"/>
    <p:sldId xmlns:r="http://schemas.openxmlformats.org/officeDocument/2006/relationships" id="262" r:id="R83d64487def54d2a"/>
    <p:sldId xmlns:r="http://schemas.openxmlformats.org/officeDocument/2006/relationships" id="263" r:id="R91f867a6e8234062"/>
    <p:sldId xmlns:r="http://schemas.openxmlformats.org/officeDocument/2006/relationships" id="264" r:id="R3e770c2beac54977"/>
    <p:sldId xmlns:r="http://schemas.openxmlformats.org/officeDocument/2006/relationships" id="265" r:id="R4b35ca467173414e"/>
    <p:sldId xmlns:r="http://schemas.openxmlformats.org/officeDocument/2006/relationships" id="266" r:id="R181f3f1c25b0438b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be64e7c016a846da"/>
      <p:italic xmlns:r="http://schemas.openxmlformats.org/officeDocument/2006/relationships" r:id="R8dce2217526b40ca"/>
    </p:embeddedFont>
    <p:embeddedFont>
      <p:font typeface="Lora SemiBold"/>
      <p:regular xmlns:r="http://schemas.openxmlformats.org/officeDocument/2006/relationships" r:id="R6a82367d47fd4912"/>
      <p:bold xmlns:r="http://schemas.openxmlformats.org/officeDocument/2006/relationships" r:id="Rc6b198ee13ca43d6"/>
      <p:italic xmlns:r="http://schemas.openxmlformats.org/officeDocument/2006/relationships" r:id="R59b8fd432ca643ea"/>
      <p:boldItalic xmlns:r="http://schemas.openxmlformats.org/officeDocument/2006/relationships" r:id="R4eaec574b8454a48"/>
    </p:embeddedFont>
    <p:embeddedFont>
      <p:font typeface="OpenAI Sans"/>
      <p:regular xmlns:r="http://schemas.openxmlformats.org/officeDocument/2006/relationships" r:id="R73f91e77d7974967"/>
      <p:bold xmlns:r="http://schemas.openxmlformats.org/officeDocument/2006/relationships" r:id="R357a37a2bbd34afa"/>
      <p:italic xmlns:r="http://schemas.openxmlformats.org/officeDocument/2006/relationships" r:id="Reacd9a90f6574f32"/>
      <p:boldItalic xmlns:r="http://schemas.openxmlformats.org/officeDocument/2006/relationships" r:id="Rc9d526e0234541c1"/>
    </p:embeddedFont>
    <p:embeddedFont>
      <p:font typeface="Roboto"/>
      <p:regular xmlns:r="http://schemas.openxmlformats.org/officeDocument/2006/relationships" r:id="R5323328bb3c84c94"/>
      <p:bold xmlns:r="http://schemas.openxmlformats.org/officeDocument/2006/relationships" r:id="R7bcb305610b84204"/>
      <p:italic xmlns:r="http://schemas.openxmlformats.org/officeDocument/2006/relationships" r:id="Rc63fd459228b4496"/>
      <p:boldItalic xmlns:r="http://schemas.openxmlformats.org/officeDocument/2006/relationships" r:id="Redef245f82894076"/>
    </p:embeddedFont>
    <p:embeddedFont>
      <p:font typeface="Roboto Medium"/>
      <p:regular xmlns:r="http://schemas.openxmlformats.org/officeDocument/2006/relationships" r:id="Rf3fab9a3aff34c26"/>
      <p:italic xmlns:r="http://schemas.openxmlformats.org/officeDocument/2006/relationships" r:id="Rfe09786a85b34048"/>
    </p:embeddedFont>
    <p:embeddedFont>
      <p:font typeface="Roboto SemiBold"/>
      <p:regular xmlns:r="http://schemas.openxmlformats.org/officeDocument/2006/relationships" r:id="R6533aba99fba4271"/>
      <p:bold xmlns:r="http://schemas.openxmlformats.org/officeDocument/2006/relationships" r:id="Rd01e9dea156a47e1"/>
      <p:italic xmlns:r="http://schemas.openxmlformats.org/officeDocument/2006/relationships" r:id="R7b2c43a3e2ce4f02"/>
      <p:boldItalic xmlns:r="http://schemas.openxmlformats.org/officeDocument/2006/relationships" r:id="R9156cff0e70149ec"/>
    </p:embeddedFont>
    <p:embeddedFont>
      <p:font typeface="Roboto Serif 14pt"/>
      <p:regular xmlns:r="http://schemas.openxmlformats.org/officeDocument/2006/relationships" r:id="R725cc40d967c447f"/>
      <p:bold xmlns:r="http://schemas.openxmlformats.org/officeDocument/2006/relationships" r:id="R758f322c27f64eae"/>
      <p:italic xmlns:r="http://schemas.openxmlformats.org/officeDocument/2006/relationships" r:id="Rc68c8730f7a7474d"/>
      <p:boldItalic xmlns:r="http://schemas.openxmlformats.org/officeDocument/2006/relationships" r:id="R761211209d4242bd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68cfc8719c4b7f" /><Relationship Type="http://schemas.openxmlformats.org/officeDocument/2006/relationships/slideMaster" Target="/ppt/slideMasters/slideMaster1.xml" Id="Rdb4a5eabeffd4d70" /><Relationship Type="http://schemas.openxmlformats.org/officeDocument/2006/relationships/notesMaster" Target="/ppt/notesMasters/notesMaster1.xml" Id="R1dbe0822ceac409a" /><Relationship Type="http://schemas.openxmlformats.org/officeDocument/2006/relationships/presProps" Target="/ppt/presProps.xml" Id="Rf95e46d6ea544491" /><Relationship Type="http://schemas.openxmlformats.org/officeDocument/2006/relationships/viewProps" Target="/ppt/viewProps.xml" Id="R0ba040dea45943a9" /><Relationship Type="http://schemas.openxmlformats.org/officeDocument/2006/relationships/tableStyles" Target="/ppt/tableStyles.xml" Id="R9a12c4a85a7c48ee" /><Relationship Type="http://schemas.openxmlformats.org/officeDocument/2006/relationships/font" Target="/ppt/fonts/font.dat" Id="Rbe64e7c016a846da" /><Relationship Type="http://schemas.openxmlformats.org/officeDocument/2006/relationships/font" Target="/ppt/fonts/font2.dat" Id="R8dce2217526b40ca" /><Relationship Type="http://schemas.openxmlformats.org/officeDocument/2006/relationships/font" Target="/ppt/fonts/font3.dat" Id="R6a82367d47fd4912" /><Relationship Type="http://schemas.openxmlformats.org/officeDocument/2006/relationships/font" Target="/ppt/fonts/font4.dat" Id="Rc6b198ee13ca43d6" /><Relationship Type="http://schemas.openxmlformats.org/officeDocument/2006/relationships/font" Target="/ppt/fonts/font5.dat" Id="R59b8fd432ca643ea" /><Relationship Type="http://schemas.openxmlformats.org/officeDocument/2006/relationships/font" Target="/ppt/fonts/font6.dat" Id="R4eaec574b8454a48" /><Relationship Type="http://schemas.openxmlformats.org/officeDocument/2006/relationships/font" Target="/ppt/fonts/font7.dat" Id="R73f91e77d7974967" /><Relationship Type="http://schemas.openxmlformats.org/officeDocument/2006/relationships/font" Target="/ppt/fonts/font8.dat" Id="R357a37a2bbd34afa" /><Relationship Type="http://schemas.openxmlformats.org/officeDocument/2006/relationships/font" Target="/ppt/fonts/font9.dat" Id="Reacd9a90f6574f32" /><Relationship Type="http://schemas.openxmlformats.org/officeDocument/2006/relationships/font" Target="/ppt/fonts/font10.dat" Id="Rc9d526e0234541c1" /><Relationship Type="http://schemas.openxmlformats.org/officeDocument/2006/relationships/font" Target="/ppt/fonts/font11.dat" Id="R5323328bb3c84c94" /><Relationship Type="http://schemas.openxmlformats.org/officeDocument/2006/relationships/font" Target="/ppt/fonts/font12.dat" Id="R7bcb305610b84204" /><Relationship Type="http://schemas.openxmlformats.org/officeDocument/2006/relationships/font" Target="/ppt/fonts/font13.dat" Id="Rc63fd459228b4496" /><Relationship Type="http://schemas.openxmlformats.org/officeDocument/2006/relationships/font" Target="/ppt/fonts/font14.dat" Id="Redef245f82894076" /><Relationship Type="http://schemas.openxmlformats.org/officeDocument/2006/relationships/font" Target="/ppt/fonts/font15.dat" Id="Rf3fab9a3aff34c26" /><Relationship Type="http://schemas.openxmlformats.org/officeDocument/2006/relationships/font" Target="/ppt/fonts/font16.dat" Id="Rfe09786a85b34048" /><Relationship Type="http://schemas.openxmlformats.org/officeDocument/2006/relationships/font" Target="/ppt/fonts/font17.dat" Id="R6533aba99fba4271" /><Relationship Type="http://schemas.openxmlformats.org/officeDocument/2006/relationships/font" Target="/ppt/fonts/font18.dat" Id="Rd01e9dea156a47e1" /><Relationship Type="http://schemas.openxmlformats.org/officeDocument/2006/relationships/font" Target="/ppt/fonts/font19.dat" Id="R7b2c43a3e2ce4f02" /><Relationship Type="http://schemas.openxmlformats.org/officeDocument/2006/relationships/font" Target="/ppt/fonts/font20.dat" Id="R9156cff0e70149ec" /><Relationship Type="http://schemas.openxmlformats.org/officeDocument/2006/relationships/font" Target="/ppt/fonts/font21.dat" Id="R725cc40d967c447f" /><Relationship Type="http://schemas.openxmlformats.org/officeDocument/2006/relationships/font" Target="/ppt/fonts/font22.dat" Id="R758f322c27f64eae" /><Relationship Type="http://schemas.openxmlformats.org/officeDocument/2006/relationships/font" Target="/ppt/fonts/font23.dat" Id="Rc68c8730f7a7474d" /><Relationship Type="http://schemas.openxmlformats.org/officeDocument/2006/relationships/font" Target="/ppt/fonts/font24.dat" Id="R761211209d4242bd" /><Relationship Type="http://schemas.openxmlformats.org/officeDocument/2006/relationships/slide" Target="/ppt/slides/slide1.xml" Id="R18845b68e891488e" /><Relationship Type="http://schemas.openxmlformats.org/officeDocument/2006/relationships/slide" Target="/ppt/slides/slide2.xml" Id="R1d814dae95484a85" /><Relationship Type="http://schemas.openxmlformats.org/officeDocument/2006/relationships/slide" Target="/ppt/slides/slide3.xml" Id="R9e954aa1fa444c6e" /><Relationship Type="http://schemas.openxmlformats.org/officeDocument/2006/relationships/slide" Target="/ppt/slides/slide4.xml" Id="R9900fee32a754632" /><Relationship Type="http://schemas.openxmlformats.org/officeDocument/2006/relationships/slide" Target="/ppt/slides/slide5.xml" Id="R7b6ca4a1f38e4eee" /><Relationship Type="http://schemas.openxmlformats.org/officeDocument/2006/relationships/slide" Target="/ppt/slides/slide6.xml" Id="R09c977768b8443e0" /><Relationship Type="http://schemas.openxmlformats.org/officeDocument/2006/relationships/slide" Target="/ppt/slides/slide7.xml" Id="R83d64487def54d2a" /><Relationship Type="http://schemas.openxmlformats.org/officeDocument/2006/relationships/slide" Target="/ppt/slides/slide8.xml" Id="R91f867a6e8234062" /><Relationship Type="http://schemas.openxmlformats.org/officeDocument/2006/relationships/slide" Target="/ppt/slides/slide9.xml" Id="R3e770c2beac54977" /><Relationship Type="http://schemas.openxmlformats.org/officeDocument/2006/relationships/slide" Target="/ppt/slides/slide10.xml" Id="R4b35ca467173414e" /><Relationship Type="http://schemas.openxmlformats.org/officeDocument/2006/relationships/slide" Target="/ppt/slides/slide11.xml" Id="R181f3f1c25b0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7e17a2ee82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dad545b324675" /><Relationship Type="http://schemas.openxmlformats.org/officeDocument/2006/relationships/notesMaster" Target="/ppt/notesMasters/notesMaster1.xml" Id="Re2f3ab6faee3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718b3bb5a24053" /><Relationship Type="http://schemas.openxmlformats.org/officeDocument/2006/relationships/notesMaster" Target="/ppt/notesMasters/notesMaster1.xml" Id="R074874419ae94f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495e6cc29e4d9a" /><Relationship Type="http://schemas.openxmlformats.org/officeDocument/2006/relationships/notesMaster" Target="/ppt/notesMasters/notesMaster1.xml" Id="Rbd4899016f4f40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401509ceb84e2c" /><Relationship Type="http://schemas.openxmlformats.org/officeDocument/2006/relationships/notesMaster" Target="/ppt/notesMasters/notesMaster1.xml" Id="R77db6e08ffee45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c5cd5faacb4245" /><Relationship Type="http://schemas.openxmlformats.org/officeDocument/2006/relationships/notesMaster" Target="/ppt/notesMasters/notesMaster1.xml" Id="R59e25659a70e49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407964dccf43cf" /><Relationship Type="http://schemas.openxmlformats.org/officeDocument/2006/relationships/notesMaster" Target="/ppt/notesMasters/notesMaster1.xml" Id="R6fea8d9d055340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1bf3b80e91497b" /><Relationship Type="http://schemas.openxmlformats.org/officeDocument/2006/relationships/notesMaster" Target="/ppt/notesMasters/notesMaster1.xml" Id="R6893f3e890e443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5db4f12bcd4bbb" /><Relationship Type="http://schemas.openxmlformats.org/officeDocument/2006/relationships/notesMaster" Target="/ppt/notesMasters/notesMaster1.xml" Id="R00190d7c2b2c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b5b2ce257a40f4" /><Relationship Type="http://schemas.openxmlformats.org/officeDocument/2006/relationships/notesMaster" Target="/ppt/notesMasters/notesMaster1.xml" Id="R8da2079c91a145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8d4aff89444bcd" /><Relationship Type="http://schemas.openxmlformats.org/officeDocument/2006/relationships/notesMaster" Target="/ppt/notesMasters/notesMaster1.xml" Id="R65276f64fc4d47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aa9084392a4c20" /><Relationship Type="http://schemas.openxmlformats.org/officeDocument/2006/relationships/notesMaster" Target="/ppt/notesMasters/notesMaster1.xml" Id="R7a8c08cdfcee42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group and project. Fill in the blank group and member fields before presenting. Polyglot is planned as an educational compiler for selected mixed syntax forms.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motivation as a familiar programming situation, rather than a measured claim. The planned project reduces syntax friction within a deliberately limited language. It does not promise to compile an arbitrary existing C++ codebase.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language tags or manually labelled regions are required. Syntax can change between statements and inside supported blocks. All code will share the same type system and execution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a proposed acceptance example, not output from an implemented compiler. The untyped assignment introduces total. The typed declaration introduces extra. Java-style and C++-style output read the same total. The final Python-style print finishes the example.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scope honestly. These are Python/C++/Java-inspired subsets with shared semantics. We will not support arbitrary programs from the original languages. Nested transitions between indentation and braces are a core requirement. Syntax families vary at construct boundaries.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down the architecture table. AST means abstract syntax tree, the common representation of the program. The typed IR makes operations and branches explicit. Bytecode is a real compiled artifact. The virtual machine will run it independently of the original source.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that exact attribution is sometimes impossible. Shared attribution is valid when parsing has one meaning. We will use grammar-driven dispatch and bounded lookahead, rather than keyword counting, an LLM or line-by-line language guessing. A layout/context stack will distinguish indentation suites from cosmetic indentation in braces.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Semantics depend on normalized operations, not source-language attribution. Variables cannot silently change from an integer to a string. Lexical block scopes are shared even when they differ from Python. Unresolved function inference will recommend annotations. Runtime checks remain necessary for global initialization cases static analysis cannot establish safely.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Python is the compiler implementation language, not an external interpreter for user code. argparse and JSON come from the standard library. pytest is a development dependency. The VM will include execution-step and recursion limits, source mappings and useful runtime call stacks.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dependency-ordered implementation stages, not calendar commitments. Start with the two required mixed examples. Extend coverage for forward calls, recursion, short-circuiting, continue updates, negative ranges, invalid artifacts and error recovery. No implementation has been completed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intended deliverables. The academic contribution is automatic construct recognition, normalization into a shared representation, and consistent semantics across mixed syntax. Success means actual compiler artifacts and tested execution, not separate programs passed to Python, Java and C++ runtimes.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8013c72ae4d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dccd6a6ec40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75635ec4e4c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91cd3864642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1fcb1bfa84e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167be25c947e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49f804ba54d2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0f3eee7884dc0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8354547dd4ab5" /><Relationship Type="http://schemas.openxmlformats.org/officeDocument/2006/relationships/slideLayout" Target="/ppt/slideLayouts/slideLayout1.xml" Id="Ra3b6dfa0586941b3" /><Relationship Type="http://schemas.openxmlformats.org/officeDocument/2006/relationships/slideLayout" Target="/ppt/slideLayouts/slideLayout2.xml" Id="Rdfc2f23574264a7b" /><Relationship Type="http://schemas.openxmlformats.org/officeDocument/2006/relationships/slideLayout" Target="/ppt/slideLayouts/slideLayout3.xml" Id="Rcb121ad05cbf4b86" /><Relationship Type="http://schemas.openxmlformats.org/officeDocument/2006/relationships/slideLayout" Target="/ppt/slideLayouts/slideLayout4.xml" Id="Rc3f2b04745104eee" /><Relationship Type="http://schemas.openxmlformats.org/officeDocument/2006/relationships/slideLayout" Target="/ppt/slideLayouts/slideLayout5.xml" Id="Re7f02cb60d3d4be2" /><Relationship Type="http://schemas.openxmlformats.org/officeDocument/2006/relationships/slideLayout" Target="/ppt/slideLayouts/slideLayout6.xml" Id="Raf9c3b156f984135" /><Relationship Type="http://schemas.openxmlformats.org/officeDocument/2006/relationships/slideLayout" Target="/ppt/slideLayouts/slideLayout7.xml" Id="R49c9d417c14c4daa" /><Relationship Type="http://schemas.openxmlformats.org/officeDocument/2006/relationships/slideLayout" Target="/ppt/slideLayouts/slideLayout8.xml" Id="R5b377f9bcc024b9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b6dfa0586941b3"/>
    <p:sldLayoutId xmlns:r="http://schemas.openxmlformats.org/officeDocument/2006/relationships" id="2147483650" r:id="Rdfc2f23574264a7b"/>
    <p:sldLayoutId xmlns:r="http://schemas.openxmlformats.org/officeDocument/2006/relationships" id="2147483651" r:id="Rcb121ad05cbf4b86"/>
    <p:sldLayoutId xmlns:r="http://schemas.openxmlformats.org/officeDocument/2006/relationships" id="2147483652" r:id="Rc3f2b04745104eee"/>
    <p:sldLayoutId xmlns:r="http://schemas.openxmlformats.org/officeDocument/2006/relationships" id="2147483653" r:id="Re7f02cb60d3d4be2"/>
    <p:sldLayoutId xmlns:r="http://schemas.openxmlformats.org/officeDocument/2006/relationships" id="2147483654" r:id="Raf9c3b156f984135"/>
    <p:sldLayoutId xmlns:r="http://schemas.openxmlformats.org/officeDocument/2006/relationships" id="2147483655" r:id="R49c9d417c14c4daa"/>
    <p:sldLayoutId xmlns:r="http://schemas.openxmlformats.org/officeDocument/2006/relationships" id="2147483656" r:id="R5b377f9bcc024b9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a21d53c44368" /><Relationship Type="http://schemas.openxmlformats.org/officeDocument/2006/relationships/notesSlide" Target="/ppt/notesSlides/notesSlide1.xml" Id="R36e7ae29ed9e4e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d6b53b17b4a1a" /><Relationship Type="http://schemas.openxmlformats.org/officeDocument/2006/relationships/notesSlide" Target="/ppt/notesSlides/notesSlide2.xml" Id="Rb0bc46df1d894f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7566310db4e90" /><Relationship Type="http://schemas.openxmlformats.org/officeDocument/2006/relationships/notesSlide" Target="/ppt/notesSlides/notesSlide3.xml" Id="Rd9da529b6400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21dbd77efa4058" /><Relationship Type="http://schemas.openxmlformats.org/officeDocument/2006/relationships/notesSlide" Target="/ppt/notesSlides/notesSlide4.xml" Id="Ra1902f656efe4b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3a3d898004dda" /><Relationship Type="http://schemas.openxmlformats.org/officeDocument/2006/relationships/notesSlide" Target="/ppt/notesSlides/notesSlide5.xml" Id="Rbf450b9f97eb47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9724ba06c4de5" /><Relationship Type="http://schemas.openxmlformats.org/officeDocument/2006/relationships/notesSlide" Target="/ppt/notesSlides/notesSlide6.xml" Id="R2ce586cbc5944b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6b55c6ecc4869" /><Relationship Type="http://schemas.openxmlformats.org/officeDocument/2006/relationships/notesSlide" Target="/ppt/notesSlides/notesSlide7.xml" Id="Re5f90338535d4a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f418939324346" /><Relationship Type="http://schemas.openxmlformats.org/officeDocument/2006/relationships/notesSlide" Target="/ppt/notesSlides/notesSlide8.xml" Id="Rde21c33288e348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225de3b6d4b94" /><Relationship Type="http://schemas.openxmlformats.org/officeDocument/2006/relationships/notesSlide" Target="/ppt/notesSlides/notesSlide9.xml" Id="Rb7ae7758570a46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240564f66645ea" /><Relationship Type="http://schemas.openxmlformats.org/officeDocument/2006/relationships/notesSlide" Target="/ppt/notesSlides/notesSlide10.xml" Id="R6efb15afe95644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cd77cac7e4e6d" /><Relationship Type="http://schemas.openxmlformats.org/officeDocument/2006/relationships/notesSlide" Target="/ppt/notesSlides/notesSlide11.xml" Id="R99b55902bb0e4a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5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55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55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Polyglot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28" y="49244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01   Name: ________________________________    Roll / ID: ____________________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8" y="4429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6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Group members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8" y="555593"/>
            <a:ext cx="10810875" cy="3451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7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7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Group name: ____________________    Group no.: __________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3B1D7F33-AE43-42E2-BBD6-6796B1C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project-description">
            <a:extLst xmlns:a="http://schemas.openxmlformats.org/drawingml/2006/main">
              <a:ext uri="{FF2B5EF4-FFF2-40B4-BE49-F238E27FC236}">
                <a16:creationId xmlns:a16="http://schemas.microsoft.com/office/drawing/2014/main" id="{53887103-9E51-445E-A728-D6BC126F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8" y="2619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3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300">
                <a:solidFill>
                  <a:srgbClr val="17202E"/>
                </a:solidFill>
                <a:latin typeface="Lora"/>
                <a:ea typeface="Lora"/>
                <a:cs typeface="Lora"/>
              </a:rPr>
              <a:t>A compiler for mixed Python, C++ and Java-inspired syntax</a:t>
            </a:r>
          </a:p>
        </p:txBody>
      </p:sp>
      <p:sp>
        <p:nvSpPr>
          <p:cNvPr id="12" name="member-2">
            <a:extLst xmlns:a="http://schemas.openxmlformats.org/drawingml/2006/main">
              <a:ext uri="{FF2B5EF4-FFF2-40B4-BE49-F238E27FC236}">
                <a16:creationId xmlns:a16="http://schemas.microsoft.com/office/drawing/2014/main" id="{B337CC0D-42A8-4E40-9C0D-33E5223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8" y="5295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02   Name: ________________________________    Roll / ID: ____________________</a:t>
            </a:r>
          </a:p>
        </p:txBody>
      </p:sp>
      <p:sp>
        <p:nvSpPr>
          <p:cNvPr id="13" name="member-3">
            <a:extLst xmlns:a="http://schemas.openxmlformats.org/drawingml/2006/main">
              <a:ext uri="{FF2B5EF4-FFF2-40B4-BE49-F238E27FC236}">
                <a16:creationId xmlns:a16="http://schemas.microsoft.com/office/drawing/2014/main" id="{DC3060B7-749F-41DA-B765-A863E25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8" y="56673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03   Name: ________________________________    Roll / ID: ____________________</a:t>
            </a:r>
          </a:p>
        </p:txBody>
      </p:sp>
      <p:sp>
        <p:nvSpPr>
          <p:cNvPr id="14" name="member-4">
            <a:extLst xmlns:a="http://schemas.openxmlformats.org/drawingml/2006/main">
              <a:ext uri="{FF2B5EF4-FFF2-40B4-BE49-F238E27FC236}">
                <a16:creationId xmlns:a16="http://schemas.microsoft.com/office/drawing/2014/main" id="{C2AFEA4E-B6EC-4D2E-9D6B-F0CDC3B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28" y="6038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defRPr sz="16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04   Name: ________________________________    Roll / ID: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Students may know how to solve a problem but forget a language’s exact syntax.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Programmers switching between languages can face the same friction.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E2598689-54C9-18A7-3A19-ED76AA08988F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Problem statement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A section of a C++ program may feel simpler to express using Python-style control flow.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We want to explore whether one compiler can accept supported spellings from several languages in the same program.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000">
                <a:solidFill>
                  <a:srgbClr val="17202E"/>
                </a:solidFill>
                <a:latin typeface="Lora"/>
                <a:ea typeface="Lora"/>
                <a:cs typeface="Lora"/>
              </a:rPr>
              <a:t>Syntax can interrupt familiar logic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202359C0-8A7A-196E-DD58-8E6569619F09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ctr">
              <a:defRPr sz="41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 algn="ctr">
              <a:buNone/>
              <a:defRPr sz="41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41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The basic idea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14700"/>
            <a:ext cx="8763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ctr">
              <a:defRPr sz="20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20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We plan to accept supported Python, C++ and Java-inspired syntax in one .poly file.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20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The compiler will recognize each construct automatically, normalize it and execute one program.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02E"/>
                </a:solidFill>
                <a:latin typeface="Roboto"/>
                <a:ea typeface="Roboto"/>
                <a:cs typeface="Roboto"/>
              </a:rPr>
              <a:t>total = 2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02E"/>
                </a:solidFill>
                <a:latin typeface="Roboto"/>
                <a:ea typeface="Roboto"/>
                <a:cs typeface="Roboto"/>
              </a:rPr>
              <a:t>int extra = 3;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02E"/>
                </a:solidFill>
                <a:latin typeface="Roboto"/>
                <a:ea typeface="Roboto"/>
                <a:cs typeface="Roboto"/>
              </a:rPr>
              <a:t>total += extra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02E"/>
                </a:solidFill>
                <a:latin typeface="Roboto"/>
                <a:ea typeface="Roboto"/>
                <a:cs typeface="Roboto"/>
              </a:rPr>
              <a:t>System.out.println(total);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02E"/>
                </a:solidFill>
                <a:latin typeface="Roboto"/>
                <a:ea typeface="Roboto"/>
                <a:cs typeface="Roboto"/>
              </a:rPr>
              <a:t>std::cout &lt;&lt; total &lt;&lt; std::endl;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 sz="1725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02E"/>
                </a:solidFill>
                <a:latin typeface="Roboto"/>
                <a:ea typeface="Roboto"/>
                <a:cs typeface="Roboto"/>
              </a:rPr>
              <a:t>print("done")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EFD6AB9A-5F9E-5F59-51AB-3C8734130965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A proposed mixed program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Expected output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5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5</a:t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done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17202E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02E"/>
                </a:solidFill>
                <a:latin typeface="Roboto"/>
                <a:ea typeface="Roboto"/>
                <a:cs typeface="Roboto"/>
              </a:rPr>
              <a:t>The planned compiler will resolve total and extra in one shared symbol table.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000">
                <a:solidFill>
                  <a:srgbClr val="17202E"/>
                </a:solidFill>
                <a:latin typeface="Lora"/>
                <a:ea typeface="Lora"/>
                <a:cs typeface="Lora"/>
              </a:rPr>
              <a:t>One variable across three spellings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EE5B3003-2C54-13C6-9832-7637201064DE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What we plan to build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Integers, floats, Booleans and strings. Shared operators and checked assignments.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68" y="6279261"/>
            <a:ext cx="10287000" cy="24193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defRPr sz="12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r>
              <a:rPr sz="12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Outside scope: full language compatibility, classes, libraries and native linking</a:t>
            </a:r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7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7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Supported syntax will mix between statements and inside nested blocks, with one set of semantic rules.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000">
                <a:solidFill>
                  <a:srgbClr val="17202E"/>
                </a:solidFill>
                <a:latin typeface="Lora"/>
                <a:ea typeface="Lora"/>
                <a:cs typeface="Lora"/>
              </a:rPr>
              <a:t>An educational compiler for a deliberate subset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Variables and expressions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Parameters, return values, forward calls and recursion across syntax families.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Functions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Conditionals, while loops and both for forms, including break and continue.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Control flow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print, cout and println. Clear errors with original source locations.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Output and diagnostics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8C630A04-5A25-9E0C-9436-126091DB86B3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6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The planned compilation pipeline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Architecture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2C7E5893-8E9D-475A-A845-1D020EFD0077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/>
                <a:gridCol w="4857750"/>
                <a:gridCol w="5880100"/>
              </a:tblGrid>
              <a:tr h="59436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00" b="0" i="0" u="none" strike="noStrike" cap="none" spc="0" baseline="0">
                          <a:ln>
                            <a:noFill/>
                          </a:ln>
                          <a:solidFill>
                            <a:srgbClr val="5E6576"/>
                          </a:solidFill>
                          <a:latin typeface="Roboto"/>
                          <a:ea typeface="Roboto"/>
                          <a:cs typeface="Roboto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17202E"/>
                          </a:solidFill>
                          <a:latin typeface="Roboto"/>
                          <a:ea typeface="Roboto"/>
                          <a:cs typeface="Roboto"/>
                        </a:rPr>
                        <a:t>Lexer and layout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3357B8"/>
                          </a:solidFill>
                          <a:latin typeface="Roboto"/>
                          <a:ea typeface="Roboto"/>
                          <a:cs typeface="Roboto"/>
                        </a:rPr>
                        <a:t>Tokens, indentation and braces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00" b="0" i="0" u="none" strike="noStrike" cap="none" spc="0" baseline="0">
                          <a:ln>
                            <a:noFill/>
                          </a:ln>
                          <a:solidFill>
                            <a:srgbClr val="5E6576"/>
                          </a:solidFill>
                          <a:latin typeface="Roboto"/>
                          <a:ea typeface="Roboto"/>
                          <a:cs typeface="Roboto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17202E"/>
                          </a:solidFill>
                          <a:latin typeface="Roboto"/>
                          <a:ea typeface="Roboto"/>
                          <a:cs typeface="Roboto"/>
                        </a:rPr>
                        <a:t>Recognition and parsing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3357B8"/>
                          </a:solidFill>
                          <a:latin typeface="Roboto"/>
                          <a:ea typeface="Roboto"/>
                          <a:cs typeface="Roboto"/>
                        </a:rPr>
                        <a:t>Supported constructs and syntax evidence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00" b="0" i="0" u="none" strike="noStrike" cap="none" spc="0" baseline="0">
                          <a:ln>
                            <a:noFill/>
                          </a:ln>
                          <a:solidFill>
                            <a:srgbClr val="5E6576"/>
                          </a:solidFill>
                          <a:latin typeface="Roboto"/>
                          <a:ea typeface="Roboto"/>
                          <a:cs typeface="Roboto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17202E"/>
                          </a:solidFill>
                          <a:latin typeface="Roboto"/>
                          <a:ea typeface="Roboto"/>
                          <a:cs typeface="Roboto"/>
                        </a:rPr>
                        <a:t>Shared AST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3357B8"/>
                          </a:solidFill>
                          <a:latin typeface="Roboto"/>
                          <a:ea typeface="Roboto"/>
                          <a:cs typeface="Roboto"/>
                        </a:rPr>
                        <a:t>Abstract syntax tree for all syntax forms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00" b="0" i="0" u="none" strike="noStrike" cap="none" spc="0" baseline="0">
                          <a:ln>
                            <a:noFill/>
                          </a:ln>
                          <a:solidFill>
                            <a:srgbClr val="5E6576"/>
                          </a:solidFill>
                          <a:latin typeface="Roboto"/>
                          <a:ea typeface="Roboto"/>
                          <a:cs typeface="Roboto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17202E"/>
                          </a:solidFill>
                          <a:latin typeface="Roboto"/>
                          <a:ea typeface="Roboto"/>
                          <a:cs typeface="Roboto"/>
                        </a:rPr>
                        <a:t>Semantic analysis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3357B8"/>
                          </a:solidFill>
                          <a:latin typeface="Roboto"/>
                          <a:ea typeface="Roboto"/>
                          <a:cs typeface="Roboto"/>
                        </a:rPr>
                        <a:t>Bindings, types and initialization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00" b="0" i="0" u="none" strike="noStrike" cap="none" spc="0" baseline="0">
                          <a:ln>
                            <a:noFill/>
                          </a:ln>
                          <a:solidFill>
                            <a:srgbClr val="5E6576"/>
                          </a:solidFill>
                          <a:latin typeface="Roboto"/>
                          <a:ea typeface="Roboto"/>
                          <a:cs typeface="Roboto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17202E"/>
                          </a:solidFill>
                          <a:latin typeface="Roboto"/>
                          <a:ea typeface="Roboto"/>
                          <a:cs typeface="Roboto"/>
                        </a:rPr>
                        <a:t>Typed intermediate representation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3357B8"/>
                          </a:solidFill>
                          <a:latin typeface="Roboto"/>
                          <a:ea typeface="Roboto"/>
                          <a:cs typeface="Roboto"/>
                        </a:rPr>
                        <a:t>Explicit operations and control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00" b="0" i="0" u="none" strike="noStrike" cap="none" spc="0" baseline="0">
                          <a:ln>
                            <a:noFill/>
                          </a:ln>
                          <a:solidFill>
                            <a:srgbClr val="5E6576"/>
                          </a:solidFill>
                          <a:latin typeface="Roboto"/>
                          <a:ea typeface="Roboto"/>
                          <a:cs typeface="Roboto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17202E"/>
                          </a:solidFill>
                          <a:latin typeface="Roboto"/>
                          <a:ea typeface="Roboto"/>
                          <a:cs typeface="Roboto"/>
                        </a:rPr>
                        <a:t>Bytecode and virtual machine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725" b="0" i="0" u="none" strike="noStrike" cap="none" spc="0" baseline="0">
                          <a:ln>
                            <a:noFill/>
                          </a:ln>
                          <a:solidFill>
                            <a:srgbClr val="3357B8"/>
                          </a:solidFill>
                          <a:latin typeface="Roboto"/>
                          <a:ea typeface="Roboto"/>
                          <a:cs typeface="Roboto"/>
                        </a:rPr>
                        <a:t>Reusable artifact and program execution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ource-and-artifact">
            <a:extLst xmlns:a="http://schemas.openxmlformats.org/drawingml/2006/main">
              <a:ext uri="{FF2B5EF4-FFF2-40B4-BE49-F238E27FC236}">
                <a16:creationId xmlns:a16="http://schemas.microsoft.com/office/drawing/2014/main" id="{2C2A1F3A-3CA4-4BEA-A068-C22DB9E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621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defRPr sz="16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Input: program.poly       Build output: program.pbc</a:t>
            </a:r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def, a colon and an indented suite will identify a Python-style construct.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Typed declarations and brace blocks will identify shared C++/Java-style forms.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cout and println will have explicit built-in grammar rules.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D3D7D1C8-AE23-AA48-DF65-C742588DBE47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Automatic syntax recognition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Some spellings belong to more than one family.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int count = 3;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We will record it as shared C++/Java syntax. Recognition will preserve its source span and the evidence used to parse it.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000">
                <a:solidFill>
                  <a:srgbClr val="17202E"/>
                </a:solidFill>
                <a:latin typeface="Lora"/>
                <a:ea typeface="Lora"/>
                <a:cs typeface="Lora"/>
              </a:rPr>
              <a:t>Grammar and context will guide parsing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A common symbol table will let every supported syntax read and update the same bindings.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Primitive type aliases will normalize to common types. Assignments and function calls will receive static checks.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BA58DA2A-B818-18A9-29C1-B697728D5BCE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One shared meaning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The analyzer will check scope, initialization and return paths. It will infer unannotated function types when constraints resolve consistently.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If a program is invalid, diagnostics will identify the source location and explain the error before execution.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000">
                <a:solidFill>
                  <a:srgbClr val="17202E"/>
                </a:solidFill>
                <a:latin typeface="Lora"/>
                <a:ea typeface="Lora"/>
                <a:cs typeface="Lora"/>
              </a:rPr>
              <a:t>Different spellings will use common rules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388657AE-30A1-5A7A-6A7F-315D84436430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Implementation tools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454E60"/>
                </a:solidFill>
                <a:latin typeface="Roboto"/>
                <a:ea typeface="Roboto"/>
                <a:cs typeface="Roboto"/>
              </a:rPr>
              <a:t>We will use typed data structures and separate modules for each compiler stage.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454E60"/>
                </a:solidFill>
                <a:latin typeface="Roboto"/>
                <a:ea typeface="Roboto"/>
                <a:cs typeface="Roboto"/>
              </a:rPr>
              <a:t>The command-line interface will support checking, running, building and inspecting programs.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725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454E60"/>
                </a:solidFill>
                <a:latin typeface="Roboto"/>
                <a:ea typeface="Roboto"/>
                <a:cs typeface="Roboto"/>
              </a:rPr>
              <a:t>Tokens, AST, IR and bytecode will remain inspectable for the demonstration.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00">
                <a:solidFill>
                  <a:srgbClr val="17202E"/>
                </a:solidFill>
                <a:latin typeface="Lora"/>
                <a:ea typeface="Lora"/>
                <a:cs typeface="Lora"/>
              </a:defRPr>
            </a:pPr>
            <a:r>
              <a:rPr sz="2000">
                <a:solidFill>
                  <a:srgbClr val="17202E"/>
                </a:solidFill>
                <a:latin typeface="Lora"/>
                <a:ea typeface="Lora"/>
                <a:cs typeface="Lora"/>
              </a:rPr>
              <a:t>Python 3.11+ with a small dependency set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A handwritten lexer, recursive-descent parser and Pratt expression parser.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77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6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Parsing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Custom bytecode and a stack-based VM. A versioned JSON artifact with a validated loader.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77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6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Execution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pytest, positive and negative fixtures, and comparisons across equivalent syntax forms.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779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6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Roboto"/>
                <a:ea typeface="Roboto"/>
                <a:cs typeface="Roboto"/>
              </a:rPr>
              <a:t>Verification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3333750" cy="17145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Grammar and parsing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Define the subset, build layout handling and normalize mixed constructs into the AST.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algn="r">
              <a:defRPr sz="1100">
                <a:solidFill>
                  <a:srgbClr val="5E6576"/>
                </a:solidFill>
                <a:latin typeface="Roboto"/>
                <a:ea typeface="Roboto"/>
                <a:cs typeface="Roboto"/>
              </a:defRPr>
            </a:pPr>
            <a:fld id="{DB7BEEEC-A170-5376-2B6E-CB54687B0CB1}" type="slidenum">
              <a:rPr sz="1100">
                <a:solidFill>
                  <a:srgbClr val="5E6576"/>
                </a:solidFill>
                <a:latin typeface="Roboto"/>
                <a:ea typeface="Roboto"/>
                <a:cs typeface="Roboto"/>
              </a:rPr>
              <a:t>10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29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29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Development approach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3333750" cy="17145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Shared semantics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Add type checks, lower to typed IR and generate bytecode for the custom VM.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3333750" cy="17145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Examples and documentation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strike="noStrike" cap="none" spc="0" baseline="0">
                <a:ln>
                  <a:noFill/>
                </a:ln>
                <a:solidFill>
                  <a:prstClr val="black"/>
                </a:solidFill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6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600" b="0" i="0" u="none" strike="noStrike" cap="none" spc="0" baseline="0">
                <a:ln>
                  <a:noFill/>
                </a:ln>
                <a:solidFill>
                  <a:srgbClr val="454E60"/>
                </a:solidFill>
                <a:latin typeface="Roboto"/>
                <a:ea typeface="Roboto"/>
                <a:cs typeface="Roboto"/>
              </a:rPr>
              <a:t>Test nested mixed programs, verify artifacts and prepare a reproducible demonstration.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ACD40B0F-7587-4F48-A052-3AF36833AF0F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32385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01  Front end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32385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02  Compiler and VM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32385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5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03  Validation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9" name="testing-throughout">
            <a:extLst xmlns:a="http://schemas.openxmlformats.org/drawingml/2006/main">
              <a:ext uri="{FF2B5EF4-FFF2-40B4-BE49-F238E27FC236}">
                <a16:creationId xmlns:a16="http://schemas.microsoft.com/office/drawing/2014/main" id="{9A26F438-6CF8-4F7D-8415-154451B3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defRPr sz="1725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454E60"/>
                </a:solidFill>
                <a:latin typeface="Roboto"/>
                <a:ea typeface="Roboto"/>
                <a:cs typeface="Roboto"/>
              </a:rPr>
              <a:t>Tests will accompany each stage. Mixed programs will anchor acceptance.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5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defPPr>
          </a:lstStyle>
          <a:p xmlns:a="http://schemas.openxmlformats.org/drawingml/2006/main">
            <a:pPr>
              <a:defRPr sz="6500" b="1">
                <a:solidFill>
                  <a:srgbClr val="3357B8"/>
                </a:solidFill>
                <a:latin typeface="Lora"/>
                <a:ea typeface="Lora"/>
                <a:cs typeface="Lora"/>
              </a:defRPr>
            </a:pPr>
            <a:r>
              <a:rPr sz="6500" b="1">
                <a:solidFill>
                  <a:srgbClr val="3357B8"/>
                </a:solidFill>
                <a:latin typeface="Lora"/>
                <a:ea typeface="Lora"/>
                <a:cs typeface="Lora"/>
              </a:rPr>
              <a:t>Our final goal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198" y="4532471"/>
            <a:ext cx="10668000" cy="16192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A working compiler that builds and executes supported mixed programs.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An inspectable pipeline with clear diagnostics and reusable bytecode artifacts.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>
                <a:solidFill>
                  <a:srgbClr val="454E60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454E60"/>
                </a:solidFill>
                <a:latin typeface="Roboto"/>
                <a:ea typeface="Roboto"/>
                <a:cs typeface="Roboto"/>
              </a:rPr>
              <a:t>A documented demonstration showing shared behavior across syntax families.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A8C0733D-32C6-4E87-B640-4845B3C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2026-10-11T18:25:34.5400000Z</dcterms:created>
  <dcterms:modified xsi:type="dcterms:W3CDTF">2026-10-11T18:25:34.5400000Z</dcterms:modified>
</coreProperties>
</file>