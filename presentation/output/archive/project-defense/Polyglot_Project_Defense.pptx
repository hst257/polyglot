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29"/>
  </p:normalViewPr>
  <p:slideViewPr>
    <p:cSldViewPr snapToGrid="0">
      <p:cViewPr varScale="1">
        <p:scale>
          <a:sx n="105" d="100"/>
          <a:sy n="105" d="100"/>
        </p:scale>
        <p:origin x="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VM instructions</c:v>
          </c:tx>
          <c:spPr>
            <a:solidFill>
              <a:srgbClr val="245EEA"/>
            </a:solidFill>
          </c:spPr>
          <c:invertIfNegative val="0"/>
          <c:dPt>
            <c:idx val="0"/>
            <c:invertIfNegative val="0"/>
            <c:bubble3D val="0"/>
            <c:spPr>
              <a:solidFill>
                <a:srgbClr val="7387A5"/>
              </a:solidFill>
            </c:spPr>
            <c:extLst>
              <c:ext xmlns:c16="http://schemas.microsoft.com/office/drawing/2014/chart" uri="{C3380CC4-5D6E-409C-BE32-E72D297353CC}">
                <c16:uniqueId val="{00000001-651A-754C-81A0-921B241A9522}"/>
              </c:ext>
            </c:extLst>
          </c:dPt>
          <c:dPt>
            <c:idx val="1"/>
            <c:invertIfNegative val="0"/>
            <c:bubble3D val="0"/>
            <c:spPr>
              <a:solidFill>
                <a:srgbClr val="44DDBB"/>
              </a:solidFill>
            </c:spPr>
            <c:extLst>
              <c:ext xmlns:c16="http://schemas.microsoft.com/office/drawing/2014/chart" uri="{C3380CC4-5D6E-409C-BE32-E72D297353CC}">
                <c16:uniqueId val="{00000003-651A-754C-81A0-921B241A9522}"/>
              </c:ext>
            </c:extLst>
          </c:dPt>
          <c:dLbls>
            <c:spPr>
              <a:noFill/>
              <a:ln>
                <a:noFill/>
              </a:ln>
              <a:effectLst/>
            </c:spPr>
            <c:txPr>
              <a:bodyPr anchorCtr="1"/>
              <a:lstStyle/>
              <a:p>
                <a:pPr>
                  <a:defRPr sz="2250" b="1">
                    <a:solidFill>
                      <a:srgbClr val="FFFFFF"/>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Unoptimized</c:v>
                </c:pt>
                <c:pt idx="1">
                  <c:v>Optimized</c:v>
                </c:pt>
              </c:strCache>
            </c:strRef>
          </c:cat>
          <c:val>
            <c:numRef>
              <c:f>'Chart Data'!$B$2:$B$3</c:f>
              <c:numCache>
                <c:formatCode>General</c:formatCode>
                <c:ptCount val="2"/>
                <c:pt idx="0">
                  <c:v>17</c:v>
                </c:pt>
                <c:pt idx="1">
                  <c:v>5</c:v>
                </c:pt>
              </c:numCache>
            </c:numRef>
          </c:val>
          <c:extLst>
            <c:ext xmlns:c16="http://schemas.microsoft.com/office/drawing/2014/chart" uri="{C3380CC4-5D6E-409C-BE32-E72D297353CC}">
              <c16:uniqueId val="{00000004-651A-754C-81A0-921B241A9522}"/>
            </c:ext>
          </c:extLst>
        </c:ser>
        <c:dLbls>
          <c:dLblPos val="outEnd"/>
          <c:showLegendKey val="0"/>
          <c:showVal val="1"/>
          <c:showCatName val="0"/>
          <c:showSerName val="0"/>
          <c:showPercent val="0"/>
          <c:showBubbleSize val="0"/>
        </c:dLbls>
        <c:gapWidth val="95"/>
        <c:axId val="48650112"/>
        <c:axId val="48672768"/>
      </c:barChart>
      <c:catAx>
        <c:axId val="48650112"/>
        <c:scaling>
          <c:orientation val="minMax"/>
        </c:scaling>
        <c:delete val="0"/>
        <c:axPos val="l"/>
        <c:majorGridlines>
          <c:spPr>
            <a:ln w="9525">
              <a:solidFill>
                <a:srgbClr val="32435C"/>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650">
                <a:solidFill>
                  <a:srgbClr val="C7D4E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950">
                <a:solidFill>
                  <a:srgbClr val="FFFFFF"/>
                </a:solidFill>
                <a:latin typeface="Arial"/>
                <a:ea typeface="Arial"/>
                <a:cs typeface="Arial"/>
              </a:defRPr>
            </a:pPr>
            <a:endParaRPr lang="en-US"/>
          </a:p>
        </c:txPr>
        <c:crossAx val="48650112"/>
        <c:crosses val="autoZero"/>
        <c:crossBetween val="between"/>
      </c:valAx>
      <c:spPr>
        <a:solidFill>
          <a:srgbClr val="0C1422"/>
        </a:solidFill>
      </c:spPr>
    </c:plotArea>
    <c:plotVisOnly val="1"/>
    <c:dispBlanksAs val="zero"/>
    <c:showDLblsOverMax val="1"/>
  </c:chart>
  <c:spPr>
    <a:solidFill>
      <a:srgbClr val="0C1422"/>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Polyglot accepts a restricted language with syntax inspired by six familiar languages. Its central design is to normalize those spellings into one AST and one execution model. Explain that the project compiles to its own bytecode and runs on its own VM. The slides describe the current local implementation, including local updates that have not been pushed.</a:t>
            </a:r>
          </a:p>
          <a:p>
            <a:endParaRPr/>
          </a:p>
          <a:p>
            <a:r>
              <a:t>Implementation sources (local snapshot 60f60ed, 26 October 2026):</a:t>
            </a:r>
          </a:p>
          <a:p>
            <a:r>
              <a:t>https://github.com/hst257/PolyGlot [local file: README.md]</a:t>
            </a:r>
          </a:p>
          <a:p>
            <a:r>
              <a:t>https://github.com/hst257/PolyGlot [local file: src/polyglot/compiler.py]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Motivation: a compiler course often studies individual phases separately. This project connects them in a working system and tests whether different front-end spellings can share the same back end. The output examples normalize to common output behavior. Restricted printf is a special formatting form that lowers through FORMAT and OUTPUT. This is not six complete language compilers, and it does not call the language runtimes.</a:t>
            </a:r>
          </a:p>
          <a:p>
            <a:endParaRPr/>
          </a:p>
          <a:p>
            <a:r>
              <a:t>Implementation sources (local snapshot 60f60ed, 26 October 2026):</a:t>
            </a:r>
          </a:p>
          <a:p>
            <a:r>
              <a:t>https://github.com/hst257/PolyGlot [local file: src/polyglot/parser/dispatch.py]</a:t>
            </a:r>
          </a:p>
          <a:p>
            <a:r>
              <a:t>https://github.com/hst257/PolyGlot [local file: src/polyglot/parser/shared.py]</a:t>
            </a:r>
          </a:p>
          <a:p>
            <a:r>
              <a:t>https://github.com/hst257/PolyGlot [local file: src/polyglot/ir.py]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Make the scope explicit early. A Python-like assignment infers a fixed type rather than full Python dynamic semantics. Java-style output does not imply Java classes. JavaScript-style functions require Polyglot type annotations. Arrays have fixed-length objects and invariant primitive element types. The implemented grammar is in docs/grammar.ebnf and the detailed restrictions are in docs/language.md.</a:t>
            </a:r>
          </a:p>
          <a:p>
            <a:endParaRPr/>
          </a:p>
          <a:p>
            <a:r>
              <a:t>Implementation sources (local snapshot 60f60ed, 26 October 2026):</a:t>
            </a:r>
          </a:p>
          <a:p>
            <a:r>
              <a:t>https://github.com/hst257/PolyGlot [local file: docs/language.md]</a:t>
            </a:r>
          </a:p>
          <a:p>
            <a:r>
              <a:t>https://github.com/hst257/PolyGlot [local file: docs/grammar.ebnf]</a:t>
            </a:r>
          </a:p>
          <a:p>
            <a:r>
              <a:t>https://github.com/hst257/PolyGlot [local file: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real screenshot captured from the current local app. The editor contains p1_mixed.poly. The syntax map records JavaScript, Python, BASIC, C, Java and C++ constructs. The program emits five output lines and executes 194 VM instructions. The ribbon contains actual stage sizes, not simulated progress. Source links in the inspector select the corresponding text in the editor.</a:t>
            </a:r>
          </a:p>
          <a:p>
            <a:endParaRPr/>
          </a:p>
          <a:p>
            <a:r>
              <a:t>Implementation sources (local snapshot 60f60ed, 26 October 2026):</a:t>
            </a:r>
          </a:p>
          <a:p>
            <a:r>
              <a:t>https://github.com/hst257/PolyGlot [local file: examples/p1_mixed.poly]</a:t>
            </a:r>
          </a:p>
          <a:p>
            <a:r>
              <a:t>https://github.com/hst257/PolyGlot [local file: src/polyglot/web/static/app.js]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dependency between stages. Parser recognition and AST construction happen in the same parsing pass. The analyzer annotates AST nodes with resolved binding/type information. Lowering creates per-function IR. Optimization runs before code generation by default. Check and Build stop before VM execution. Run includes execution. Both CLI and web call compile_source, so their compiler behavior is shared.</a:t>
            </a:r>
          </a:p>
          <a:p>
            <a:endParaRPr/>
          </a:p>
          <a:p>
            <a:r>
              <a:t>Implementation sources (local snapshot 60f60ed, 26 October 2026):</a:t>
            </a:r>
          </a:p>
          <a:p>
            <a:r>
              <a:t>https://github.com/hst257/PolyGlot [local file: src/polyglot/compiler.py]</a:t>
            </a:r>
          </a:p>
          <a:p>
            <a:r>
              <a:t>https://github.com/hst257/PolyGlot [local file: src/polyglot/web/worker.py]</a:t>
            </a:r>
          </a:p>
          <a:p>
            <a:r>
              <a:t>https://github.com/hst257/PolyGlot [local file: src/polyglot/cli.py]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shortened worked example uses the same supported constructs as mixed_demo.poly. add has a C-style declaration and twice has a Python-style declaration. twice calls add, and top-level C-style code calls twice. All arguments and return types follow Polyglot rules. No source-to-C or source-to-Python translation occurs. The original mixed_demo also includes a range loop and Java-style output.</a:t>
            </a:r>
          </a:p>
          <a:p>
            <a:endParaRPr/>
          </a:p>
          <a:p>
            <a:r>
              <a:t>Implementation sources (local snapshot 60f60ed, 26 October 2026):</a:t>
            </a:r>
          </a:p>
          <a:p>
            <a:r>
              <a:t>https://github.com/hst257/PolyGlot [local file: examples/mixed_demo.poly]</a:t>
            </a:r>
          </a:p>
          <a:p>
            <a:r>
              <a:t>https://github.com/hst257/PolyGlot [local file: src/polyglot/semantics.py]</a:t>
            </a:r>
          </a:p>
          <a:p>
            <a:r>
              <a:t>https://github.com/hst257/PolyGlot [local file: src/polyglot/vm.py]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scanner is handwritten. The actual UI shows const and bonus as NAME tokens: keyword interpretation happens during parsing, so do not claim a separate KEYWORD token class. The lexer recognizes operators and literals and preserves spans. The parser controls a layout context because indentation and braces can mix. This implementation does not generate a DFA or use Lex/Flex.</a:t>
            </a:r>
          </a:p>
          <a:p>
            <a:endParaRPr/>
          </a:p>
          <a:p>
            <a:r>
              <a:t>Implementation sources (local snapshot 60f60ed, 26 October 2026):</a:t>
            </a:r>
          </a:p>
          <a:p>
            <a:r>
              <a:t>https://github.com/hst257/PolyGlot [local file: src/polyglot/lexer.py]</a:t>
            </a:r>
          </a:p>
          <a:p>
            <a:r>
              <a:t>https://github.com/hst257/PolyGlot [local file: src/polyglot/source.py]</a:t>
            </a:r>
          </a:p>
          <a:p>
            <a:r>
              <a:t>https://github.com/hst257/PolyGlot [local file: src/polyglot/layout.py]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Dispatch examines distinctive prefixes such as def, function, console.log and PRINT. Shared declarations can have several candidate syntax families. There is one common Pratt expression parser. A higher binding power keeps multiplication inside the right operand of addition. Parentheses override the default precedence. This project uses a selected top-down strategy rather than maintaining LL(1), SLR, CLR and LALR parser tables simultaneously.</a:t>
            </a:r>
          </a:p>
          <a:p>
            <a:endParaRPr/>
          </a:p>
          <a:p>
            <a:r>
              <a:t>Implementation sources (local snapshot 60f60ed, 26 October 2026):</a:t>
            </a:r>
          </a:p>
          <a:p>
            <a:r>
              <a:t>https://github.com/hst257/PolyGlot [local file: src/polyglot/parser/dispatch.py]</a:t>
            </a:r>
          </a:p>
          <a:p>
            <a:r>
              <a:t>https://github.com/hst257/PolyGlot [local file: src/polyglot/parser/shared.py]</a:t>
            </a:r>
          </a:p>
          <a:p>
            <a:r>
              <a:t>https://github.com/hst257/PolyGlot [local file: docs/grammar.ebnf]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comes from the actual compiler result for print((2 + 3) * 4), expanded in the app. Program contains Output, whose value is a multiplication. The left child of multiplication is addition and the right child is 4. The addition contains 2 and 3. It is an abstract syntax tree rather than a concrete parse tree, so it omits parentheses and separators. The compiler retains this original checked AST even when optimization changes the IR.</a:t>
            </a:r>
          </a:p>
          <a:p>
            <a:endParaRPr/>
          </a:p>
          <a:p>
            <a:r>
              <a:t>Implementation sources (local snapshot 60f60ed, 26 October 2026):</a:t>
            </a:r>
          </a:p>
          <a:p>
            <a:r>
              <a:t>https://github.com/hst257/PolyGlot [local file: src/polyglot/ast.py]</a:t>
            </a:r>
          </a:p>
          <a:p>
            <a:r>
              <a:t>https://github.com/hst257/PolyGlot [local file: src/polyglot/parser/shared.py]</a:t>
            </a:r>
          </a:p>
          <a:p>
            <a:r>
              <a:t>https://github.com/hst257/PolyGlot [local file: src/polyglot/web/static/app.js]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symbol table screenshot is from p1_mixed.poly. bonus is an int constant in global slot 0, values is int[] in global slot 1, and sum_values has the signature (int[]) to int. Parameters and locals use frame-local slots. The analyzer collects top-level signatures before checking function bodies, enabling forward calls and recursion. Shared const checking prevents reassignment even if another syntax performs the assignment.</a:t>
            </a:r>
          </a:p>
          <a:p>
            <a:endParaRPr/>
          </a:p>
          <a:p>
            <a:r>
              <a:t>Implementation sources (local snapshot 60f60ed, 26 October 2026):</a:t>
            </a:r>
          </a:p>
          <a:p>
            <a:r>
              <a:t>https://github.com/hst257/PolyGlot [local file: src/polyglot/semantics.py]</a:t>
            </a:r>
          </a:p>
          <a:p>
            <a:r>
              <a:t>https://github.com/hst257/PolyGlot [local file: src/polyglot/types.py]</a:t>
            </a:r>
          </a:p>
          <a:p>
            <a:r>
              <a:t>https://github.com/hst257/PolyGlot [local file: examples/p1_mixed.poly]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two-line error_type.poly program sets count to 3 and then tries to assign the string three. The lexer and parser complete, but semantic analysis stops with S004. No artifact is generated and the VM does not run invalid code. Available earlier representations remain inspectable. The current compiler reports the first error rather than attempting multi-error recovery.</a:t>
            </a:r>
          </a:p>
          <a:p>
            <a:endParaRPr/>
          </a:p>
          <a:p>
            <a:r>
              <a:t>Implementation sources (local snapshot 60f60ed, 26 October 2026):</a:t>
            </a:r>
          </a:p>
          <a:p>
            <a:r>
              <a:t>https://github.com/hst257/PolyGlot [local file: examples/error_type.poly]</a:t>
            </a:r>
          </a:p>
          <a:p>
            <a:r>
              <a:t>https://github.com/hst257/PolyGlot [local file: src/polyglot/compiler.py]</a:t>
            </a:r>
          </a:p>
          <a:p>
            <a:r>
              <a:t>https://github.com/hst257/PolyGlot [local file: src/polyglot/semantics.py]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left side is a simplified readable rendering of the actual original IR for the worked expression. The right side shows the real app inspector for the mixed demo. Lowering makes evaluation order explicit with temporaries, typed operations, labels and branches. IR is a suitable place for language-independent optimization because front-end spelling has already disappeared. The existing browser IR tab shows original lowering. The CLI/API separately exposes optimized_ir and the optimization report.</a:t>
            </a:r>
          </a:p>
          <a:p>
            <a:endParaRPr/>
          </a:p>
          <a:p>
            <a:r>
              <a:t>Implementation sources (local snapshot 60f60ed, 26 October 2026):</a:t>
            </a:r>
          </a:p>
          <a:p>
            <a:r>
              <a:t>https://github.com/hst257/PolyGlot [local file: src/polyglot/ir.py]</a:t>
            </a:r>
          </a:p>
          <a:p>
            <a:r>
              <a:t>https://github.com/hst257/PolyGlot [local file: src/polyglot/compiler.py]</a:t>
            </a:r>
          </a:p>
          <a:p>
            <a:r>
              <a:t>https://github.com/hst257/PolyGlot [local file: src/polyglot/web/static/app.js]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analysis.py constructs the real CFG over IR instructions. A backwards worklist solves liveness until no IN sets change. Reverse scanning inside a block computes next use and distinguishes successive definitions of a temporary. Live-out values remain needed across block boundaries. These are temporary liveness facts, not a full memory alias or interprocedural data-flow analysis. The optimizer consumes this information to discard safe dead constants.</a:t>
            </a:r>
          </a:p>
          <a:p>
            <a:endParaRPr/>
          </a:p>
          <a:p>
            <a:r>
              <a:t>Implementation sources (local snapshot 60f60ed, 26 October 2026):</a:t>
            </a:r>
          </a:p>
          <a:p>
            <a:r>
              <a:t>https://github.com/hst257/PolyGlot [local file: src/polyglot/analysis.py]</a:t>
            </a:r>
          </a:p>
          <a:p>
            <a:r>
              <a:t>https://github.com/hst257/PolyGlot [local file: src/polyglot/optimizer.py]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Facts track only bounded primitive constants inside one basic block. They do not propagate through mutable storage or control-flow joins. Division by zero, nonfinite numeric results and failed conversions stay as runtime operations with source diagnostics. The compiler retains reachable side effects and potentially trapping operations. This is conservative optimization, not general algebraic simplification, loop optimization or common-subexpression elimination.</a:t>
            </a:r>
          </a:p>
          <a:p>
            <a:endParaRPr/>
          </a:p>
          <a:p>
            <a:r>
              <a:t>Implementation sources (local snapshot 60f60ed, 26 October 2026):</a:t>
            </a:r>
          </a:p>
          <a:p>
            <a:r>
              <a:t>https://github.com/hst257/PolyGlot [local file: src/polyglot/optimizer.py]</a:t>
            </a:r>
          </a:p>
          <a:p>
            <a:r>
              <a:t>https://github.com/hst257/PolyGlot [local file: tests/test_optimization.py]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Measured again against the current local compiler for this presentation. optimize=False produced 17 static bytecode instructions and 17 executed VM steps. The default optimized path produced 5 of each. Both outputs were 20 followed by a newline. The original expression contains two binary operations. The optimizer reports two folds and four dead constants removed. Percentage reduction is (17 - 5) / 17 = 70.588%, rounded to 70.6%. Do not generalize this small example into a universal speedup.</a:t>
            </a:r>
          </a:p>
          <a:p>
            <a:endParaRPr/>
          </a:p>
          <a:p>
            <a:r>
              <a:t>Implementation sources (local snapshot 60f60ed, 26 October 2026):</a:t>
            </a:r>
          </a:p>
          <a:p>
            <a:r>
              <a:t>https://github.com/hst257/PolyGlot [local file: src/polyglot/compiler.py]</a:t>
            </a:r>
          </a:p>
          <a:p>
            <a:r>
              <a:t>https://github.com/hst257/PolyGlot [local file: src/polyglot/optimizer.py]</a:t>
            </a:r>
          </a:p>
          <a:p>
            <a:r>
              <a:t>https://github.com/hst257/PolyGlot [local file: tests/test_optimization.py]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and listing are the actual optimized artifact for the worked example. Code generation turns IR temporaries into frame-local slots and expands each operation into stack instructions. Slot 4 remains because optimization preserves temporary numbering rather than compacting storage. Codegen records label positions and patches pending jump operands after instruction emission. Artifact format version 3 supports FORMAT and remains compatible with earlier supported versions.</a:t>
            </a:r>
          </a:p>
          <a:p>
            <a:endParaRPr/>
          </a:p>
          <a:p>
            <a:r>
              <a:t>Implementation sources (local snapshot 60f60ed, 26 October 2026):</a:t>
            </a:r>
          </a:p>
          <a:p>
            <a:r>
              <a:t>https://github.com/hst257/PolyGlot [local file: src/polyglot/codegen.py]</a:t>
            </a:r>
          </a:p>
          <a:p>
            <a:r>
              <a:t>https://github.com/hst257/PolyGlot [local file: src/polyglot/artifact.py]</a:t>
            </a:r>
          </a:p>
          <a:p>
            <a:r>
              <a:t>https://github.com/hst257/PolyGlot [local file: docs/bytecode.md]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is a dataclass in vm.py. Calls evaluate arguments left to right and create new local storage and operand stacks. Returns pop a frame and deliver the result to the caller. Globals remain shared. This implements the runtime idea of activation records in an interpreted stack machine. It does not allocate physical CPU registers. recursion.poly demonstrates a forward call to factorial and prints 720. The runtime builds diagnostic call stacks from stored callsites.</a:t>
            </a:r>
          </a:p>
          <a:p>
            <a:endParaRPr/>
          </a:p>
          <a:p>
            <a:r>
              <a:t>Implementation sources (local snapshot 60f60ed, 26 October 2026):</a:t>
            </a:r>
          </a:p>
          <a:p>
            <a:r>
              <a:t>https://github.com/hst257/PolyGlot [local file: src/polyglot/vm.py]</a:t>
            </a:r>
          </a:p>
          <a:p>
            <a:r>
              <a:t>https://github.com/hst257/PolyGlot [local file: examples/recursion.poly]</a:t>
            </a:r>
          </a:p>
          <a:p>
            <a:r>
              <a:t>https://github.com/hst257/PolyGlot [local file: src/polyglot/codegen.py]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arrays_mixed.poly mixes array declarations and shared functions. Arrays carry primitive element types and reference identity. Assignment or parameter passing shares the array object, so updates can be visible through aliases. Sized allocations initialize values by type. ARRAY_BUILD, ARRAY_NEW, ARRAY_GET, ARRAY_SET and related operations implement the runtime behavior. Python-style array iteration captures the array once and lowers to an index loop. The screenshot shows actual output for the bundled example.</a:t>
            </a:r>
          </a:p>
          <a:p>
            <a:endParaRPr/>
          </a:p>
          <a:p>
            <a:r>
              <a:t>Implementation sources (local snapshot 60f60ed, 26 October 2026):</a:t>
            </a:r>
          </a:p>
          <a:p>
            <a:r>
              <a:t>https://github.com/hst257/PolyGlot [local file: examples/arrays_mixed.poly]</a:t>
            </a:r>
          </a:p>
          <a:p>
            <a:r>
              <a:t>https://github.com/hst257/PolyGlot [local file: src/polyglot/ir.py]</a:t>
            </a:r>
          </a:p>
          <a:p>
            <a:r>
              <a:t>https://github.com/hst257/PolyGlot [local file: src/polyglot/vm.py]</a:t>
            </a:r>
          </a:p>
          <a:p>
            <a:r>
              <a:t>https://github.com/hst257/PolyGlot [local file: src/polyglot/types.py]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Building does not run the program. The .pbc file is structured JSON with format and version fields. Loading validates instruction operands, control flow and resource-related structure before execution. Stored source locations and excerpts allow runtime diagnostics without the original .poly file. Source-independent artifact execution has regression coverage.</a:t>
            </a:r>
          </a:p>
          <a:p>
            <a:endParaRPr/>
          </a:p>
          <a:p>
            <a:r>
              <a:t>Implementation sources (local snapshot 60f60ed, 26 October 2026):</a:t>
            </a:r>
          </a:p>
          <a:p>
            <a:r>
              <a:t>https://github.com/hst257/PolyGlot [local file: src/polyglot/artifact.py]</a:t>
            </a:r>
          </a:p>
          <a:p>
            <a:r>
              <a:t>https://github.com/hst257/PolyGlot [local file: src/polyglot/cli.py]</a:t>
            </a:r>
          </a:p>
          <a:p>
            <a:r>
              <a:t>https://github.com/hst257/PolyGlot [local file: docs/bytecode.md]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server binds to 127.0.0.1 and serves an explicit static allowlist. Each job uses a spawned worker rather than running user source in the web server process. The parent deadline can terminate runaway work. The VM defaults are 1,000,000 steps, recursion 64, output 65,536 bytes and a 5-second timeout. These are bounded educational execution safeguards, not a claim that the app is ready for untrusted public multi-user hosting. User programs never run via eval, exec or external language runtimes.</a:t>
            </a:r>
          </a:p>
          <a:p>
            <a:endParaRPr/>
          </a:p>
          <a:p>
            <a:r>
              <a:t>Implementation sources (local snapshot 60f60ed, 26 October 2026):</a:t>
            </a:r>
          </a:p>
          <a:p>
            <a:r>
              <a:t>https://github.com/hst257/PolyGlot [local file: src/polyglot/web/server.py]</a:t>
            </a:r>
          </a:p>
          <a:p>
            <a:r>
              <a:t>https://github.com/hst257/PolyGlot [local file: src/polyglot/web/worker.py]</a:t>
            </a:r>
          </a:p>
          <a:p>
            <a:r>
              <a:t>https://github.com/hst257/PolyGlot [local file: src/polyglot/vm.py]</a:t>
            </a:r>
          </a:p>
          <a:p>
            <a:r>
              <a:t>https://github.com/hst257/PolyGlot [local file: pyproject.toml]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actual recorded full-suite results in docs/verification.md for the current optimization update, not coverage percentages. Python: 296 passed in 7.54 seconds. Frontend: 54 passed. The optimization suite contains 36 cases and includes seeded differential expressions, negative remainder behavior, floating overflow, calls/output order, short circuiting, arrays, cross-block liveness and oversized-function fallback. Real HTTP checks verify the default optimizer and optimize:false option. The presentation also re-executed the 17-versus-5 example. Test counts show regression evidence, not proof of the absence of defects.</a:t>
            </a:r>
          </a:p>
          <a:p>
            <a:endParaRPr/>
          </a:p>
          <a:p>
            <a:r>
              <a:t>Implementation sources (local snapshot 60f60ed, 26 October 2026):</a:t>
            </a:r>
          </a:p>
          <a:p>
            <a:r>
              <a:t>https://github.com/hst257/PolyGlot [local file: docs/verification.md]</a:t>
            </a:r>
          </a:p>
          <a:p>
            <a:r>
              <a:t>https://github.com/hst257/PolyGlot [local file: tests/test_optimization.py]</a:t>
            </a:r>
          </a:p>
          <a:p>
            <a:r>
              <a:t>https://github.com/hst257/PolyGlot [local file: tests/test_http.py]</a:t>
            </a:r>
          </a:p>
          <a:p>
            <a:r>
              <a:t>https://github.com/hst257/PolyGlot [local file: tests/web/]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maps implemented mechanisms to the compiler course without presenting coursework modules in the app. The project selects one workable parser strategy and one target machine. It does not implement every alternative algorithm in a compiler syllabus. Syntax-directed translation happens procedurally when AST structure drives semantic checking and IR lowering. It is not a formal attribute-grammar engine. Deferred label patching implements jump target resolution, not a claim of a complete truelist/falselist SDT or switch-case implementation.</a:t>
            </a:r>
          </a:p>
          <a:p>
            <a:endParaRPr/>
          </a:p>
          <a:p>
            <a:r>
              <a:t>Implementation sources (local snapshot 60f60ed, 26 October 2026):</a:t>
            </a:r>
          </a:p>
          <a:p>
            <a:r>
              <a:t>https://github.com/hst257/PolyGlot [local file: src/polyglot/lexer.py]</a:t>
            </a:r>
          </a:p>
          <a:p>
            <a:r>
              <a:t>https://github.com/hst257/PolyGlot [local file: src/polyglot/parser/]</a:t>
            </a:r>
          </a:p>
          <a:p>
            <a:r>
              <a:t>https://github.com/hst257/PolyGlot [local file: src/polyglot/semantics.py]</a:t>
            </a:r>
          </a:p>
          <a:p>
            <a:r>
              <a:t>https://github.com/hst257/PolyGlot [local file: src/polyglot/ir.py]</a:t>
            </a:r>
          </a:p>
          <a:p>
            <a:r>
              <a:t>https://github.com/hst257/PolyGlot [local file: src/polyglot/analysis.py]</a:t>
            </a:r>
          </a:p>
          <a:p>
            <a:r>
              <a:t>https://github.com/hst257/PolyGlot [local file: src/polyglot/codegen.py]</a:t>
            </a:r>
          </a:p>
          <a:p>
            <a:r>
              <a:t>https://github.com/hst257/PolyGlot [local file: src/polyglot/vm.py]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speaking path: run p1_mixed and briefly inspect recognition. Open the tree for mixed_nesting and point to the mixed block structure. Show error_type to distinguish syntax validity from semantic validity. Use the CLI no-optimize option for the measured expression comparison, because the current browser IR view retains original IR. Finally build mixed_demo and exec the artifact. p1_mixed output is total 8, formatted: 8, 2.500000, ready, BASIC output, 8, done across five lines. The known instruction count is specific to the current compiler snapshot.</a:t>
            </a:r>
          </a:p>
          <a:p>
            <a:endParaRPr/>
          </a:p>
          <a:p>
            <a:r>
              <a:t>Implementation sources (local snapshot 60f60ed, 26 October 2026):</a:t>
            </a:r>
          </a:p>
          <a:p>
            <a:r>
              <a:t>https://github.com/hst257/PolyGlot [local file: docs/demo.md]</a:t>
            </a:r>
          </a:p>
          <a:p>
            <a:r>
              <a:t>https://github.com/hst257/PolyGlot [local file: examples/p1_mixed.poly]</a:t>
            </a:r>
          </a:p>
          <a:p>
            <a:r>
              <a:t>https://github.com/hst257/PolyGlot [local file: examples/mixed_nesting.poly]</a:t>
            </a:r>
          </a:p>
          <a:p>
            <a:r>
              <a:t>https://github.com/hst257/PolyGlot [local file: examples/error_type.poly]</a:t>
            </a:r>
          </a:p>
          <a:p>
            <a:r>
              <a:t>https://github.com/hst257/PolyGlot [local file: src/polyglot/cli.py]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claim full Python/C/C++/Java/JavaScript/BASIC compliance. No direct regular-expression-to-DFA generator, Lex/Yacc integration, CLR/LALR parser, physical-register allocator or LLVM target is present. Current initialization and return checking are conservative. Optimization deliberately limits analysis: 12 functions, 1,500 IR instructions per function, 3,000 total and 120 blocks per analyzed function. Oversized functions retain their original IR and report the skip. Future features listed here are proposals, not implemented results.</a:t>
            </a:r>
          </a:p>
          <a:p>
            <a:endParaRPr/>
          </a:p>
          <a:p>
            <a:r>
              <a:t>Implementation sources (local snapshot 60f60ed, 26 October 2026):</a:t>
            </a:r>
          </a:p>
          <a:p>
            <a:r>
              <a:t>https://github.com/hst257/PolyGlot [local file: README.md]</a:t>
            </a:r>
          </a:p>
          <a:p>
            <a:r>
              <a:t>https://github.com/hst257/PolyGlot [local file: docs/architecture.md]</a:t>
            </a:r>
          </a:p>
          <a:p>
            <a:r>
              <a:t>https://github.com/hst257/PolyGlot [local file: src/polyglot/optimizer.py]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 main presentation here. The core contribution is connecting source recognition, semantic rules, IR transformations and a target runtime in a working local tool. Be ready to explain the original repository foundation and the current local additions separately. No grade or universal performance claim follows from the implementation alone. The appendix contains code navigation, likely viva questions and source credits.</a:t>
            </a:r>
          </a:p>
          <a:p>
            <a:endParaRPr/>
          </a:p>
          <a:p>
            <a:r>
              <a:t>Implementation sources (local snapshot 60f60ed, 26 October 2026):</a:t>
            </a:r>
          </a:p>
          <a:p>
            <a:r>
              <a:t>https://github.com/hst257/PolyGlot [local file: src/polyglot/compiler.py]</a:t>
            </a:r>
          </a:p>
          <a:p>
            <a:r>
              <a:t>https://github.com/hst257/PolyGlot [local file: docs/architecture.md]</a:t>
            </a:r>
          </a:p>
          <a:p>
            <a:r>
              <a:t>https://github.com/hst257/PolyGlot [local file: docs/verification.md]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56FD4CD-7E7D-4E26-AC9F-0C46CA8A931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FCB864AF-07D2-46E8-B9C2-1C9E5F447F7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500B106-6F90-4725-A52F-76C9B3A3E72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FAD8B6D-073E-4F39-A2AF-515657E1284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EFBE0140-3E80-4DC3-96B2-FAB67561DBF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624B3CC-FD4F-49D1-B472-4F93BC62CA2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BAC52CB-8545-4DBD-A515-743510330CF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A8FDBCC7-0C1B-4E37-9CDE-04858B5FA58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96555AB-26BD-4DB7-9488-BCF12A286CA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5700D89-83EF-4743-BCC7-59DC73EDB6F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42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5857A7-FFA7-4FA1-9198-B898E0BEBC61}"/>
              </a:ext>
            </a:extLst>
          </p:cNvPr>
          <p:cNvSpPr>
            <a:spLocks noGrp="1"/>
          </p:cNvSpPr>
          <p:nvPr/>
        </p:nvSpPr>
        <p:spPr>
          <a:xfrm>
            <a:off x="609600" y="1381125"/>
            <a:ext cx="10763250" cy="1428750"/>
          </a:xfrm>
          <a:prstGeom prst="rect">
            <a:avLst/>
          </a:prstGeom>
          <a:noFill/>
          <a:ln w="0">
            <a:noFill/>
          </a:ln>
        </p:spPr>
        <p:txBody>
          <a:bodyPr wrap="square" lIns="0" tIns="0" rIns="0" bIns="0" anchor="t">
            <a:noAutofit/>
          </a:bodyPr>
          <a:lstStyle>
            <a:defPPr>
              <a:defRPr sz="8250" b="1">
                <a:solidFill>
                  <a:srgbClr val="FFFFFF"/>
                </a:solidFill>
                <a:latin typeface="Arial"/>
                <a:ea typeface="Arial"/>
                <a:cs typeface="Arial"/>
              </a:defRPr>
            </a:defPPr>
            <a:lvl1pPr>
              <a:defRPr sz="8250" b="1">
                <a:solidFill>
                  <a:srgbClr val="FFFFFF"/>
                </a:solidFill>
                <a:latin typeface="Arial"/>
                <a:ea typeface="Arial"/>
                <a:cs typeface="Arial"/>
              </a:defRPr>
            </a:lvl1pPr>
            <a:lvl2pPr>
              <a:defRPr sz="8250" b="1">
                <a:solidFill>
                  <a:srgbClr val="FFFFFF"/>
                </a:solidFill>
                <a:latin typeface="Arial"/>
                <a:ea typeface="Arial"/>
                <a:cs typeface="Arial"/>
              </a:defRPr>
            </a:lvl2pPr>
            <a:lvl3pPr>
              <a:defRPr sz="8250" b="1">
                <a:solidFill>
                  <a:srgbClr val="FFFFFF"/>
                </a:solidFill>
                <a:latin typeface="Arial"/>
                <a:ea typeface="Arial"/>
                <a:cs typeface="Arial"/>
              </a:defRPr>
            </a:lvl3pPr>
            <a:lvl4pPr>
              <a:defRPr sz="8250" b="1">
                <a:solidFill>
                  <a:srgbClr val="FFFFFF"/>
                </a:solidFill>
                <a:latin typeface="Arial"/>
                <a:ea typeface="Arial"/>
                <a:cs typeface="Arial"/>
              </a:defRPr>
            </a:lvl4pPr>
            <a:lvl5pPr>
              <a:defRPr sz="8250" b="1">
                <a:solidFill>
                  <a:srgbClr val="FFFFFF"/>
                </a:solidFill>
                <a:latin typeface="Arial"/>
                <a:ea typeface="Arial"/>
                <a:cs typeface="Arial"/>
              </a:defRPr>
            </a:lvl5pPr>
            <a:lvl6pPr>
              <a:defRPr sz="8250" b="1">
                <a:solidFill>
                  <a:srgbClr val="FFFFFF"/>
                </a:solidFill>
                <a:latin typeface="Arial"/>
                <a:ea typeface="Arial"/>
                <a:cs typeface="Arial"/>
              </a:defRPr>
            </a:lvl6pPr>
            <a:lvl7pPr>
              <a:defRPr sz="8250" b="1">
                <a:solidFill>
                  <a:srgbClr val="FFFFFF"/>
                </a:solidFill>
                <a:latin typeface="Arial"/>
                <a:ea typeface="Arial"/>
                <a:cs typeface="Arial"/>
              </a:defRPr>
            </a:lvl7pPr>
            <a:lvl8pPr>
              <a:defRPr sz="8250" b="1">
                <a:solidFill>
                  <a:srgbClr val="FFFFFF"/>
                </a:solidFill>
                <a:latin typeface="Arial"/>
                <a:ea typeface="Arial"/>
                <a:cs typeface="Arial"/>
              </a:defRPr>
            </a:lvl8pPr>
            <a:lvl9pPr>
              <a:defRPr sz="8250" b="1">
                <a:solidFill>
                  <a:srgbClr val="FFFFFF"/>
                </a:solidFill>
                <a:latin typeface="Arial"/>
                <a:ea typeface="Arial"/>
                <a:cs typeface="Arial"/>
              </a:defRPr>
            </a:lvl9pPr>
          </a:lstStyle>
          <a:p>
            <a:pPr>
              <a:defRPr sz="8250" b="1">
                <a:solidFill>
                  <a:srgbClr val="FFFFFF"/>
                </a:solidFill>
                <a:latin typeface="Arial"/>
                <a:ea typeface="Arial"/>
                <a:cs typeface="Arial"/>
              </a:defRPr>
            </a:pPr>
            <a:r>
              <a:rPr sz="8250" b="1">
                <a:solidFill>
                  <a:srgbClr val="FFFFFF"/>
                </a:solidFill>
                <a:latin typeface="Arial"/>
                <a:ea typeface="Arial"/>
                <a:cs typeface="Arial"/>
              </a:rPr>
              <a:t>Polyglot</a:t>
            </a:r>
          </a:p>
        </p:txBody>
      </p:sp>
      <p:sp>
        <p:nvSpPr>
          <p:cNvPr id="2" name="Rectangle 1">
            <a:extLst>
              <a:ext uri="{FF2B5EF4-FFF2-40B4-BE49-F238E27FC236}">
                <a16:creationId xmlns:a16="http://schemas.microsoft.com/office/drawing/2014/main" id="{0DBEB3A9-7256-4781-9A49-4018B3159249}"/>
              </a:ext>
            </a:extLst>
          </p:cNvPr>
          <p:cNvSpPr>
            <a:spLocks noGrp="1"/>
          </p:cNvSpPr>
          <p:nvPr/>
        </p:nvSpPr>
        <p:spPr>
          <a:xfrm>
            <a:off x="666750" y="3095625"/>
            <a:ext cx="9810750" cy="666750"/>
          </a:xfrm>
          <a:prstGeom prst="rect">
            <a:avLst/>
          </a:prstGeom>
          <a:noFill/>
          <a:ln w="0">
            <a:noFill/>
          </a:ln>
        </p:spPr>
        <p:txBody>
          <a:bodyPr wrap="square" lIns="0" tIns="0" rIns="0" bIns="0" anchor="t">
            <a:noAutofit/>
          </a:bodyPr>
          <a:lstStyle>
            <a:defPPr>
              <a:defRPr sz="3300" b="1">
                <a:solidFill>
                  <a:srgbClr val="44DDBB"/>
                </a:solidFill>
                <a:latin typeface="Arial"/>
                <a:ea typeface="Arial"/>
                <a:cs typeface="Arial"/>
              </a:defRPr>
            </a:defPPr>
            <a:lvl1pPr>
              <a:defRPr sz="3300" b="1">
                <a:solidFill>
                  <a:srgbClr val="44DDBB"/>
                </a:solidFill>
                <a:latin typeface="Arial"/>
                <a:ea typeface="Arial"/>
                <a:cs typeface="Arial"/>
              </a:defRPr>
            </a:lvl1pPr>
            <a:lvl2pPr>
              <a:defRPr sz="3300" b="1">
                <a:solidFill>
                  <a:srgbClr val="44DDBB"/>
                </a:solidFill>
                <a:latin typeface="Arial"/>
                <a:ea typeface="Arial"/>
                <a:cs typeface="Arial"/>
              </a:defRPr>
            </a:lvl2pPr>
            <a:lvl3pPr>
              <a:defRPr sz="3300" b="1">
                <a:solidFill>
                  <a:srgbClr val="44DDBB"/>
                </a:solidFill>
                <a:latin typeface="Arial"/>
                <a:ea typeface="Arial"/>
                <a:cs typeface="Arial"/>
              </a:defRPr>
            </a:lvl3pPr>
            <a:lvl4pPr>
              <a:defRPr sz="3300" b="1">
                <a:solidFill>
                  <a:srgbClr val="44DDBB"/>
                </a:solidFill>
                <a:latin typeface="Arial"/>
                <a:ea typeface="Arial"/>
                <a:cs typeface="Arial"/>
              </a:defRPr>
            </a:lvl4pPr>
            <a:lvl5pPr>
              <a:defRPr sz="3300" b="1">
                <a:solidFill>
                  <a:srgbClr val="44DDBB"/>
                </a:solidFill>
                <a:latin typeface="Arial"/>
                <a:ea typeface="Arial"/>
                <a:cs typeface="Arial"/>
              </a:defRPr>
            </a:lvl5pPr>
            <a:lvl6pPr>
              <a:defRPr sz="3300" b="1">
                <a:solidFill>
                  <a:srgbClr val="44DDBB"/>
                </a:solidFill>
                <a:latin typeface="Arial"/>
                <a:ea typeface="Arial"/>
                <a:cs typeface="Arial"/>
              </a:defRPr>
            </a:lvl6pPr>
            <a:lvl7pPr>
              <a:defRPr sz="3300" b="1">
                <a:solidFill>
                  <a:srgbClr val="44DDBB"/>
                </a:solidFill>
                <a:latin typeface="Arial"/>
                <a:ea typeface="Arial"/>
                <a:cs typeface="Arial"/>
              </a:defRPr>
            </a:lvl7pPr>
            <a:lvl8pPr>
              <a:defRPr sz="3300" b="1">
                <a:solidFill>
                  <a:srgbClr val="44DDBB"/>
                </a:solidFill>
                <a:latin typeface="Arial"/>
                <a:ea typeface="Arial"/>
                <a:cs typeface="Arial"/>
              </a:defRPr>
            </a:lvl8pPr>
            <a:lvl9pPr>
              <a:defRPr sz="3300" b="1">
                <a:solidFill>
                  <a:srgbClr val="44DDBB"/>
                </a:solidFill>
                <a:latin typeface="Arial"/>
                <a:ea typeface="Arial"/>
                <a:cs typeface="Arial"/>
              </a:defRPr>
            </a:lvl9pPr>
          </a:lstStyle>
          <a:p>
            <a:pPr>
              <a:defRPr sz="3300" b="1">
                <a:solidFill>
                  <a:srgbClr val="44DDBB"/>
                </a:solidFill>
                <a:latin typeface="Arial"/>
                <a:ea typeface="Arial"/>
                <a:cs typeface="Arial"/>
              </a:defRPr>
            </a:pPr>
            <a:r>
              <a:rPr sz="3300" b="1">
                <a:solidFill>
                  <a:srgbClr val="44DDBB"/>
                </a:solidFill>
                <a:latin typeface="Arial"/>
                <a:ea typeface="Arial"/>
                <a:cs typeface="Arial"/>
              </a:rPr>
              <a:t>A compiler for mixed syntax</a:t>
            </a:r>
          </a:p>
        </p:txBody>
      </p:sp>
      <p:sp>
        <p:nvSpPr>
          <p:cNvPr id="3" name="Rectangle 2">
            <a:extLst>
              <a:ext uri="{FF2B5EF4-FFF2-40B4-BE49-F238E27FC236}">
                <a16:creationId xmlns:a16="http://schemas.microsoft.com/office/drawing/2014/main" id="{5C7097BE-F1CE-4928-B4B6-195AC0D49AD8}"/>
              </a:ext>
            </a:extLst>
          </p:cNvPr>
          <p:cNvSpPr>
            <a:spLocks noGrp="1"/>
          </p:cNvSpPr>
          <p:nvPr/>
        </p:nvSpPr>
        <p:spPr>
          <a:xfrm>
            <a:off x="685800" y="4076700"/>
            <a:ext cx="9525000" cy="523875"/>
          </a:xfrm>
          <a:prstGeom prst="rect">
            <a:avLst/>
          </a:prstGeom>
          <a:noFill/>
          <a:ln w="0">
            <a:noFill/>
          </a:ln>
        </p:spPr>
        <p:txBody>
          <a:bodyPr wrap="square" lIns="0" tIns="0" rIns="0" bIns="0" anchor="t">
            <a:noAutofit/>
          </a:bodyPr>
          <a:lstStyle>
            <a:defPPr>
              <a:defRPr sz="2250" b="0">
                <a:solidFill>
                  <a:srgbClr val="C0CDE0"/>
                </a:solidFill>
                <a:latin typeface="Arial"/>
                <a:ea typeface="Arial"/>
                <a:cs typeface="Arial"/>
              </a:defRPr>
            </a:defPPr>
            <a:lvl1pPr>
              <a:defRPr sz="2250" b="0">
                <a:solidFill>
                  <a:srgbClr val="C0CDE0"/>
                </a:solidFill>
                <a:latin typeface="Arial"/>
                <a:ea typeface="Arial"/>
                <a:cs typeface="Arial"/>
              </a:defRPr>
            </a:lvl1pPr>
            <a:lvl2pPr>
              <a:defRPr sz="2250" b="0">
                <a:solidFill>
                  <a:srgbClr val="C0CDE0"/>
                </a:solidFill>
                <a:latin typeface="Arial"/>
                <a:ea typeface="Arial"/>
                <a:cs typeface="Arial"/>
              </a:defRPr>
            </a:lvl2pPr>
            <a:lvl3pPr>
              <a:defRPr sz="2250" b="0">
                <a:solidFill>
                  <a:srgbClr val="C0CDE0"/>
                </a:solidFill>
                <a:latin typeface="Arial"/>
                <a:ea typeface="Arial"/>
                <a:cs typeface="Arial"/>
              </a:defRPr>
            </a:lvl3pPr>
            <a:lvl4pPr>
              <a:defRPr sz="2250" b="0">
                <a:solidFill>
                  <a:srgbClr val="C0CDE0"/>
                </a:solidFill>
                <a:latin typeface="Arial"/>
                <a:ea typeface="Arial"/>
                <a:cs typeface="Arial"/>
              </a:defRPr>
            </a:lvl4pPr>
            <a:lvl5pPr>
              <a:defRPr sz="2250" b="0">
                <a:solidFill>
                  <a:srgbClr val="C0CDE0"/>
                </a:solidFill>
                <a:latin typeface="Arial"/>
                <a:ea typeface="Arial"/>
                <a:cs typeface="Arial"/>
              </a:defRPr>
            </a:lvl5pPr>
            <a:lvl6pPr>
              <a:defRPr sz="2250" b="0">
                <a:solidFill>
                  <a:srgbClr val="C0CDE0"/>
                </a:solidFill>
                <a:latin typeface="Arial"/>
                <a:ea typeface="Arial"/>
                <a:cs typeface="Arial"/>
              </a:defRPr>
            </a:lvl6pPr>
            <a:lvl7pPr>
              <a:defRPr sz="2250" b="0">
                <a:solidFill>
                  <a:srgbClr val="C0CDE0"/>
                </a:solidFill>
                <a:latin typeface="Arial"/>
                <a:ea typeface="Arial"/>
                <a:cs typeface="Arial"/>
              </a:defRPr>
            </a:lvl7pPr>
            <a:lvl8pPr>
              <a:defRPr sz="2250" b="0">
                <a:solidFill>
                  <a:srgbClr val="C0CDE0"/>
                </a:solidFill>
                <a:latin typeface="Arial"/>
                <a:ea typeface="Arial"/>
                <a:cs typeface="Arial"/>
              </a:defRPr>
            </a:lvl8pPr>
            <a:lvl9pPr>
              <a:defRPr sz="2250" b="0">
                <a:solidFill>
                  <a:srgbClr val="C0CDE0"/>
                </a:solidFill>
                <a:latin typeface="Arial"/>
                <a:ea typeface="Arial"/>
                <a:cs typeface="Arial"/>
              </a:defRPr>
            </a:lvl9pPr>
          </a:lstStyle>
          <a:p>
            <a:pPr>
              <a:defRPr sz="2250" b="0">
                <a:solidFill>
                  <a:srgbClr val="C0CDE0"/>
                </a:solidFill>
                <a:latin typeface="Arial"/>
                <a:ea typeface="Arial"/>
                <a:cs typeface="Arial"/>
              </a:defRPr>
            </a:pPr>
            <a:r>
              <a:rPr sz="2250" b="0">
                <a:solidFill>
                  <a:srgbClr val="C0CDE0"/>
                </a:solidFill>
                <a:latin typeface="Arial"/>
                <a:ea typeface="Arial"/>
                <a:cs typeface="Arial"/>
              </a:rPr>
              <a:t>Compiler Design Project</a:t>
            </a:r>
          </a:p>
        </p:txBody>
      </p:sp>
      <p:sp>
        <p:nvSpPr>
          <p:cNvPr id="4" name="Rectangle 3">
            <a:extLst>
              <a:ext uri="{FF2B5EF4-FFF2-40B4-BE49-F238E27FC236}">
                <a16:creationId xmlns:a16="http://schemas.microsoft.com/office/drawing/2014/main" id="{5CF35BB9-CD11-4181-AA39-DFF9F06E3AED}"/>
              </a:ext>
            </a:extLst>
          </p:cNvPr>
          <p:cNvSpPr>
            <a:spLocks noGrp="1"/>
          </p:cNvSpPr>
          <p:nvPr/>
        </p:nvSpPr>
        <p:spPr>
          <a:xfrm>
            <a:off x="685800" y="5210175"/>
            <a:ext cx="10001250" cy="714375"/>
          </a:xfrm>
          <a:prstGeom prst="rect">
            <a:avLst/>
          </a:prstGeom>
          <a:noFill/>
          <a:ln w="0">
            <a:noFill/>
          </a:ln>
        </p:spPr>
        <p:txBody>
          <a:bodyPr wrap="square" lIns="0" tIns="0" rIns="0" bIns="0" anchor="t">
            <a:noAutofit/>
          </a:bodyPr>
          <a:lstStyle>
            <a:defPPr>
              <a:defRPr sz="1950" b="0">
                <a:solidFill>
                  <a:srgbClr val="91A4BF"/>
                </a:solidFill>
                <a:latin typeface="Arial"/>
                <a:ea typeface="Arial"/>
                <a:cs typeface="Arial"/>
              </a:defRPr>
            </a:defPPr>
            <a:lvl1pPr>
              <a:defRPr sz="1950" b="0">
                <a:solidFill>
                  <a:srgbClr val="91A4BF"/>
                </a:solidFill>
                <a:latin typeface="Arial"/>
                <a:ea typeface="Arial"/>
                <a:cs typeface="Arial"/>
              </a:defRPr>
            </a:lvl1pPr>
            <a:lvl2pPr>
              <a:defRPr sz="1950" b="0">
                <a:solidFill>
                  <a:srgbClr val="91A4BF"/>
                </a:solidFill>
                <a:latin typeface="Arial"/>
                <a:ea typeface="Arial"/>
                <a:cs typeface="Arial"/>
              </a:defRPr>
            </a:lvl2pPr>
            <a:lvl3pPr>
              <a:defRPr sz="1950" b="0">
                <a:solidFill>
                  <a:srgbClr val="91A4BF"/>
                </a:solidFill>
                <a:latin typeface="Arial"/>
                <a:ea typeface="Arial"/>
                <a:cs typeface="Arial"/>
              </a:defRPr>
            </a:lvl3pPr>
            <a:lvl4pPr>
              <a:defRPr sz="1950" b="0">
                <a:solidFill>
                  <a:srgbClr val="91A4BF"/>
                </a:solidFill>
                <a:latin typeface="Arial"/>
                <a:ea typeface="Arial"/>
                <a:cs typeface="Arial"/>
              </a:defRPr>
            </a:lvl4pPr>
            <a:lvl5pPr>
              <a:defRPr sz="1950" b="0">
                <a:solidFill>
                  <a:srgbClr val="91A4BF"/>
                </a:solidFill>
                <a:latin typeface="Arial"/>
                <a:ea typeface="Arial"/>
                <a:cs typeface="Arial"/>
              </a:defRPr>
            </a:lvl5pPr>
            <a:lvl6pPr>
              <a:defRPr sz="1950" b="0">
                <a:solidFill>
                  <a:srgbClr val="91A4BF"/>
                </a:solidFill>
                <a:latin typeface="Arial"/>
                <a:ea typeface="Arial"/>
                <a:cs typeface="Arial"/>
              </a:defRPr>
            </a:lvl6pPr>
            <a:lvl7pPr>
              <a:defRPr sz="1950" b="0">
                <a:solidFill>
                  <a:srgbClr val="91A4BF"/>
                </a:solidFill>
                <a:latin typeface="Arial"/>
                <a:ea typeface="Arial"/>
                <a:cs typeface="Arial"/>
              </a:defRPr>
            </a:lvl7pPr>
            <a:lvl8pPr>
              <a:defRPr sz="1950" b="0">
                <a:solidFill>
                  <a:srgbClr val="91A4BF"/>
                </a:solidFill>
                <a:latin typeface="Arial"/>
                <a:ea typeface="Arial"/>
                <a:cs typeface="Arial"/>
              </a:defRPr>
            </a:lvl8pPr>
            <a:lvl9pPr>
              <a:defRPr sz="1950" b="0">
                <a:solidFill>
                  <a:srgbClr val="91A4BF"/>
                </a:solidFill>
                <a:latin typeface="Arial"/>
                <a:ea typeface="Arial"/>
                <a:cs typeface="Arial"/>
              </a:defRPr>
            </a:lvl9pPr>
          </a:lstStyle>
          <a:p>
            <a:pPr>
              <a:defRPr sz="1950" b="0">
                <a:solidFill>
                  <a:srgbClr val="91A4BF"/>
                </a:solidFill>
                <a:latin typeface="Arial"/>
                <a:ea typeface="Arial"/>
                <a:cs typeface="Arial"/>
              </a:defRPr>
            </a:pPr>
            <a:r>
              <a:rPr sz="1950" b="0">
                <a:solidFill>
                  <a:srgbClr val="91A4BF"/>
                </a:solidFill>
                <a:latin typeface="Arial"/>
                <a:ea typeface="Arial"/>
                <a:cs typeface="Arial"/>
              </a:rPr>
              <a:t>Source code, typed IR, optimization and a custom virtual machine</a:t>
            </a:r>
          </a:p>
        </p:txBody>
      </p:sp>
    </p:spTree>
    <p:extLst>
      <p:ext uri="{BB962C8B-B14F-4D97-AF65-F5344CB8AC3E}">
        <p14:creationId xmlns:p14="http://schemas.microsoft.com/office/powerpoint/2010/main" val="1073713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40C8A16-0DAF-4190-A1C7-BD03692AE167}"/>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The basic idea</a:t>
            </a:r>
          </a:p>
        </p:txBody>
      </p:sp>
      <p:sp>
        <p:nvSpPr>
          <p:cNvPr id="2" name="Rectangle 1">
            <a:extLst>
              <a:ext uri="{FF2B5EF4-FFF2-40B4-BE49-F238E27FC236}">
                <a16:creationId xmlns:a16="http://schemas.microsoft.com/office/drawing/2014/main" id="{E9DE50BB-1993-4628-871C-1DAA92FBDF50}"/>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Different syntax forms share one language model</a:t>
            </a:r>
          </a:p>
        </p:txBody>
      </p:sp>
      <p:sp>
        <p:nvSpPr>
          <p:cNvPr id="3" name="Rectangle 2">
            <a:extLst>
              <a:ext uri="{FF2B5EF4-FFF2-40B4-BE49-F238E27FC236}">
                <a16:creationId xmlns:a16="http://schemas.microsoft.com/office/drawing/2014/main" id="{41F2F938-D0AF-410C-BB70-030C46E60599}"/>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02</a:t>
            </a:r>
          </a:p>
        </p:txBody>
      </p:sp>
      <p:sp>
        <p:nvSpPr>
          <p:cNvPr id="4" name="Rectangle 3">
            <a:extLst>
              <a:ext uri="{FF2B5EF4-FFF2-40B4-BE49-F238E27FC236}">
                <a16:creationId xmlns:a16="http://schemas.microsoft.com/office/drawing/2014/main" id="{7D063D11-4733-4384-AA78-37012F44B0E9}"/>
              </a:ext>
            </a:extLst>
          </p:cNvPr>
          <p:cNvSpPr>
            <a:spLocks noGrp="1"/>
          </p:cNvSpPr>
          <p:nvPr/>
        </p:nvSpPr>
        <p:spPr>
          <a:xfrm>
            <a:off x="609600" y="2162175"/>
            <a:ext cx="4762500" cy="514350"/>
          </a:xfrm>
          <a:prstGeom prst="rect">
            <a:avLst/>
          </a:prstGeom>
          <a:noFill/>
          <a:ln w="0">
            <a:noFill/>
          </a:ln>
        </p:spPr>
        <p:txBody>
          <a:bodyPr wrap="square" lIns="0" tIns="0" rIns="0" bIns="0" anchor="t">
            <a:noAutofit/>
          </a:bodyPr>
          <a:lstStyle>
            <a:defPPr>
              <a:defRPr sz="2850" b="1">
                <a:solidFill>
                  <a:srgbClr val="245EEA"/>
                </a:solidFill>
                <a:latin typeface="Arial"/>
                <a:ea typeface="Arial"/>
                <a:cs typeface="Arial"/>
              </a:defRPr>
            </a:defPPr>
            <a:lvl1pPr>
              <a:defRPr sz="2850" b="1">
                <a:solidFill>
                  <a:srgbClr val="245EEA"/>
                </a:solidFill>
                <a:latin typeface="Arial"/>
                <a:ea typeface="Arial"/>
                <a:cs typeface="Arial"/>
              </a:defRPr>
            </a:lvl1pPr>
            <a:lvl2pPr>
              <a:defRPr sz="2850" b="1">
                <a:solidFill>
                  <a:srgbClr val="245EEA"/>
                </a:solidFill>
                <a:latin typeface="Arial"/>
                <a:ea typeface="Arial"/>
                <a:cs typeface="Arial"/>
              </a:defRPr>
            </a:lvl2pPr>
            <a:lvl3pPr>
              <a:defRPr sz="2850" b="1">
                <a:solidFill>
                  <a:srgbClr val="245EEA"/>
                </a:solidFill>
                <a:latin typeface="Arial"/>
                <a:ea typeface="Arial"/>
                <a:cs typeface="Arial"/>
              </a:defRPr>
            </a:lvl3pPr>
            <a:lvl4pPr>
              <a:defRPr sz="2850" b="1">
                <a:solidFill>
                  <a:srgbClr val="245EEA"/>
                </a:solidFill>
                <a:latin typeface="Arial"/>
                <a:ea typeface="Arial"/>
                <a:cs typeface="Arial"/>
              </a:defRPr>
            </a:lvl4pPr>
            <a:lvl5pPr>
              <a:defRPr sz="2850" b="1">
                <a:solidFill>
                  <a:srgbClr val="245EEA"/>
                </a:solidFill>
                <a:latin typeface="Arial"/>
                <a:ea typeface="Arial"/>
                <a:cs typeface="Arial"/>
              </a:defRPr>
            </a:lvl5pPr>
            <a:lvl6pPr>
              <a:defRPr sz="2850" b="1">
                <a:solidFill>
                  <a:srgbClr val="245EEA"/>
                </a:solidFill>
                <a:latin typeface="Arial"/>
                <a:ea typeface="Arial"/>
                <a:cs typeface="Arial"/>
              </a:defRPr>
            </a:lvl6pPr>
            <a:lvl7pPr>
              <a:defRPr sz="2850" b="1">
                <a:solidFill>
                  <a:srgbClr val="245EEA"/>
                </a:solidFill>
                <a:latin typeface="Arial"/>
                <a:ea typeface="Arial"/>
                <a:cs typeface="Arial"/>
              </a:defRPr>
            </a:lvl7pPr>
            <a:lvl8pPr>
              <a:defRPr sz="2850" b="1">
                <a:solidFill>
                  <a:srgbClr val="245EEA"/>
                </a:solidFill>
                <a:latin typeface="Arial"/>
                <a:ea typeface="Arial"/>
                <a:cs typeface="Arial"/>
              </a:defRPr>
            </a:lvl8pPr>
            <a:lvl9pPr>
              <a:defRPr sz="2850" b="1">
                <a:solidFill>
                  <a:srgbClr val="245EEA"/>
                </a:solidFill>
                <a:latin typeface="Arial"/>
                <a:ea typeface="Arial"/>
                <a:cs typeface="Arial"/>
              </a:defRPr>
            </a:lvl9pPr>
          </a:lstStyle>
          <a:p>
            <a:pPr>
              <a:defRPr sz="2850" b="1">
                <a:solidFill>
                  <a:srgbClr val="245EEA"/>
                </a:solidFill>
                <a:latin typeface="Arial"/>
                <a:ea typeface="Arial"/>
                <a:cs typeface="Arial"/>
              </a:defRPr>
            </a:pPr>
            <a:r>
              <a:rPr sz="2850" b="1">
                <a:solidFill>
                  <a:srgbClr val="245EEA"/>
                </a:solidFill>
                <a:latin typeface="Arial"/>
                <a:ea typeface="Arial"/>
                <a:cs typeface="Arial"/>
              </a:rPr>
              <a:t>Many familiar spellings</a:t>
            </a:r>
          </a:p>
        </p:txBody>
      </p:sp>
      <p:sp>
        <p:nvSpPr>
          <p:cNvPr id="5" name="Rectangle 4">
            <a:extLst>
              <a:ext uri="{FF2B5EF4-FFF2-40B4-BE49-F238E27FC236}">
                <a16:creationId xmlns:a16="http://schemas.microsoft.com/office/drawing/2014/main" id="{6D9EC8B5-6C1F-4A09-BBE5-4AA0114B4F00}"/>
              </a:ext>
            </a:extLst>
          </p:cNvPr>
          <p:cNvSpPr>
            <a:spLocks noGrp="1"/>
          </p:cNvSpPr>
          <p:nvPr/>
        </p:nvSpPr>
        <p:spPr>
          <a:xfrm>
            <a:off x="628650" y="2952750"/>
            <a:ext cx="5905500" cy="2381250"/>
          </a:xfrm>
          <a:prstGeom prst="rect">
            <a:avLst/>
          </a:prstGeom>
          <a:noFill/>
          <a:ln w="0">
            <a:noFill/>
          </a:ln>
        </p:spPr>
        <p:txBody>
          <a:bodyPr wrap="square" lIns="0" tIns="0" rIns="0" bIns="0" anchor="t">
            <a:noAutofit/>
          </a:bodyPr>
          <a:lstStyle>
            <a:defPPr>
              <a:defRPr sz="2025" b="0">
                <a:solidFill>
                  <a:srgbClr val="142238"/>
                </a:solidFill>
                <a:latin typeface="Courier New"/>
                <a:ea typeface="Courier New"/>
                <a:cs typeface="Courier New"/>
              </a:defRPr>
            </a:defPPr>
            <a:lvl1pPr>
              <a:defRPr sz="2025" b="0">
                <a:solidFill>
                  <a:srgbClr val="142238"/>
                </a:solidFill>
                <a:latin typeface="Courier New"/>
                <a:ea typeface="Courier New"/>
                <a:cs typeface="Courier New"/>
              </a:defRPr>
            </a:lvl1pPr>
            <a:lvl2pPr>
              <a:defRPr sz="2025" b="0">
                <a:solidFill>
                  <a:srgbClr val="142238"/>
                </a:solidFill>
                <a:latin typeface="Courier New"/>
                <a:ea typeface="Courier New"/>
                <a:cs typeface="Courier New"/>
              </a:defRPr>
            </a:lvl2pPr>
            <a:lvl3pPr>
              <a:defRPr sz="2025" b="0">
                <a:solidFill>
                  <a:srgbClr val="142238"/>
                </a:solidFill>
                <a:latin typeface="Courier New"/>
                <a:ea typeface="Courier New"/>
                <a:cs typeface="Courier New"/>
              </a:defRPr>
            </a:lvl3pPr>
            <a:lvl4pPr>
              <a:defRPr sz="2025" b="0">
                <a:solidFill>
                  <a:srgbClr val="142238"/>
                </a:solidFill>
                <a:latin typeface="Courier New"/>
                <a:ea typeface="Courier New"/>
                <a:cs typeface="Courier New"/>
              </a:defRPr>
            </a:lvl4pPr>
            <a:lvl5pPr>
              <a:defRPr sz="2025" b="0">
                <a:solidFill>
                  <a:srgbClr val="142238"/>
                </a:solidFill>
                <a:latin typeface="Courier New"/>
                <a:ea typeface="Courier New"/>
                <a:cs typeface="Courier New"/>
              </a:defRPr>
            </a:lvl5pPr>
            <a:lvl6pPr>
              <a:defRPr sz="2025" b="0">
                <a:solidFill>
                  <a:srgbClr val="142238"/>
                </a:solidFill>
                <a:latin typeface="Courier New"/>
                <a:ea typeface="Courier New"/>
                <a:cs typeface="Courier New"/>
              </a:defRPr>
            </a:lvl6pPr>
            <a:lvl7pPr>
              <a:defRPr sz="2025" b="0">
                <a:solidFill>
                  <a:srgbClr val="142238"/>
                </a:solidFill>
                <a:latin typeface="Courier New"/>
                <a:ea typeface="Courier New"/>
                <a:cs typeface="Courier New"/>
              </a:defRPr>
            </a:lvl7pPr>
            <a:lvl8pPr>
              <a:defRPr sz="2025" b="0">
                <a:solidFill>
                  <a:srgbClr val="142238"/>
                </a:solidFill>
                <a:latin typeface="Courier New"/>
                <a:ea typeface="Courier New"/>
                <a:cs typeface="Courier New"/>
              </a:defRPr>
            </a:lvl8pPr>
            <a:lvl9pPr>
              <a:defRPr sz="2025" b="0">
                <a:solidFill>
                  <a:srgbClr val="142238"/>
                </a:solidFill>
                <a:latin typeface="Courier New"/>
                <a:ea typeface="Courier New"/>
                <a:cs typeface="Courier New"/>
              </a:defRPr>
            </a:lvl9pPr>
          </a:lstStyle>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print(value)</a:t>
            </a: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System.out.println(value);</a:t>
            </a: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std::cout &lt;&lt; value &lt;&lt; std::endl;</a:t>
            </a: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console.log(value);</a:t>
            </a: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PRINT value</a:t>
            </a:r>
          </a:p>
        </p:txBody>
      </p:sp>
      <p:sp>
        <p:nvSpPr>
          <p:cNvPr id="6" name="Rectangle 5">
            <a:extLst>
              <a:ext uri="{FF2B5EF4-FFF2-40B4-BE49-F238E27FC236}">
                <a16:creationId xmlns:a16="http://schemas.microsoft.com/office/drawing/2014/main" id="{8437BECB-F7C0-46DD-9B5D-8C13280694F8}"/>
              </a:ext>
            </a:extLst>
          </p:cNvPr>
          <p:cNvSpPr>
            <a:spLocks noGrp="1"/>
          </p:cNvSpPr>
          <p:nvPr/>
        </p:nvSpPr>
        <p:spPr>
          <a:xfrm>
            <a:off x="7477125" y="2162175"/>
            <a:ext cx="4000500" cy="514350"/>
          </a:xfrm>
          <a:prstGeom prst="rect">
            <a:avLst/>
          </a:prstGeom>
          <a:noFill/>
          <a:ln w="0">
            <a:noFill/>
          </a:ln>
        </p:spPr>
        <p:txBody>
          <a:bodyPr wrap="square" lIns="0" tIns="0" rIns="0" bIns="0" anchor="t">
            <a:noAutofit/>
          </a:bodyPr>
          <a:lstStyle>
            <a:defPPr>
              <a:defRPr sz="2850" b="1">
                <a:solidFill>
                  <a:srgbClr val="245EEA"/>
                </a:solidFill>
                <a:latin typeface="Arial"/>
                <a:ea typeface="Arial"/>
                <a:cs typeface="Arial"/>
              </a:defRPr>
            </a:defPPr>
            <a:lvl1pPr>
              <a:defRPr sz="2850" b="1">
                <a:solidFill>
                  <a:srgbClr val="245EEA"/>
                </a:solidFill>
                <a:latin typeface="Arial"/>
                <a:ea typeface="Arial"/>
                <a:cs typeface="Arial"/>
              </a:defRPr>
            </a:lvl1pPr>
            <a:lvl2pPr>
              <a:defRPr sz="2850" b="1">
                <a:solidFill>
                  <a:srgbClr val="245EEA"/>
                </a:solidFill>
                <a:latin typeface="Arial"/>
                <a:ea typeface="Arial"/>
                <a:cs typeface="Arial"/>
              </a:defRPr>
            </a:lvl2pPr>
            <a:lvl3pPr>
              <a:defRPr sz="2850" b="1">
                <a:solidFill>
                  <a:srgbClr val="245EEA"/>
                </a:solidFill>
                <a:latin typeface="Arial"/>
                <a:ea typeface="Arial"/>
                <a:cs typeface="Arial"/>
              </a:defRPr>
            </a:lvl3pPr>
            <a:lvl4pPr>
              <a:defRPr sz="2850" b="1">
                <a:solidFill>
                  <a:srgbClr val="245EEA"/>
                </a:solidFill>
                <a:latin typeface="Arial"/>
                <a:ea typeface="Arial"/>
                <a:cs typeface="Arial"/>
              </a:defRPr>
            </a:lvl4pPr>
            <a:lvl5pPr>
              <a:defRPr sz="2850" b="1">
                <a:solidFill>
                  <a:srgbClr val="245EEA"/>
                </a:solidFill>
                <a:latin typeface="Arial"/>
                <a:ea typeface="Arial"/>
                <a:cs typeface="Arial"/>
              </a:defRPr>
            </a:lvl5pPr>
            <a:lvl6pPr>
              <a:defRPr sz="2850" b="1">
                <a:solidFill>
                  <a:srgbClr val="245EEA"/>
                </a:solidFill>
                <a:latin typeface="Arial"/>
                <a:ea typeface="Arial"/>
                <a:cs typeface="Arial"/>
              </a:defRPr>
            </a:lvl6pPr>
            <a:lvl7pPr>
              <a:defRPr sz="2850" b="1">
                <a:solidFill>
                  <a:srgbClr val="245EEA"/>
                </a:solidFill>
                <a:latin typeface="Arial"/>
                <a:ea typeface="Arial"/>
                <a:cs typeface="Arial"/>
              </a:defRPr>
            </a:lvl7pPr>
            <a:lvl8pPr>
              <a:defRPr sz="2850" b="1">
                <a:solidFill>
                  <a:srgbClr val="245EEA"/>
                </a:solidFill>
                <a:latin typeface="Arial"/>
                <a:ea typeface="Arial"/>
                <a:cs typeface="Arial"/>
              </a:defRPr>
            </a:lvl8pPr>
            <a:lvl9pPr>
              <a:defRPr sz="2850" b="1">
                <a:solidFill>
                  <a:srgbClr val="245EEA"/>
                </a:solidFill>
                <a:latin typeface="Arial"/>
                <a:ea typeface="Arial"/>
                <a:cs typeface="Arial"/>
              </a:defRPr>
            </a:lvl9pPr>
          </a:lstStyle>
          <a:p>
            <a:pPr>
              <a:defRPr sz="2850" b="1">
                <a:solidFill>
                  <a:srgbClr val="245EEA"/>
                </a:solidFill>
                <a:latin typeface="Arial"/>
                <a:ea typeface="Arial"/>
                <a:cs typeface="Arial"/>
              </a:defRPr>
            </a:pPr>
            <a:r>
              <a:rPr sz="2850" b="1">
                <a:solidFill>
                  <a:srgbClr val="245EEA"/>
                </a:solidFill>
                <a:latin typeface="Arial"/>
                <a:ea typeface="Arial"/>
                <a:cs typeface="Arial"/>
              </a:rPr>
              <a:t>One compiler</a:t>
            </a:r>
          </a:p>
        </p:txBody>
      </p:sp>
      <p:sp>
        <p:nvSpPr>
          <p:cNvPr id="7" name="Rectangle 6">
            <a:extLst>
              <a:ext uri="{FF2B5EF4-FFF2-40B4-BE49-F238E27FC236}">
                <a16:creationId xmlns:a16="http://schemas.microsoft.com/office/drawing/2014/main" id="{38440340-4075-43A9-98C8-1AE7CF13DA0B}"/>
              </a:ext>
            </a:extLst>
          </p:cNvPr>
          <p:cNvSpPr>
            <a:spLocks noGrp="1"/>
          </p:cNvSpPr>
          <p:nvPr/>
        </p:nvSpPr>
        <p:spPr>
          <a:xfrm>
            <a:off x="7477125" y="2952750"/>
            <a:ext cx="4000500" cy="1714500"/>
          </a:xfrm>
          <a:prstGeom prst="rect">
            <a:avLst/>
          </a:prstGeom>
          <a:noFill/>
          <a:ln w="0">
            <a:noFill/>
          </a:ln>
        </p:spPr>
        <p:txBody>
          <a:bodyPr wrap="square" lIns="0" tIns="0" rIns="0" bIns="0" anchor="t">
            <a:noAutofit/>
          </a:bodyPr>
          <a:lstStyle>
            <a:defPPr>
              <a:defRPr sz="2325" b="0">
                <a:solidFill>
                  <a:srgbClr val="142238"/>
                </a:solidFill>
                <a:latin typeface="Arial"/>
                <a:ea typeface="Arial"/>
                <a:cs typeface="Arial"/>
              </a:defRPr>
            </a:defPPr>
            <a:lvl1pPr>
              <a:defRPr sz="2325" b="0">
                <a:solidFill>
                  <a:srgbClr val="142238"/>
                </a:solidFill>
                <a:latin typeface="Arial"/>
                <a:ea typeface="Arial"/>
                <a:cs typeface="Arial"/>
              </a:defRPr>
            </a:lvl1pPr>
            <a:lvl2pPr>
              <a:defRPr sz="2325" b="0">
                <a:solidFill>
                  <a:srgbClr val="142238"/>
                </a:solidFill>
                <a:latin typeface="Arial"/>
                <a:ea typeface="Arial"/>
                <a:cs typeface="Arial"/>
              </a:defRPr>
            </a:lvl2pPr>
            <a:lvl3pPr>
              <a:defRPr sz="2325" b="0">
                <a:solidFill>
                  <a:srgbClr val="142238"/>
                </a:solidFill>
                <a:latin typeface="Arial"/>
                <a:ea typeface="Arial"/>
                <a:cs typeface="Arial"/>
              </a:defRPr>
            </a:lvl3pPr>
            <a:lvl4pPr>
              <a:defRPr sz="2325" b="0">
                <a:solidFill>
                  <a:srgbClr val="142238"/>
                </a:solidFill>
                <a:latin typeface="Arial"/>
                <a:ea typeface="Arial"/>
                <a:cs typeface="Arial"/>
              </a:defRPr>
            </a:lvl4pPr>
            <a:lvl5pPr>
              <a:defRPr sz="2325" b="0">
                <a:solidFill>
                  <a:srgbClr val="142238"/>
                </a:solidFill>
                <a:latin typeface="Arial"/>
                <a:ea typeface="Arial"/>
                <a:cs typeface="Arial"/>
              </a:defRPr>
            </a:lvl5pPr>
            <a:lvl6pPr>
              <a:defRPr sz="2325" b="0">
                <a:solidFill>
                  <a:srgbClr val="142238"/>
                </a:solidFill>
                <a:latin typeface="Arial"/>
                <a:ea typeface="Arial"/>
                <a:cs typeface="Arial"/>
              </a:defRPr>
            </a:lvl6pPr>
            <a:lvl7pPr>
              <a:defRPr sz="2325" b="0">
                <a:solidFill>
                  <a:srgbClr val="142238"/>
                </a:solidFill>
                <a:latin typeface="Arial"/>
                <a:ea typeface="Arial"/>
                <a:cs typeface="Arial"/>
              </a:defRPr>
            </a:lvl7pPr>
            <a:lvl8pPr>
              <a:defRPr sz="2325" b="0">
                <a:solidFill>
                  <a:srgbClr val="142238"/>
                </a:solidFill>
                <a:latin typeface="Arial"/>
                <a:ea typeface="Arial"/>
                <a:cs typeface="Arial"/>
              </a:defRPr>
            </a:lvl8pPr>
            <a:lvl9pPr>
              <a:defRPr sz="2325" b="0">
                <a:solidFill>
                  <a:srgbClr val="142238"/>
                </a:solidFill>
                <a:latin typeface="Arial"/>
                <a:ea typeface="Arial"/>
                <a:cs typeface="Arial"/>
              </a:defRPr>
            </a:lvl9pPr>
          </a:lstStyle>
          <a:p>
            <a:pPr>
              <a:defRPr sz="2325" b="0">
                <a:solidFill>
                  <a:srgbClr val="142238"/>
                </a:solidFill>
                <a:latin typeface="Arial"/>
                <a:ea typeface="Arial"/>
                <a:cs typeface="Arial"/>
              </a:defRPr>
            </a:pPr>
            <a:r>
              <a:rPr sz="2325" b="0">
                <a:solidFill>
                  <a:srgbClr val="142238"/>
                </a:solidFill>
                <a:latin typeface="Arial"/>
                <a:ea typeface="Arial"/>
                <a:cs typeface="Arial"/>
              </a:rPr>
              <a:t>The parser normalizes syntax. Shared type rules, IR and bytecode determine the result.</a:t>
            </a:r>
          </a:p>
        </p:txBody>
      </p:sp>
      <p:sp>
        <p:nvSpPr>
          <p:cNvPr id="8" name="Rectangle 7">
            <a:extLst>
              <a:ext uri="{FF2B5EF4-FFF2-40B4-BE49-F238E27FC236}">
                <a16:creationId xmlns:a16="http://schemas.microsoft.com/office/drawing/2014/main" id="{E027D9C8-861C-4130-B3D3-0B593EA06CA3}"/>
              </a:ext>
            </a:extLst>
          </p:cNvPr>
          <p:cNvSpPr>
            <a:spLocks noGrp="1"/>
          </p:cNvSpPr>
          <p:nvPr/>
        </p:nvSpPr>
        <p:spPr>
          <a:xfrm>
            <a:off x="628650" y="5753100"/>
            <a:ext cx="10572750" cy="47625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Selected syntax from Python, C, C++, Java, JavaScript and BASIC.</a:t>
            </a:r>
          </a:p>
        </p:txBody>
      </p:sp>
    </p:spTree>
    <p:extLst>
      <p:ext uri="{BB962C8B-B14F-4D97-AF65-F5344CB8AC3E}">
        <p14:creationId xmlns:p14="http://schemas.microsoft.com/office/powerpoint/2010/main" val="393798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5C9948-1054-4A61-B53A-F16AE7EBA10E}"/>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Supported language subset</a:t>
            </a:r>
          </a:p>
        </p:txBody>
      </p:sp>
      <p:sp>
        <p:nvSpPr>
          <p:cNvPr id="2" name="Rectangle 1">
            <a:extLst>
              <a:ext uri="{FF2B5EF4-FFF2-40B4-BE49-F238E27FC236}">
                <a16:creationId xmlns:a16="http://schemas.microsoft.com/office/drawing/2014/main" id="{871A1E50-7BDE-45AA-99CE-7EC36F387D26}"/>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A deliberately bounded grammar with real compilation and execution</a:t>
            </a:r>
          </a:p>
        </p:txBody>
      </p:sp>
      <p:sp>
        <p:nvSpPr>
          <p:cNvPr id="3" name="Rectangle 2">
            <a:extLst>
              <a:ext uri="{FF2B5EF4-FFF2-40B4-BE49-F238E27FC236}">
                <a16:creationId xmlns:a16="http://schemas.microsoft.com/office/drawing/2014/main" id="{6FC2FF29-2086-4757-B0E9-8BE33A4C907C}"/>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03</a:t>
            </a:r>
          </a:p>
        </p:txBody>
      </p:sp>
      <p:graphicFrame>
        <p:nvGraphicFramePr>
          <p:cNvPr id="4" name="Table 3">
            <a:extLst>
              <a:ext uri="{FF2B5EF4-FFF2-40B4-BE49-F238E27FC236}">
                <a16:creationId xmlns:a16="http://schemas.microsoft.com/office/drawing/2014/main" id="{6AA7996C-21FE-4FEF-B89D-571776F3848C}"/>
              </a:ext>
            </a:extLst>
          </p:cNvPr>
          <p:cNvGraphicFramePr/>
          <p:nvPr/>
        </p:nvGraphicFramePr>
        <p:xfrm>
          <a:off x="609600" y="1962150"/>
          <a:ext cx="10972800" cy="3429000"/>
        </p:xfrm>
        <a:graphic>
          <a:graphicData uri="http://schemas.openxmlformats.org/drawingml/2006/table">
            <a:tbl>
              <a:tblPr/>
              <a:tblGrid>
                <a:gridCol w="2381250">
                  <a:extLst>
                    <a:ext uri="{9D8B030D-6E8A-4147-A177-3AD203B41FA5}">
                      <a16:colId xmlns:a16="http://schemas.microsoft.com/office/drawing/2014/main" val="20000"/>
                    </a:ext>
                  </a:extLst>
                </a:gridCol>
                <a:gridCol w="8591550">
                  <a:extLst>
                    <a:ext uri="{9D8B030D-6E8A-4147-A177-3AD203B41FA5}">
                      <a16:colId xmlns:a16="http://schemas.microsoft.com/office/drawing/2014/main" val="20001"/>
                    </a:ext>
                  </a:extLst>
                </a:gridCol>
              </a:tblGrid>
              <a:tr h="571500">
                <a:tc>
                  <a:txBody>
                    <a:bodyPr/>
                    <a:lstStyle/>
                    <a:p>
                      <a:r>
                        <a:rPr sz="1875" b="1">
                          <a:solidFill>
                            <a:srgbClr val="142238"/>
                          </a:solidFill>
                          <a:latin typeface="Arial"/>
                          <a:ea typeface="Arial"/>
                          <a:cs typeface="Arial"/>
                        </a:rPr>
                        <a:t>Area</a:t>
                      </a:r>
                    </a:p>
                  </a:txBody>
                  <a:tcPr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a:lstStyle/>
                    <a:p>
                      <a:r>
                        <a:rPr sz="1875" b="1">
                          <a:solidFill>
                            <a:srgbClr val="142238"/>
                          </a:solidFill>
                          <a:latin typeface="Arial"/>
                          <a:ea typeface="Arial"/>
                          <a:cs typeface="Arial"/>
                        </a:rPr>
                        <a:t>Implemented support</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extLst>
                  <a:ext uri="{0D108BD9-81ED-4DB2-BD59-A6C34878D82A}">
                    <a16:rowId xmlns:a16="http://schemas.microsoft.com/office/drawing/2014/main" val="10000"/>
                  </a:ext>
                </a:extLst>
              </a:tr>
              <a:tr h="571500">
                <a:tc>
                  <a:txBody>
                    <a:bodyPr/>
                    <a:lstStyle/>
                    <a:p>
                      <a:r>
                        <a:rPr sz="1875" b="0">
                          <a:solidFill>
                            <a:srgbClr val="516174"/>
                          </a:solidFill>
                          <a:latin typeface="Arial"/>
                          <a:ea typeface="Arial"/>
                          <a:cs typeface="Arial"/>
                        </a:rPr>
                        <a:t>Values</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int, float, bool, string and one-dimensional arrays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1"/>
                  </a:ext>
                </a:extLst>
              </a:tr>
              <a:tr h="571500">
                <a:tc>
                  <a:txBody>
                    <a:bodyPr/>
                    <a:lstStyle/>
                    <a:p>
                      <a:r>
                        <a:rPr sz="1875" b="0">
                          <a:solidFill>
                            <a:srgbClr val="516174"/>
                          </a:solidFill>
                          <a:latin typeface="Arial"/>
                          <a:ea typeface="Arial"/>
                          <a:cs typeface="Arial"/>
                        </a:rPr>
                        <a:t>Functions</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Typed parameters and returns, forward calls and recursion</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2"/>
                  </a:ext>
                </a:extLst>
              </a:tr>
              <a:tr h="571500">
                <a:tc>
                  <a:txBody>
                    <a:bodyPr/>
                    <a:lstStyle/>
                    <a:p>
                      <a:r>
                        <a:rPr sz="1875" b="0">
                          <a:solidFill>
                            <a:srgbClr val="516174"/>
                          </a:solidFill>
                          <a:latin typeface="Arial"/>
                          <a:ea typeface="Arial"/>
                          <a:cs typeface="Arial"/>
                        </a:rPr>
                        <a:t>Control flow</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if / else, while, range, C-style for, break and continue</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3"/>
                  </a:ext>
                </a:extLst>
              </a:tr>
              <a:tr h="571500">
                <a:tc>
                  <a:txBody>
                    <a:bodyPr/>
                    <a:lstStyle/>
                    <a:p>
                      <a:r>
                        <a:rPr sz="1875" b="0">
                          <a:solidFill>
                            <a:srgbClr val="516174"/>
                          </a:solidFill>
                          <a:latin typeface="Arial"/>
                          <a:ea typeface="Arial"/>
                          <a:cs typeface="Arial"/>
                        </a:rPr>
                        <a:t>Declarations</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Inferred or explicit types, let / const and BASIC LET</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4"/>
                  </a:ext>
                </a:extLst>
              </a:tr>
              <a:tr h="571500">
                <a:tc>
                  <a:txBody>
                    <a:bodyPr/>
                    <a:lstStyle/>
                    <a:p>
                      <a:r>
                        <a:rPr sz="1875" b="0">
                          <a:solidFill>
                            <a:srgbClr val="516174"/>
                          </a:solidFill>
                          <a:latin typeface="Arial"/>
                          <a:ea typeface="Arial"/>
                          <a:cs typeface="Arial"/>
                        </a:rPr>
                        <a:t>Blocks and output</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Mixed indentation / braces and syntax-specific output forms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90E76E8A-4D30-4F43-B9A4-865C780F068F}"/>
              </a:ext>
            </a:extLst>
          </p:cNvPr>
          <p:cNvSpPr>
            <a:spLocks noGrp="1"/>
          </p:cNvSpPr>
          <p:nvPr/>
        </p:nvSpPr>
        <p:spPr>
          <a:xfrm>
            <a:off x="628650" y="5753100"/>
            <a:ext cx="10572750" cy="438150"/>
          </a:xfrm>
          <a:prstGeom prst="rect">
            <a:avLst/>
          </a:prstGeom>
          <a:noFill/>
          <a:ln w="0">
            <a:noFill/>
          </a:ln>
        </p:spPr>
        <p:txBody>
          <a:bodyPr wrap="square" lIns="0" tIns="0" rIns="0" bIns="0" anchor="t">
            <a:noAutofit/>
          </a:bodyPr>
          <a:lstStyle>
            <a:defPPr>
              <a:defRPr sz="2100" b="1">
                <a:solidFill>
                  <a:srgbClr val="245EEA"/>
                </a:solidFill>
                <a:latin typeface="Arial"/>
                <a:ea typeface="Arial"/>
                <a:cs typeface="Arial"/>
              </a:defRPr>
            </a:defPPr>
            <a:lvl1pPr>
              <a:defRPr sz="2100" b="1">
                <a:solidFill>
                  <a:srgbClr val="245EEA"/>
                </a:solidFill>
                <a:latin typeface="Arial"/>
                <a:ea typeface="Arial"/>
                <a:cs typeface="Arial"/>
              </a:defRPr>
            </a:lvl1pPr>
            <a:lvl2pPr>
              <a:defRPr sz="2100" b="1">
                <a:solidFill>
                  <a:srgbClr val="245EEA"/>
                </a:solidFill>
                <a:latin typeface="Arial"/>
                <a:ea typeface="Arial"/>
                <a:cs typeface="Arial"/>
              </a:defRPr>
            </a:lvl2pPr>
            <a:lvl3pPr>
              <a:defRPr sz="2100" b="1">
                <a:solidFill>
                  <a:srgbClr val="245EEA"/>
                </a:solidFill>
                <a:latin typeface="Arial"/>
                <a:ea typeface="Arial"/>
                <a:cs typeface="Arial"/>
              </a:defRPr>
            </a:lvl3pPr>
            <a:lvl4pPr>
              <a:defRPr sz="2100" b="1">
                <a:solidFill>
                  <a:srgbClr val="245EEA"/>
                </a:solidFill>
                <a:latin typeface="Arial"/>
                <a:ea typeface="Arial"/>
                <a:cs typeface="Arial"/>
              </a:defRPr>
            </a:lvl4pPr>
            <a:lvl5pPr>
              <a:defRPr sz="2100" b="1">
                <a:solidFill>
                  <a:srgbClr val="245EEA"/>
                </a:solidFill>
                <a:latin typeface="Arial"/>
                <a:ea typeface="Arial"/>
                <a:cs typeface="Arial"/>
              </a:defRPr>
            </a:lvl5pPr>
            <a:lvl6pPr>
              <a:defRPr sz="2100" b="1">
                <a:solidFill>
                  <a:srgbClr val="245EEA"/>
                </a:solidFill>
                <a:latin typeface="Arial"/>
                <a:ea typeface="Arial"/>
                <a:cs typeface="Arial"/>
              </a:defRPr>
            </a:lvl6pPr>
            <a:lvl7pPr>
              <a:defRPr sz="2100" b="1">
                <a:solidFill>
                  <a:srgbClr val="245EEA"/>
                </a:solidFill>
                <a:latin typeface="Arial"/>
                <a:ea typeface="Arial"/>
                <a:cs typeface="Arial"/>
              </a:defRPr>
            </a:lvl7pPr>
            <a:lvl8pPr>
              <a:defRPr sz="2100" b="1">
                <a:solidFill>
                  <a:srgbClr val="245EEA"/>
                </a:solidFill>
                <a:latin typeface="Arial"/>
                <a:ea typeface="Arial"/>
                <a:cs typeface="Arial"/>
              </a:defRPr>
            </a:lvl8pPr>
            <a:lvl9pPr>
              <a:defRPr sz="2100" b="1">
                <a:solidFill>
                  <a:srgbClr val="245EEA"/>
                </a:solidFill>
                <a:latin typeface="Arial"/>
                <a:ea typeface="Arial"/>
                <a:cs typeface="Arial"/>
              </a:defRPr>
            </a:lvl9pPr>
          </a:lstStyle>
          <a:p>
            <a:pPr>
              <a:defRPr sz="2100" b="1">
                <a:solidFill>
                  <a:srgbClr val="245EEA"/>
                </a:solidFill>
                <a:latin typeface="Arial"/>
                <a:ea typeface="Arial"/>
                <a:cs typeface="Arial"/>
              </a:defRPr>
            </a:pPr>
            <a:r>
              <a:rPr sz="2100" b="1">
                <a:solidFill>
                  <a:srgbClr val="245EEA"/>
                </a:solidFill>
                <a:latin typeface="Arial"/>
                <a:ea typeface="Arial"/>
                <a:cs typeface="Arial"/>
              </a:rPr>
              <a:t>Every syntax uses the same binding, type and runtime rules.</a:t>
            </a:r>
          </a:p>
        </p:txBody>
      </p:sp>
    </p:spTree>
    <p:extLst>
      <p:ext uri="{BB962C8B-B14F-4D97-AF65-F5344CB8AC3E}">
        <p14:creationId xmlns:p14="http://schemas.microsoft.com/office/powerpoint/2010/main" val="1414574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DE488F-FF5D-42F0-B23D-CABFE07F3D5F}"/>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The working compiler workspace</a:t>
            </a:r>
          </a:p>
        </p:txBody>
      </p:sp>
      <p:sp>
        <p:nvSpPr>
          <p:cNvPr id="2" name="Rectangle 1">
            <a:extLst>
              <a:ext uri="{FF2B5EF4-FFF2-40B4-BE49-F238E27FC236}">
                <a16:creationId xmlns:a16="http://schemas.microsoft.com/office/drawing/2014/main" id="{7AF464C0-8D49-40AA-8F1D-4944AB89DF65}"/>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04</a:t>
            </a:r>
          </a:p>
        </p:txBody>
      </p:sp>
      <p:pic>
        <p:nvPicPr>
          <p:cNvPr id="3" name="Picture 2">
            <a:extLst>
              <a:ext uri="{FF2B5EF4-FFF2-40B4-BE49-F238E27FC236}">
                <a16:creationId xmlns:a16="http://schemas.microsoft.com/office/drawing/2014/main" id="{FAFEC8AF-6261-473C-9AB5-7D87F223B398}"/>
              </a:ext>
            </a:extLst>
          </p:cNvPr>
          <p:cNvPicPr>
            <a:picLocks noChangeAspect="1"/>
          </p:cNvPicPr>
          <p:nvPr/>
        </p:nvPicPr>
        <p:blipFill>
          <a:blip r:embed="rId3"/>
          <a:stretch/>
        </p:blipFill>
        <p:spPr>
          <a:xfrm>
            <a:off x="1810371" y="1438275"/>
            <a:ext cx="8571258" cy="4819650"/>
          </a:xfrm>
          <a:prstGeom prst="rect">
            <a:avLst/>
          </a:prstGeom>
        </p:spPr>
      </p:pic>
    </p:spTree>
    <p:extLst>
      <p:ext uri="{BB962C8B-B14F-4D97-AF65-F5344CB8AC3E}">
        <p14:creationId xmlns:p14="http://schemas.microsoft.com/office/powerpoint/2010/main" val="2124978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142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A945A10-60F1-42F2-BF53-8D65E9984950}"/>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a:pPr>
              <a:defRPr sz="3450" b="1">
                <a:solidFill>
                  <a:srgbClr val="FFFFFF"/>
                </a:solidFill>
                <a:latin typeface="Arial"/>
                <a:ea typeface="Arial"/>
                <a:cs typeface="Arial"/>
              </a:defRPr>
            </a:pPr>
            <a:r>
              <a:rPr sz="3450" b="1">
                <a:solidFill>
                  <a:srgbClr val="FFFFFF"/>
                </a:solidFill>
                <a:latin typeface="Arial"/>
                <a:ea typeface="Arial"/>
                <a:cs typeface="Arial"/>
              </a:rPr>
              <a:t>Compilation pipeline</a:t>
            </a:r>
          </a:p>
        </p:txBody>
      </p:sp>
      <p:sp>
        <p:nvSpPr>
          <p:cNvPr id="2" name="Rectangle 1">
            <a:extLst>
              <a:ext uri="{FF2B5EF4-FFF2-40B4-BE49-F238E27FC236}">
                <a16:creationId xmlns:a16="http://schemas.microsoft.com/office/drawing/2014/main" id="{00B4D4FA-F57E-49AE-925D-50F3D777537F}"/>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B7C6DB"/>
                </a:solidFill>
                <a:latin typeface="Arial"/>
                <a:ea typeface="Arial"/>
                <a:cs typeface="Arial"/>
              </a:defRPr>
            </a:defPPr>
            <a:lvl1pPr>
              <a:defRPr sz="1875" b="0">
                <a:solidFill>
                  <a:srgbClr val="B7C6DB"/>
                </a:solidFill>
                <a:latin typeface="Arial"/>
                <a:ea typeface="Arial"/>
                <a:cs typeface="Arial"/>
              </a:defRPr>
            </a:lvl1pPr>
            <a:lvl2pPr>
              <a:defRPr sz="1875" b="0">
                <a:solidFill>
                  <a:srgbClr val="B7C6DB"/>
                </a:solidFill>
                <a:latin typeface="Arial"/>
                <a:ea typeface="Arial"/>
                <a:cs typeface="Arial"/>
              </a:defRPr>
            </a:lvl2pPr>
            <a:lvl3pPr>
              <a:defRPr sz="1875" b="0">
                <a:solidFill>
                  <a:srgbClr val="B7C6DB"/>
                </a:solidFill>
                <a:latin typeface="Arial"/>
                <a:ea typeface="Arial"/>
                <a:cs typeface="Arial"/>
              </a:defRPr>
            </a:lvl3pPr>
            <a:lvl4pPr>
              <a:defRPr sz="1875" b="0">
                <a:solidFill>
                  <a:srgbClr val="B7C6DB"/>
                </a:solidFill>
                <a:latin typeface="Arial"/>
                <a:ea typeface="Arial"/>
                <a:cs typeface="Arial"/>
              </a:defRPr>
            </a:lvl4pPr>
            <a:lvl5pPr>
              <a:defRPr sz="1875" b="0">
                <a:solidFill>
                  <a:srgbClr val="B7C6DB"/>
                </a:solidFill>
                <a:latin typeface="Arial"/>
                <a:ea typeface="Arial"/>
                <a:cs typeface="Arial"/>
              </a:defRPr>
            </a:lvl5pPr>
            <a:lvl6pPr>
              <a:defRPr sz="1875" b="0">
                <a:solidFill>
                  <a:srgbClr val="B7C6DB"/>
                </a:solidFill>
                <a:latin typeface="Arial"/>
                <a:ea typeface="Arial"/>
                <a:cs typeface="Arial"/>
              </a:defRPr>
            </a:lvl6pPr>
            <a:lvl7pPr>
              <a:defRPr sz="1875" b="0">
                <a:solidFill>
                  <a:srgbClr val="B7C6DB"/>
                </a:solidFill>
                <a:latin typeface="Arial"/>
                <a:ea typeface="Arial"/>
                <a:cs typeface="Arial"/>
              </a:defRPr>
            </a:lvl7pPr>
            <a:lvl8pPr>
              <a:defRPr sz="1875" b="0">
                <a:solidFill>
                  <a:srgbClr val="B7C6DB"/>
                </a:solidFill>
                <a:latin typeface="Arial"/>
                <a:ea typeface="Arial"/>
                <a:cs typeface="Arial"/>
              </a:defRPr>
            </a:lvl8pPr>
            <a:lvl9pPr>
              <a:defRPr sz="1875" b="0">
                <a:solidFill>
                  <a:srgbClr val="B7C6DB"/>
                </a:solidFill>
                <a:latin typeface="Arial"/>
                <a:ea typeface="Arial"/>
                <a:cs typeface="Arial"/>
              </a:defRPr>
            </a:lvl9pPr>
          </a:lstStyle>
          <a:p>
            <a:pPr>
              <a:defRPr sz="1875" b="0">
                <a:solidFill>
                  <a:srgbClr val="B7C6DB"/>
                </a:solidFill>
                <a:latin typeface="Arial"/>
                <a:ea typeface="Arial"/>
                <a:cs typeface="Arial"/>
              </a:defRPr>
            </a:pPr>
            <a:r>
              <a:rPr sz="1875" b="0">
                <a:solidFill>
                  <a:srgbClr val="B7C6DB"/>
                </a:solidFill>
                <a:latin typeface="Arial"/>
                <a:ea typeface="Arial"/>
                <a:cs typeface="Arial"/>
              </a:rPr>
              <a:t>Each phase consumes the representation produced by the previous phase</a:t>
            </a:r>
          </a:p>
        </p:txBody>
      </p:sp>
      <p:sp>
        <p:nvSpPr>
          <p:cNvPr id="3" name="Rectangle 2">
            <a:extLst>
              <a:ext uri="{FF2B5EF4-FFF2-40B4-BE49-F238E27FC236}">
                <a16:creationId xmlns:a16="http://schemas.microsoft.com/office/drawing/2014/main" id="{1C638AA3-116E-4DE9-AAF5-B191B07F66D1}"/>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8A9BB3"/>
                </a:solidFill>
                <a:latin typeface="Arial"/>
                <a:ea typeface="Arial"/>
                <a:cs typeface="Arial"/>
              </a:defRPr>
            </a:defPPr>
            <a:lvl1pPr>
              <a:defRPr sz="1125" b="0">
                <a:solidFill>
                  <a:srgbClr val="8A9BB3"/>
                </a:solidFill>
                <a:latin typeface="Arial"/>
                <a:ea typeface="Arial"/>
                <a:cs typeface="Arial"/>
              </a:defRPr>
            </a:lvl1pPr>
            <a:lvl2pPr>
              <a:defRPr sz="1125" b="0">
                <a:solidFill>
                  <a:srgbClr val="8A9BB3"/>
                </a:solidFill>
                <a:latin typeface="Arial"/>
                <a:ea typeface="Arial"/>
                <a:cs typeface="Arial"/>
              </a:defRPr>
            </a:lvl2pPr>
            <a:lvl3pPr>
              <a:defRPr sz="1125" b="0">
                <a:solidFill>
                  <a:srgbClr val="8A9BB3"/>
                </a:solidFill>
                <a:latin typeface="Arial"/>
                <a:ea typeface="Arial"/>
                <a:cs typeface="Arial"/>
              </a:defRPr>
            </a:lvl3pPr>
            <a:lvl4pPr>
              <a:defRPr sz="1125" b="0">
                <a:solidFill>
                  <a:srgbClr val="8A9BB3"/>
                </a:solidFill>
                <a:latin typeface="Arial"/>
                <a:ea typeface="Arial"/>
                <a:cs typeface="Arial"/>
              </a:defRPr>
            </a:lvl4pPr>
            <a:lvl5pPr>
              <a:defRPr sz="1125" b="0">
                <a:solidFill>
                  <a:srgbClr val="8A9BB3"/>
                </a:solidFill>
                <a:latin typeface="Arial"/>
                <a:ea typeface="Arial"/>
                <a:cs typeface="Arial"/>
              </a:defRPr>
            </a:lvl5pPr>
            <a:lvl6pPr>
              <a:defRPr sz="1125" b="0">
                <a:solidFill>
                  <a:srgbClr val="8A9BB3"/>
                </a:solidFill>
                <a:latin typeface="Arial"/>
                <a:ea typeface="Arial"/>
                <a:cs typeface="Arial"/>
              </a:defRPr>
            </a:lvl6pPr>
            <a:lvl7pPr>
              <a:defRPr sz="1125" b="0">
                <a:solidFill>
                  <a:srgbClr val="8A9BB3"/>
                </a:solidFill>
                <a:latin typeface="Arial"/>
                <a:ea typeface="Arial"/>
                <a:cs typeface="Arial"/>
              </a:defRPr>
            </a:lvl7pPr>
            <a:lvl8pPr>
              <a:defRPr sz="1125" b="0">
                <a:solidFill>
                  <a:srgbClr val="8A9BB3"/>
                </a:solidFill>
                <a:latin typeface="Arial"/>
                <a:ea typeface="Arial"/>
                <a:cs typeface="Arial"/>
              </a:defRPr>
            </a:lvl8pPr>
            <a:lvl9pPr>
              <a:defRPr sz="1125" b="0">
                <a:solidFill>
                  <a:srgbClr val="8A9BB3"/>
                </a:solidFill>
                <a:latin typeface="Arial"/>
                <a:ea typeface="Arial"/>
                <a:cs typeface="Arial"/>
              </a:defRPr>
            </a:lvl9pPr>
          </a:lstStyle>
          <a:p>
            <a:pPr>
              <a:defRPr sz="1125" b="0">
                <a:solidFill>
                  <a:srgbClr val="8A9BB3"/>
                </a:solidFill>
                <a:latin typeface="Arial"/>
                <a:ea typeface="Arial"/>
                <a:cs typeface="Arial"/>
              </a:defRPr>
            </a:pPr>
            <a:r>
              <a:rPr sz="1125" b="0">
                <a:solidFill>
                  <a:srgbClr val="8A9BB3"/>
                </a:solidFill>
                <a:latin typeface="Arial"/>
                <a:ea typeface="Arial"/>
                <a:cs typeface="Arial"/>
              </a:rPr>
              <a:t>05</a:t>
            </a:r>
          </a:p>
        </p:txBody>
      </p:sp>
      <p:graphicFrame>
        <p:nvGraphicFramePr>
          <p:cNvPr id="4" name="Table 3">
            <a:extLst>
              <a:ext uri="{FF2B5EF4-FFF2-40B4-BE49-F238E27FC236}">
                <a16:creationId xmlns:a16="http://schemas.microsoft.com/office/drawing/2014/main" id="{6A7C822C-9603-4E67-BFF9-4216E2108ADB}"/>
              </a:ext>
            </a:extLst>
          </p:cNvPr>
          <p:cNvGraphicFramePr/>
          <p:nvPr/>
        </p:nvGraphicFramePr>
        <p:xfrm>
          <a:off x="609600" y="1943100"/>
          <a:ext cx="10972800" cy="4000504"/>
        </p:xfrm>
        <a:graphic>
          <a:graphicData uri="http://schemas.openxmlformats.org/drawingml/2006/table">
            <a:tbl>
              <a:tblPr/>
              <a:tblGrid>
                <a:gridCol w="3810000">
                  <a:extLst>
                    <a:ext uri="{9D8B030D-6E8A-4147-A177-3AD203B41FA5}">
                      <a16:colId xmlns:a16="http://schemas.microsoft.com/office/drawing/2014/main" val="20000"/>
                    </a:ext>
                  </a:extLst>
                </a:gridCol>
                <a:gridCol w="7162800">
                  <a:extLst>
                    <a:ext uri="{9D8B030D-6E8A-4147-A177-3AD203B41FA5}">
                      <a16:colId xmlns:a16="http://schemas.microsoft.com/office/drawing/2014/main" val="20001"/>
                    </a:ext>
                  </a:extLst>
                </a:gridCol>
              </a:tblGrid>
              <a:tr h="500063">
                <a:tc>
                  <a:txBody>
                    <a:bodyPr/>
                    <a:lstStyle/>
                    <a:p>
                      <a:r>
                        <a:rPr sz="1875" b="1">
                          <a:solidFill>
                            <a:srgbClr val="FFFFFF"/>
                          </a:solidFill>
                          <a:latin typeface="Arial"/>
                          <a:ea typeface="Arial"/>
                          <a:cs typeface="Arial"/>
                        </a:rPr>
                        <a:t>Phase</a:t>
                      </a:r>
                    </a:p>
                  </a:txBody>
                  <a:tcPr anchor="ctr">
                    <a:lnL w="7620">
                      <a:solidFill>
                        <a:srgbClr val="34445C"/>
                      </a:solidFill>
                      <a:prstDash val="solid"/>
                    </a:lnL>
                    <a:lnR w="7620">
                      <a:solidFill>
                        <a:srgbClr val="34445C"/>
                      </a:solidFill>
                      <a:prstDash val="solid"/>
                    </a:lnR>
                    <a:lnT w="7620">
                      <a:solidFill>
                        <a:srgbClr val="34445C"/>
                      </a:solidFill>
                      <a:prstDash val="solid"/>
                    </a:lnT>
                    <a:lnB w="7620">
                      <a:solidFill>
                        <a:srgbClr val="34445C"/>
                      </a:solidFill>
                      <a:prstDash val="solid"/>
                    </a:lnB>
                    <a:solidFill>
                      <a:srgbClr val="1F3657"/>
                    </a:solidFill>
                  </a:tcPr>
                </a:tc>
                <a:tc>
                  <a:txBody>
                    <a:bodyPr/>
                    <a:lstStyle/>
                    <a:p>
                      <a:r>
                        <a:rPr sz="1875" b="1">
                          <a:solidFill>
                            <a:srgbClr val="FFFFFF"/>
                          </a:solidFill>
                          <a:latin typeface="Arial"/>
                          <a:ea typeface="Arial"/>
                          <a:cs typeface="Arial"/>
                        </a:rPr>
                        <a:t>Output</a:t>
                      </a:r>
                    </a:p>
                  </a:txBody>
                  <a:tcPr anchor="ctr">
                    <a:lnL w="7620" cap="flat" cmpd="sng" algn="ctr">
                      <a:solidFill>
                        <a:srgbClr val="34445C"/>
                      </a:solidFill>
                      <a:prstDash val="solid"/>
                      <a:round/>
                      <a:headEnd type="none" w="med" len="med"/>
                      <a:tailEnd type="none" w="med" len="med"/>
                    </a:lnL>
                    <a:lnR w="7620">
                      <a:solidFill>
                        <a:srgbClr val="34445C"/>
                      </a:solidFill>
                      <a:prstDash val="solid"/>
                    </a:lnR>
                    <a:lnT w="7620">
                      <a:solidFill>
                        <a:srgbClr val="34445C"/>
                      </a:solidFill>
                      <a:prstDash val="solid"/>
                    </a:lnT>
                    <a:lnB w="7620">
                      <a:solidFill>
                        <a:srgbClr val="34445C"/>
                      </a:solidFill>
                      <a:prstDash val="solid"/>
                    </a:lnB>
                    <a:solidFill>
                      <a:srgbClr val="1F3657"/>
                    </a:solidFill>
                  </a:tcPr>
                </a:tc>
                <a:extLst>
                  <a:ext uri="{0D108BD9-81ED-4DB2-BD59-A6C34878D82A}">
                    <a16:rowId xmlns:a16="http://schemas.microsoft.com/office/drawing/2014/main" val="10000"/>
                  </a:ext>
                </a:extLst>
              </a:tr>
              <a:tr h="500063">
                <a:tc>
                  <a:txBody>
                    <a:bodyPr/>
                    <a:lstStyle/>
                    <a:p>
                      <a:r>
                        <a:rPr sz="1875" b="0">
                          <a:solidFill>
                            <a:srgbClr val="FFFFFF"/>
                          </a:solidFill>
                          <a:latin typeface="Arial"/>
                          <a:ea typeface="Arial"/>
                          <a:cs typeface="Arial"/>
                        </a:rPr>
                        <a:t>Lexical analysis</a:t>
                      </a:r>
                    </a:p>
                  </a:txBody>
                  <a:tcPr anchor="ctr">
                    <a:lnL w="7620">
                      <a:solidFill>
                        <a:srgbClr val="34445C"/>
                      </a:solidFill>
                      <a:prstDash val="soli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tc>
                  <a:txBody>
                    <a:bodyPr/>
                    <a:lstStyle/>
                    <a:p>
                      <a:r>
                        <a:rPr sz="1875" b="0">
                          <a:solidFill>
                            <a:srgbClr val="FFFFFF"/>
                          </a:solidFill>
                          <a:latin typeface="Arial"/>
                          <a:ea typeface="Arial"/>
                          <a:cs typeface="Arial"/>
                        </a:rPr>
                        <a:t>Tokens with text and source spans</a:t>
                      </a:r>
                    </a:p>
                  </a:txBody>
                  <a:tcPr anchor="ctr">
                    <a:lnL w="7620" cap="flat" cmpd="sng" algn="ctr">
                      <a:solidFill>
                        <a:srgbClr val="34445C"/>
                      </a:solidFill>
                      <a:prstDash val="solid"/>
                      <a:round/>
                      <a:headEnd type="none" w="med" len="med"/>
                      <a:tailEnd type="none" w="med" len="me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extLst>
                  <a:ext uri="{0D108BD9-81ED-4DB2-BD59-A6C34878D82A}">
                    <a16:rowId xmlns:a16="http://schemas.microsoft.com/office/drawing/2014/main" val="10001"/>
                  </a:ext>
                </a:extLst>
              </a:tr>
              <a:tr h="500063">
                <a:tc>
                  <a:txBody>
                    <a:bodyPr/>
                    <a:lstStyle/>
                    <a:p>
                      <a:r>
                        <a:rPr sz="1875" b="0">
                          <a:solidFill>
                            <a:srgbClr val="FFFFFF"/>
                          </a:solidFill>
                          <a:latin typeface="Arial"/>
                          <a:ea typeface="Arial"/>
                          <a:cs typeface="Arial"/>
                        </a:rPr>
                        <a:t>Parsing and normalization</a:t>
                      </a:r>
                    </a:p>
                  </a:txBody>
                  <a:tcPr anchor="ctr">
                    <a:lnL w="7620">
                      <a:solidFill>
                        <a:srgbClr val="34445C"/>
                      </a:solidFill>
                      <a:prstDash val="soli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tc>
                  <a:txBody>
                    <a:bodyPr/>
                    <a:lstStyle/>
                    <a:p>
                      <a:r>
                        <a:rPr sz="1875" b="0">
                          <a:solidFill>
                            <a:srgbClr val="FFFFFF"/>
                          </a:solidFill>
                          <a:latin typeface="Arial"/>
                          <a:ea typeface="Arial"/>
                          <a:cs typeface="Arial"/>
                        </a:rPr>
                        <a:t>Shared abstract syntax tree</a:t>
                      </a:r>
                    </a:p>
                  </a:txBody>
                  <a:tcPr anchor="ctr">
                    <a:lnL w="7620" cap="flat" cmpd="sng" algn="ctr">
                      <a:solidFill>
                        <a:srgbClr val="34445C"/>
                      </a:solidFill>
                      <a:prstDash val="solid"/>
                      <a:round/>
                      <a:headEnd type="none" w="med" len="med"/>
                      <a:tailEnd type="none" w="med" len="me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extLst>
                  <a:ext uri="{0D108BD9-81ED-4DB2-BD59-A6C34878D82A}">
                    <a16:rowId xmlns:a16="http://schemas.microsoft.com/office/drawing/2014/main" val="10002"/>
                  </a:ext>
                </a:extLst>
              </a:tr>
              <a:tr h="500063">
                <a:tc>
                  <a:txBody>
                    <a:bodyPr/>
                    <a:lstStyle/>
                    <a:p>
                      <a:r>
                        <a:rPr sz="1875" b="0">
                          <a:solidFill>
                            <a:srgbClr val="FFFFFF"/>
                          </a:solidFill>
                          <a:latin typeface="Arial"/>
                          <a:ea typeface="Arial"/>
                          <a:cs typeface="Arial"/>
                        </a:rPr>
                        <a:t>Semantic analysis</a:t>
                      </a:r>
                    </a:p>
                  </a:txBody>
                  <a:tcPr anchor="ctr">
                    <a:lnL w="7620">
                      <a:solidFill>
                        <a:srgbClr val="34445C"/>
                      </a:solidFill>
                      <a:prstDash val="soli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tc>
                  <a:txBody>
                    <a:bodyPr/>
                    <a:lstStyle/>
                    <a:p>
                      <a:r>
                        <a:rPr sz="1875" b="0">
                          <a:solidFill>
                            <a:srgbClr val="FFFFFF"/>
                          </a:solidFill>
                          <a:latin typeface="Arial"/>
                          <a:ea typeface="Arial"/>
                          <a:cs typeface="Arial"/>
                        </a:rPr>
                        <a:t>Resolved symbols and checked types</a:t>
                      </a:r>
                    </a:p>
                  </a:txBody>
                  <a:tcPr anchor="ctr">
                    <a:lnL w="7620" cap="flat" cmpd="sng" algn="ctr">
                      <a:solidFill>
                        <a:srgbClr val="34445C"/>
                      </a:solidFill>
                      <a:prstDash val="solid"/>
                      <a:round/>
                      <a:headEnd type="none" w="med" len="med"/>
                      <a:tailEnd type="none" w="med" len="me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extLst>
                  <a:ext uri="{0D108BD9-81ED-4DB2-BD59-A6C34878D82A}">
                    <a16:rowId xmlns:a16="http://schemas.microsoft.com/office/drawing/2014/main" val="10003"/>
                  </a:ext>
                </a:extLst>
              </a:tr>
              <a:tr h="500063">
                <a:tc>
                  <a:txBody>
                    <a:bodyPr/>
                    <a:lstStyle/>
                    <a:p>
                      <a:r>
                        <a:rPr sz="1875" b="0">
                          <a:solidFill>
                            <a:srgbClr val="FFFFFF"/>
                          </a:solidFill>
                          <a:latin typeface="Arial"/>
                          <a:ea typeface="Arial"/>
                          <a:cs typeface="Arial"/>
                        </a:rPr>
                        <a:t>IR generation</a:t>
                      </a:r>
                    </a:p>
                  </a:txBody>
                  <a:tcPr anchor="ctr">
                    <a:lnL w="7620">
                      <a:solidFill>
                        <a:srgbClr val="34445C"/>
                      </a:solidFill>
                      <a:prstDash val="soli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tc>
                  <a:txBody>
                    <a:bodyPr/>
                    <a:lstStyle/>
                    <a:p>
                      <a:r>
                        <a:rPr sz="1875" b="0">
                          <a:solidFill>
                            <a:srgbClr val="FFFFFF"/>
                          </a:solidFill>
                          <a:latin typeface="Arial"/>
                          <a:ea typeface="Arial"/>
                          <a:cs typeface="Arial"/>
                        </a:rPr>
                        <a:t>Typed three-address instructions</a:t>
                      </a:r>
                    </a:p>
                  </a:txBody>
                  <a:tcPr anchor="ctr">
                    <a:lnL w="7620" cap="flat" cmpd="sng" algn="ctr">
                      <a:solidFill>
                        <a:srgbClr val="34445C"/>
                      </a:solidFill>
                      <a:prstDash val="solid"/>
                      <a:round/>
                      <a:headEnd type="none" w="med" len="med"/>
                      <a:tailEnd type="none" w="med" len="me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extLst>
                  <a:ext uri="{0D108BD9-81ED-4DB2-BD59-A6C34878D82A}">
                    <a16:rowId xmlns:a16="http://schemas.microsoft.com/office/drawing/2014/main" val="10004"/>
                  </a:ext>
                </a:extLst>
              </a:tr>
              <a:tr h="500063">
                <a:tc>
                  <a:txBody>
                    <a:bodyPr/>
                    <a:lstStyle/>
                    <a:p>
                      <a:r>
                        <a:rPr sz="1875" b="0">
                          <a:solidFill>
                            <a:srgbClr val="FFFFFF"/>
                          </a:solidFill>
                          <a:latin typeface="Arial"/>
                          <a:ea typeface="Arial"/>
                          <a:cs typeface="Arial"/>
                        </a:rPr>
                        <a:t>Optimization</a:t>
                      </a:r>
                    </a:p>
                  </a:txBody>
                  <a:tcPr anchor="ctr">
                    <a:lnL w="7620">
                      <a:solidFill>
                        <a:srgbClr val="34445C"/>
                      </a:solidFill>
                      <a:prstDash val="soli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tc>
                  <a:txBody>
                    <a:bodyPr/>
                    <a:lstStyle/>
                    <a:p>
                      <a:r>
                        <a:rPr sz="1875" b="0">
                          <a:solidFill>
                            <a:srgbClr val="FFFFFF"/>
                          </a:solidFill>
                          <a:latin typeface="Arial"/>
                          <a:ea typeface="Arial"/>
                          <a:cs typeface="Arial"/>
                        </a:rPr>
                        <a:t>Simplified IR with a pass report</a:t>
                      </a:r>
                    </a:p>
                  </a:txBody>
                  <a:tcPr anchor="ctr">
                    <a:lnL w="7620" cap="flat" cmpd="sng" algn="ctr">
                      <a:solidFill>
                        <a:srgbClr val="34445C"/>
                      </a:solidFill>
                      <a:prstDash val="solid"/>
                      <a:round/>
                      <a:headEnd type="none" w="med" len="med"/>
                      <a:tailEnd type="none" w="med" len="me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extLst>
                  <a:ext uri="{0D108BD9-81ED-4DB2-BD59-A6C34878D82A}">
                    <a16:rowId xmlns:a16="http://schemas.microsoft.com/office/drawing/2014/main" val="10005"/>
                  </a:ext>
                </a:extLst>
              </a:tr>
              <a:tr h="500063">
                <a:tc>
                  <a:txBody>
                    <a:bodyPr/>
                    <a:lstStyle/>
                    <a:p>
                      <a:r>
                        <a:rPr sz="1875" b="0">
                          <a:solidFill>
                            <a:srgbClr val="FFFFFF"/>
                          </a:solidFill>
                          <a:latin typeface="Arial"/>
                          <a:ea typeface="Arial"/>
                          <a:cs typeface="Arial"/>
                        </a:rPr>
                        <a:t>Code generation</a:t>
                      </a:r>
                    </a:p>
                  </a:txBody>
                  <a:tcPr anchor="ctr">
                    <a:lnL w="7620">
                      <a:solidFill>
                        <a:srgbClr val="34445C"/>
                      </a:solidFill>
                      <a:prstDash val="soli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tc>
                  <a:txBody>
                    <a:bodyPr/>
                    <a:lstStyle/>
                    <a:p>
                      <a:r>
                        <a:rPr sz="1875" b="0">
                          <a:solidFill>
                            <a:srgbClr val="FFFFFF"/>
                          </a:solidFill>
                          <a:latin typeface="Arial"/>
                          <a:ea typeface="Arial"/>
                          <a:cs typeface="Arial"/>
                        </a:rPr>
                        <a:t>Validated .pbc stack bytecode</a:t>
                      </a:r>
                    </a:p>
                  </a:txBody>
                  <a:tcPr anchor="ctr">
                    <a:lnL w="7620" cap="flat" cmpd="sng" algn="ctr">
                      <a:solidFill>
                        <a:srgbClr val="34445C"/>
                      </a:solidFill>
                      <a:prstDash val="solid"/>
                      <a:round/>
                      <a:headEnd type="none" w="med" len="med"/>
                      <a:tailEnd type="none" w="med" len="me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extLst>
                  <a:ext uri="{0D108BD9-81ED-4DB2-BD59-A6C34878D82A}">
                    <a16:rowId xmlns:a16="http://schemas.microsoft.com/office/drawing/2014/main" val="10006"/>
                  </a:ext>
                </a:extLst>
              </a:tr>
              <a:tr h="500063">
                <a:tc>
                  <a:txBody>
                    <a:bodyPr/>
                    <a:lstStyle/>
                    <a:p>
                      <a:r>
                        <a:rPr sz="1875" b="0">
                          <a:solidFill>
                            <a:srgbClr val="FFFFFF"/>
                          </a:solidFill>
                          <a:latin typeface="Arial"/>
                          <a:ea typeface="Arial"/>
                          <a:cs typeface="Arial"/>
                        </a:rPr>
                        <a:t>Execution</a:t>
                      </a:r>
                    </a:p>
                  </a:txBody>
                  <a:tcPr anchor="ctr">
                    <a:lnL w="7620">
                      <a:solidFill>
                        <a:srgbClr val="34445C"/>
                      </a:solidFill>
                      <a:prstDash val="soli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tc>
                  <a:txBody>
                    <a:bodyPr/>
                    <a:lstStyle/>
                    <a:p>
                      <a:r>
                        <a:rPr sz="1875" b="0">
                          <a:solidFill>
                            <a:srgbClr val="FFFFFF"/>
                          </a:solidFill>
                          <a:latin typeface="Arial"/>
                          <a:ea typeface="Arial"/>
                          <a:cs typeface="Arial"/>
                        </a:rPr>
                        <a:t>Program output or a mapped runtime diagnostic</a:t>
                      </a:r>
                    </a:p>
                  </a:txBody>
                  <a:tcPr anchor="ctr">
                    <a:lnL w="7620" cap="flat" cmpd="sng" algn="ctr">
                      <a:solidFill>
                        <a:srgbClr val="34445C"/>
                      </a:solidFill>
                      <a:prstDash val="solid"/>
                      <a:round/>
                      <a:headEnd type="none" w="med" len="med"/>
                      <a:tailEnd type="none" w="med" len="med"/>
                    </a:lnL>
                    <a:lnR w="7620">
                      <a:solidFill>
                        <a:srgbClr val="34445C"/>
                      </a:solidFill>
                      <a:prstDash val="solid"/>
                    </a:lnR>
                    <a:lnT w="7620" cap="flat" cmpd="sng" algn="ctr">
                      <a:solidFill>
                        <a:srgbClr val="34445C"/>
                      </a:solidFill>
                      <a:prstDash val="solid"/>
                      <a:round/>
                      <a:headEnd type="none" w="med" len="med"/>
                      <a:tailEnd type="none" w="med" len="med"/>
                    </a:lnT>
                    <a:lnB w="7620">
                      <a:solidFill>
                        <a:srgbClr val="34445C"/>
                      </a:solidFill>
                      <a:prstDash val="solid"/>
                    </a:lnB>
                    <a:solidFill>
                      <a:srgbClr val="0C1422"/>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14842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4125A2-2890-433B-950A-15C54846C9D3}"/>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Mixed syntax in one program</a:t>
            </a:r>
          </a:p>
        </p:txBody>
      </p:sp>
      <p:sp>
        <p:nvSpPr>
          <p:cNvPr id="2" name="Rectangle 1">
            <a:extLst>
              <a:ext uri="{FF2B5EF4-FFF2-40B4-BE49-F238E27FC236}">
                <a16:creationId xmlns:a16="http://schemas.microsoft.com/office/drawing/2014/main" id="{5E4EF03B-4FC1-481D-BDE4-500DC737727B}"/>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A function written with one syntax can serve another syntax</a:t>
            </a:r>
          </a:p>
        </p:txBody>
      </p:sp>
      <p:sp>
        <p:nvSpPr>
          <p:cNvPr id="3" name="Rectangle 2">
            <a:extLst>
              <a:ext uri="{FF2B5EF4-FFF2-40B4-BE49-F238E27FC236}">
                <a16:creationId xmlns:a16="http://schemas.microsoft.com/office/drawing/2014/main" id="{80CDAFB1-D9A6-416F-A7FB-CDCA63DF4063}"/>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06</a:t>
            </a:r>
          </a:p>
        </p:txBody>
      </p:sp>
      <p:sp>
        <p:nvSpPr>
          <p:cNvPr id="4" name="Rectangle 3">
            <a:extLst>
              <a:ext uri="{FF2B5EF4-FFF2-40B4-BE49-F238E27FC236}">
                <a16:creationId xmlns:a16="http://schemas.microsoft.com/office/drawing/2014/main" id="{9B6257FE-693F-46B1-8288-82955B53C2D1}"/>
              </a:ext>
            </a:extLst>
          </p:cNvPr>
          <p:cNvSpPr>
            <a:spLocks noGrp="1"/>
          </p:cNvSpPr>
          <p:nvPr/>
        </p:nvSpPr>
        <p:spPr>
          <a:xfrm>
            <a:off x="609600" y="1981200"/>
            <a:ext cx="7239000" cy="3571875"/>
          </a:xfrm>
          <a:prstGeom prst="rect">
            <a:avLst/>
          </a:prstGeom>
          <a:noFill/>
          <a:ln w="0">
            <a:noFill/>
          </a:ln>
        </p:spPr>
        <p:txBody>
          <a:bodyPr wrap="square" lIns="0" tIns="0" rIns="0" bIns="0" anchor="t">
            <a:noAutofit/>
          </a:bodyPr>
          <a:lstStyle>
            <a:defPPr>
              <a:defRPr sz="2025" b="0">
                <a:solidFill>
                  <a:srgbClr val="142238"/>
                </a:solidFill>
                <a:latin typeface="Courier New"/>
                <a:ea typeface="Courier New"/>
                <a:cs typeface="Courier New"/>
              </a:defRPr>
            </a:defPPr>
            <a:lvl1pPr>
              <a:defRPr sz="2025" b="0">
                <a:solidFill>
                  <a:srgbClr val="142238"/>
                </a:solidFill>
                <a:latin typeface="Courier New"/>
                <a:ea typeface="Courier New"/>
                <a:cs typeface="Courier New"/>
              </a:defRPr>
            </a:lvl1pPr>
            <a:lvl2pPr>
              <a:defRPr sz="2025" b="0">
                <a:solidFill>
                  <a:srgbClr val="142238"/>
                </a:solidFill>
                <a:latin typeface="Courier New"/>
                <a:ea typeface="Courier New"/>
                <a:cs typeface="Courier New"/>
              </a:defRPr>
            </a:lvl2pPr>
            <a:lvl3pPr>
              <a:defRPr sz="2025" b="0">
                <a:solidFill>
                  <a:srgbClr val="142238"/>
                </a:solidFill>
                <a:latin typeface="Courier New"/>
                <a:ea typeface="Courier New"/>
                <a:cs typeface="Courier New"/>
              </a:defRPr>
            </a:lvl3pPr>
            <a:lvl4pPr>
              <a:defRPr sz="2025" b="0">
                <a:solidFill>
                  <a:srgbClr val="142238"/>
                </a:solidFill>
                <a:latin typeface="Courier New"/>
                <a:ea typeface="Courier New"/>
                <a:cs typeface="Courier New"/>
              </a:defRPr>
            </a:lvl4pPr>
            <a:lvl5pPr>
              <a:defRPr sz="2025" b="0">
                <a:solidFill>
                  <a:srgbClr val="142238"/>
                </a:solidFill>
                <a:latin typeface="Courier New"/>
                <a:ea typeface="Courier New"/>
                <a:cs typeface="Courier New"/>
              </a:defRPr>
            </a:lvl5pPr>
            <a:lvl6pPr>
              <a:defRPr sz="2025" b="0">
                <a:solidFill>
                  <a:srgbClr val="142238"/>
                </a:solidFill>
                <a:latin typeface="Courier New"/>
                <a:ea typeface="Courier New"/>
                <a:cs typeface="Courier New"/>
              </a:defRPr>
            </a:lvl6pPr>
            <a:lvl7pPr>
              <a:defRPr sz="2025" b="0">
                <a:solidFill>
                  <a:srgbClr val="142238"/>
                </a:solidFill>
                <a:latin typeface="Courier New"/>
                <a:ea typeface="Courier New"/>
                <a:cs typeface="Courier New"/>
              </a:defRPr>
            </a:lvl7pPr>
            <a:lvl8pPr>
              <a:defRPr sz="2025" b="0">
                <a:solidFill>
                  <a:srgbClr val="142238"/>
                </a:solidFill>
                <a:latin typeface="Courier New"/>
                <a:ea typeface="Courier New"/>
                <a:cs typeface="Courier New"/>
              </a:defRPr>
            </a:lvl8pPr>
            <a:lvl9pPr>
              <a:defRPr sz="2025" b="0">
                <a:solidFill>
                  <a:srgbClr val="142238"/>
                </a:solidFill>
                <a:latin typeface="Courier New"/>
                <a:ea typeface="Courier New"/>
                <a:cs typeface="Courier New"/>
              </a:defRPr>
            </a:lvl9pPr>
          </a:lstStyle>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int add(int a, int b) {</a:t>
            </a: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    return a + b;</a:t>
            </a: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a:t>
            </a:r>
          </a:p>
          <a:p>
            <a:endParaRPr sz="2025" b="0">
              <a:solidFill>
                <a:srgbClr val="142238"/>
              </a:solidFill>
              <a:latin typeface="Courier New"/>
              <a:ea typeface="Courier New"/>
              <a:cs typeface="Courier New"/>
            </a:endParaRP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def twice(value: int) -&gt; int:</a:t>
            </a: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    return add(value, value)</a:t>
            </a:r>
          </a:p>
          <a:p>
            <a:endParaRPr sz="2025" b="0">
              <a:solidFill>
                <a:srgbClr val="142238"/>
              </a:solidFill>
              <a:latin typeface="Courier New"/>
              <a:ea typeface="Courier New"/>
              <a:cs typeface="Courier New"/>
            </a:endParaRP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int result = twice(6);</a:t>
            </a: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std::cout &lt;&lt; result &lt;&lt; std::endl;</a:t>
            </a: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print("done")</a:t>
            </a:r>
          </a:p>
        </p:txBody>
      </p:sp>
      <p:sp>
        <p:nvSpPr>
          <p:cNvPr id="5" name="Rectangle 4">
            <a:extLst>
              <a:ext uri="{FF2B5EF4-FFF2-40B4-BE49-F238E27FC236}">
                <a16:creationId xmlns:a16="http://schemas.microsoft.com/office/drawing/2014/main" id="{F7AB3E69-D3E0-4B37-9FDA-7D2F0C168EA8}"/>
              </a:ext>
            </a:extLst>
          </p:cNvPr>
          <p:cNvSpPr>
            <a:spLocks noGrp="1"/>
          </p:cNvSpPr>
          <p:nvPr/>
        </p:nvSpPr>
        <p:spPr>
          <a:xfrm>
            <a:off x="8620125" y="2047875"/>
            <a:ext cx="2857500" cy="476250"/>
          </a:xfrm>
          <a:prstGeom prst="rect">
            <a:avLst/>
          </a:prstGeom>
          <a:noFill/>
          <a:ln w="0">
            <a:noFill/>
          </a:ln>
        </p:spPr>
        <p:txBody>
          <a:bodyPr wrap="square" lIns="0" tIns="0" rIns="0" bIns="0" anchor="t">
            <a:noAutofit/>
          </a:bodyPr>
          <a:lstStyle>
            <a:defPPr>
              <a:defRPr sz="2400" b="1">
                <a:solidFill>
                  <a:srgbClr val="245EEA"/>
                </a:solidFill>
                <a:latin typeface="Arial"/>
                <a:ea typeface="Arial"/>
                <a:cs typeface="Arial"/>
              </a:defRPr>
            </a:defPPr>
            <a:lvl1pPr>
              <a:defRPr sz="2400" b="1">
                <a:solidFill>
                  <a:srgbClr val="245EEA"/>
                </a:solidFill>
                <a:latin typeface="Arial"/>
                <a:ea typeface="Arial"/>
                <a:cs typeface="Arial"/>
              </a:defRPr>
            </a:lvl1pPr>
            <a:lvl2pPr>
              <a:defRPr sz="2400" b="1">
                <a:solidFill>
                  <a:srgbClr val="245EEA"/>
                </a:solidFill>
                <a:latin typeface="Arial"/>
                <a:ea typeface="Arial"/>
                <a:cs typeface="Arial"/>
              </a:defRPr>
            </a:lvl2pPr>
            <a:lvl3pPr>
              <a:defRPr sz="2400" b="1">
                <a:solidFill>
                  <a:srgbClr val="245EEA"/>
                </a:solidFill>
                <a:latin typeface="Arial"/>
                <a:ea typeface="Arial"/>
                <a:cs typeface="Arial"/>
              </a:defRPr>
            </a:lvl3pPr>
            <a:lvl4pPr>
              <a:defRPr sz="2400" b="1">
                <a:solidFill>
                  <a:srgbClr val="245EEA"/>
                </a:solidFill>
                <a:latin typeface="Arial"/>
                <a:ea typeface="Arial"/>
                <a:cs typeface="Arial"/>
              </a:defRPr>
            </a:lvl4pPr>
            <a:lvl5pPr>
              <a:defRPr sz="2400" b="1">
                <a:solidFill>
                  <a:srgbClr val="245EEA"/>
                </a:solidFill>
                <a:latin typeface="Arial"/>
                <a:ea typeface="Arial"/>
                <a:cs typeface="Arial"/>
              </a:defRPr>
            </a:lvl5pPr>
            <a:lvl6pPr>
              <a:defRPr sz="2400" b="1">
                <a:solidFill>
                  <a:srgbClr val="245EEA"/>
                </a:solidFill>
                <a:latin typeface="Arial"/>
                <a:ea typeface="Arial"/>
                <a:cs typeface="Arial"/>
              </a:defRPr>
            </a:lvl6pPr>
            <a:lvl7pPr>
              <a:defRPr sz="2400" b="1">
                <a:solidFill>
                  <a:srgbClr val="245EEA"/>
                </a:solidFill>
                <a:latin typeface="Arial"/>
                <a:ea typeface="Arial"/>
                <a:cs typeface="Arial"/>
              </a:defRPr>
            </a:lvl7pPr>
            <a:lvl8pPr>
              <a:defRPr sz="2400" b="1">
                <a:solidFill>
                  <a:srgbClr val="245EEA"/>
                </a:solidFill>
                <a:latin typeface="Arial"/>
                <a:ea typeface="Arial"/>
                <a:cs typeface="Arial"/>
              </a:defRPr>
            </a:lvl8pPr>
            <a:lvl9pPr>
              <a:defRPr sz="2400" b="1">
                <a:solidFill>
                  <a:srgbClr val="245EEA"/>
                </a:solidFill>
                <a:latin typeface="Arial"/>
                <a:ea typeface="Arial"/>
                <a:cs typeface="Arial"/>
              </a:defRPr>
            </a:lvl9pPr>
          </a:lstStyle>
          <a:p>
            <a:pPr>
              <a:defRPr sz="2400" b="1">
                <a:solidFill>
                  <a:srgbClr val="245EEA"/>
                </a:solidFill>
                <a:latin typeface="Arial"/>
                <a:ea typeface="Arial"/>
                <a:cs typeface="Arial"/>
              </a:defRPr>
            </a:pPr>
            <a:r>
              <a:rPr sz="2400" b="1">
                <a:solidFill>
                  <a:srgbClr val="245EEA"/>
                </a:solidFill>
                <a:latin typeface="Arial"/>
                <a:ea typeface="Arial"/>
                <a:cs typeface="Arial"/>
              </a:rPr>
              <a:t>Output</a:t>
            </a:r>
          </a:p>
        </p:txBody>
      </p:sp>
      <p:sp>
        <p:nvSpPr>
          <p:cNvPr id="6" name="Rectangle 5">
            <a:extLst>
              <a:ext uri="{FF2B5EF4-FFF2-40B4-BE49-F238E27FC236}">
                <a16:creationId xmlns:a16="http://schemas.microsoft.com/office/drawing/2014/main" id="{4AF7C63A-5BAF-443A-AB2C-C655AB6AA40E}"/>
              </a:ext>
            </a:extLst>
          </p:cNvPr>
          <p:cNvSpPr>
            <a:spLocks noGrp="1"/>
          </p:cNvSpPr>
          <p:nvPr/>
        </p:nvSpPr>
        <p:spPr>
          <a:xfrm>
            <a:off x="8620125" y="2724150"/>
            <a:ext cx="2476500" cy="1143000"/>
          </a:xfrm>
          <a:prstGeom prst="rect">
            <a:avLst/>
          </a:prstGeom>
          <a:noFill/>
          <a:ln w="0">
            <a:noFill/>
          </a:ln>
        </p:spPr>
        <p:txBody>
          <a:bodyPr wrap="square" lIns="0" tIns="0" rIns="0" bIns="0" anchor="t">
            <a:noAutofit/>
          </a:bodyPr>
          <a:lstStyle>
            <a:defPPr>
              <a:defRPr sz="2700" b="0">
                <a:solidFill>
                  <a:srgbClr val="142238"/>
                </a:solidFill>
                <a:latin typeface="Courier New"/>
                <a:ea typeface="Courier New"/>
                <a:cs typeface="Courier New"/>
              </a:defRPr>
            </a:defPPr>
            <a:lvl1pPr>
              <a:defRPr sz="2700" b="0">
                <a:solidFill>
                  <a:srgbClr val="142238"/>
                </a:solidFill>
                <a:latin typeface="Courier New"/>
                <a:ea typeface="Courier New"/>
                <a:cs typeface="Courier New"/>
              </a:defRPr>
            </a:lvl1pPr>
            <a:lvl2pPr>
              <a:defRPr sz="2700" b="0">
                <a:solidFill>
                  <a:srgbClr val="142238"/>
                </a:solidFill>
                <a:latin typeface="Courier New"/>
                <a:ea typeface="Courier New"/>
                <a:cs typeface="Courier New"/>
              </a:defRPr>
            </a:lvl2pPr>
            <a:lvl3pPr>
              <a:defRPr sz="2700" b="0">
                <a:solidFill>
                  <a:srgbClr val="142238"/>
                </a:solidFill>
                <a:latin typeface="Courier New"/>
                <a:ea typeface="Courier New"/>
                <a:cs typeface="Courier New"/>
              </a:defRPr>
            </a:lvl3pPr>
            <a:lvl4pPr>
              <a:defRPr sz="2700" b="0">
                <a:solidFill>
                  <a:srgbClr val="142238"/>
                </a:solidFill>
                <a:latin typeface="Courier New"/>
                <a:ea typeface="Courier New"/>
                <a:cs typeface="Courier New"/>
              </a:defRPr>
            </a:lvl4pPr>
            <a:lvl5pPr>
              <a:defRPr sz="2700" b="0">
                <a:solidFill>
                  <a:srgbClr val="142238"/>
                </a:solidFill>
                <a:latin typeface="Courier New"/>
                <a:ea typeface="Courier New"/>
                <a:cs typeface="Courier New"/>
              </a:defRPr>
            </a:lvl5pPr>
            <a:lvl6pPr>
              <a:defRPr sz="2700" b="0">
                <a:solidFill>
                  <a:srgbClr val="142238"/>
                </a:solidFill>
                <a:latin typeface="Courier New"/>
                <a:ea typeface="Courier New"/>
                <a:cs typeface="Courier New"/>
              </a:defRPr>
            </a:lvl6pPr>
            <a:lvl7pPr>
              <a:defRPr sz="2700" b="0">
                <a:solidFill>
                  <a:srgbClr val="142238"/>
                </a:solidFill>
                <a:latin typeface="Courier New"/>
                <a:ea typeface="Courier New"/>
                <a:cs typeface="Courier New"/>
              </a:defRPr>
            </a:lvl7pPr>
            <a:lvl8pPr>
              <a:defRPr sz="2700" b="0">
                <a:solidFill>
                  <a:srgbClr val="142238"/>
                </a:solidFill>
                <a:latin typeface="Courier New"/>
                <a:ea typeface="Courier New"/>
                <a:cs typeface="Courier New"/>
              </a:defRPr>
            </a:lvl8pPr>
            <a:lvl9pPr>
              <a:defRPr sz="2700" b="0">
                <a:solidFill>
                  <a:srgbClr val="142238"/>
                </a:solidFill>
                <a:latin typeface="Courier New"/>
                <a:ea typeface="Courier New"/>
                <a:cs typeface="Courier New"/>
              </a:defRPr>
            </a:lvl9pPr>
          </a:lstStyle>
          <a:p>
            <a:pPr>
              <a:defRPr sz="2700" b="0">
                <a:solidFill>
                  <a:srgbClr val="142238"/>
                </a:solidFill>
                <a:latin typeface="Courier New"/>
                <a:ea typeface="Courier New"/>
                <a:cs typeface="Courier New"/>
              </a:defRPr>
            </a:pPr>
            <a:r>
              <a:rPr sz="2700" b="0">
                <a:solidFill>
                  <a:srgbClr val="142238"/>
                </a:solidFill>
                <a:latin typeface="Courier New"/>
                <a:ea typeface="Courier New"/>
                <a:cs typeface="Courier New"/>
              </a:rPr>
              <a:t>12</a:t>
            </a:r>
          </a:p>
          <a:p>
            <a:pPr>
              <a:defRPr sz="2700" b="0">
                <a:solidFill>
                  <a:srgbClr val="142238"/>
                </a:solidFill>
                <a:latin typeface="Courier New"/>
                <a:ea typeface="Courier New"/>
                <a:cs typeface="Courier New"/>
              </a:defRPr>
            </a:pPr>
            <a:r>
              <a:rPr sz="2700" b="0">
                <a:solidFill>
                  <a:srgbClr val="142238"/>
                </a:solidFill>
                <a:latin typeface="Courier New"/>
                <a:ea typeface="Courier New"/>
                <a:cs typeface="Courier New"/>
              </a:rPr>
              <a:t>done</a:t>
            </a:r>
          </a:p>
        </p:txBody>
      </p:sp>
      <p:sp>
        <p:nvSpPr>
          <p:cNvPr id="7" name="Rectangle 6">
            <a:extLst>
              <a:ext uri="{FF2B5EF4-FFF2-40B4-BE49-F238E27FC236}">
                <a16:creationId xmlns:a16="http://schemas.microsoft.com/office/drawing/2014/main" id="{D7C73A06-9DD0-4947-A6E5-0B7E46327EDB}"/>
              </a:ext>
            </a:extLst>
          </p:cNvPr>
          <p:cNvSpPr>
            <a:spLocks noGrp="1"/>
          </p:cNvSpPr>
          <p:nvPr/>
        </p:nvSpPr>
        <p:spPr>
          <a:xfrm>
            <a:off x="8620125" y="4333875"/>
            <a:ext cx="2857500" cy="1524000"/>
          </a:xfrm>
          <a:prstGeom prst="rect">
            <a:avLst/>
          </a:prstGeom>
          <a:noFill/>
          <a:ln w="0">
            <a:noFill/>
          </a:ln>
        </p:spPr>
        <p:txBody>
          <a:bodyPr wrap="square" lIns="0" tIns="0" rIns="0" bIns="0" anchor="t">
            <a:noAutofit/>
          </a:bodyPr>
          <a:lstStyle>
            <a:defPPr>
              <a:defRPr sz="2025" b="0">
                <a:solidFill>
                  <a:srgbClr val="516174"/>
                </a:solidFill>
                <a:latin typeface="Arial"/>
                <a:ea typeface="Arial"/>
                <a:cs typeface="Arial"/>
              </a:defRPr>
            </a:defPPr>
            <a:lvl1pPr>
              <a:defRPr sz="2025" b="0">
                <a:solidFill>
                  <a:srgbClr val="516174"/>
                </a:solidFill>
                <a:latin typeface="Arial"/>
                <a:ea typeface="Arial"/>
                <a:cs typeface="Arial"/>
              </a:defRPr>
            </a:lvl1pPr>
            <a:lvl2pPr>
              <a:defRPr sz="2025" b="0">
                <a:solidFill>
                  <a:srgbClr val="516174"/>
                </a:solidFill>
                <a:latin typeface="Arial"/>
                <a:ea typeface="Arial"/>
                <a:cs typeface="Arial"/>
              </a:defRPr>
            </a:lvl2pPr>
            <a:lvl3pPr>
              <a:defRPr sz="2025" b="0">
                <a:solidFill>
                  <a:srgbClr val="516174"/>
                </a:solidFill>
                <a:latin typeface="Arial"/>
                <a:ea typeface="Arial"/>
                <a:cs typeface="Arial"/>
              </a:defRPr>
            </a:lvl3pPr>
            <a:lvl4pPr>
              <a:defRPr sz="2025" b="0">
                <a:solidFill>
                  <a:srgbClr val="516174"/>
                </a:solidFill>
                <a:latin typeface="Arial"/>
                <a:ea typeface="Arial"/>
                <a:cs typeface="Arial"/>
              </a:defRPr>
            </a:lvl4pPr>
            <a:lvl5pPr>
              <a:defRPr sz="2025" b="0">
                <a:solidFill>
                  <a:srgbClr val="516174"/>
                </a:solidFill>
                <a:latin typeface="Arial"/>
                <a:ea typeface="Arial"/>
                <a:cs typeface="Arial"/>
              </a:defRPr>
            </a:lvl5pPr>
            <a:lvl6pPr>
              <a:defRPr sz="2025" b="0">
                <a:solidFill>
                  <a:srgbClr val="516174"/>
                </a:solidFill>
                <a:latin typeface="Arial"/>
                <a:ea typeface="Arial"/>
                <a:cs typeface="Arial"/>
              </a:defRPr>
            </a:lvl6pPr>
            <a:lvl7pPr>
              <a:defRPr sz="2025" b="0">
                <a:solidFill>
                  <a:srgbClr val="516174"/>
                </a:solidFill>
                <a:latin typeface="Arial"/>
                <a:ea typeface="Arial"/>
                <a:cs typeface="Arial"/>
              </a:defRPr>
            </a:lvl7pPr>
            <a:lvl8pPr>
              <a:defRPr sz="2025" b="0">
                <a:solidFill>
                  <a:srgbClr val="516174"/>
                </a:solidFill>
                <a:latin typeface="Arial"/>
                <a:ea typeface="Arial"/>
                <a:cs typeface="Arial"/>
              </a:defRPr>
            </a:lvl8pPr>
            <a:lvl9pPr>
              <a:defRPr sz="2025" b="0">
                <a:solidFill>
                  <a:srgbClr val="516174"/>
                </a:solidFill>
                <a:latin typeface="Arial"/>
                <a:ea typeface="Arial"/>
                <a:cs typeface="Arial"/>
              </a:defRPr>
            </a:lvl9pPr>
          </a:lstStyle>
          <a:p>
            <a:pPr>
              <a:defRPr sz="2025" b="0">
                <a:solidFill>
                  <a:srgbClr val="516174"/>
                </a:solidFill>
                <a:latin typeface="Arial"/>
                <a:ea typeface="Arial"/>
                <a:cs typeface="Arial"/>
              </a:defRPr>
            </a:pPr>
            <a:r>
              <a:rPr sz="2025" b="0">
                <a:solidFill>
                  <a:srgbClr val="516174"/>
                </a:solidFill>
                <a:latin typeface="Arial"/>
                <a:ea typeface="Arial"/>
                <a:cs typeface="Arial"/>
              </a:rPr>
              <a:t>Both calls resolve through the same symbol table and VM.</a:t>
            </a:r>
          </a:p>
        </p:txBody>
      </p:sp>
    </p:spTree>
    <p:extLst>
      <p:ext uri="{BB962C8B-B14F-4D97-AF65-F5344CB8AC3E}">
        <p14:creationId xmlns:p14="http://schemas.microsoft.com/office/powerpoint/2010/main" val="438957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7C2CA9E-CEB8-41BB-BEC1-DA95A89F9352}"/>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Lexical analysis</a:t>
            </a:r>
          </a:p>
        </p:txBody>
      </p:sp>
      <p:sp>
        <p:nvSpPr>
          <p:cNvPr id="2" name="Rectangle 1">
            <a:extLst>
              <a:ext uri="{FF2B5EF4-FFF2-40B4-BE49-F238E27FC236}">
                <a16:creationId xmlns:a16="http://schemas.microsoft.com/office/drawing/2014/main" id="{45F5E028-0EE1-47B9-8992-B8994BA30F94}"/>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Characters become tokens that retain their source positions</a:t>
            </a:r>
          </a:p>
        </p:txBody>
      </p:sp>
      <p:sp>
        <p:nvSpPr>
          <p:cNvPr id="3" name="Rectangle 2">
            <a:extLst>
              <a:ext uri="{FF2B5EF4-FFF2-40B4-BE49-F238E27FC236}">
                <a16:creationId xmlns:a16="http://schemas.microsoft.com/office/drawing/2014/main" id="{FC2E11D5-4D1A-415D-8116-66191DA1E342}"/>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07</a:t>
            </a:r>
          </a:p>
        </p:txBody>
      </p:sp>
      <p:sp>
        <p:nvSpPr>
          <p:cNvPr id="4" name="Rectangle 3">
            <a:extLst>
              <a:ext uri="{FF2B5EF4-FFF2-40B4-BE49-F238E27FC236}">
                <a16:creationId xmlns:a16="http://schemas.microsoft.com/office/drawing/2014/main" id="{8F0F3A06-E7A0-457F-879E-DC221EFCC2F1}"/>
              </a:ext>
            </a:extLst>
          </p:cNvPr>
          <p:cNvSpPr>
            <a:spLocks noGrp="1"/>
          </p:cNvSpPr>
          <p:nvPr/>
        </p:nvSpPr>
        <p:spPr>
          <a:xfrm>
            <a:off x="609600" y="2076450"/>
            <a:ext cx="409575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Token categories</a:t>
            </a:r>
          </a:p>
        </p:txBody>
      </p:sp>
      <p:sp>
        <p:nvSpPr>
          <p:cNvPr id="5" name="Rectangle 4">
            <a:extLst>
              <a:ext uri="{FF2B5EF4-FFF2-40B4-BE49-F238E27FC236}">
                <a16:creationId xmlns:a16="http://schemas.microsoft.com/office/drawing/2014/main" id="{0F6A3714-5F92-44F8-AAA3-C44AB6CB51B2}"/>
              </a:ext>
            </a:extLst>
          </p:cNvPr>
          <p:cNvSpPr>
            <a:spLocks noGrp="1"/>
          </p:cNvSpPr>
          <p:nvPr/>
        </p:nvSpPr>
        <p:spPr>
          <a:xfrm>
            <a:off x="609600" y="2543175"/>
            <a:ext cx="409575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Names, literals, operators and layout markers.</a:t>
            </a:r>
          </a:p>
        </p:txBody>
      </p:sp>
      <p:sp>
        <p:nvSpPr>
          <p:cNvPr id="6" name="Rectangle 5">
            <a:extLst>
              <a:ext uri="{FF2B5EF4-FFF2-40B4-BE49-F238E27FC236}">
                <a16:creationId xmlns:a16="http://schemas.microsoft.com/office/drawing/2014/main" id="{87EF0748-07A2-490E-AE85-C0E0E4657801}"/>
              </a:ext>
            </a:extLst>
          </p:cNvPr>
          <p:cNvSpPr>
            <a:spLocks noGrp="1"/>
          </p:cNvSpPr>
          <p:nvPr/>
        </p:nvSpPr>
        <p:spPr>
          <a:xfrm>
            <a:off x="609600" y="4095750"/>
            <a:ext cx="409575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Source spans</a:t>
            </a:r>
          </a:p>
        </p:txBody>
      </p:sp>
      <p:sp>
        <p:nvSpPr>
          <p:cNvPr id="7" name="Rectangle 6">
            <a:extLst>
              <a:ext uri="{FF2B5EF4-FFF2-40B4-BE49-F238E27FC236}">
                <a16:creationId xmlns:a16="http://schemas.microsoft.com/office/drawing/2014/main" id="{1ED8D096-3612-404A-A8B2-CA098D658A5B}"/>
              </a:ext>
            </a:extLst>
          </p:cNvPr>
          <p:cNvSpPr>
            <a:spLocks noGrp="1"/>
          </p:cNvSpPr>
          <p:nvPr/>
        </p:nvSpPr>
        <p:spPr>
          <a:xfrm>
            <a:off x="609600" y="4562475"/>
            <a:ext cx="409575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Locations support diagnostics and editor links.</a:t>
            </a:r>
          </a:p>
        </p:txBody>
      </p:sp>
      <p:pic>
        <p:nvPicPr>
          <p:cNvPr id="8" name="Picture 7">
            <a:extLst>
              <a:ext uri="{FF2B5EF4-FFF2-40B4-BE49-F238E27FC236}">
                <a16:creationId xmlns:a16="http://schemas.microsoft.com/office/drawing/2014/main" id="{6970308A-7DD2-44FC-93A0-A51B8721D94A}"/>
              </a:ext>
            </a:extLst>
          </p:cNvPr>
          <p:cNvPicPr>
            <a:picLocks noChangeAspect="1"/>
          </p:cNvPicPr>
          <p:nvPr/>
        </p:nvPicPr>
        <p:blipFill>
          <a:blip r:embed="rId3"/>
          <a:stretch/>
        </p:blipFill>
        <p:spPr>
          <a:xfrm>
            <a:off x="5429250" y="2385219"/>
            <a:ext cx="6191250" cy="3611563"/>
          </a:xfrm>
          <a:prstGeom prst="rect">
            <a:avLst/>
          </a:prstGeom>
        </p:spPr>
      </p:pic>
    </p:spTree>
    <p:extLst>
      <p:ext uri="{BB962C8B-B14F-4D97-AF65-F5344CB8AC3E}">
        <p14:creationId xmlns:p14="http://schemas.microsoft.com/office/powerpoint/2010/main" val="2055940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1CDDE08-D337-453F-948D-3FCEB5245890}"/>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Parsing and operator precedence</a:t>
            </a:r>
          </a:p>
        </p:txBody>
      </p:sp>
      <p:sp>
        <p:nvSpPr>
          <p:cNvPr id="2" name="Rectangle 1">
            <a:extLst>
              <a:ext uri="{FF2B5EF4-FFF2-40B4-BE49-F238E27FC236}">
                <a16:creationId xmlns:a16="http://schemas.microsoft.com/office/drawing/2014/main" id="{F18346FB-6CA6-49B4-B490-AEA91947D1FB}"/>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Recursive descent handles statements, while Pratt parsing handles expressions</a:t>
            </a:r>
          </a:p>
        </p:txBody>
      </p:sp>
      <p:sp>
        <p:nvSpPr>
          <p:cNvPr id="3" name="Rectangle 2">
            <a:extLst>
              <a:ext uri="{FF2B5EF4-FFF2-40B4-BE49-F238E27FC236}">
                <a16:creationId xmlns:a16="http://schemas.microsoft.com/office/drawing/2014/main" id="{2D23822C-14CA-4944-B4BD-4D425E29EC52}"/>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08</a:t>
            </a:r>
          </a:p>
        </p:txBody>
      </p:sp>
      <p:graphicFrame>
        <p:nvGraphicFramePr>
          <p:cNvPr id="4" name="Table 3">
            <a:extLst>
              <a:ext uri="{FF2B5EF4-FFF2-40B4-BE49-F238E27FC236}">
                <a16:creationId xmlns:a16="http://schemas.microsoft.com/office/drawing/2014/main" id="{C7EFADBB-DAA3-4D48-A190-4109F9A33ADF}"/>
              </a:ext>
            </a:extLst>
          </p:cNvPr>
          <p:cNvGraphicFramePr/>
          <p:nvPr/>
        </p:nvGraphicFramePr>
        <p:xfrm>
          <a:off x="609600" y="2038350"/>
          <a:ext cx="10972800" cy="2952750"/>
        </p:xfrm>
        <a:graphic>
          <a:graphicData uri="http://schemas.openxmlformats.org/drawingml/2006/table">
            <a:tbl>
              <a:tblPr/>
              <a:tblGrid>
                <a:gridCol w="3333750">
                  <a:extLst>
                    <a:ext uri="{9D8B030D-6E8A-4147-A177-3AD203B41FA5}">
                      <a16:colId xmlns:a16="http://schemas.microsoft.com/office/drawing/2014/main" val="20000"/>
                    </a:ext>
                  </a:extLst>
                </a:gridCol>
                <a:gridCol w="7639050">
                  <a:extLst>
                    <a:ext uri="{9D8B030D-6E8A-4147-A177-3AD203B41FA5}">
                      <a16:colId xmlns:a16="http://schemas.microsoft.com/office/drawing/2014/main" val="20001"/>
                    </a:ext>
                  </a:extLst>
                </a:gridCol>
              </a:tblGrid>
              <a:tr h="590550">
                <a:tc>
                  <a:txBody>
                    <a:bodyPr/>
                    <a:lstStyle/>
                    <a:p>
                      <a:r>
                        <a:rPr sz="1875" b="1">
                          <a:solidFill>
                            <a:srgbClr val="142238"/>
                          </a:solidFill>
                          <a:latin typeface="Arial"/>
                          <a:ea typeface="Arial"/>
                          <a:cs typeface="Arial"/>
                        </a:rPr>
                        <a:t>Decision</a:t>
                      </a:r>
                    </a:p>
                  </a:txBody>
                  <a:tcPr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a:lstStyle/>
                    <a:p>
                      <a:r>
                        <a:rPr sz="1875" b="1">
                          <a:solidFill>
                            <a:srgbClr val="142238"/>
                          </a:solidFill>
                          <a:latin typeface="Arial"/>
                          <a:ea typeface="Arial"/>
                          <a:cs typeface="Arial"/>
                        </a:rPr>
                        <a:t>Implementation</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extLst>
                  <a:ext uri="{0D108BD9-81ED-4DB2-BD59-A6C34878D82A}">
                    <a16:rowId xmlns:a16="http://schemas.microsoft.com/office/drawing/2014/main" val="10000"/>
                  </a:ext>
                </a:extLst>
              </a:tr>
              <a:tr h="590550">
                <a:tc>
                  <a:txBody>
                    <a:bodyPr/>
                    <a:lstStyle/>
                    <a:p>
                      <a:r>
                        <a:rPr sz="1875" b="0">
                          <a:solidFill>
                            <a:srgbClr val="516174"/>
                          </a:solidFill>
                          <a:latin typeface="Arial"/>
                          <a:ea typeface="Arial"/>
                          <a:cs typeface="Arial"/>
                        </a:rPr>
                        <a:t>Statement family</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Leading tokens and bounded lookahead</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1"/>
                  </a:ext>
                </a:extLst>
              </a:tr>
              <a:tr h="590550">
                <a:tc>
                  <a:txBody>
                    <a:bodyPr/>
                    <a:lstStyle/>
                    <a:p>
                      <a:r>
                        <a:rPr sz="1875" b="0">
                          <a:solidFill>
                            <a:srgbClr val="516174"/>
                          </a:solidFill>
                          <a:latin typeface="Arial"/>
                          <a:ea typeface="Arial"/>
                          <a:cs typeface="Arial"/>
                        </a:rPr>
                        <a:t>Expression structure</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Binding powers encode operator precedence</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2"/>
                  </a:ext>
                </a:extLst>
              </a:tr>
              <a:tr h="590550">
                <a:tc>
                  <a:txBody>
                    <a:bodyPr/>
                    <a:lstStyle/>
                    <a:p>
                      <a:r>
                        <a:rPr sz="1875" b="0">
                          <a:solidFill>
                            <a:srgbClr val="516174"/>
                          </a:solidFill>
                          <a:latin typeface="Arial"/>
                          <a:ea typeface="Arial"/>
                          <a:cs typeface="Arial"/>
                        </a:rPr>
                        <a:t>Mixed blocks</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Context-aware suite reader handles indentation and braces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3"/>
                  </a:ext>
                </a:extLst>
              </a:tr>
              <a:tr h="590550">
                <a:tc>
                  <a:txBody>
                    <a:bodyPr/>
                    <a:lstStyle/>
                    <a:p>
                      <a:r>
                        <a:rPr sz="1875" b="0">
                          <a:solidFill>
                            <a:srgbClr val="516174"/>
                          </a:solidFill>
                          <a:latin typeface="Arial"/>
                          <a:ea typeface="Arial"/>
                          <a:cs typeface="Arial"/>
                        </a:rPr>
                        <a:t>Normalization</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Family-specific spelling creates shared AST nodes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C8ADFDA8-9DA7-4A6D-9657-65C6A820D0C9}"/>
              </a:ext>
            </a:extLst>
          </p:cNvPr>
          <p:cNvSpPr>
            <a:spLocks noGrp="1"/>
          </p:cNvSpPr>
          <p:nvPr/>
        </p:nvSpPr>
        <p:spPr>
          <a:xfrm>
            <a:off x="628650" y="5391150"/>
            <a:ext cx="3810000" cy="523875"/>
          </a:xfrm>
          <a:prstGeom prst="rect">
            <a:avLst/>
          </a:prstGeom>
          <a:noFill/>
          <a:ln w="0">
            <a:noFill/>
          </a:ln>
        </p:spPr>
        <p:txBody>
          <a:bodyPr wrap="square" lIns="0" tIns="0" rIns="0" bIns="0" anchor="t">
            <a:noAutofit/>
          </a:bodyPr>
          <a:lstStyle>
            <a:defPPr>
              <a:defRPr sz="2550" b="0">
                <a:solidFill>
                  <a:srgbClr val="142238"/>
                </a:solidFill>
                <a:latin typeface="Courier New"/>
                <a:ea typeface="Courier New"/>
                <a:cs typeface="Courier New"/>
              </a:defRPr>
            </a:defPPr>
            <a:lvl1pPr>
              <a:defRPr sz="2550" b="0">
                <a:solidFill>
                  <a:srgbClr val="142238"/>
                </a:solidFill>
                <a:latin typeface="Courier New"/>
                <a:ea typeface="Courier New"/>
                <a:cs typeface="Courier New"/>
              </a:defRPr>
            </a:lvl1pPr>
            <a:lvl2pPr>
              <a:defRPr sz="2550" b="0">
                <a:solidFill>
                  <a:srgbClr val="142238"/>
                </a:solidFill>
                <a:latin typeface="Courier New"/>
                <a:ea typeface="Courier New"/>
                <a:cs typeface="Courier New"/>
              </a:defRPr>
            </a:lvl2pPr>
            <a:lvl3pPr>
              <a:defRPr sz="2550" b="0">
                <a:solidFill>
                  <a:srgbClr val="142238"/>
                </a:solidFill>
                <a:latin typeface="Courier New"/>
                <a:ea typeface="Courier New"/>
                <a:cs typeface="Courier New"/>
              </a:defRPr>
            </a:lvl3pPr>
            <a:lvl4pPr>
              <a:defRPr sz="2550" b="0">
                <a:solidFill>
                  <a:srgbClr val="142238"/>
                </a:solidFill>
                <a:latin typeface="Courier New"/>
                <a:ea typeface="Courier New"/>
                <a:cs typeface="Courier New"/>
              </a:defRPr>
            </a:lvl4pPr>
            <a:lvl5pPr>
              <a:defRPr sz="2550" b="0">
                <a:solidFill>
                  <a:srgbClr val="142238"/>
                </a:solidFill>
                <a:latin typeface="Courier New"/>
                <a:ea typeface="Courier New"/>
                <a:cs typeface="Courier New"/>
              </a:defRPr>
            </a:lvl5pPr>
            <a:lvl6pPr>
              <a:defRPr sz="2550" b="0">
                <a:solidFill>
                  <a:srgbClr val="142238"/>
                </a:solidFill>
                <a:latin typeface="Courier New"/>
                <a:ea typeface="Courier New"/>
                <a:cs typeface="Courier New"/>
              </a:defRPr>
            </a:lvl6pPr>
            <a:lvl7pPr>
              <a:defRPr sz="2550" b="0">
                <a:solidFill>
                  <a:srgbClr val="142238"/>
                </a:solidFill>
                <a:latin typeface="Courier New"/>
                <a:ea typeface="Courier New"/>
                <a:cs typeface="Courier New"/>
              </a:defRPr>
            </a:lvl7pPr>
            <a:lvl8pPr>
              <a:defRPr sz="2550" b="0">
                <a:solidFill>
                  <a:srgbClr val="142238"/>
                </a:solidFill>
                <a:latin typeface="Courier New"/>
                <a:ea typeface="Courier New"/>
                <a:cs typeface="Courier New"/>
              </a:defRPr>
            </a:lvl8pPr>
            <a:lvl9pPr>
              <a:defRPr sz="2550" b="0">
                <a:solidFill>
                  <a:srgbClr val="142238"/>
                </a:solidFill>
                <a:latin typeface="Courier New"/>
                <a:ea typeface="Courier New"/>
                <a:cs typeface="Courier New"/>
              </a:defRPr>
            </a:lvl9pPr>
          </a:lstStyle>
          <a:p>
            <a:pPr>
              <a:defRPr sz="2550" b="0">
                <a:solidFill>
                  <a:srgbClr val="142238"/>
                </a:solidFill>
                <a:latin typeface="Courier New"/>
                <a:ea typeface="Courier New"/>
                <a:cs typeface="Courier New"/>
              </a:defRPr>
            </a:pPr>
            <a:r>
              <a:rPr sz="2550" b="0">
                <a:solidFill>
                  <a:srgbClr val="142238"/>
                </a:solidFill>
                <a:latin typeface="Courier New"/>
                <a:ea typeface="Courier New"/>
                <a:cs typeface="Courier New"/>
              </a:rPr>
              <a:t>2 + 3 * 4</a:t>
            </a:r>
          </a:p>
        </p:txBody>
      </p:sp>
      <p:sp>
        <p:nvSpPr>
          <p:cNvPr id="6" name="Rectangle 5">
            <a:extLst>
              <a:ext uri="{FF2B5EF4-FFF2-40B4-BE49-F238E27FC236}">
                <a16:creationId xmlns:a16="http://schemas.microsoft.com/office/drawing/2014/main" id="{86B07DCA-C689-43C4-AFE9-962C135F6038}"/>
              </a:ext>
            </a:extLst>
          </p:cNvPr>
          <p:cNvSpPr>
            <a:spLocks noGrp="1"/>
          </p:cNvSpPr>
          <p:nvPr/>
        </p:nvSpPr>
        <p:spPr>
          <a:xfrm>
            <a:off x="5095875" y="5410200"/>
            <a:ext cx="6191250" cy="647700"/>
          </a:xfrm>
          <a:prstGeom prst="rect">
            <a:avLst/>
          </a:prstGeom>
          <a:noFill/>
          <a:ln w="0">
            <a:noFill/>
          </a:ln>
        </p:spPr>
        <p:txBody>
          <a:bodyPr wrap="square" lIns="0" tIns="0" rIns="0" bIns="0" anchor="t">
            <a:noAutofit/>
          </a:bodyPr>
          <a:lstStyle>
            <a:defPPr>
              <a:defRPr sz="2175" b="1">
                <a:solidFill>
                  <a:srgbClr val="245EEA"/>
                </a:solidFill>
                <a:latin typeface="Arial"/>
                <a:ea typeface="Arial"/>
                <a:cs typeface="Arial"/>
              </a:defRPr>
            </a:defPPr>
            <a:lvl1pPr>
              <a:defRPr sz="2175" b="1">
                <a:solidFill>
                  <a:srgbClr val="245EEA"/>
                </a:solidFill>
                <a:latin typeface="Arial"/>
                <a:ea typeface="Arial"/>
                <a:cs typeface="Arial"/>
              </a:defRPr>
            </a:lvl1pPr>
            <a:lvl2pPr>
              <a:defRPr sz="2175" b="1">
                <a:solidFill>
                  <a:srgbClr val="245EEA"/>
                </a:solidFill>
                <a:latin typeface="Arial"/>
                <a:ea typeface="Arial"/>
                <a:cs typeface="Arial"/>
              </a:defRPr>
            </a:lvl2pPr>
            <a:lvl3pPr>
              <a:defRPr sz="2175" b="1">
                <a:solidFill>
                  <a:srgbClr val="245EEA"/>
                </a:solidFill>
                <a:latin typeface="Arial"/>
                <a:ea typeface="Arial"/>
                <a:cs typeface="Arial"/>
              </a:defRPr>
            </a:lvl3pPr>
            <a:lvl4pPr>
              <a:defRPr sz="2175" b="1">
                <a:solidFill>
                  <a:srgbClr val="245EEA"/>
                </a:solidFill>
                <a:latin typeface="Arial"/>
                <a:ea typeface="Arial"/>
                <a:cs typeface="Arial"/>
              </a:defRPr>
            </a:lvl4pPr>
            <a:lvl5pPr>
              <a:defRPr sz="2175" b="1">
                <a:solidFill>
                  <a:srgbClr val="245EEA"/>
                </a:solidFill>
                <a:latin typeface="Arial"/>
                <a:ea typeface="Arial"/>
                <a:cs typeface="Arial"/>
              </a:defRPr>
            </a:lvl5pPr>
            <a:lvl6pPr>
              <a:defRPr sz="2175" b="1">
                <a:solidFill>
                  <a:srgbClr val="245EEA"/>
                </a:solidFill>
                <a:latin typeface="Arial"/>
                <a:ea typeface="Arial"/>
                <a:cs typeface="Arial"/>
              </a:defRPr>
            </a:lvl6pPr>
            <a:lvl7pPr>
              <a:defRPr sz="2175" b="1">
                <a:solidFill>
                  <a:srgbClr val="245EEA"/>
                </a:solidFill>
                <a:latin typeface="Arial"/>
                <a:ea typeface="Arial"/>
                <a:cs typeface="Arial"/>
              </a:defRPr>
            </a:lvl7pPr>
            <a:lvl8pPr>
              <a:defRPr sz="2175" b="1">
                <a:solidFill>
                  <a:srgbClr val="245EEA"/>
                </a:solidFill>
                <a:latin typeface="Arial"/>
                <a:ea typeface="Arial"/>
                <a:cs typeface="Arial"/>
              </a:defRPr>
            </a:lvl8pPr>
            <a:lvl9pPr>
              <a:defRPr sz="2175" b="1">
                <a:solidFill>
                  <a:srgbClr val="245EEA"/>
                </a:solidFill>
                <a:latin typeface="Arial"/>
                <a:ea typeface="Arial"/>
                <a:cs typeface="Arial"/>
              </a:defRPr>
            </a:lvl9pPr>
          </a:lstStyle>
          <a:p>
            <a:pPr>
              <a:defRPr sz="2175" b="1">
                <a:solidFill>
                  <a:srgbClr val="245EEA"/>
                </a:solidFill>
                <a:latin typeface="Arial"/>
                <a:ea typeface="Arial"/>
                <a:cs typeface="Arial"/>
              </a:defRPr>
            </a:pPr>
            <a:r>
              <a:rPr sz="2175" b="1">
                <a:solidFill>
                  <a:srgbClr val="245EEA"/>
                </a:solidFill>
                <a:latin typeface="Arial"/>
                <a:ea typeface="Arial"/>
                <a:cs typeface="Arial"/>
              </a:rPr>
              <a:t>The multiplication groups before the addition.</a:t>
            </a:r>
          </a:p>
        </p:txBody>
      </p:sp>
    </p:spTree>
    <p:extLst>
      <p:ext uri="{BB962C8B-B14F-4D97-AF65-F5344CB8AC3E}">
        <p14:creationId xmlns:p14="http://schemas.microsoft.com/office/powerpoint/2010/main" val="426310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34B2139-4E4B-48DB-9A2D-7026FC8C64CA}"/>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The AST is a real tree</a:t>
            </a:r>
          </a:p>
        </p:txBody>
      </p:sp>
      <p:sp>
        <p:nvSpPr>
          <p:cNvPr id="2" name="Rectangle 1">
            <a:extLst>
              <a:ext uri="{FF2B5EF4-FFF2-40B4-BE49-F238E27FC236}">
                <a16:creationId xmlns:a16="http://schemas.microsoft.com/office/drawing/2014/main" id="{C9BFC8A6-1CD5-410D-89BE-CBA82C2C894A}"/>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print((2 + 3) * 4)</a:t>
            </a:r>
          </a:p>
        </p:txBody>
      </p:sp>
      <p:sp>
        <p:nvSpPr>
          <p:cNvPr id="3" name="Rectangle 2">
            <a:extLst>
              <a:ext uri="{FF2B5EF4-FFF2-40B4-BE49-F238E27FC236}">
                <a16:creationId xmlns:a16="http://schemas.microsoft.com/office/drawing/2014/main" id="{7132D40F-91F0-43E3-AA30-83AD11D7DEAD}"/>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09</a:t>
            </a:r>
          </a:p>
        </p:txBody>
      </p:sp>
      <p:pic>
        <p:nvPicPr>
          <p:cNvPr id="4" name="Picture 3">
            <a:extLst>
              <a:ext uri="{FF2B5EF4-FFF2-40B4-BE49-F238E27FC236}">
                <a16:creationId xmlns:a16="http://schemas.microsoft.com/office/drawing/2014/main" id="{BCC0B8FD-B000-400C-B058-BBFF83EEFAAC}"/>
              </a:ext>
            </a:extLst>
          </p:cNvPr>
          <p:cNvPicPr>
            <a:picLocks noChangeAspect="1"/>
          </p:cNvPicPr>
          <p:nvPr/>
        </p:nvPicPr>
        <p:blipFill>
          <a:blip r:embed="rId3"/>
          <a:stretch/>
        </p:blipFill>
        <p:spPr>
          <a:xfrm>
            <a:off x="619125" y="2000250"/>
            <a:ext cx="10953750" cy="2952750"/>
          </a:xfrm>
          <a:prstGeom prst="rect">
            <a:avLst/>
          </a:prstGeom>
        </p:spPr>
      </p:pic>
      <p:sp>
        <p:nvSpPr>
          <p:cNvPr id="5" name="Rectangle 4">
            <a:extLst>
              <a:ext uri="{FF2B5EF4-FFF2-40B4-BE49-F238E27FC236}">
                <a16:creationId xmlns:a16="http://schemas.microsoft.com/office/drawing/2014/main" id="{45FD1E0A-7781-47CA-8C26-42505D9F1454}"/>
              </a:ext>
            </a:extLst>
          </p:cNvPr>
          <p:cNvSpPr>
            <a:spLocks noGrp="1"/>
          </p:cNvSpPr>
          <p:nvPr/>
        </p:nvSpPr>
        <p:spPr>
          <a:xfrm>
            <a:off x="609600" y="5219700"/>
            <a:ext cx="495300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Semantic structure</a:t>
            </a:r>
          </a:p>
        </p:txBody>
      </p:sp>
      <p:sp>
        <p:nvSpPr>
          <p:cNvPr id="6" name="Rectangle 5">
            <a:extLst>
              <a:ext uri="{FF2B5EF4-FFF2-40B4-BE49-F238E27FC236}">
                <a16:creationId xmlns:a16="http://schemas.microsoft.com/office/drawing/2014/main" id="{A7791F72-210D-4A87-97D8-2C916B654FCC}"/>
              </a:ext>
            </a:extLst>
          </p:cNvPr>
          <p:cNvSpPr>
            <a:spLocks noGrp="1"/>
          </p:cNvSpPr>
          <p:nvPr/>
        </p:nvSpPr>
        <p:spPr>
          <a:xfrm>
            <a:off x="609600" y="5686425"/>
            <a:ext cx="495300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Operations and operands replace punctuation.</a:t>
            </a:r>
          </a:p>
        </p:txBody>
      </p:sp>
      <p:sp>
        <p:nvSpPr>
          <p:cNvPr id="7" name="Rectangle 6">
            <a:extLst>
              <a:ext uri="{FF2B5EF4-FFF2-40B4-BE49-F238E27FC236}">
                <a16:creationId xmlns:a16="http://schemas.microsoft.com/office/drawing/2014/main" id="{0A8FA011-C97E-4FF4-B8C8-C4CEC8C5C2D6}"/>
              </a:ext>
            </a:extLst>
          </p:cNvPr>
          <p:cNvSpPr>
            <a:spLocks noGrp="1"/>
          </p:cNvSpPr>
          <p:nvPr/>
        </p:nvSpPr>
        <p:spPr>
          <a:xfrm>
            <a:off x="6572250" y="5219700"/>
            <a:ext cx="495300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Source connection</a:t>
            </a:r>
          </a:p>
        </p:txBody>
      </p:sp>
      <p:sp>
        <p:nvSpPr>
          <p:cNvPr id="8" name="Rectangle 7">
            <a:extLst>
              <a:ext uri="{FF2B5EF4-FFF2-40B4-BE49-F238E27FC236}">
                <a16:creationId xmlns:a16="http://schemas.microsoft.com/office/drawing/2014/main" id="{6884979C-B49B-45D0-BC92-747E2E29E75E}"/>
              </a:ext>
            </a:extLst>
          </p:cNvPr>
          <p:cNvSpPr>
            <a:spLocks noGrp="1"/>
          </p:cNvSpPr>
          <p:nvPr/>
        </p:nvSpPr>
        <p:spPr>
          <a:xfrm>
            <a:off x="6572250" y="5686425"/>
            <a:ext cx="495300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Types and source links stay attached to each node.</a:t>
            </a:r>
          </a:p>
        </p:txBody>
      </p:sp>
    </p:spTree>
    <p:extLst>
      <p:ext uri="{BB962C8B-B14F-4D97-AF65-F5344CB8AC3E}">
        <p14:creationId xmlns:p14="http://schemas.microsoft.com/office/powerpoint/2010/main" val="1291158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4AA7580-B350-4AFD-A37F-99DA50C8FDA9}"/>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Semantic analysis</a:t>
            </a:r>
          </a:p>
        </p:txBody>
      </p:sp>
      <p:sp>
        <p:nvSpPr>
          <p:cNvPr id="2" name="Rectangle 1">
            <a:extLst>
              <a:ext uri="{FF2B5EF4-FFF2-40B4-BE49-F238E27FC236}">
                <a16:creationId xmlns:a16="http://schemas.microsoft.com/office/drawing/2014/main" id="{A7452627-4112-4842-ACAC-B49B9CE22B78}"/>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A well-formed tree must also obey binding and type rules</a:t>
            </a:r>
          </a:p>
        </p:txBody>
      </p:sp>
      <p:sp>
        <p:nvSpPr>
          <p:cNvPr id="3" name="Rectangle 2">
            <a:extLst>
              <a:ext uri="{FF2B5EF4-FFF2-40B4-BE49-F238E27FC236}">
                <a16:creationId xmlns:a16="http://schemas.microsoft.com/office/drawing/2014/main" id="{DAAAF491-3313-43A4-87A3-B332F42EB5F7}"/>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10</a:t>
            </a:r>
          </a:p>
        </p:txBody>
      </p:sp>
      <p:pic>
        <p:nvPicPr>
          <p:cNvPr id="4" name="Picture 3">
            <a:extLst>
              <a:ext uri="{FF2B5EF4-FFF2-40B4-BE49-F238E27FC236}">
                <a16:creationId xmlns:a16="http://schemas.microsoft.com/office/drawing/2014/main" id="{87B60761-FBDE-476C-8566-EAECD7B89D38}"/>
              </a:ext>
            </a:extLst>
          </p:cNvPr>
          <p:cNvPicPr>
            <a:picLocks noChangeAspect="1"/>
          </p:cNvPicPr>
          <p:nvPr/>
        </p:nvPicPr>
        <p:blipFill>
          <a:blip r:embed="rId3"/>
          <a:stretch/>
        </p:blipFill>
        <p:spPr>
          <a:xfrm>
            <a:off x="6962775" y="1952625"/>
            <a:ext cx="3714750" cy="3714750"/>
          </a:xfrm>
          <a:prstGeom prst="rect">
            <a:avLst/>
          </a:prstGeom>
        </p:spPr>
      </p:pic>
      <p:sp>
        <p:nvSpPr>
          <p:cNvPr id="5" name="Rectangle 4">
            <a:extLst>
              <a:ext uri="{FF2B5EF4-FFF2-40B4-BE49-F238E27FC236}">
                <a16:creationId xmlns:a16="http://schemas.microsoft.com/office/drawing/2014/main" id="{34C1099D-8696-4A7E-857A-D6239AD4A5FE}"/>
              </a:ext>
            </a:extLst>
          </p:cNvPr>
          <p:cNvSpPr>
            <a:spLocks noGrp="1"/>
          </p:cNvSpPr>
          <p:nvPr/>
        </p:nvSpPr>
        <p:spPr>
          <a:xfrm>
            <a:off x="609600" y="2066925"/>
            <a:ext cx="485775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Name resolution</a:t>
            </a:r>
          </a:p>
        </p:txBody>
      </p:sp>
      <p:sp>
        <p:nvSpPr>
          <p:cNvPr id="6" name="Rectangle 5">
            <a:extLst>
              <a:ext uri="{FF2B5EF4-FFF2-40B4-BE49-F238E27FC236}">
                <a16:creationId xmlns:a16="http://schemas.microsoft.com/office/drawing/2014/main" id="{E89BFC2A-7A8D-4E61-9EBF-4039DFDFBC25}"/>
              </a:ext>
            </a:extLst>
          </p:cNvPr>
          <p:cNvSpPr>
            <a:spLocks noGrp="1"/>
          </p:cNvSpPr>
          <p:nvPr/>
        </p:nvSpPr>
        <p:spPr>
          <a:xfrm>
            <a:off x="609600" y="2533650"/>
            <a:ext cx="485775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Nested scopes distinguish globals, parameters and local variables.</a:t>
            </a:r>
          </a:p>
        </p:txBody>
      </p:sp>
      <p:sp>
        <p:nvSpPr>
          <p:cNvPr id="7" name="Rectangle 6">
            <a:extLst>
              <a:ext uri="{FF2B5EF4-FFF2-40B4-BE49-F238E27FC236}">
                <a16:creationId xmlns:a16="http://schemas.microsoft.com/office/drawing/2014/main" id="{65A9FD86-0B26-4741-A51A-62BA7E1A27C1}"/>
              </a:ext>
            </a:extLst>
          </p:cNvPr>
          <p:cNvSpPr>
            <a:spLocks noGrp="1"/>
          </p:cNvSpPr>
          <p:nvPr/>
        </p:nvSpPr>
        <p:spPr>
          <a:xfrm>
            <a:off x="609600" y="3943350"/>
            <a:ext cx="485775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Type checking</a:t>
            </a:r>
          </a:p>
        </p:txBody>
      </p:sp>
      <p:sp>
        <p:nvSpPr>
          <p:cNvPr id="8" name="Rectangle 7">
            <a:extLst>
              <a:ext uri="{FF2B5EF4-FFF2-40B4-BE49-F238E27FC236}">
                <a16:creationId xmlns:a16="http://schemas.microsoft.com/office/drawing/2014/main" id="{683BFEA9-9AE6-4215-A497-4939C329E9E2}"/>
              </a:ext>
            </a:extLst>
          </p:cNvPr>
          <p:cNvSpPr>
            <a:spLocks noGrp="1"/>
          </p:cNvSpPr>
          <p:nvPr/>
        </p:nvSpPr>
        <p:spPr>
          <a:xfrm>
            <a:off x="609600" y="4410075"/>
            <a:ext cx="485775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Assignments, calls, returns and array operations must use compatible types.</a:t>
            </a:r>
          </a:p>
        </p:txBody>
      </p:sp>
    </p:spTree>
    <p:extLst>
      <p:ext uri="{BB962C8B-B14F-4D97-AF65-F5344CB8AC3E}">
        <p14:creationId xmlns:p14="http://schemas.microsoft.com/office/powerpoint/2010/main" val="272444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5CF85C5-A391-4B95-AFEA-B73FFB31686F}"/>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Semantic errors stop code generation</a:t>
            </a:r>
          </a:p>
        </p:txBody>
      </p:sp>
      <p:sp>
        <p:nvSpPr>
          <p:cNvPr id="2" name="Rectangle 1">
            <a:extLst>
              <a:ext uri="{FF2B5EF4-FFF2-40B4-BE49-F238E27FC236}">
                <a16:creationId xmlns:a16="http://schemas.microsoft.com/office/drawing/2014/main" id="{DE6C04C0-84F3-4CC7-97E4-0C8412F85472}"/>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The source parses successfully, but assigning a string to an int fails</a:t>
            </a:r>
          </a:p>
        </p:txBody>
      </p:sp>
      <p:sp>
        <p:nvSpPr>
          <p:cNvPr id="3" name="Rectangle 2">
            <a:extLst>
              <a:ext uri="{FF2B5EF4-FFF2-40B4-BE49-F238E27FC236}">
                <a16:creationId xmlns:a16="http://schemas.microsoft.com/office/drawing/2014/main" id="{B3B3AEA8-4CCA-46E2-9853-A7D22B7E18C4}"/>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11</a:t>
            </a:r>
          </a:p>
        </p:txBody>
      </p:sp>
      <p:pic>
        <p:nvPicPr>
          <p:cNvPr id="4" name="Picture 3">
            <a:extLst>
              <a:ext uri="{FF2B5EF4-FFF2-40B4-BE49-F238E27FC236}">
                <a16:creationId xmlns:a16="http://schemas.microsoft.com/office/drawing/2014/main" id="{AEB089EF-FEC7-4968-8B21-8805FFA912D3}"/>
              </a:ext>
            </a:extLst>
          </p:cNvPr>
          <p:cNvPicPr>
            <a:picLocks noChangeAspect="1"/>
          </p:cNvPicPr>
          <p:nvPr/>
        </p:nvPicPr>
        <p:blipFill>
          <a:blip r:embed="rId3"/>
          <a:stretch/>
        </p:blipFill>
        <p:spPr>
          <a:xfrm>
            <a:off x="2712516" y="1847850"/>
            <a:ext cx="6766968" cy="3914775"/>
          </a:xfrm>
          <a:prstGeom prst="rect">
            <a:avLst/>
          </a:prstGeom>
        </p:spPr>
      </p:pic>
      <p:sp>
        <p:nvSpPr>
          <p:cNvPr id="5" name="Rectangle 4">
            <a:extLst>
              <a:ext uri="{FF2B5EF4-FFF2-40B4-BE49-F238E27FC236}">
                <a16:creationId xmlns:a16="http://schemas.microsoft.com/office/drawing/2014/main" id="{008C7FF6-AC92-4D06-83AF-2AD11D79C758}"/>
              </a:ext>
            </a:extLst>
          </p:cNvPr>
          <p:cNvSpPr>
            <a:spLocks noGrp="1"/>
          </p:cNvSpPr>
          <p:nvPr/>
        </p:nvSpPr>
        <p:spPr>
          <a:xfrm>
            <a:off x="628650" y="5905500"/>
            <a:ext cx="10668000" cy="342900"/>
          </a:xfrm>
          <a:prstGeom prst="rect">
            <a:avLst/>
          </a:prstGeom>
          <a:noFill/>
          <a:ln w="0">
            <a:noFill/>
          </a:ln>
        </p:spPr>
        <p:txBody>
          <a:bodyPr wrap="square" lIns="0" tIns="0" rIns="0" bIns="0" anchor="t">
            <a:noAutofit/>
          </a:bodyPr>
          <a:lstStyle>
            <a:defPPr>
              <a:defRPr sz="1950" b="1">
                <a:solidFill>
                  <a:srgbClr val="245EEA"/>
                </a:solidFill>
                <a:latin typeface="Arial"/>
                <a:ea typeface="Arial"/>
                <a:cs typeface="Arial"/>
              </a:defRPr>
            </a:defPPr>
            <a:lvl1pPr>
              <a:defRPr sz="1950" b="1">
                <a:solidFill>
                  <a:srgbClr val="245EEA"/>
                </a:solidFill>
                <a:latin typeface="Arial"/>
                <a:ea typeface="Arial"/>
                <a:cs typeface="Arial"/>
              </a:defRPr>
            </a:lvl1pPr>
            <a:lvl2pPr>
              <a:defRPr sz="1950" b="1">
                <a:solidFill>
                  <a:srgbClr val="245EEA"/>
                </a:solidFill>
                <a:latin typeface="Arial"/>
                <a:ea typeface="Arial"/>
                <a:cs typeface="Arial"/>
              </a:defRPr>
            </a:lvl2pPr>
            <a:lvl3pPr>
              <a:defRPr sz="1950" b="1">
                <a:solidFill>
                  <a:srgbClr val="245EEA"/>
                </a:solidFill>
                <a:latin typeface="Arial"/>
                <a:ea typeface="Arial"/>
                <a:cs typeface="Arial"/>
              </a:defRPr>
            </a:lvl3pPr>
            <a:lvl4pPr>
              <a:defRPr sz="1950" b="1">
                <a:solidFill>
                  <a:srgbClr val="245EEA"/>
                </a:solidFill>
                <a:latin typeface="Arial"/>
                <a:ea typeface="Arial"/>
                <a:cs typeface="Arial"/>
              </a:defRPr>
            </a:lvl4pPr>
            <a:lvl5pPr>
              <a:defRPr sz="1950" b="1">
                <a:solidFill>
                  <a:srgbClr val="245EEA"/>
                </a:solidFill>
                <a:latin typeface="Arial"/>
                <a:ea typeface="Arial"/>
                <a:cs typeface="Arial"/>
              </a:defRPr>
            </a:lvl5pPr>
            <a:lvl6pPr>
              <a:defRPr sz="1950" b="1">
                <a:solidFill>
                  <a:srgbClr val="245EEA"/>
                </a:solidFill>
                <a:latin typeface="Arial"/>
                <a:ea typeface="Arial"/>
                <a:cs typeface="Arial"/>
              </a:defRPr>
            </a:lvl6pPr>
            <a:lvl7pPr>
              <a:defRPr sz="1950" b="1">
                <a:solidFill>
                  <a:srgbClr val="245EEA"/>
                </a:solidFill>
                <a:latin typeface="Arial"/>
                <a:ea typeface="Arial"/>
                <a:cs typeface="Arial"/>
              </a:defRPr>
            </a:lvl7pPr>
            <a:lvl8pPr>
              <a:defRPr sz="1950" b="1">
                <a:solidFill>
                  <a:srgbClr val="245EEA"/>
                </a:solidFill>
                <a:latin typeface="Arial"/>
                <a:ea typeface="Arial"/>
                <a:cs typeface="Arial"/>
              </a:defRPr>
            </a:lvl8pPr>
            <a:lvl9pPr>
              <a:defRPr sz="1950" b="1">
                <a:solidFill>
                  <a:srgbClr val="245EEA"/>
                </a:solidFill>
                <a:latin typeface="Arial"/>
                <a:ea typeface="Arial"/>
                <a:cs typeface="Arial"/>
              </a:defRPr>
            </a:lvl9pPr>
          </a:lstStyle>
          <a:p>
            <a:pPr>
              <a:defRPr sz="1950" b="1">
                <a:solidFill>
                  <a:srgbClr val="245EEA"/>
                </a:solidFill>
                <a:latin typeface="Arial"/>
                <a:ea typeface="Arial"/>
                <a:cs typeface="Arial"/>
              </a:defRPr>
            </a:pPr>
            <a:r>
              <a:rPr sz="1950" b="1">
                <a:solidFill>
                  <a:srgbClr val="245EEA"/>
                </a:solidFill>
                <a:latin typeface="Arial"/>
                <a:ea typeface="Arial"/>
                <a:cs typeface="Arial"/>
              </a:rPr>
              <a:t>S004 at line 2: Cannot use string where int is required.</a:t>
            </a:r>
          </a:p>
        </p:txBody>
      </p:sp>
    </p:spTree>
    <p:extLst>
      <p:ext uri="{BB962C8B-B14F-4D97-AF65-F5344CB8AC3E}">
        <p14:creationId xmlns:p14="http://schemas.microsoft.com/office/powerpoint/2010/main" val="1891579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CB2AA7-A0B0-40D2-B15F-5D522F335519}"/>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Typed three-address IR</a:t>
            </a:r>
          </a:p>
        </p:txBody>
      </p:sp>
      <p:sp>
        <p:nvSpPr>
          <p:cNvPr id="2" name="Rectangle 1">
            <a:extLst>
              <a:ext uri="{FF2B5EF4-FFF2-40B4-BE49-F238E27FC236}">
                <a16:creationId xmlns:a16="http://schemas.microsoft.com/office/drawing/2014/main" id="{69E475A0-6776-41FC-B719-99D8C1F0A41E}"/>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The compiler expresses computation using explicit temporaries and operations</a:t>
            </a:r>
          </a:p>
        </p:txBody>
      </p:sp>
      <p:sp>
        <p:nvSpPr>
          <p:cNvPr id="3" name="Rectangle 2">
            <a:extLst>
              <a:ext uri="{FF2B5EF4-FFF2-40B4-BE49-F238E27FC236}">
                <a16:creationId xmlns:a16="http://schemas.microsoft.com/office/drawing/2014/main" id="{0FA17980-E6B0-4070-92B9-ECF0E4E53D93}"/>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12</a:t>
            </a:r>
          </a:p>
        </p:txBody>
      </p:sp>
      <p:sp>
        <p:nvSpPr>
          <p:cNvPr id="4" name="Rectangle 3">
            <a:extLst>
              <a:ext uri="{FF2B5EF4-FFF2-40B4-BE49-F238E27FC236}">
                <a16:creationId xmlns:a16="http://schemas.microsoft.com/office/drawing/2014/main" id="{8AAB2007-A097-444D-BB92-4B60F1FBFADE}"/>
              </a:ext>
            </a:extLst>
          </p:cNvPr>
          <p:cNvSpPr>
            <a:spLocks noGrp="1"/>
          </p:cNvSpPr>
          <p:nvPr/>
        </p:nvSpPr>
        <p:spPr>
          <a:xfrm>
            <a:off x="609600" y="2190750"/>
            <a:ext cx="5334000" cy="2809875"/>
          </a:xfrm>
          <a:prstGeom prst="rect">
            <a:avLst/>
          </a:prstGeom>
          <a:noFill/>
          <a:ln w="0">
            <a:noFill/>
          </a:ln>
        </p:spPr>
        <p:txBody>
          <a:bodyPr wrap="square" lIns="0" tIns="0" rIns="0" bIns="0" anchor="t">
            <a:noAutofit/>
          </a:bodyPr>
          <a:lstStyle>
            <a:defPPr>
              <a:defRPr sz="2100" b="0">
                <a:solidFill>
                  <a:srgbClr val="142238"/>
                </a:solidFill>
                <a:latin typeface="Courier New"/>
                <a:ea typeface="Courier New"/>
                <a:cs typeface="Courier New"/>
              </a:defRPr>
            </a:defPPr>
            <a:lvl1pPr>
              <a:defRPr sz="2100" b="0">
                <a:solidFill>
                  <a:srgbClr val="142238"/>
                </a:solidFill>
                <a:latin typeface="Courier New"/>
                <a:ea typeface="Courier New"/>
                <a:cs typeface="Courier New"/>
              </a:defRPr>
            </a:lvl1pPr>
            <a:lvl2pPr>
              <a:defRPr sz="2100" b="0">
                <a:solidFill>
                  <a:srgbClr val="142238"/>
                </a:solidFill>
                <a:latin typeface="Courier New"/>
                <a:ea typeface="Courier New"/>
                <a:cs typeface="Courier New"/>
              </a:defRPr>
            </a:lvl2pPr>
            <a:lvl3pPr>
              <a:defRPr sz="2100" b="0">
                <a:solidFill>
                  <a:srgbClr val="142238"/>
                </a:solidFill>
                <a:latin typeface="Courier New"/>
                <a:ea typeface="Courier New"/>
                <a:cs typeface="Courier New"/>
              </a:defRPr>
            </a:lvl3pPr>
            <a:lvl4pPr>
              <a:defRPr sz="2100" b="0">
                <a:solidFill>
                  <a:srgbClr val="142238"/>
                </a:solidFill>
                <a:latin typeface="Courier New"/>
                <a:ea typeface="Courier New"/>
                <a:cs typeface="Courier New"/>
              </a:defRPr>
            </a:lvl4pPr>
            <a:lvl5pPr>
              <a:defRPr sz="2100" b="0">
                <a:solidFill>
                  <a:srgbClr val="142238"/>
                </a:solidFill>
                <a:latin typeface="Courier New"/>
                <a:ea typeface="Courier New"/>
                <a:cs typeface="Courier New"/>
              </a:defRPr>
            </a:lvl5pPr>
            <a:lvl6pPr>
              <a:defRPr sz="2100" b="0">
                <a:solidFill>
                  <a:srgbClr val="142238"/>
                </a:solidFill>
                <a:latin typeface="Courier New"/>
                <a:ea typeface="Courier New"/>
                <a:cs typeface="Courier New"/>
              </a:defRPr>
            </a:lvl6pPr>
            <a:lvl7pPr>
              <a:defRPr sz="2100" b="0">
                <a:solidFill>
                  <a:srgbClr val="142238"/>
                </a:solidFill>
                <a:latin typeface="Courier New"/>
                <a:ea typeface="Courier New"/>
                <a:cs typeface="Courier New"/>
              </a:defRPr>
            </a:lvl7pPr>
            <a:lvl8pPr>
              <a:defRPr sz="2100" b="0">
                <a:solidFill>
                  <a:srgbClr val="142238"/>
                </a:solidFill>
                <a:latin typeface="Courier New"/>
                <a:ea typeface="Courier New"/>
                <a:cs typeface="Courier New"/>
              </a:defRPr>
            </a:lvl8pPr>
            <a:lvl9pPr>
              <a:defRPr sz="2100" b="0">
                <a:solidFill>
                  <a:srgbClr val="142238"/>
                </a:solidFill>
                <a:latin typeface="Courier New"/>
                <a:ea typeface="Courier New"/>
                <a:cs typeface="Courier New"/>
              </a:defRPr>
            </a:lvl9pPr>
          </a:lstStyle>
          <a:p>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t0 = 2          : int</a:t>
            </a:r>
          </a:p>
          <a:p>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t1 = 3          : int</a:t>
            </a:r>
          </a:p>
          <a:p>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t2 = t0 + t1    : int</a:t>
            </a:r>
          </a:p>
          <a:p>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t3 = 4          : int</a:t>
            </a:r>
          </a:p>
          <a:p>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t4 = t2 * t3    : int</a:t>
            </a:r>
          </a:p>
          <a:p>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output(t4)</a:t>
            </a:r>
          </a:p>
          <a:p>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return</a:t>
            </a:r>
          </a:p>
        </p:txBody>
      </p:sp>
      <p:pic>
        <p:nvPicPr>
          <p:cNvPr id="5" name="Picture 4">
            <a:extLst>
              <a:ext uri="{FF2B5EF4-FFF2-40B4-BE49-F238E27FC236}">
                <a16:creationId xmlns:a16="http://schemas.microsoft.com/office/drawing/2014/main" id="{C99BA59A-D3AE-45D2-A499-D69D846AC565}"/>
              </a:ext>
            </a:extLst>
          </p:cNvPr>
          <p:cNvPicPr>
            <a:picLocks noChangeAspect="1"/>
          </p:cNvPicPr>
          <p:nvPr/>
        </p:nvPicPr>
        <p:blipFill>
          <a:blip r:embed="rId3"/>
          <a:stretch/>
        </p:blipFill>
        <p:spPr>
          <a:xfrm>
            <a:off x="6919232" y="1781175"/>
            <a:ext cx="3592286" cy="4191000"/>
          </a:xfrm>
          <a:prstGeom prst="rect">
            <a:avLst/>
          </a:prstGeom>
        </p:spPr>
      </p:pic>
      <p:sp>
        <p:nvSpPr>
          <p:cNvPr id="6" name="Rectangle 5">
            <a:extLst>
              <a:ext uri="{FF2B5EF4-FFF2-40B4-BE49-F238E27FC236}">
                <a16:creationId xmlns:a16="http://schemas.microsoft.com/office/drawing/2014/main" id="{FD2EB453-2C1B-46D3-8F57-75917FC99141}"/>
              </a:ext>
            </a:extLst>
          </p:cNvPr>
          <p:cNvSpPr>
            <a:spLocks noGrp="1"/>
          </p:cNvSpPr>
          <p:nvPr/>
        </p:nvSpPr>
        <p:spPr>
          <a:xfrm>
            <a:off x="628650" y="5286375"/>
            <a:ext cx="5334000" cy="85725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Readable notation for the expression.</a:t>
            </a:r>
          </a:p>
          <a:p>
            <a:pPr>
              <a:defRPr sz="1875" b="0">
                <a:solidFill>
                  <a:srgbClr val="516174"/>
                </a:solidFill>
                <a:latin typeface="Arial"/>
                <a:ea typeface="Arial"/>
                <a:cs typeface="Arial"/>
              </a:defRPr>
            </a:pPr>
            <a:r>
              <a:rPr sz="1875" b="0">
                <a:solidFill>
                  <a:srgbClr val="516174"/>
                </a:solidFill>
                <a:latin typeface="Arial"/>
                <a:ea typeface="Arial"/>
                <a:cs typeface="Arial"/>
              </a:rPr>
              <a:t>The inspector shows original IR.</a:t>
            </a:r>
          </a:p>
        </p:txBody>
      </p:sp>
    </p:spTree>
    <p:extLst>
      <p:ext uri="{BB962C8B-B14F-4D97-AF65-F5344CB8AC3E}">
        <p14:creationId xmlns:p14="http://schemas.microsoft.com/office/powerpoint/2010/main" val="465896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2101C71-50F5-472F-8805-D776FC2DFCEB}"/>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Control flow and data-flow analysis</a:t>
            </a:r>
          </a:p>
        </p:txBody>
      </p:sp>
      <p:sp>
        <p:nvSpPr>
          <p:cNvPr id="2" name="Rectangle 1">
            <a:extLst>
              <a:ext uri="{FF2B5EF4-FFF2-40B4-BE49-F238E27FC236}">
                <a16:creationId xmlns:a16="http://schemas.microsoft.com/office/drawing/2014/main" id="{6D5FA5B1-C546-4C78-B168-F45E4537AF57}"/>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These analyses support actual optimization decisions</a:t>
            </a:r>
          </a:p>
        </p:txBody>
      </p:sp>
      <p:sp>
        <p:nvSpPr>
          <p:cNvPr id="3" name="Rectangle 2">
            <a:extLst>
              <a:ext uri="{FF2B5EF4-FFF2-40B4-BE49-F238E27FC236}">
                <a16:creationId xmlns:a16="http://schemas.microsoft.com/office/drawing/2014/main" id="{32A998AE-68B6-4510-8221-D613EE9B6D5C}"/>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13</a:t>
            </a:r>
          </a:p>
        </p:txBody>
      </p:sp>
      <p:graphicFrame>
        <p:nvGraphicFramePr>
          <p:cNvPr id="4" name="Table 3">
            <a:extLst>
              <a:ext uri="{FF2B5EF4-FFF2-40B4-BE49-F238E27FC236}">
                <a16:creationId xmlns:a16="http://schemas.microsoft.com/office/drawing/2014/main" id="{62458C46-1008-4717-A3D3-A42A90C6A466}"/>
              </a:ext>
            </a:extLst>
          </p:cNvPr>
          <p:cNvGraphicFramePr/>
          <p:nvPr/>
        </p:nvGraphicFramePr>
        <p:xfrm>
          <a:off x="609600" y="2009775"/>
          <a:ext cx="10972800" cy="2876550"/>
        </p:xfrm>
        <a:graphic>
          <a:graphicData uri="http://schemas.openxmlformats.org/drawingml/2006/table">
            <a:tbl>
              <a:tblPr/>
              <a:tblGrid>
                <a:gridCol w="3381375">
                  <a:extLst>
                    <a:ext uri="{9D8B030D-6E8A-4147-A177-3AD203B41FA5}">
                      <a16:colId xmlns:a16="http://schemas.microsoft.com/office/drawing/2014/main" val="20000"/>
                    </a:ext>
                  </a:extLst>
                </a:gridCol>
                <a:gridCol w="7591425">
                  <a:extLst>
                    <a:ext uri="{9D8B030D-6E8A-4147-A177-3AD203B41FA5}">
                      <a16:colId xmlns:a16="http://schemas.microsoft.com/office/drawing/2014/main" val="20001"/>
                    </a:ext>
                  </a:extLst>
                </a:gridCol>
              </a:tblGrid>
              <a:tr h="575310">
                <a:tc>
                  <a:txBody>
                    <a:bodyPr/>
                    <a:lstStyle/>
                    <a:p>
                      <a:r>
                        <a:rPr sz="1875" b="1">
                          <a:solidFill>
                            <a:srgbClr val="142238"/>
                          </a:solidFill>
                          <a:latin typeface="Arial"/>
                          <a:ea typeface="Arial"/>
                          <a:cs typeface="Arial"/>
                        </a:rPr>
                        <a:t>Analysis</a:t>
                      </a:r>
                    </a:p>
                  </a:txBody>
                  <a:tcPr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a:lstStyle/>
                    <a:p>
                      <a:r>
                        <a:rPr sz="1875" b="1">
                          <a:solidFill>
                            <a:srgbClr val="142238"/>
                          </a:solidFill>
                          <a:latin typeface="Arial"/>
                          <a:ea typeface="Arial"/>
                          <a:cs typeface="Arial"/>
                        </a:rPr>
                        <a:t>How the compiler uses it</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extLst>
                  <a:ext uri="{0D108BD9-81ED-4DB2-BD59-A6C34878D82A}">
                    <a16:rowId xmlns:a16="http://schemas.microsoft.com/office/drawing/2014/main" val="10000"/>
                  </a:ext>
                </a:extLst>
              </a:tr>
              <a:tr h="575310">
                <a:tc>
                  <a:txBody>
                    <a:bodyPr/>
                    <a:lstStyle/>
                    <a:p>
                      <a:r>
                        <a:rPr sz="1875" b="0">
                          <a:solidFill>
                            <a:srgbClr val="516174"/>
                          </a:solidFill>
                          <a:latin typeface="Arial"/>
                          <a:ea typeface="Arial"/>
                          <a:cs typeface="Arial"/>
                        </a:rPr>
                        <a:t>Basic blocks</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Split at entry, labels and instructions after terminators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1"/>
                  </a:ext>
                </a:extLst>
              </a:tr>
              <a:tr h="575310">
                <a:tc>
                  <a:txBody>
                    <a:bodyPr/>
                    <a:lstStyle/>
                    <a:p>
                      <a:r>
                        <a:rPr sz="1875" b="0">
                          <a:solidFill>
                            <a:srgbClr val="516174"/>
                          </a:solidFill>
                          <a:latin typeface="Arial"/>
                          <a:ea typeface="Arial"/>
                          <a:cs typeface="Arial"/>
                        </a:rPr>
                        <a:t>Control-flow graph</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Resolve branch, jump and fall-through successors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2"/>
                  </a:ext>
                </a:extLst>
              </a:tr>
              <a:tr h="575310">
                <a:tc>
                  <a:txBody>
                    <a:bodyPr/>
                    <a:lstStyle/>
                    <a:p>
                      <a:r>
                        <a:rPr sz="1875" b="0">
                          <a:solidFill>
                            <a:srgbClr val="516174"/>
                          </a:solidFill>
                          <a:latin typeface="Arial"/>
                          <a:ea typeface="Arial"/>
                          <a:cs typeface="Arial"/>
                        </a:rPr>
                        <a:t>Reachability</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Remove blocks with no path from function entry</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3"/>
                  </a:ext>
                </a:extLst>
              </a:tr>
              <a:tr h="575310">
                <a:tc>
                  <a:txBody>
                    <a:bodyPr/>
                    <a:lstStyle/>
                    <a:p>
                      <a:r>
                        <a:rPr sz="1875" b="0">
                          <a:solidFill>
                            <a:srgbClr val="516174"/>
                          </a:solidFill>
                          <a:latin typeface="Arial"/>
                          <a:ea typeface="Arial"/>
                          <a:cs typeface="Arial"/>
                        </a:rPr>
                        <a:t>Liveness and next use</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Remove only safe unused constant definitions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AC45B75-7212-4071-A4D1-7F1099325223}"/>
              </a:ext>
            </a:extLst>
          </p:cNvPr>
          <p:cNvSpPr>
            <a:spLocks noGrp="1"/>
          </p:cNvSpPr>
          <p:nvPr/>
        </p:nvSpPr>
        <p:spPr>
          <a:xfrm>
            <a:off x="628650" y="5324475"/>
            <a:ext cx="10858500" cy="819150"/>
          </a:xfrm>
          <a:prstGeom prst="rect">
            <a:avLst/>
          </a:prstGeom>
          <a:noFill/>
          <a:ln w="0">
            <a:noFill/>
          </a:ln>
        </p:spPr>
        <p:txBody>
          <a:bodyPr wrap="square" lIns="0" tIns="0" rIns="0" bIns="0" anchor="t">
            <a:noAutofit/>
          </a:bodyPr>
          <a:lstStyle>
            <a:defPPr>
              <a:defRPr sz="1950" b="0">
                <a:solidFill>
                  <a:srgbClr val="142238"/>
                </a:solidFill>
                <a:latin typeface="Courier New"/>
                <a:ea typeface="Courier New"/>
                <a:cs typeface="Courier New"/>
              </a:defRPr>
            </a:defPPr>
            <a:lvl1pPr>
              <a:defRPr sz="1950" b="0">
                <a:solidFill>
                  <a:srgbClr val="142238"/>
                </a:solidFill>
                <a:latin typeface="Courier New"/>
                <a:ea typeface="Courier New"/>
                <a:cs typeface="Courier New"/>
              </a:defRPr>
            </a:lvl1pPr>
            <a:lvl2pPr>
              <a:defRPr sz="1950" b="0">
                <a:solidFill>
                  <a:srgbClr val="142238"/>
                </a:solidFill>
                <a:latin typeface="Courier New"/>
                <a:ea typeface="Courier New"/>
                <a:cs typeface="Courier New"/>
              </a:defRPr>
            </a:lvl2pPr>
            <a:lvl3pPr>
              <a:defRPr sz="1950" b="0">
                <a:solidFill>
                  <a:srgbClr val="142238"/>
                </a:solidFill>
                <a:latin typeface="Courier New"/>
                <a:ea typeface="Courier New"/>
                <a:cs typeface="Courier New"/>
              </a:defRPr>
            </a:lvl3pPr>
            <a:lvl4pPr>
              <a:defRPr sz="1950" b="0">
                <a:solidFill>
                  <a:srgbClr val="142238"/>
                </a:solidFill>
                <a:latin typeface="Courier New"/>
                <a:ea typeface="Courier New"/>
                <a:cs typeface="Courier New"/>
              </a:defRPr>
            </a:lvl4pPr>
            <a:lvl5pPr>
              <a:defRPr sz="1950" b="0">
                <a:solidFill>
                  <a:srgbClr val="142238"/>
                </a:solidFill>
                <a:latin typeface="Courier New"/>
                <a:ea typeface="Courier New"/>
                <a:cs typeface="Courier New"/>
              </a:defRPr>
            </a:lvl5pPr>
            <a:lvl6pPr>
              <a:defRPr sz="1950" b="0">
                <a:solidFill>
                  <a:srgbClr val="142238"/>
                </a:solidFill>
                <a:latin typeface="Courier New"/>
                <a:ea typeface="Courier New"/>
                <a:cs typeface="Courier New"/>
              </a:defRPr>
            </a:lvl6pPr>
            <a:lvl7pPr>
              <a:defRPr sz="1950" b="0">
                <a:solidFill>
                  <a:srgbClr val="142238"/>
                </a:solidFill>
                <a:latin typeface="Courier New"/>
                <a:ea typeface="Courier New"/>
                <a:cs typeface="Courier New"/>
              </a:defRPr>
            </a:lvl7pPr>
            <a:lvl8pPr>
              <a:defRPr sz="1950" b="0">
                <a:solidFill>
                  <a:srgbClr val="142238"/>
                </a:solidFill>
                <a:latin typeface="Courier New"/>
                <a:ea typeface="Courier New"/>
                <a:cs typeface="Courier New"/>
              </a:defRPr>
            </a:lvl8pPr>
            <a:lvl9pPr>
              <a:defRPr sz="1950" b="0">
                <a:solidFill>
                  <a:srgbClr val="142238"/>
                </a:solidFill>
                <a:latin typeface="Courier New"/>
                <a:ea typeface="Courier New"/>
                <a:cs typeface="Courier New"/>
              </a:defRPr>
            </a:lvl9pPr>
          </a:lstStyle>
          <a:p>
            <a:pPr>
              <a:defRPr sz="1950" b="0">
                <a:solidFill>
                  <a:srgbClr val="142238"/>
                </a:solidFill>
                <a:latin typeface="Courier New"/>
                <a:ea typeface="Courier New"/>
                <a:cs typeface="Courier New"/>
              </a:defRPr>
            </a:pPr>
            <a:r>
              <a:rPr sz="1950" b="0">
                <a:solidFill>
                  <a:srgbClr val="142238"/>
                </a:solidFill>
                <a:latin typeface="Courier New"/>
                <a:ea typeface="Courier New"/>
                <a:cs typeface="Courier New"/>
              </a:rPr>
              <a:t>OUT[B] = union of IN[S] for each successor S</a:t>
            </a:r>
          </a:p>
          <a:p>
            <a:pPr>
              <a:defRPr sz="1950" b="0">
                <a:solidFill>
                  <a:srgbClr val="142238"/>
                </a:solidFill>
                <a:latin typeface="Courier New"/>
                <a:ea typeface="Courier New"/>
                <a:cs typeface="Courier New"/>
              </a:defRPr>
            </a:pPr>
            <a:r>
              <a:rPr sz="1950" b="0">
                <a:solidFill>
                  <a:srgbClr val="142238"/>
                </a:solidFill>
                <a:latin typeface="Courier New"/>
                <a:ea typeface="Courier New"/>
                <a:cs typeface="Courier New"/>
              </a:rPr>
              <a:t>IN[B]  = USE[B] union (OUT[B] - DEF[B])</a:t>
            </a:r>
          </a:p>
        </p:txBody>
      </p:sp>
    </p:spTree>
    <p:extLst>
      <p:ext uri="{BB962C8B-B14F-4D97-AF65-F5344CB8AC3E}">
        <p14:creationId xmlns:p14="http://schemas.microsoft.com/office/powerpoint/2010/main" val="641727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F90461-147F-4E14-9AB4-E57BC738B95F}"/>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Implemented optimization passes</a:t>
            </a:r>
          </a:p>
        </p:txBody>
      </p:sp>
      <p:sp>
        <p:nvSpPr>
          <p:cNvPr id="2" name="Rectangle 1">
            <a:extLst>
              <a:ext uri="{FF2B5EF4-FFF2-40B4-BE49-F238E27FC236}">
                <a16:creationId xmlns:a16="http://schemas.microsoft.com/office/drawing/2014/main" id="{F9E7ABE7-7EBA-47BE-B5EE-29067B59BE78}"/>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Optimization runs on typed IR before bytecode generation</a:t>
            </a:r>
          </a:p>
        </p:txBody>
      </p:sp>
      <p:sp>
        <p:nvSpPr>
          <p:cNvPr id="3" name="Rectangle 2">
            <a:extLst>
              <a:ext uri="{FF2B5EF4-FFF2-40B4-BE49-F238E27FC236}">
                <a16:creationId xmlns:a16="http://schemas.microsoft.com/office/drawing/2014/main" id="{D49279EF-582B-4954-B24D-953EC58BC1F0}"/>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14</a:t>
            </a:r>
          </a:p>
        </p:txBody>
      </p:sp>
      <p:graphicFrame>
        <p:nvGraphicFramePr>
          <p:cNvPr id="4" name="Table 3">
            <a:extLst>
              <a:ext uri="{FF2B5EF4-FFF2-40B4-BE49-F238E27FC236}">
                <a16:creationId xmlns:a16="http://schemas.microsoft.com/office/drawing/2014/main" id="{17FC8106-040D-481C-933F-7F11AF556250}"/>
              </a:ext>
            </a:extLst>
          </p:cNvPr>
          <p:cNvGraphicFramePr/>
          <p:nvPr/>
        </p:nvGraphicFramePr>
        <p:xfrm>
          <a:off x="609600" y="2047875"/>
          <a:ext cx="10972800" cy="3095625"/>
        </p:xfrm>
        <a:graphic>
          <a:graphicData uri="http://schemas.openxmlformats.org/drawingml/2006/table">
            <a:tbl>
              <a:tblPr/>
              <a:tblGrid>
                <a:gridCol w="3810000">
                  <a:extLst>
                    <a:ext uri="{9D8B030D-6E8A-4147-A177-3AD203B41FA5}">
                      <a16:colId xmlns:a16="http://schemas.microsoft.com/office/drawing/2014/main" val="20000"/>
                    </a:ext>
                  </a:extLst>
                </a:gridCol>
                <a:gridCol w="7162800">
                  <a:extLst>
                    <a:ext uri="{9D8B030D-6E8A-4147-A177-3AD203B41FA5}">
                      <a16:colId xmlns:a16="http://schemas.microsoft.com/office/drawing/2014/main" val="20001"/>
                    </a:ext>
                  </a:extLst>
                </a:gridCol>
              </a:tblGrid>
              <a:tr h="619125">
                <a:tc>
                  <a:txBody>
                    <a:bodyPr/>
                    <a:lstStyle/>
                    <a:p>
                      <a:r>
                        <a:rPr sz="1875" b="1">
                          <a:solidFill>
                            <a:srgbClr val="142238"/>
                          </a:solidFill>
                          <a:latin typeface="Arial"/>
                          <a:ea typeface="Arial"/>
                          <a:cs typeface="Arial"/>
                        </a:rPr>
                        <a:t>Pass</a:t>
                      </a:r>
                    </a:p>
                  </a:txBody>
                  <a:tcPr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a:lstStyle/>
                    <a:p>
                      <a:r>
                        <a:rPr sz="1875" b="1">
                          <a:solidFill>
                            <a:srgbClr val="142238"/>
                          </a:solidFill>
                          <a:latin typeface="Arial"/>
                          <a:ea typeface="Arial"/>
                          <a:cs typeface="Arial"/>
                        </a:rPr>
                        <a:t>Actual transformation</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extLst>
                  <a:ext uri="{0D108BD9-81ED-4DB2-BD59-A6C34878D82A}">
                    <a16:rowId xmlns:a16="http://schemas.microsoft.com/office/drawing/2014/main" val="10000"/>
                  </a:ext>
                </a:extLst>
              </a:tr>
              <a:tr h="619125">
                <a:tc>
                  <a:txBody>
                    <a:bodyPr/>
                    <a:lstStyle/>
                    <a:p>
                      <a:r>
                        <a:rPr sz="1875" b="0">
                          <a:solidFill>
                            <a:srgbClr val="516174"/>
                          </a:solidFill>
                          <a:latin typeface="Arial"/>
                          <a:ea typeface="Arial"/>
                          <a:cs typeface="Arial"/>
                        </a:rPr>
                        <a:t>Local constant folding</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Replace a known successful operation with a typed constant</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1"/>
                  </a:ext>
                </a:extLst>
              </a:tr>
              <a:tr h="619125">
                <a:tc>
                  <a:txBody>
                    <a:bodyPr/>
                    <a:lstStyle/>
                    <a:p>
                      <a:r>
                        <a:rPr sz="1875" b="0">
                          <a:solidFill>
                            <a:srgbClr val="516174"/>
                          </a:solidFill>
                          <a:latin typeface="Arial"/>
                          <a:ea typeface="Arial"/>
                          <a:cs typeface="Arial"/>
                        </a:rPr>
                        <a:t>Constant branch simplification</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Replace a proven Boolean branch with a direct jump</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2"/>
                  </a:ext>
                </a:extLst>
              </a:tr>
              <a:tr h="619125">
                <a:tc>
                  <a:txBody>
                    <a:bodyPr/>
                    <a:lstStyle/>
                    <a:p>
                      <a:r>
                        <a:rPr sz="1875" b="0">
                          <a:solidFill>
                            <a:srgbClr val="516174"/>
                          </a:solidFill>
                          <a:latin typeface="Arial"/>
                          <a:ea typeface="Arial"/>
                          <a:cs typeface="Arial"/>
                        </a:rPr>
                        <a:t>Unreachable code removal</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Rebuild the graph and discard unreachable blocks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3"/>
                  </a:ext>
                </a:extLst>
              </a:tr>
              <a:tr h="619125">
                <a:tc>
                  <a:txBody>
                    <a:bodyPr/>
                    <a:lstStyle/>
                    <a:p>
                      <a:r>
                        <a:rPr sz="1875" b="0">
                          <a:solidFill>
                            <a:srgbClr val="516174"/>
                          </a:solidFill>
                          <a:latin typeface="Arial"/>
                          <a:ea typeface="Arial"/>
                          <a:cs typeface="Arial"/>
                        </a:rPr>
                        <a:t>Safe dead-constant removal</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Use liveness and next use to remove unused CONST definitions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8DA12622-A03E-41CE-8AF1-1CD42BB1A555}"/>
              </a:ext>
            </a:extLst>
          </p:cNvPr>
          <p:cNvSpPr>
            <a:spLocks noGrp="1"/>
          </p:cNvSpPr>
          <p:nvPr/>
        </p:nvSpPr>
        <p:spPr>
          <a:xfrm>
            <a:off x="628650" y="5581650"/>
            <a:ext cx="10763250" cy="609600"/>
          </a:xfrm>
          <a:prstGeom prst="rect">
            <a:avLst/>
          </a:prstGeom>
          <a:noFill/>
          <a:ln w="0">
            <a:noFill/>
          </a:ln>
        </p:spPr>
        <p:txBody>
          <a:bodyPr wrap="square" lIns="0" tIns="0" rIns="0" bIns="0" anchor="t">
            <a:noAutofit/>
          </a:bodyPr>
          <a:lstStyle>
            <a:defPPr>
              <a:defRPr sz="2175" b="1">
                <a:solidFill>
                  <a:srgbClr val="245EEA"/>
                </a:solidFill>
                <a:latin typeface="Arial"/>
                <a:ea typeface="Arial"/>
                <a:cs typeface="Arial"/>
              </a:defRPr>
            </a:defPPr>
            <a:lvl1pPr>
              <a:defRPr sz="2175" b="1">
                <a:solidFill>
                  <a:srgbClr val="245EEA"/>
                </a:solidFill>
                <a:latin typeface="Arial"/>
                <a:ea typeface="Arial"/>
                <a:cs typeface="Arial"/>
              </a:defRPr>
            </a:lvl1pPr>
            <a:lvl2pPr>
              <a:defRPr sz="2175" b="1">
                <a:solidFill>
                  <a:srgbClr val="245EEA"/>
                </a:solidFill>
                <a:latin typeface="Arial"/>
                <a:ea typeface="Arial"/>
                <a:cs typeface="Arial"/>
              </a:defRPr>
            </a:lvl2pPr>
            <a:lvl3pPr>
              <a:defRPr sz="2175" b="1">
                <a:solidFill>
                  <a:srgbClr val="245EEA"/>
                </a:solidFill>
                <a:latin typeface="Arial"/>
                <a:ea typeface="Arial"/>
                <a:cs typeface="Arial"/>
              </a:defRPr>
            </a:lvl3pPr>
            <a:lvl4pPr>
              <a:defRPr sz="2175" b="1">
                <a:solidFill>
                  <a:srgbClr val="245EEA"/>
                </a:solidFill>
                <a:latin typeface="Arial"/>
                <a:ea typeface="Arial"/>
                <a:cs typeface="Arial"/>
              </a:defRPr>
            </a:lvl4pPr>
            <a:lvl5pPr>
              <a:defRPr sz="2175" b="1">
                <a:solidFill>
                  <a:srgbClr val="245EEA"/>
                </a:solidFill>
                <a:latin typeface="Arial"/>
                <a:ea typeface="Arial"/>
                <a:cs typeface="Arial"/>
              </a:defRPr>
            </a:lvl5pPr>
            <a:lvl6pPr>
              <a:defRPr sz="2175" b="1">
                <a:solidFill>
                  <a:srgbClr val="245EEA"/>
                </a:solidFill>
                <a:latin typeface="Arial"/>
                <a:ea typeface="Arial"/>
                <a:cs typeface="Arial"/>
              </a:defRPr>
            </a:lvl6pPr>
            <a:lvl7pPr>
              <a:defRPr sz="2175" b="1">
                <a:solidFill>
                  <a:srgbClr val="245EEA"/>
                </a:solidFill>
                <a:latin typeface="Arial"/>
                <a:ea typeface="Arial"/>
                <a:cs typeface="Arial"/>
              </a:defRPr>
            </a:lvl7pPr>
            <a:lvl8pPr>
              <a:defRPr sz="2175" b="1">
                <a:solidFill>
                  <a:srgbClr val="245EEA"/>
                </a:solidFill>
                <a:latin typeface="Arial"/>
                <a:ea typeface="Arial"/>
                <a:cs typeface="Arial"/>
              </a:defRPr>
            </a:lvl8pPr>
            <a:lvl9pPr>
              <a:defRPr sz="2175" b="1">
                <a:solidFill>
                  <a:srgbClr val="245EEA"/>
                </a:solidFill>
                <a:latin typeface="Arial"/>
                <a:ea typeface="Arial"/>
                <a:cs typeface="Arial"/>
              </a:defRPr>
            </a:lvl9pPr>
          </a:lstStyle>
          <a:p>
            <a:pPr>
              <a:defRPr sz="2175" b="1">
                <a:solidFill>
                  <a:srgbClr val="245EEA"/>
                </a:solidFill>
                <a:latin typeface="Arial"/>
                <a:ea typeface="Arial"/>
                <a:cs typeface="Arial"/>
              </a:defRPr>
            </a:pPr>
            <a:r>
              <a:rPr sz="2175" b="1">
                <a:solidFill>
                  <a:srgbClr val="245EEA"/>
                </a:solidFill>
                <a:latin typeface="Arial"/>
                <a:ea typeface="Arial"/>
                <a:cs typeface="Arial"/>
              </a:rPr>
              <a:t>Reachable calls, output, mutable loads and runtime checks remain.</a:t>
            </a:r>
          </a:p>
        </p:txBody>
      </p:sp>
    </p:spTree>
    <p:extLst>
      <p:ext uri="{BB962C8B-B14F-4D97-AF65-F5344CB8AC3E}">
        <p14:creationId xmlns:p14="http://schemas.microsoft.com/office/powerpoint/2010/main" val="747391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142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77FC48F-D1B1-44FD-900D-01B60F6EBCB5}"/>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a:pPr>
              <a:defRPr sz="3450" b="1">
                <a:solidFill>
                  <a:srgbClr val="FFFFFF"/>
                </a:solidFill>
                <a:latin typeface="Arial"/>
                <a:ea typeface="Arial"/>
                <a:cs typeface="Arial"/>
              </a:defRPr>
            </a:pPr>
            <a:r>
              <a:rPr sz="3450" b="1">
                <a:solidFill>
                  <a:srgbClr val="FFFFFF"/>
                </a:solidFill>
                <a:latin typeface="Arial"/>
                <a:ea typeface="Arial"/>
                <a:cs typeface="Arial"/>
              </a:rPr>
              <a:t>17 instructions become 5</a:t>
            </a:r>
          </a:p>
        </p:txBody>
      </p:sp>
      <p:sp>
        <p:nvSpPr>
          <p:cNvPr id="2" name="Rectangle 1">
            <a:extLst>
              <a:ext uri="{FF2B5EF4-FFF2-40B4-BE49-F238E27FC236}">
                <a16:creationId xmlns:a16="http://schemas.microsoft.com/office/drawing/2014/main" id="{1D59C115-362C-469B-9487-07499FF3B4E8}"/>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B7C6DB"/>
                </a:solidFill>
                <a:latin typeface="Arial"/>
                <a:ea typeface="Arial"/>
                <a:cs typeface="Arial"/>
              </a:defRPr>
            </a:defPPr>
            <a:lvl1pPr>
              <a:defRPr sz="1875" b="0">
                <a:solidFill>
                  <a:srgbClr val="B7C6DB"/>
                </a:solidFill>
                <a:latin typeface="Arial"/>
                <a:ea typeface="Arial"/>
                <a:cs typeface="Arial"/>
              </a:defRPr>
            </a:lvl1pPr>
            <a:lvl2pPr>
              <a:defRPr sz="1875" b="0">
                <a:solidFill>
                  <a:srgbClr val="B7C6DB"/>
                </a:solidFill>
                <a:latin typeface="Arial"/>
                <a:ea typeface="Arial"/>
                <a:cs typeface="Arial"/>
              </a:defRPr>
            </a:lvl2pPr>
            <a:lvl3pPr>
              <a:defRPr sz="1875" b="0">
                <a:solidFill>
                  <a:srgbClr val="B7C6DB"/>
                </a:solidFill>
                <a:latin typeface="Arial"/>
                <a:ea typeface="Arial"/>
                <a:cs typeface="Arial"/>
              </a:defRPr>
            </a:lvl3pPr>
            <a:lvl4pPr>
              <a:defRPr sz="1875" b="0">
                <a:solidFill>
                  <a:srgbClr val="B7C6DB"/>
                </a:solidFill>
                <a:latin typeface="Arial"/>
                <a:ea typeface="Arial"/>
                <a:cs typeface="Arial"/>
              </a:defRPr>
            </a:lvl4pPr>
            <a:lvl5pPr>
              <a:defRPr sz="1875" b="0">
                <a:solidFill>
                  <a:srgbClr val="B7C6DB"/>
                </a:solidFill>
                <a:latin typeface="Arial"/>
                <a:ea typeface="Arial"/>
                <a:cs typeface="Arial"/>
              </a:defRPr>
            </a:lvl5pPr>
            <a:lvl6pPr>
              <a:defRPr sz="1875" b="0">
                <a:solidFill>
                  <a:srgbClr val="B7C6DB"/>
                </a:solidFill>
                <a:latin typeface="Arial"/>
                <a:ea typeface="Arial"/>
                <a:cs typeface="Arial"/>
              </a:defRPr>
            </a:lvl6pPr>
            <a:lvl7pPr>
              <a:defRPr sz="1875" b="0">
                <a:solidFill>
                  <a:srgbClr val="B7C6DB"/>
                </a:solidFill>
                <a:latin typeface="Arial"/>
                <a:ea typeface="Arial"/>
                <a:cs typeface="Arial"/>
              </a:defRPr>
            </a:lvl7pPr>
            <a:lvl8pPr>
              <a:defRPr sz="1875" b="0">
                <a:solidFill>
                  <a:srgbClr val="B7C6DB"/>
                </a:solidFill>
                <a:latin typeface="Arial"/>
                <a:ea typeface="Arial"/>
                <a:cs typeface="Arial"/>
              </a:defRPr>
            </a:lvl8pPr>
            <a:lvl9pPr>
              <a:defRPr sz="1875" b="0">
                <a:solidFill>
                  <a:srgbClr val="B7C6DB"/>
                </a:solidFill>
                <a:latin typeface="Arial"/>
                <a:ea typeface="Arial"/>
                <a:cs typeface="Arial"/>
              </a:defRPr>
            </a:lvl9pPr>
          </a:lstStyle>
          <a:p>
            <a:pPr>
              <a:defRPr sz="1875" b="0">
                <a:solidFill>
                  <a:srgbClr val="B7C6DB"/>
                </a:solidFill>
                <a:latin typeface="Arial"/>
                <a:ea typeface="Arial"/>
                <a:cs typeface="Arial"/>
              </a:defRPr>
            </a:pPr>
            <a:r>
              <a:rPr sz="1875" b="0">
                <a:solidFill>
                  <a:srgbClr val="B7C6DB"/>
                </a:solidFill>
                <a:latin typeface="Arial"/>
                <a:ea typeface="Arial"/>
                <a:cs typeface="Arial"/>
              </a:rPr>
              <a:t>Same source. Same output. Fewer executed VM instructions.</a:t>
            </a:r>
          </a:p>
        </p:txBody>
      </p:sp>
      <p:sp>
        <p:nvSpPr>
          <p:cNvPr id="3" name="Rectangle 2">
            <a:extLst>
              <a:ext uri="{FF2B5EF4-FFF2-40B4-BE49-F238E27FC236}">
                <a16:creationId xmlns:a16="http://schemas.microsoft.com/office/drawing/2014/main" id="{00AB4170-81AA-4D0C-A330-1C25A9986036}"/>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8A9BB3"/>
                </a:solidFill>
                <a:latin typeface="Arial"/>
                <a:ea typeface="Arial"/>
                <a:cs typeface="Arial"/>
              </a:defRPr>
            </a:defPPr>
            <a:lvl1pPr>
              <a:defRPr sz="1125" b="0">
                <a:solidFill>
                  <a:srgbClr val="8A9BB3"/>
                </a:solidFill>
                <a:latin typeface="Arial"/>
                <a:ea typeface="Arial"/>
                <a:cs typeface="Arial"/>
              </a:defRPr>
            </a:lvl1pPr>
            <a:lvl2pPr>
              <a:defRPr sz="1125" b="0">
                <a:solidFill>
                  <a:srgbClr val="8A9BB3"/>
                </a:solidFill>
                <a:latin typeface="Arial"/>
                <a:ea typeface="Arial"/>
                <a:cs typeface="Arial"/>
              </a:defRPr>
            </a:lvl2pPr>
            <a:lvl3pPr>
              <a:defRPr sz="1125" b="0">
                <a:solidFill>
                  <a:srgbClr val="8A9BB3"/>
                </a:solidFill>
                <a:latin typeface="Arial"/>
                <a:ea typeface="Arial"/>
                <a:cs typeface="Arial"/>
              </a:defRPr>
            </a:lvl3pPr>
            <a:lvl4pPr>
              <a:defRPr sz="1125" b="0">
                <a:solidFill>
                  <a:srgbClr val="8A9BB3"/>
                </a:solidFill>
                <a:latin typeface="Arial"/>
                <a:ea typeface="Arial"/>
                <a:cs typeface="Arial"/>
              </a:defRPr>
            </a:lvl4pPr>
            <a:lvl5pPr>
              <a:defRPr sz="1125" b="0">
                <a:solidFill>
                  <a:srgbClr val="8A9BB3"/>
                </a:solidFill>
                <a:latin typeface="Arial"/>
                <a:ea typeface="Arial"/>
                <a:cs typeface="Arial"/>
              </a:defRPr>
            </a:lvl5pPr>
            <a:lvl6pPr>
              <a:defRPr sz="1125" b="0">
                <a:solidFill>
                  <a:srgbClr val="8A9BB3"/>
                </a:solidFill>
                <a:latin typeface="Arial"/>
                <a:ea typeface="Arial"/>
                <a:cs typeface="Arial"/>
              </a:defRPr>
            </a:lvl6pPr>
            <a:lvl7pPr>
              <a:defRPr sz="1125" b="0">
                <a:solidFill>
                  <a:srgbClr val="8A9BB3"/>
                </a:solidFill>
                <a:latin typeface="Arial"/>
                <a:ea typeface="Arial"/>
                <a:cs typeface="Arial"/>
              </a:defRPr>
            </a:lvl7pPr>
            <a:lvl8pPr>
              <a:defRPr sz="1125" b="0">
                <a:solidFill>
                  <a:srgbClr val="8A9BB3"/>
                </a:solidFill>
                <a:latin typeface="Arial"/>
                <a:ea typeface="Arial"/>
                <a:cs typeface="Arial"/>
              </a:defRPr>
            </a:lvl8pPr>
            <a:lvl9pPr>
              <a:defRPr sz="1125" b="0">
                <a:solidFill>
                  <a:srgbClr val="8A9BB3"/>
                </a:solidFill>
                <a:latin typeface="Arial"/>
                <a:ea typeface="Arial"/>
                <a:cs typeface="Arial"/>
              </a:defRPr>
            </a:lvl9pPr>
          </a:lstStyle>
          <a:p>
            <a:pPr>
              <a:defRPr sz="1125" b="0">
                <a:solidFill>
                  <a:srgbClr val="8A9BB3"/>
                </a:solidFill>
                <a:latin typeface="Arial"/>
                <a:ea typeface="Arial"/>
                <a:cs typeface="Arial"/>
              </a:defRPr>
            </a:pPr>
            <a:r>
              <a:rPr sz="1125" b="0">
                <a:solidFill>
                  <a:srgbClr val="8A9BB3"/>
                </a:solidFill>
                <a:latin typeface="Arial"/>
                <a:ea typeface="Arial"/>
                <a:cs typeface="Arial"/>
              </a:rPr>
              <a:t>15</a:t>
            </a:r>
          </a:p>
        </p:txBody>
      </p:sp>
      <p:sp>
        <p:nvSpPr>
          <p:cNvPr id="4" name="Rectangle 3">
            <a:extLst>
              <a:ext uri="{FF2B5EF4-FFF2-40B4-BE49-F238E27FC236}">
                <a16:creationId xmlns:a16="http://schemas.microsoft.com/office/drawing/2014/main" id="{6DEF558D-0C34-4DE0-8F7B-F97CA5D729F3}"/>
              </a:ext>
            </a:extLst>
          </p:cNvPr>
          <p:cNvSpPr>
            <a:spLocks noGrp="1"/>
          </p:cNvSpPr>
          <p:nvPr/>
        </p:nvSpPr>
        <p:spPr>
          <a:xfrm>
            <a:off x="609600" y="2085975"/>
            <a:ext cx="10477500" cy="523875"/>
          </a:xfrm>
          <a:prstGeom prst="rect">
            <a:avLst/>
          </a:prstGeom>
          <a:noFill/>
          <a:ln w="0">
            <a:noFill/>
          </a:ln>
        </p:spPr>
        <p:txBody>
          <a:bodyPr wrap="square" lIns="0" tIns="0" rIns="0" bIns="0" anchor="t">
            <a:noAutofit/>
          </a:bodyPr>
          <a:lstStyle>
            <a:defPPr>
              <a:defRPr sz="2550" b="0">
                <a:solidFill>
                  <a:srgbClr val="D8E7F9"/>
                </a:solidFill>
                <a:latin typeface="Courier New"/>
                <a:ea typeface="Courier New"/>
                <a:cs typeface="Courier New"/>
              </a:defRPr>
            </a:defPPr>
            <a:lvl1pPr>
              <a:defRPr sz="2550" b="0">
                <a:solidFill>
                  <a:srgbClr val="D8E7F9"/>
                </a:solidFill>
                <a:latin typeface="Courier New"/>
                <a:ea typeface="Courier New"/>
                <a:cs typeface="Courier New"/>
              </a:defRPr>
            </a:lvl1pPr>
            <a:lvl2pPr>
              <a:defRPr sz="2550" b="0">
                <a:solidFill>
                  <a:srgbClr val="D8E7F9"/>
                </a:solidFill>
                <a:latin typeface="Courier New"/>
                <a:ea typeface="Courier New"/>
                <a:cs typeface="Courier New"/>
              </a:defRPr>
            </a:lvl2pPr>
            <a:lvl3pPr>
              <a:defRPr sz="2550" b="0">
                <a:solidFill>
                  <a:srgbClr val="D8E7F9"/>
                </a:solidFill>
                <a:latin typeface="Courier New"/>
                <a:ea typeface="Courier New"/>
                <a:cs typeface="Courier New"/>
              </a:defRPr>
            </a:lvl3pPr>
            <a:lvl4pPr>
              <a:defRPr sz="2550" b="0">
                <a:solidFill>
                  <a:srgbClr val="D8E7F9"/>
                </a:solidFill>
                <a:latin typeface="Courier New"/>
                <a:ea typeface="Courier New"/>
                <a:cs typeface="Courier New"/>
              </a:defRPr>
            </a:lvl4pPr>
            <a:lvl5pPr>
              <a:defRPr sz="2550" b="0">
                <a:solidFill>
                  <a:srgbClr val="D8E7F9"/>
                </a:solidFill>
                <a:latin typeface="Courier New"/>
                <a:ea typeface="Courier New"/>
                <a:cs typeface="Courier New"/>
              </a:defRPr>
            </a:lvl5pPr>
            <a:lvl6pPr>
              <a:defRPr sz="2550" b="0">
                <a:solidFill>
                  <a:srgbClr val="D8E7F9"/>
                </a:solidFill>
                <a:latin typeface="Courier New"/>
                <a:ea typeface="Courier New"/>
                <a:cs typeface="Courier New"/>
              </a:defRPr>
            </a:lvl6pPr>
            <a:lvl7pPr>
              <a:defRPr sz="2550" b="0">
                <a:solidFill>
                  <a:srgbClr val="D8E7F9"/>
                </a:solidFill>
                <a:latin typeface="Courier New"/>
                <a:ea typeface="Courier New"/>
                <a:cs typeface="Courier New"/>
              </a:defRPr>
            </a:lvl7pPr>
            <a:lvl8pPr>
              <a:defRPr sz="2550" b="0">
                <a:solidFill>
                  <a:srgbClr val="D8E7F9"/>
                </a:solidFill>
                <a:latin typeface="Courier New"/>
                <a:ea typeface="Courier New"/>
                <a:cs typeface="Courier New"/>
              </a:defRPr>
            </a:lvl8pPr>
            <a:lvl9pPr>
              <a:defRPr sz="2550" b="0">
                <a:solidFill>
                  <a:srgbClr val="D8E7F9"/>
                </a:solidFill>
                <a:latin typeface="Courier New"/>
                <a:ea typeface="Courier New"/>
                <a:cs typeface="Courier New"/>
              </a:defRPr>
            </a:lvl9pPr>
          </a:lstStyle>
          <a:p>
            <a:pPr>
              <a:defRPr sz="2550" b="0">
                <a:solidFill>
                  <a:srgbClr val="D8E7F9"/>
                </a:solidFill>
                <a:latin typeface="Courier New"/>
                <a:ea typeface="Courier New"/>
                <a:cs typeface="Courier New"/>
              </a:defRPr>
            </a:pPr>
            <a:r>
              <a:rPr sz="2550" b="0">
                <a:solidFill>
                  <a:srgbClr val="D8E7F9"/>
                </a:solidFill>
                <a:latin typeface="Courier New"/>
                <a:ea typeface="Courier New"/>
                <a:cs typeface="Courier New"/>
              </a:rPr>
              <a:t>print((2 + 3) * 4)</a:t>
            </a:r>
          </a:p>
        </p:txBody>
      </p:sp>
      <p:graphicFrame>
        <p:nvGraphicFramePr>
          <p:cNvPr id="5" name="Chart">
            <a:extLst>
              <a:ext uri="{FF2B5EF4-FFF2-40B4-BE49-F238E27FC236}">
                <a16:creationId xmlns:a16="http://schemas.microsoft.com/office/drawing/2014/main" id="{D8CC3F01-D09D-41C9-A76B-D27477A57A3B}"/>
              </a:ext>
            </a:extLst>
          </p:cNvPr>
          <p:cNvGraphicFramePr/>
          <p:nvPr/>
        </p:nvGraphicFramePr>
        <p:xfrm>
          <a:off x="571500" y="3095625"/>
          <a:ext cx="7334250" cy="2667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3FACED10-2459-4789-9356-F03B35212587}"/>
              </a:ext>
            </a:extLst>
          </p:cNvPr>
          <p:cNvSpPr>
            <a:spLocks noGrp="1"/>
          </p:cNvSpPr>
          <p:nvPr/>
        </p:nvSpPr>
        <p:spPr>
          <a:xfrm>
            <a:off x="9001125" y="3228975"/>
            <a:ext cx="2381250" cy="933450"/>
          </a:xfrm>
          <a:prstGeom prst="rect">
            <a:avLst/>
          </a:prstGeom>
          <a:noFill/>
          <a:ln w="0">
            <a:noFill/>
          </a:ln>
        </p:spPr>
        <p:txBody>
          <a:bodyPr wrap="square" lIns="0" tIns="0" rIns="0" bIns="0" anchor="t">
            <a:noAutofit/>
          </a:bodyPr>
          <a:lstStyle>
            <a:defPPr>
              <a:defRPr sz="6300" b="1">
                <a:solidFill>
                  <a:srgbClr val="44DDBB"/>
                </a:solidFill>
                <a:latin typeface="Arial"/>
                <a:ea typeface="Arial"/>
                <a:cs typeface="Arial"/>
              </a:defRPr>
            </a:defPPr>
            <a:lvl1pPr>
              <a:defRPr sz="6300" b="1">
                <a:solidFill>
                  <a:srgbClr val="44DDBB"/>
                </a:solidFill>
                <a:latin typeface="Arial"/>
                <a:ea typeface="Arial"/>
                <a:cs typeface="Arial"/>
              </a:defRPr>
            </a:lvl1pPr>
            <a:lvl2pPr>
              <a:defRPr sz="6300" b="1">
                <a:solidFill>
                  <a:srgbClr val="44DDBB"/>
                </a:solidFill>
                <a:latin typeface="Arial"/>
                <a:ea typeface="Arial"/>
                <a:cs typeface="Arial"/>
              </a:defRPr>
            </a:lvl2pPr>
            <a:lvl3pPr>
              <a:defRPr sz="6300" b="1">
                <a:solidFill>
                  <a:srgbClr val="44DDBB"/>
                </a:solidFill>
                <a:latin typeface="Arial"/>
                <a:ea typeface="Arial"/>
                <a:cs typeface="Arial"/>
              </a:defRPr>
            </a:lvl3pPr>
            <a:lvl4pPr>
              <a:defRPr sz="6300" b="1">
                <a:solidFill>
                  <a:srgbClr val="44DDBB"/>
                </a:solidFill>
                <a:latin typeface="Arial"/>
                <a:ea typeface="Arial"/>
                <a:cs typeface="Arial"/>
              </a:defRPr>
            </a:lvl4pPr>
            <a:lvl5pPr>
              <a:defRPr sz="6300" b="1">
                <a:solidFill>
                  <a:srgbClr val="44DDBB"/>
                </a:solidFill>
                <a:latin typeface="Arial"/>
                <a:ea typeface="Arial"/>
                <a:cs typeface="Arial"/>
              </a:defRPr>
            </a:lvl5pPr>
            <a:lvl6pPr>
              <a:defRPr sz="6300" b="1">
                <a:solidFill>
                  <a:srgbClr val="44DDBB"/>
                </a:solidFill>
                <a:latin typeface="Arial"/>
                <a:ea typeface="Arial"/>
                <a:cs typeface="Arial"/>
              </a:defRPr>
            </a:lvl6pPr>
            <a:lvl7pPr>
              <a:defRPr sz="6300" b="1">
                <a:solidFill>
                  <a:srgbClr val="44DDBB"/>
                </a:solidFill>
                <a:latin typeface="Arial"/>
                <a:ea typeface="Arial"/>
                <a:cs typeface="Arial"/>
              </a:defRPr>
            </a:lvl7pPr>
            <a:lvl8pPr>
              <a:defRPr sz="6300" b="1">
                <a:solidFill>
                  <a:srgbClr val="44DDBB"/>
                </a:solidFill>
                <a:latin typeface="Arial"/>
                <a:ea typeface="Arial"/>
                <a:cs typeface="Arial"/>
              </a:defRPr>
            </a:lvl8pPr>
            <a:lvl9pPr>
              <a:defRPr sz="6300" b="1">
                <a:solidFill>
                  <a:srgbClr val="44DDBB"/>
                </a:solidFill>
                <a:latin typeface="Arial"/>
                <a:ea typeface="Arial"/>
                <a:cs typeface="Arial"/>
              </a:defRPr>
            </a:lvl9pPr>
          </a:lstStyle>
          <a:p>
            <a:pPr>
              <a:defRPr sz="6300" b="1">
                <a:solidFill>
                  <a:srgbClr val="44DDBB"/>
                </a:solidFill>
                <a:latin typeface="Arial"/>
                <a:ea typeface="Arial"/>
                <a:cs typeface="Arial"/>
              </a:defRPr>
            </a:pPr>
            <a:r>
              <a:rPr sz="6300" b="1">
                <a:solidFill>
                  <a:srgbClr val="44DDBB"/>
                </a:solidFill>
                <a:latin typeface="Arial"/>
                <a:ea typeface="Arial"/>
                <a:cs typeface="Arial"/>
              </a:rPr>
              <a:t>20</a:t>
            </a:r>
          </a:p>
        </p:txBody>
      </p:sp>
      <p:sp>
        <p:nvSpPr>
          <p:cNvPr id="7" name="Rectangle 6">
            <a:extLst>
              <a:ext uri="{FF2B5EF4-FFF2-40B4-BE49-F238E27FC236}">
                <a16:creationId xmlns:a16="http://schemas.microsoft.com/office/drawing/2014/main" id="{B67FA432-823D-435F-B942-A2A429B25E01}"/>
              </a:ext>
            </a:extLst>
          </p:cNvPr>
          <p:cNvSpPr>
            <a:spLocks noGrp="1"/>
          </p:cNvSpPr>
          <p:nvPr/>
        </p:nvSpPr>
        <p:spPr>
          <a:xfrm>
            <a:off x="9001125" y="4333875"/>
            <a:ext cx="2333625" cy="762000"/>
          </a:xfrm>
          <a:prstGeom prst="rect">
            <a:avLst/>
          </a:prstGeom>
          <a:noFill/>
          <a:ln w="0">
            <a:noFill/>
          </a:ln>
        </p:spPr>
        <p:txBody>
          <a:bodyPr wrap="square" lIns="0" tIns="0" rIns="0" bIns="0" anchor="t">
            <a:noAutofit/>
          </a:bodyPr>
          <a:lstStyle>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a:pPr>
              <a:defRPr sz="2100" b="0">
                <a:solidFill>
                  <a:srgbClr val="FFFFFF"/>
                </a:solidFill>
                <a:latin typeface="Arial"/>
                <a:ea typeface="Arial"/>
                <a:cs typeface="Arial"/>
              </a:defRPr>
            </a:pPr>
            <a:r>
              <a:rPr sz="2100" b="0">
                <a:solidFill>
                  <a:srgbClr val="FFFFFF"/>
                </a:solidFill>
                <a:latin typeface="Arial"/>
                <a:ea typeface="Arial"/>
                <a:cs typeface="Arial"/>
              </a:rPr>
              <a:t>output in both runs</a:t>
            </a:r>
          </a:p>
        </p:txBody>
      </p:sp>
      <p:sp>
        <p:nvSpPr>
          <p:cNvPr id="8" name="Rectangle 7">
            <a:extLst>
              <a:ext uri="{FF2B5EF4-FFF2-40B4-BE49-F238E27FC236}">
                <a16:creationId xmlns:a16="http://schemas.microsoft.com/office/drawing/2014/main" id="{AAC5C73A-E15D-45B7-A0F1-FFC4F0C933B9}"/>
              </a:ext>
            </a:extLst>
          </p:cNvPr>
          <p:cNvSpPr>
            <a:spLocks noGrp="1"/>
          </p:cNvSpPr>
          <p:nvPr/>
        </p:nvSpPr>
        <p:spPr>
          <a:xfrm>
            <a:off x="628650" y="5915025"/>
            <a:ext cx="10648950" cy="400050"/>
          </a:xfrm>
          <a:prstGeom prst="rect">
            <a:avLst/>
          </a:prstGeom>
          <a:noFill/>
          <a:ln w="0">
            <a:noFill/>
          </a:ln>
        </p:spPr>
        <p:txBody>
          <a:bodyPr wrap="square" lIns="0" tIns="0" rIns="0" bIns="0" anchor="t">
            <a:noAutofit/>
          </a:bodyPr>
          <a:lstStyle>
            <a:defPPr>
              <a:defRPr sz="1650" b="0">
                <a:solidFill>
                  <a:srgbClr val="B4C4DB"/>
                </a:solidFill>
                <a:latin typeface="Arial"/>
                <a:ea typeface="Arial"/>
                <a:cs typeface="Arial"/>
              </a:defRPr>
            </a:defPPr>
            <a:lvl1pPr>
              <a:defRPr sz="1650" b="0">
                <a:solidFill>
                  <a:srgbClr val="B4C4DB"/>
                </a:solidFill>
                <a:latin typeface="Arial"/>
                <a:ea typeface="Arial"/>
                <a:cs typeface="Arial"/>
              </a:defRPr>
            </a:lvl1pPr>
            <a:lvl2pPr>
              <a:defRPr sz="1650" b="0">
                <a:solidFill>
                  <a:srgbClr val="B4C4DB"/>
                </a:solidFill>
                <a:latin typeface="Arial"/>
                <a:ea typeface="Arial"/>
                <a:cs typeface="Arial"/>
              </a:defRPr>
            </a:lvl2pPr>
            <a:lvl3pPr>
              <a:defRPr sz="1650" b="0">
                <a:solidFill>
                  <a:srgbClr val="B4C4DB"/>
                </a:solidFill>
                <a:latin typeface="Arial"/>
                <a:ea typeface="Arial"/>
                <a:cs typeface="Arial"/>
              </a:defRPr>
            </a:lvl3pPr>
            <a:lvl4pPr>
              <a:defRPr sz="1650" b="0">
                <a:solidFill>
                  <a:srgbClr val="B4C4DB"/>
                </a:solidFill>
                <a:latin typeface="Arial"/>
                <a:ea typeface="Arial"/>
                <a:cs typeface="Arial"/>
              </a:defRPr>
            </a:lvl4pPr>
            <a:lvl5pPr>
              <a:defRPr sz="1650" b="0">
                <a:solidFill>
                  <a:srgbClr val="B4C4DB"/>
                </a:solidFill>
                <a:latin typeface="Arial"/>
                <a:ea typeface="Arial"/>
                <a:cs typeface="Arial"/>
              </a:defRPr>
            </a:lvl5pPr>
            <a:lvl6pPr>
              <a:defRPr sz="1650" b="0">
                <a:solidFill>
                  <a:srgbClr val="B4C4DB"/>
                </a:solidFill>
                <a:latin typeface="Arial"/>
                <a:ea typeface="Arial"/>
                <a:cs typeface="Arial"/>
              </a:defRPr>
            </a:lvl6pPr>
            <a:lvl7pPr>
              <a:defRPr sz="1650" b="0">
                <a:solidFill>
                  <a:srgbClr val="B4C4DB"/>
                </a:solidFill>
                <a:latin typeface="Arial"/>
                <a:ea typeface="Arial"/>
                <a:cs typeface="Arial"/>
              </a:defRPr>
            </a:lvl7pPr>
            <a:lvl8pPr>
              <a:defRPr sz="1650" b="0">
                <a:solidFill>
                  <a:srgbClr val="B4C4DB"/>
                </a:solidFill>
                <a:latin typeface="Arial"/>
                <a:ea typeface="Arial"/>
                <a:cs typeface="Arial"/>
              </a:defRPr>
            </a:lvl8pPr>
            <a:lvl9pPr>
              <a:defRPr sz="1650" b="0">
                <a:solidFill>
                  <a:srgbClr val="B4C4DB"/>
                </a:solidFill>
                <a:latin typeface="Arial"/>
                <a:ea typeface="Arial"/>
                <a:cs typeface="Arial"/>
              </a:defRPr>
            </a:lvl9pPr>
          </a:lstStyle>
          <a:p>
            <a:pPr>
              <a:defRPr sz="1650" b="0">
                <a:solidFill>
                  <a:srgbClr val="B4C4DB"/>
                </a:solidFill>
                <a:latin typeface="Arial"/>
                <a:ea typeface="Arial"/>
                <a:cs typeface="Arial"/>
              </a:defRPr>
            </a:pPr>
            <a:r>
              <a:rPr sz="1650" b="0">
                <a:solidFill>
                  <a:srgbClr val="B4C4DB"/>
                </a:solidFill>
                <a:latin typeface="Arial"/>
                <a:ea typeface="Arial"/>
                <a:cs typeface="Arial"/>
              </a:rPr>
              <a:t>70.6% fewer instructions in this example. This is an instruction count, not a timing benchmark.</a:t>
            </a:r>
          </a:p>
        </p:txBody>
      </p:sp>
    </p:spTree>
    <p:extLst>
      <p:ext uri="{BB962C8B-B14F-4D97-AF65-F5344CB8AC3E}">
        <p14:creationId xmlns:p14="http://schemas.microsoft.com/office/powerpoint/2010/main" val="346837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96CFAC-D556-4AD2-898E-8047FED98563}"/>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Generated stack bytecode</a:t>
            </a:r>
          </a:p>
        </p:txBody>
      </p:sp>
      <p:sp>
        <p:nvSpPr>
          <p:cNvPr id="2" name="Rectangle 1">
            <a:extLst>
              <a:ext uri="{FF2B5EF4-FFF2-40B4-BE49-F238E27FC236}">
                <a16:creationId xmlns:a16="http://schemas.microsoft.com/office/drawing/2014/main" id="{D60C731C-5669-4FDC-9D8F-EE52CEF57ABB}"/>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The executable representation contains one computed constant</a:t>
            </a:r>
          </a:p>
        </p:txBody>
      </p:sp>
      <p:sp>
        <p:nvSpPr>
          <p:cNvPr id="3" name="Rectangle 2">
            <a:extLst>
              <a:ext uri="{FF2B5EF4-FFF2-40B4-BE49-F238E27FC236}">
                <a16:creationId xmlns:a16="http://schemas.microsoft.com/office/drawing/2014/main" id="{AEC7C386-EB5C-43D1-9F16-ED780272E2DB}"/>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16</a:t>
            </a:r>
          </a:p>
        </p:txBody>
      </p:sp>
      <p:pic>
        <p:nvPicPr>
          <p:cNvPr id="4" name="Picture 3">
            <a:extLst>
              <a:ext uri="{FF2B5EF4-FFF2-40B4-BE49-F238E27FC236}">
                <a16:creationId xmlns:a16="http://schemas.microsoft.com/office/drawing/2014/main" id="{1416F8A4-8901-4D88-9810-4B6906E8EDD5}"/>
              </a:ext>
            </a:extLst>
          </p:cNvPr>
          <p:cNvPicPr>
            <a:picLocks noChangeAspect="1"/>
          </p:cNvPicPr>
          <p:nvPr/>
        </p:nvPicPr>
        <p:blipFill>
          <a:blip r:embed="rId3"/>
          <a:stretch/>
        </p:blipFill>
        <p:spPr>
          <a:xfrm>
            <a:off x="6970627" y="1743075"/>
            <a:ext cx="3537122" cy="4362450"/>
          </a:xfrm>
          <a:prstGeom prst="rect">
            <a:avLst/>
          </a:prstGeom>
        </p:spPr>
      </p:pic>
      <p:sp>
        <p:nvSpPr>
          <p:cNvPr id="5" name="Rectangle 4">
            <a:extLst>
              <a:ext uri="{FF2B5EF4-FFF2-40B4-BE49-F238E27FC236}">
                <a16:creationId xmlns:a16="http://schemas.microsoft.com/office/drawing/2014/main" id="{5BD52E50-AD55-4F2F-9A76-0B7F16A439D2}"/>
              </a:ext>
            </a:extLst>
          </p:cNvPr>
          <p:cNvSpPr>
            <a:spLocks noGrp="1"/>
          </p:cNvSpPr>
          <p:nvPr/>
        </p:nvSpPr>
        <p:spPr>
          <a:xfrm>
            <a:off x="609600" y="2238375"/>
            <a:ext cx="5334000" cy="2333625"/>
          </a:xfrm>
          <a:prstGeom prst="rect">
            <a:avLst/>
          </a:prstGeom>
          <a:noFill/>
          <a:ln w="0">
            <a:noFill/>
          </a:ln>
        </p:spPr>
        <p:txBody>
          <a:bodyPr wrap="square" lIns="0" tIns="0" rIns="0" bIns="0" anchor="t">
            <a:noAutofit/>
          </a:bodyPr>
          <a:lstStyle>
            <a:defPPr>
              <a:defRPr sz="2100" b="0">
                <a:solidFill>
                  <a:srgbClr val="142238"/>
                </a:solidFill>
                <a:latin typeface="Courier New"/>
                <a:ea typeface="Courier New"/>
                <a:cs typeface="Courier New"/>
              </a:defRPr>
            </a:defPPr>
            <a:lvl1pPr>
              <a:defRPr sz="2100" b="0">
                <a:solidFill>
                  <a:srgbClr val="142238"/>
                </a:solidFill>
                <a:latin typeface="Courier New"/>
                <a:ea typeface="Courier New"/>
                <a:cs typeface="Courier New"/>
              </a:defRPr>
            </a:lvl1pPr>
            <a:lvl2pPr>
              <a:defRPr sz="2100" b="0">
                <a:solidFill>
                  <a:srgbClr val="142238"/>
                </a:solidFill>
                <a:latin typeface="Courier New"/>
                <a:ea typeface="Courier New"/>
                <a:cs typeface="Courier New"/>
              </a:defRPr>
            </a:lvl2pPr>
            <a:lvl3pPr>
              <a:defRPr sz="2100" b="0">
                <a:solidFill>
                  <a:srgbClr val="142238"/>
                </a:solidFill>
                <a:latin typeface="Courier New"/>
                <a:ea typeface="Courier New"/>
                <a:cs typeface="Courier New"/>
              </a:defRPr>
            </a:lvl3pPr>
            <a:lvl4pPr>
              <a:defRPr sz="2100" b="0">
                <a:solidFill>
                  <a:srgbClr val="142238"/>
                </a:solidFill>
                <a:latin typeface="Courier New"/>
                <a:ea typeface="Courier New"/>
                <a:cs typeface="Courier New"/>
              </a:defRPr>
            </a:lvl4pPr>
            <a:lvl5pPr>
              <a:defRPr sz="2100" b="0">
                <a:solidFill>
                  <a:srgbClr val="142238"/>
                </a:solidFill>
                <a:latin typeface="Courier New"/>
                <a:ea typeface="Courier New"/>
                <a:cs typeface="Courier New"/>
              </a:defRPr>
            </a:lvl5pPr>
            <a:lvl6pPr>
              <a:defRPr sz="2100" b="0">
                <a:solidFill>
                  <a:srgbClr val="142238"/>
                </a:solidFill>
                <a:latin typeface="Courier New"/>
                <a:ea typeface="Courier New"/>
                <a:cs typeface="Courier New"/>
              </a:defRPr>
            </a:lvl6pPr>
            <a:lvl7pPr>
              <a:defRPr sz="2100" b="0">
                <a:solidFill>
                  <a:srgbClr val="142238"/>
                </a:solidFill>
                <a:latin typeface="Courier New"/>
                <a:ea typeface="Courier New"/>
                <a:cs typeface="Courier New"/>
              </a:defRPr>
            </a:lvl7pPr>
            <a:lvl8pPr>
              <a:defRPr sz="2100" b="0">
                <a:solidFill>
                  <a:srgbClr val="142238"/>
                </a:solidFill>
                <a:latin typeface="Courier New"/>
                <a:ea typeface="Courier New"/>
                <a:cs typeface="Courier New"/>
              </a:defRPr>
            </a:lvl8pPr>
            <a:lvl9pPr>
              <a:defRPr sz="2100" b="0">
                <a:solidFill>
                  <a:srgbClr val="142238"/>
                </a:solidFill>
                <a:latin typeface="Courier New"/>
                <a:ea typeface="Courier New"/>
                <a:cs typeface="Courier New"/>
              </a:defRPr>
            </a:lvl9pPr>
          </a:lstStyle>
          <a:p>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CONST 0</a:t>
            </a:r>
          </a:p>
          <a:p>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STORE_LOCAL 4</a:t>
            </a:r>
          </a:p>
          <a:p>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LOAD_LOCAL 4</a:t>
            </a:r>
          </a:p>
          <a:p>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OUTPUT 1, "", "\n"</a:t>
            </a:r>
          </a:p>
          <a:p>
            <a:pPr>
              <a:defRPr sz="2100" b="0">
                <a:solidFill>
                  <a:srgbClr val="142238"/>
                </a:solidFill>
                <a:latin typeface="Courier New"/>
                <a:ea typeface="Courier New"/>
                <a:cs typeface="Courier New"/>
              </a:defRPr>
            </a:pPr>
            <a:r>
              <a:rPr sz="2100" b="0">
                <a:solidFill>
                  <a:srgbClr val="142238"/>
                </a:solidFill>
                <a:latin typeface="Courier New"/>
                <a:ea typeface="Courier New"/>
                <a:cs typeface="Courier New"/>
              </a:rPr>
              <a:t>RETURN_VOID</a:t>
            </a:r>
          </a:p>
        </p:txBody>
      </p:sp>
      <p:sp>
        <p:nvSpPr>
          <p:cNvPr id="6" name="Rectangle 5">
            <a:extLst>
              <a:ext uri="{FF2B5EF4-FFF2-40B4-BE49-F238E27FC236}">
                <a16:creationId xmlns:a16="http://schemas.microsoft.com/office/drawing/2014/main" id="{B6444290-4C04-4FFB-B790-7A386C88C3C6}"/>
              </a:ext>
            </a:extLst>
          </p:cNvPr>
          <p:cNvSpPr>
            <a:spLocks noGrp="1"/>
          </p:cNvSpPr>
          <p:nvPr/>
        </p:nvSpPr>
        <p:spPr>
          <a:xfrm>
            <a:off x="628650" y="5048250"/>
            <a:ext cx="5048250" cy="723900"/>
          </a:xfrm>
          <a:prstGeom prst="rect">
            <a:avLst/>
          </a:prstGeom>
          <a:noFill/>
          <a:ln w="0">
            <a:noFill/>
          </a:ln>
        </p:spPr>
        <p:txBody>
          <a:bodyPr wrap="square" lIns="0" tIns="0" rIns="0" bIns="0" anchor="t">
            <a:noAutofit/>
          </a:bodyPr>
          <a:lstStyle>
            <a:defPPr>
              <a:defRPr sz="2175" b="1">
                <a:solidFill>
                  <a:srgbClr val="245EEA"/>
                </a:solidFill>
                <a:latin typeface="Arial"/>
                <a:ea typeface="Arial"/>
                <a:cs typeface="Arial"/>
              </a:defRPr>
            </a:defPPr>
            <a:lvl1pPr>
              <a:defRPr sz="2175" b="1">
                <a:solidFill>
                  <a:srgbClr val="245EEA"/>
                </a:solidFill>
                <a:latin typeface="Arial"/>
                <a:ea typeface="Arial"/>
                <a:cs typeface="Arial"/>
              </a:defRPr>
            </a:lvl1pPr>
            <a:lvl2pPr>
              <a:defRPr sz="2175" b="1">
                <a:solidFill>
                  <a:srgbClr val="245EEA"/>
                </a:solidFill>
                <a:latin typeface="Arial"/>
                <a:ea typeface="Arial"/>
                <a:cs typeface="Arial"/>
              </a:defRPr>
            </a:lvl2pPr>
            <a:lvl3pPr>
              <a:defRPr sz="2175" b="1">
                <a:solidFill>
                  <a:srgbClr val="245EEA"/>
                </a:solidFill>
                <a:latin typeface="Arial"/>
                <a:ea typeface="Arial"/>
                <a:cs typeface="Arial"/>
              </a:defRPr>
            </a:lvl3pPr>
            <a:lvl4pPr>
              <a:defRPr sz="2175" b="1">
                <a:solidFill>
                  <a:srgbClr val="245EEA"/>
                </a:solidFill>
                <a:latin typeface="Arial"/>
                <a:ea typeface="Arial"/>
                <a:cs typeface="Arial"/>
              </a:defRPr>
            </a:lvl4pPr>
            <a:lvl5pPr>
              <a:defRPr sz="2175" b="1">
                <a:solidFill>
                  <a:srgbClr val="245EEA"/>
                </a:solidFill>
                <a:latin typeface="Arial"/>
                <a:ea typeface="Arial"/>
                <a:cs typeface="Arial"/>
              </a:defRPr>
            </a:lvl5pPr>
            <a:lvl6pPr>
              <a:defRPr sz="2175" b="1">
                <a:solidFill>
                  <a:srgbClr val="245EEA"/>
                </a:solidFill>
                <a:latin typeface="Arial"/>
                <a:ea typeface="Arial"/>
                <a:cs typeface="Arial"/>
              </a:defRPr>
            </a:lvl6pPr>
            <a:lvl7pPr>
              <a:defRPr sz="2175" b="1">
                <a:solidFill>
                  <a:srgbClr val="245EEA"/>
                </a:solidFill>
                <a:latin typeface="Arial"/>
                <a:ea typeface="Arial"/>
                <a:cs typeface="Arial"/>
              </a:defRPr>
            </a:lvl7pPr>
            <a:lvl8pPr>
              <a:defRPr sz="2175" b="1">
                <a:solidFill>
                  <a:srgbClr val="245EEA"/>
                </a:solidFill>
                <a:latin typeface="Arial"/>
                <a:ea typeface="Arial"/>
                <a:cs typeface="Arial"/>
              </a:defRPr>
            </a:lvl8pPr>
            <a:lvl9pPr>
              <a:defRPr sz="2175" b="1">
                <a:solidFill>
                  <a:srgbClr val="245EEA"/>
                </a:solidFill>
                <a:latin typeface="Arial"/>
                <a:ea typeface="Arial"/>
                <a:cs typeface="Arial"/>
              </a:defRPr>
            </a:lvl9pPr>
          </a:lstStyle>
          <a:p>
            <a:pPr>
              <a:defRPr sz="2175" b="1">
                <a:solidFill>
                  <a:srgbClr val="245EEA"/>
                </a:solidFill>
                <a:latin typeface="Arial"/>
                <a:ea typeface="Arial"/>
                <a:cs typeface="Arial"/>
              </a:defRPr>
            </a:pPr>
            <a:r>
              <a:rPr sz="2175" b="1">
                <a:solidFill>
                  <a:srgbClr val="245EEA"/>
                </a:solidFill>
                <a:latin typeface="Arial"/>
                <a:ea typeface="Arial"/>
                <a:cs typeface="Arial"/>
              </a:rPr>
              <a:t>Constant pool entry 0 contains 20.</a:t>
            </a:r>
          </a:p>
        </p:txBody>
      </p:sp>
    </p:spTree>
    <p:extLst>
      <p:ext uri="{BB962C8B-B14F-4D97-AF65-F5344CB8AC3E}">
        <p14:creationId xmlns:p14="http://schemas.microsoft.com/office/powerpoint/2010/main" val="1997842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FB14BBD-792B-409F-A4F4-FE8BD13AE10D}"/>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Virtual machine and activation records</a:t>
            </a:r>
          </a:p>
        </p:txBody>
      </p:sp>
      <p:sp>
        <p:nvSpPr>
          <p:cNvPr id="2" name="Rectangle 1">
            <a:extLst>
              <a:ext uri="{FF2B5EF4-FFF2-40B4-BE49-F238E27FC236}">
                <a16:creationId xmlns:a16="http://schemas.microsoft.com/office/drawing/2014/main" id="{CAF2A666-768F-4C8A-A563-1A7C5D46DFDC}"/>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Each function call receives its own execution frame</a:t>
            </a:r>
          </a:p>
        </p:txBody>
      </p:sp>
      <p:sp>
        <p:nvSpPr>
          <p:cNvPr id="3" name="Rectangle 2">
            <a:extLst>
              <a:ext uri="{FF2B5EF4-FFF2-40B4-BE49-F238E27FC236}">
                <a16:creationId xmlns:a16="http://schemas.microsoft.com/office/drawing/2014/main" id="{72780973-F4CD-4B60-915C-B58F971BDC3B}"/>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17</a:t>
            </a:r>
          </a:p>
        </p:txBody>
      </p:sp>
      <p:graphicFrame>
        <p:nvGraphicFramePr>
          <p:cNvPr id="4" name="Table 3">
            <a:extLst>
              <a:ext uri="{FF2B5EF4-FFF2-40B4-BE49-F238E27FC236}">
                <a16:creationId xmlns:a16="http://schemas.microsoft.com/office/drawing/2014/main" id="{CA0EF1C8-9B0D-419C-B7A4-2210B539B32E}"/>
              </a:ext>
            </a:extLst>
          </p:cNvPr>
          <p:cNvGraphicFramePr/>
          <p:nvPr/>
        </p:nvGraphicFramePr>
        <p:xfrm>
          <a:off x="609600" y="1981200"/>
          <a:ext cx="6762750" cy="3442020"/>
        </p:xfrm>
        <a:graphic>
          <a:graphicData uri="http://schemas.openxmlformats.org/drawingml/2006/table">
            <a:tbl>
              <a:tblPr/>
              <a:tblGrid>
                <a:gridCol w="1714500">
                  <a:extLst>
                    <a:ext uri="{9D8B030D-6E8A-4147-A177-3AD203B41FA5}">
                      <a16:colId xmlns:a16="http://schemas.microsoft.com/office/drawing/2014/main" val="20000"/>
                    </a:ext>
                  </a:extLst>
                </a:gridCol>
                <a:gridCol w="5048250">
                  <a:extLst>
                    <a:ext uri="{9D8B030D-6E8A-4147-A177-3AD203B41FA5}">
                      <a16:colId xmlns:a16="http://schemas.microsoft.com/office/drawing/2014/main" val="20001"/>
                    </a:ext>
                  </a:extLst>
                </a:gridCol>
              </a:tblGrid>
              <a:tr h="560388">
                <a:tc>
                  <a:txBody>
                    <a:bodyPr/>
                    <a:lstStyle/>
                    <a:p>
                      <a:r>
                        <a:rPr sz="1800" b="1">
                          <a:solidFill>
                            <a:srgbClr val="142238"/>
                          </a:solidFill>
                          <a:latin typeface="Arial"/>
                          <a:ea typeface="Arial"/>
                          <a:cs typeface="Arial"/>
                        </a:rPr>
                        <a:t>Frame field</a:t>
                      </a:r>
                    </a:p>
                  </a:txBody>
                  <a:tcPr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a:lstStyle/>
                    <a:p>
                      <a:r>
                        <a:rPr sz="1800" b="1">
                          <a:solidFill>
                            <a:srgbClr val="142238"/>
                          </a:solidFill>
                          <a:latin typeface="Arial"/>
                          <a:ea typeface="Arial"/>
                          <a:cs typeface="Arial"/>
                        </a:rPr>
                        <a:t>Purpose</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extLst>
                  <a:ext uri="{0D108BD9-81ED-4DB2-BD59-A6C34878D82A}">
                    <a16:rowId xmlns:a16="http://schemas.microsoft.com/office/drawing/2014/main" val="10000"/>
                  </a:ext>
                </a:extLst>
              </a:tr>
              <a:tr h="560388">
                <a:tc>
                  <a:txBody>
                    <a:bodyPr/>
                    <a:lstStyle/>
                    <a:p>
                      <a:r>
                        <a:rPr sz="1800" b="0">
                          <a:solidFill>
                            <a:srgbClr val="516174"/>
                          </a:solidFill>
                          <a:latin typeface="Arial"/>
                          <a:ea typeface="Arial"/>
                          <a:cs typeface="Arial"/>
                        </a:rPr>
                        <a:t>function</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Selected bytecode and function metadata</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1"/>
                  </a:ext>
                </a:extLst>
              </a:tr>
              <a:tr h="560388">
                <a:tc>
                  <a:txBody>
                    <a:bodyPr/>
                    <a:lstStyle/>
                    <a:p>
                      <a:r>
                        <a:rPr sz="1800" b="0">
                          <a:solidFill>
                            <a:srgbClr val="516174"/>
                          </a:solidFill>
                          <a:latin typeface="Arial"/>
                          <a:ea typeface="Arial"/>
                          <a:cs typeface="Arial"/>
                        </a:rPr>
                        <a:t>locals</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Parameters, local variables and IR temporary slots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2"/>
                  </a:ext>
                </a:extLst>
              </a:tr>
              <a:tr h="560388">
                <a:tc>
                  <a:txBody>
                    <a:bodyPr/>
                    <a:lstStyle/>
                    <a:p>
                      <a:r>
                        <a:rPr sz="1800" b="0">
                          <a:solidFill>
                            <a:srgbClr val="516174"/>
                          </a:solidFill>
                          <a:latin typeface="Arial"/>
                          <a:ea typeface="Arial"/>
                          <a:cs typeface="Arial"/>
                        </a:rPr>
                        <a:t>ip</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Next instruction to execute</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3"/>
                  </a:ext>
                </a:extLst>
              </a:tr>
              <a:tr h="560388">
                <a:tc>
                  <a:txBody>
                    <a:bodyPr/>
                    <a:lstStyle/>
                    <a:p>
                      <a:r>
                        <a:rPr sz="1800" b="0">
                          <a:solidFill>
                            <a:srgbClr val="516174"/>
                          </a:solidFill>
                          <a:latin typeface="Arial"/>
                          <a:ea typeface="Arial"/>
                          <a:cs typeface="Arial"/>
                        </a:rPr>
                        <a:t>stack</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Operand values for this call</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4"/>
                  </a:ext>
                </a:extLst>
              </a:tr>
              <a:tr h="560388">
                <a:tc>
                  <a:txBody>
                    <a:bodyPr/>
                    <a:lstStyle/>
                    <a:p>
                      <a:r>
                        <a:rPr sz="1800" b="0">
                          <a:solidFill>
                            <a:srgbClr val="516174"/>
                          </a:solidFill>
                          <a:latin typeface="Arial"/>
                          <a:ea typeface="Arial"/>
                          <a:cs typeface="Arial"/>
                        </a:rPr>
                        <a:t>callsite</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Source location used in runtime diagnostics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1B35DF1F-28E1-43C7-B0AD-5E4060951A12}"/>
              </a:ext>
            </a:extLst>
          </p:cNvPr>
          <p:cNvSpPr>
            <a:spLocks noGrp="1"/>
          </p:cNvSpPr>
          <p:nvPr/>
        </p:nvSpPr>
        <p:spPr>
          <a:xfrm>
            <a:off x="8067675" y="2152650"/>
            <a:ext cx="3476625" cy="2352675"/>
          </a:xfrm>
          <a:prstGeom prst="rect">
            <a:avLst/>
          </a:prstGeom>
          <a:noFill/>
          <a:ln w="0">
            <a:noFill/>
          </a:ln>
        </p:spPr>
        <p:txBody>
          <a:bodyPr wrap="square" lIns="0" tIns="0" rIns="0" bIns="0" anchor="t">
            <a:noAutofit/>
          </a:bodyPr>
          <a:lstStyle>
            <a:defPPr>
              <a:defRPr sz="2025" b="0">
                <a:solidFill>
                  <a:srgbClr val="142238"/>
                </a:solidFill>
                <a:latin typeface="Courier New"/>
                <a:ea typeface="Courier New"/>
                <a:cs typeface="Courier New"/>
              </a:defRPr>
            </a:defPPr>
            <a:lvl1pPr>
              <a:defRPr sz="2025" b="0">
                <a:solidFill>
                  <a:srgbClr val="142238"/>
                </a:solidFill>
                <a:latin typeface="Courier New"/>
                <a:ea typeface="Courier New"/>
                <a:cs typeface="Courier New"/>
              </a:defRPr>
            </a:lvl1pPr>
            <a:lvl2pPr>
              <a:defRPr sz="2025" b="0">
                <a:solidFill>
                  <a:srgbClr val="142238"/>
                </a:solidFill>
                <a:latin typeface="Courier New"/>
                <a:ea typeface="Courier New"/>
                <a:cs typeface="Courier New"/>
              </a:defRPr>
            </a:lvl2pPr>
            <a:lvl3pPr>
              <a:defRPr sz="2025" b="0">
                <a:solidFill>
                  <a:srgbClr val="142238"/>
                </a:solidFill>
                <a:latin typeface="Courier New"/>
                <a:ea typeface="Courier New"/>
                <a:cs typeface="Courier New"/>
              </a:defRPr>
            </a:lvl3pPr>
            <a:lvl4pPr>
              <a:defRPr sz="2025" b="0">
                <a:solidFill>
                  <a:srgbClr val="142238"/>
                </a:solidFill>
                <a:latin typeface="Courier New"/>
                <a:ea typeface="Courier New"/>
                <a:cs typeface="Courier New"/>
              </a:defRPr>
            </a:lvl4pPr>
            <a:lvl5pPr>
              <a:defRPr sz="2025" b="0">
                <a:solidFill>
                  <a:srgbClr val="142238"/>
                </a:solidFill>
                <a:latin typeface="Courier New"/>
                <a:ea typeface="Courier New"/>
                <a:cs typeface="Courier New"/>
              </a:defRPr>
            </a:lvl5pPr>
            <a:lvl6pPr>
              <a:defRPr sz="2025" b="0">
                <a:solidFill>
                  <a:srgbClr val="142238"/>
                </a:solidFill>
                <a:latin typeface="Courier New"/>
                <a:ea typeface="Courier New"/>
                <a:cs typeface="Courier New"/>
              </a:defRPr>
            </a:lvl6pPr>
            <a:lvl7pPr>
              <a:defRPr sz="2025" b="0">
                <a:solidFill>
                  <a:srgbClr val="142238"/>
                </a:solidFill>
                <a:latin typeface="Courier New"/>
                <a:ea typeface="Courier New"/>
                <a:cs typeface="Courier New"/>
              </a:defRPr>
            </a:lvl7pPr>
            <a:lvl8pPr>
              <a:defRPr sz="2025" b="0">
                <a:solidFill>
                  <a:srgbClr val="142238"/>
                </a:solidFill>
                <a:latin typeface="Courier New"/>
                <a:ea typeface="Courier New"/>
                <a:cs typeface="Courier New"/>
              </a:defRPr>
            </a:lvl8pPr>
            <a:lvl9pPr>
              <a:defRPr sz="2025" b="0">
                <a:solidFill>
                  <a:srgbClr val="142238"/>
                </a:solidFill>
                <a:latin typeface="Courier New"/>
                <a:ea typeface="Courier New"/>
                <a:cs typeface="Courier New"/>
              </a:defRPr>
            </a:lvl9pPr>
          </a:lstStyle>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factorial(6)</a:t>
            </a:r>
          </a:p>
          <a:p>
            <a:endParaRPr sz="2025" b="0">
              <a:solidFill>
                <a:srgbClr val="142238"/>
              </a:solidFill>
              <a:latin typeface="Courier New"/>
              <a:ea typeface="Courier New"/>
              <a:cs typeface="Courier New"/>
            </a:endParaRP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6 * factorial(5)</a:t>
            </a: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5 * factorial(4)</a:t>
            </a: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a:t>
            </a:r>
          </a:p>
          <a:p>
            <a:pPr>
              <a:defRPr sz="2025" b="0">
                <a:solidFill>
                  <a:srgbClr val="142238"/>
                </a:solidFill>
                <a:latin typeface="Courier New"/>
                <a:ea typeface="Courier New"/>
                <a:cs typeface="Courier New"/>
              </a:defRPr>
            </a:pPr>
            <a:r>
              <a:rPr sz="2025" b="0">
                <a:solidFill>
                  <a:srgbClr val="142238"/>
                </a:solidFill>
                <a:latin typeface="Courier New"/>
                <a:ea typeface="Courier New"/>
                <a:cs typeface="Courier New"/>
              </a:rPr>
              <a:t>return 720</a:t>
            </a:r>
          </a:p>
        </p:txBody>
      </p:sp>
      <p:sp>
        <p:nvSpPr>
          <p:cNvPr id="6" name="Rectangle 5">
            <a:extLst>
              <a:ext uri="{FF2B5EF4-FFF2-40B4-BE49-F238E27FC236}">
                <a16:creationId xmlns:a16="http://schemas.microsoft.com/office/drawing/2014/main" id="{6EC5A28E-E9BB-44A6-811F-311D004064C9}"/>
              </a:ext>
            </a:extLst>
          </p:cNvPr>
          <p:cNvSpPr>
            <a:spLocks noGrp="1"/>
          </p:cNvSpPr>
          <p:nvPr/>
        </p:nvSpPr>
        <p:spPr>
          <a:xfrm>
            <a:off x="8067675" y="4905375"/>
            <a:ext cx="3429000" cy="1057275"/>
          </a:xfrm>
          <a:prstGeom prst="rect">
            <a:avLst/>
          </a:prstGeom>
          <a:noFill/>
          <a:ln w="0">
            <a:noFill/>
          </a:ln>
        </p:spPr>
        <p:txBody>
          <a:bodyPr wrap="square" lIns="0" tIns="0" rIns="0" bIns="0" anchor="t">
            <a:noAutofit/>
          </a:bodyPr>
          <a:lstStyle>
            <a:defPPr>
              <a:defRPr sz="2100" b="1">
                <a:solidFill>
                  <a:srgbClr val="245EEA"/>
                </a:solidFill>
                <a:latin typeface="Arial"/>
                <a:ea typeface="Arial"/>
                <a:cs typeface="Arial"/>
              </a:defRPr>
            </a:defPPr>
            <a:lvl1pPr>
              <a:defRPr sz="2100" b="1">
                <a:solidFill>
                  <a:srgbClr val="245EEA"/>
                </a:solidFill>
                <a:latin typeface="Arial"/>
                <a:ea typeface="Arial"/>
                <a:cs typeface="Arial"/>
              </a:defRPr>
            </a:lvl1pPr>
            <a:lvl2pPr>
              <a:defRPr sz="2100" b="1">
                <a:solidFill>
                  <a:srgbClr val="245EEA"/>
                </a:solidFill>
                <a:latin typeface="Arial"/>
                <a:ea typeface="Arial"/>
                <a:cs typeface="Arial"/>
              </a:defRPr>
            </a:lvl2pPr>
            <a:lvl3pPr>
              <a:defRPr sz="2100" b="1">
                <a:solidFill>
                  <a:srgbClr val="245EEA"/>
                </a:solidFill>
                <a:latin typeface="Arial"/>
                <a:ea typeface="Arial"/>
                <a:cs typeface="Arial"/>
              </a:defRPr>
            </a:lvl3pPr>
            <a:lvl4pPr>
              <a:defRPr sz="2100" b="1">
                <a:solidFill>
                  <a:srgbClr val="245EEA"/>
                </a:solidFill>
                <a:latin typeface="Arial"/>
                <a:ea typeface="Arial"/>
                <a:cs typeface="Arial"/>
              </a:defRPr>
            </a:lvl4pPr>
            <a:lvl5pPr>
              <a:defRPr sz="2100" b="1">
                <a:solidFill>
                  <a:srgbClr val="245EEA"/>
                </a:solidFill>
                <a:latin typeface="Arial"/>
                <a:ea typeface="Arial"/>
                <a:cs typeface="Arial"/>
              </a:defRPr>
            </a:lvl5pPr>
            <a:lvl6pPr>
              <a:defRPr sz="2100" b="1">
                <a:solidFill>
                  <a:srgbClr val="245EEA"/>
                </a:solidFill>
                <a:latin typeface="Arial"/>
                <a:ea typeface="Arial"/>
                <a:cs typeface="Arial"/>
              </a:defRPr>
            </a:lvl6pPr>
            <a:lvl7pPr>
              <a:defRPr sz="2100" b="1">
                <a:solidFill>
                  <a:srgbClr val="245EEA"/>
                </a:solidFill>
                <a:latin typeface="Arial"/>
                <a:ea typeface="Arial"/>
                <a:cs typeface="Arial"/>
              </a:defRPr>
            </a:lvl7pPr>
            <a:lvl8pPr>
              <a:defRPr sz="2100" b="1">
                <a:solidFill>
                  <a:srgbClr val="245EEA"/>
                </a:solidFill>
                <a:latin typeface="Arial"/>
                <a:ea typeface="Arial"/>
                <a:cs typeface="Arial"/>
              </a:defRPr>
            </a:lvl8pPr>
            <a:lvl9pPr>
              <a:defRPr sz="2100" b="1">
                <a:solidFill>
                  <a:srgbClr val="245EEA"/>
                </a:solidFill>
                <a:latin typeface="Arial"/>
                <a:ea typeface="Arial"/>
                <a:cs typeface="Arial"/>
              </a:defRPr>
            </a:lvl9pPr>
          </a:lstStyle>
          <a:p>
            <a:pPr>
              <a:defRPr sz="2100" b="1">
                <a:solidFill>
                  <a:srgbClr val="245EEA"/>
                </a:solidFill>
                <a:latin typeface="Arial"/>
                <a:ea typeface="Arial"/>
                <a:cs typeface="Arial"/>
              </a:defRPr>
            </a:pPr>
            <a:r>
              <a:rPr sz="2100" b="1">
                <a:solidFill>
                  <a:srgbClr val="245EEA"/>
                </a:solidFill>
                <a:latin typeface="Arial"/>
                <a:ea typeface="Arial"/>
                <a:cs typeface="Arial"/>
              </a:rPr>
              <a:t>Fresh frames keep recursive calls separate.</a:t>
            </a:r>
          </a:p>
        </p:txBody>
      </p:sp>
    </p:spTree>
    <p:extLst>
      <p:ext uri="{BB962C8B-B14F-4D97-AF65-F5344CB8AC3E}">
        <p14:creationId xmlns:p14="http://schemas.microsoft.com/office/powerpoint/2010/main" val="1681764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96B7F6-69DE-42D1-B907-EE9793787249}"/>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Arrays across syntax families</a:t>
            </a:r>
          </a:p>
        </p:txBody>
      </p:sp>
      <p:sp>
        <p:nvSpPr>
          <p:cNvPr id="2" name="Rectangle 1">
            <a:extLst>
              <a:ext uri="{FF2B5EF4-FFF2-40B4-BE49-F238E27FC236}">
                <a16:creationId xmlns:a16="http://schemas.microsoft.com/office/drawing/2014/main" id="{ED953458-743A-42D8-B998-93EBC89450A6}"/>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Shared references and checked indexing use dedicated IR and VM operations</a:t>
            </a:r>
          </a:p>
        </p:txBody>
      </p:sp>
      <p:sp>
        <p:nvSpPr>
          <p:cNvPr id="3" name="Rectangle 2">
            <a:extLst>
              <a:ext uri="{FF2B5EF4-FFF2-40B4-BE49-F238E27FC236}">
                <a16:creationId xmlns:a16="http://schemas.microsoft.com/office/drawing/2014/main" id="{8A41AF12-7CED-429E-B384-078348DA3646}"/>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18</a:t>
            </a:r>
          </a:p>
        </p:txBody>
      </p:sp>
      <p:pic>
        <p:nvPicPr>
          <p:cNvPr id="4" name="Picture 3">
            <a:extLst>
              <a:ext uri="{FF2B5EF4-FFF2-40B4-BE49-F238E27FC236}">
                <a16:creationId xmlns:a16="http://schemas.microsoft.com/office/drawing/2014/main" id="{FA8E22A9-C6A3-4696-836D-C2E0D5AB4B31}"/>
              </a:ext>
            </a:extLst>
          </p:cNvPr>
          <p:cNvPicPr>
            <a:picLocks noChangeAspect="1"/>
          </p:cNvPicPr>
          <p:nvPr/>
        </p:nvPicPr>
        <p:blipFill>
          <a:blip r:embed="rId3"/>
          <a:stretch/>
        </p:blipFill>
        <p:spPr>
          <a:xfrm>
            <a:off x="6191250" y="1770297"/>
            <a:ext cx="5200650" cy="4269906"/>
          </a:xfrm>
          <a:prstGeom prst="rect">
            <a:avLst/>
          </a:prstGeom>
        </p:spPr>
      </p:pic>
      <p:sp>
        <p:nvSpPr>
          <p:cNvPr id="5" name="Rectangle 4">
            <a:extLst>
              <a:ext uri="{FF2B5EF4-FFF2-40B4-BE49-F238E27FC236}">
                <a16:creationId xmlns:a16="http://schemas.microsoft.com/office/drawing/2014/main" id="{2AAF8950-4C78-46FF-9A2C-F20339060EDF}"/>
              </a:ext>
            </a:extLst>
          </p:cNvPr>
          <p:cNvSpPr>
            <a:spLocks noGrp="1"/>
          </p:cNvSpPr>
          <p:nvPr/>
        </p:nvSpPr>
        <p:spPr>
          <a:xfrm>
            <a:off x="609600" y="2143125"/>
            <a:ext cx="476250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Fixed element type</a:t>
            </a:r>
          </a:p>
        </p:txBody>
      </p:sp>
      <p:sp>
        <p:nvSpPr>
          <p:cNvPr id="6" name="Rectangle 5">
            <a:extLst>
              <a:ext uri="{FF2B5EF4-FFF2-40B4-BE49-F238E27FC236}">
                <a16:creationId xmlns:a16="http://schemas.microsoft.com/office/drawing/2014/main" id="{3E4ED7EF-CB4B-455A-B02E-89DD46F08D16}"/>
              </a:ext>
            </a:extLst>
          </p:cNvPr>
          <p:cNvSpPr>
            <a:spLocks noGrp="1"/>
          </p:cNvSpPr>
          <p:nvPr/>
        </p:nvSpPr>
        <p:spPr>
          <a:xfrm>
            <a:off x="609600" y="2609850"/>
            <a:ext cx="476250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An int[] stays an int[] across declarations, assignment and function calls.</a:t>
            </a:r>
          </a:p>
        </p:txBody>
      </p:sp>
      <p:sp>
        <p:nvSpPr>
          <p:cNvPr id="7" name="Rectangle 6">
            <a:extLst>
              <a:ext uri="{FF2B5EF4-FFF2-40B4-BE49-F238E27FC236}">
                <a16:creationId xmlns:a16="http://schemas.microsoft.com/office/drawing/2014/main" id="{76F2D1D1-8F42-4BC6-9F61-1BA8D7E702FA}"/>
              </a:ext>
            </a:extLst>
          </p:cNvPr>
          <p:cNvSpPr>
            <a:spLocks noGrp="1"/>
          </p:cNvSpPr>
          <p:nvPr/>
        </p:nvSpPr>
        <p:spPr>
          <a:xfrm>
            <a:off x="609600" y="4095750"/>
            <a:ext cx="476250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Runtime checks</a:t>
            </a:r>
          </a:p>
        </p:txBody>
      </p:sp>
      <p:sp>
        <p:nvSpPr>
          <p:cNvPr id="8" name="Rectangle 7">
            <a:extLst>
              <a:ext uri="{FF2B5EF4-FFF2-40B4-BE49-F238E27FC236}">
                <a16:creationId xmlns:a16="http://schemas.microsoft.com/office/drawing/2014/main" id="{A95C32B9-CA2B-43BC-8087-4E9064123E70}"/>
              </a:ext>
            </a:extLst>
          </p:cNvPr>
          <p:cNvSpPr>
            <a:spLocks noGrp="1"/>
          </p:cNvSpPr>
          <p:nvPr/>
        </p:nvSpPr>
        <p:spPr>
          <a:xfrm>
            <a:off x="609600" y="4562475"/>
            <a:ext cx="476250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The VM checks index types, bounds, element types and allocation limits.</a:t>
            </a:r>
          </a:p>
        </p:txBody>
      </p:sp>
    </p:spTree>
    <p:extLst>
      <p:ext uri="{BB962C8B-B14F-4D97-AF65-F5344CB8AC3E}">
        <p14:creationId xmlns:p14="http://schemas.microsoft.com/office/powerpoint/2010/main" val="210098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BFF9D97-A035-4505-9796-CF4E469D0C46}"/>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A reusable .pbc artifact</a:t>
            </a:r>
          </a:p>
        </p:txBody>
      </p:sp>
      <p:sp>
        <p:nvSpPr>
          <p:cNvPr id="2" name="Rectangle 1">
            <a:extLst>
              <a:ext uri="{FF2B5EF4-FFF2-40B4-BE49-F238E27FC236}">
                <a16:creationId xmlns:a16="http://schemas.microsoft.com/office/drawing/2014/main" id="{54E005AD-9641-42A0-BEF2-1A7327EF9358}"/>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Compilation and execution can happen separately</a:t>
            </a:r>
          </a:p>
        </p:txBody>
      </p:sp>
      <p:sp>
        <p:nvSpPr>
          <p:cNvPr id="3" name="Rectangle 2">
            <a:extLst>
              <a:ext uri="{FF2B5EF4-FFF2-40B4-BE49-F238E27FC236}">
                <a16:creationId xmlns:a16="http://schemas.microsoft.com/office/drawing/2014/main" id="{B519895B-E595-466C-91DC-C80E25CC2BE1}"/>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19</a:t>
            </a:r>
          </a:p>
        </p:txBody>
      </p:sp>
      <p:sp>
        <p:nvSpPr>
          <p:cNvPr id="4" name="Rectangle 3">
            <a:extLst>
              <a:ext uri="{FF2B5EF4-FFF2-40B4-BE49-F238E27FC236}">
                <a16:creationId xmlns:a16="http://schemas.microsoft.com/office/drawing/2014/main" id="{5C1C8309-FB21-41E6-B2AB-028B1021959F}"/>
              </a:ext>
            </a:extLst>
          </p:cNvPr>
          <p:cNvSpPr>
            <a:spLocks noGrp="1"/>
          </p:cNvSpPr>
          <p:nvPr/>
        </p:nvSpPr>
        <p:spPr>
          <a:xfrm>
            <a:off x="609600" y="2019300"/>
            <a:ext cx="10953750" cy="1809750"/>
          </a:xfrm>
          <a:prstGeom prst="rect">
            <a:avLst/>
          </a:prstGeom>
          <a:noFill/>
          <a:ln w="0">
            <a:noFill/>
          </a:ln>
        </p:spPr>
        <p:txBody>
          <a:bodyPr wrap="square" lIns="0" tIns="0" rIns="0" bIns="0" anchor="t">
            <a:noAutofit/>
          </a:bodyPr>
          <a:lstStyle>
            <a:defPPr>
              <a:defRPr sz="1875" b="0">
                <a:solidFill>
                  <a:srgbClr val="142238"/>
                </a:solidFill>
                <a:latin typeface="Courier New"/>
                <a:ea typeface="Courier New"/>
                <a:cs typeface="Courier New"/>
              </a:defRPr>
            </a:defPPr>
            <a:lvl1pPr>
              <a:defRPr sz="1875" b="0">
                <a:solidFill>
                  <a:srgbClr val="142238"/>
                </a:solidFill>
                <a:latin typeface="Courier New"/>
                <a:ea typeface="Courier New"/>
                <a:cs typeface="Courier New"/>
              </a:defRPr>
            </a:lvl1pPr>
            <a:lvl2pPr>
              <a:defRPr sz="1875" b="0">
                <a:solidFill>
                  <a:srgbClr val="142238"/>
                </a:solidFill>
                <a:latin typeface="Courier New"/>
                <a:ea typeface="Courier New"/>
                <a:cs typeface="Courier New"/>
              </a:defRPr>
            </a:lvl2pPr>
            <a:lvl3pPr>
              <a:defRPr sz="1875" b="0">
                <a:solidFill>
                  <a:srgbClr val="142238"/>
                </a:solidFill>
                <a:latin typeface="Courier New"/>
                <a:ea typeface="Courier New"/>
                <a:cs typeface="Courier New"/>
              </a:defRPr>
            </a:lvl3pPr>
            <a:lvl4pPr>
              <a:defRPr sz="1875" b="0">
                <a:solidFill>
                  <a:srgbClr val="142238"/>
                </a:solidFill>
                <a:latin typeface="Courier New"/>
                <a:ea typeface="Courier New"/>
                <a:cs typeface="Courier New"/>
              </a:defRPr>
            </a:lvl4pPr>
            <a:lvl5pPr>
              <a:defRPr sz="1875" b="0">
                <a:solidFill>
                  <a:srgbClr val="142238"/>
                </a:solidFill>
                <a:latin typeface="Courier New"/>
                <a:ea typeface="Courier New"/>
                <a:cs typeface="Courier New"/>
              </a:defRPr>
            </a:lvl5pPr>
            <a:lvl6pPr>
              <a:defRPr sz="1875" b="0">
                <a:solidFill>
                  <a:srgbClr val="142238"/>
                </a:solidFill>
                <a:latin typeface="Courier New"/>
                <a:ea typeface="Courier New"/>
                <a:cs typeface="Courier New"/>
              </a:defRPr>
            </a:lvl6pPr>
            <a:lvl7pPr>
              <a:defRPr sz="1875" b="0">
                <a:solidFill>
                  <a:srgbClr val="142238"/>
                </a:solidFill>
                <a:latin typeface="Courier New"/>
                <a:ea typeface="Courier New"/>
                <a:cs typeface="Courier New"/>
              </a:defRPr>
            </a:lvl7pPr>
            <a:lvl8pPr>
              <a:defRPr sz="1875" b="0">
                <a:solidFill>
                  <a:srgbClr val="142238"/>
                </a:solidFill>
                <a:latin typeface="Courier New"/>
                <a:ea typeface="Courier New"/>
                <a:cs typeface="Courier New"/>
              </a:defRPr>
            </a:lvl8pPr>
            <a:lvl9pPr>
              <a:defRPr sz="1875" b="0">
                <a:solidFill>
                  <a:srgbClr val="142238"/>
                </a:solidFill>
                <a:latin typeface="Courier New"/>
                <a:ea typeface="Courier New"/>
                <a:cs typeface="Courier New"/>
              </a:defRPr>
            </a:lvl9pPr>
          </a:lstStyle>
          <a:p>
            <a:pPr>
              <a:defRPr sz="1875" b="0">
                <a:solidFill>
                  <a:srgbClr val="142238"/>
                </a:solidFill>
                <a:latin typeface="Courier New"/>
                <a:ea typeface="Courier New"/>
                <a:cs typeface="Courier New"/>
              </a:defRPr>
            </a:pPr>
            <a:r>
              <a:rPr sz="1875" b="0">
                <a:solidFill>
                  <a:srgbClr val="142238"/>
                </a:solidFill>
                <a:latin typeface="Courier New"/>
                <a:ea typeface="Courier New"/>
                <a:cs typeface="Courier New"/>
              </a:rPr>
              <a:t>python run_polyglot.py build examples/mixed_demo.poly -o build/demo.pbc</a:t>
            </a:r>
          </a:p>
          <a:p>
            <a:endParaRPr sz="1875" b="0">
              <a:solidFill>
                <a:srgbClr val="142238"/>
              </a:solidFill>
              <a:latin typeface="Courier New"/>
              <a:ea typeface="Courier New"/>
              <a:cs typeface="Courier New"/>
            </a:endParaRPr>
          </a:p>
          <a:p>
            <a:pPr>
              <a:defRPr sz="1875" b="0">
                <a:solidFill>
                  <a:srgbClr val="142238"/>
                </a:solidFill>
                <a:latin typeface="Courier New"/>
                <a:ea typeface="Courier New"/>
                <a:cs typeface="Courier New"/>
              </a:defRPr>
            </a:pPr>
            <a:r>
              <a:rPr sz="1875" b="0">
                <a:solidFill>
                  <a:srgbClr val="142238"/>
                </a:solidFill>
                <a:latin typeface="Courier New"/>
                <a:ea typeface="Courier New"/>
                <a:cs typeface="Courier New"/>
              </a:rPr>
              <a:t>python run_polyglot.py exec build/demo.pbc</a:t>
            </a:r>
          </a:p>
        </p:txBody>
      </p:sp>
      <p:sp>
        <p:nvSpPr>
          <p:cNvPr id="5" name="Rectangle 4">
            <a:extLst>
              <a:ext uri="{FF2B5EF4-FFF2-40B4-BE49-F238E27FC236}">
                <a16:creationId xmlns:a16="http://schemas.microsoft.com/office/drawing/2014/main" id="{4D63CA0B-0D61-447D-A78E-9AF5848DF9F8}"/>
              </a:ext>
            </a:extLst>
          </p:cNvPr>
          <p:cNvSpPr>
            <a:spLocks noGrp="1"/>
          </p:cNvSpPr>
          <p:nvPr/>
        </p:nvSpPr>
        <p:spPr>
          <a:xfrm>
            <a:off x="609600" y="4333875"/>
            <a:ext cx="495300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Artifact contents</a:t>
            </a:r>
          </a:p>
        </p:txBody>
      </p:sp>
      <p:sp>
        <p:nvSpPr>
          <p:cNvPr id="6" name="Rectangle 5">
            <a:extLst>
              <a:ext uri="{FF2B5EF4-FFF2-40B4-BE49-F238E27FC236}">
                <a16:creationId xmlns:a16="http://schemas.microsoft.com/office/drawing/2014/main" id="{5721F280-7006-411E-8026-AD8149E60816}"/>
              </a:ext>
            </a:extLst>
          </p:cNvPr>
          <p:cNvSpPr>
            <a:spLocks noGrp="1"/>
          </p:cNvSpPr>
          <p:nvPr/>
        </p:nvSpPr>
        <p:spPr>
          <a:xfrm>
            <a:off x="609600" y="4800600"/>
            <a:ext cx="495300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Constants, function code, storage metadata and source mappings.</a:t>
            </a:r>
          </a:p>
        </p:txBody>
      </p:sp>
      <p:sp>
        <p:nvSpPr>
          <p:cNvPr id="7" name="Rectangle 6">
            <a:extLst>
              <a:ext uri="{FF2B5EF4-FFF2-40B4-BE49-F238E27FC236}">
                <a16:creationId xmlns:a16="http://schemas.microsoft.com/office/drawing/2014/main" id="{4874F784-8629-4575-8050-2279FCD87CBA}"/>
              </a:ext>
            </a:extLst>
          </p:cNvPr>
          <p:cNvSpPr>
            <a:spLocks noGrp="1"/>
          </p:cNvSpPr>
          <p:nvPr/>
        </p:nvSpPr>
        <p:spPr>
          <a:xfrm>
            <a:off x="6572250" y="4333875"/>
            <a:ext cx="495300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Independent execution</a:t>
            </a:r>
          </a:p>
        </p:txBody>
      </p:sp>
      <p:sp>
        <p:nvSpPr>
          <p:cNvPr id="8" name="Rectangle 7">
            <a:extLst>
              <a:ext uri="{FF2B5EF4-FFF2-40B4-BE49-F238E27FC236}">
                <a16:creationId xmlns:a16="http://schemas.microsoft.com/office/drawing/2014/main" id="{E10CC83F-5A6C-44B4-9D58-0D6746670FDB}"/>
              </a:ext>
            </a:extLst>
          </p:cNvPr>
          <p:cNvSpPr>
            <a:spLocks noGrp="1"/>
          </p:cNvSpPr>
          <p:nvPr/>
        </p:nvSpPr>
        <p:spPr>
          <a:xfrm>
            <a:off x="6572250" y="4800600"/>
            <a:ext cx="495300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The VM validates and executes the artifact without reading the source file.</a:t>
            </a:r>
          </a:p>
        </p:txBody>
      </p:sp>
    </p:spTree>
    <p:extLst>
      <p:ext uri="{BB962C8B-B14F-4D97-AF65-F5344CB8AC3E}">
        <p14:creationId xmlns:p14="http://schemas.microsoft.com/office/powerpoint/2010/main" val="823653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9A631FE-20D9-471A-8532-1E6510CB3B07}"/>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Local application architecture</a:t>
            </a:r>
          </a:p>
        </p:txBody>
      </p:sp>
      <p:sp>
        <p:nvSpPr>
          <p:cNvPr id="2" name="Rectangle 1">
            <a:extLst>
              <a:ext uri="{FF2B5EF4-FFF2-40B4-BE49-F238E27FC236}">
                <a16:creationId xmlns:a16="http://schemas.microsoft.com/office/drawing/2014/main" id="{249F131F-7EC9-4120-9B86-3150CDF82FF7}"/>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The CLI and browser share the compiler library</a:t>
            </a:r>
          </a:p>
        </p:txBody>
      </p:sp>
      <p:sp>
        <p:nvSpPr>
          <p:cNvPr id="3" name="Rectangle 2">
            <a:extLst>
              <a:ext uri="{FF2B5EF4-FFF2-40B4-BE49-F238E27FC236}">
                <a16:creationId xmlns:a16="http://schemas.microsoft.com/office/drawing/2014/main" id="{B81B7700-6143-4213-AA32-48115D7E7CEB}"/>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20</a:t>
            </a:r>
          </a:p>
        </p:txBody>
      </p:sp>
      <p:graphicFrame>
        <p:nvGraphicFramePr>
          <p:cNvPr id="4" name="Table 3">
            <a:extLst>
              <a:ext uri="{FF2B5EF4-FFF2-40B4-BE49-F238E27FC236}">
                <a16:creationId xmlns:a16="http://schemas.microsoft.com/office/drawing/2014/main" id="{45C0A59E-AA66-4A74-832F-FC0DC2261DFC}"/>
              </a:ext>
            </a:extLst>
          </p:cNvPr>
          <p:cNvGraphicFramePr/>
          <p:nvPr/>
        </p:nvGraphicFramePr>
        <p:xfrm>
          <a:off x="609600" y="2038350"/>
          <a:ext cx="10972800" cy="3333750"/>
        </p:xfrm>
        <a:graphic>
          <a:graphicData uri="http://schemas.openxmlformats.org/drawingml/2006/table">
            <a:tbl>
              <a:tblPr/>
              <a:tblGrid>
                <a:gridCol w="2952750">
                  <a:extLst>
                    <a:ext uri="{9D8B030D-6E8A-4147-A177-3AD203B41FA5}">
                      <a16:colId xmlns:a16="http://schemas.microsoft.com/office/drawing/2014/main" val="20000"/>
                    </a:ext>
                  </a:extLst>
                </a:gridCol>
                <a:gridCol w="8020050">
                  <a:extLst>
                    <a:ext uri="{9D8B030D-6E8A-4147-A177-3AD203B41FA5}">
                      <a16:colId xmlns:a16="http://schemas.microsoft.com/office/drawing/2014/main" val="20001"/>
                    </a:ext>
                  </a:extLst>
                </a:gridCol>
              </a:tblGrid>
              <a:tr h="555625">
                <a:tc>
                  <a:txBody>
                    <a:bodyPr/>
                    <a:lstStyle/>
                    <a:p>
                      <a:r>
                        <a:rPr sz="1875" b="1">
                          <a:solidFill>
                            <a:srgbClr val="142238"/>
                          </a:solidFill>
                          <a:latin typeface="Arial"/>
                          <a:ea typeface="Arial"/>
                          <a:cs typeface="Arial"/>
                        </a:rPr>
                        <a:t>Component</a:t>
                      </a:r>
                    </a:p>
                  </a:txBody>
                  <a:tcPr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a:lstStyle/>
                    <a:p>
                      <a:r>
                        <a:rPr sz="1875" b="1">
                          <a:solidFill>
                            <a:srgbClr val="142238"/>
                          </a:solidFill>
                          <a:latin typeface="Arial"/>
                          <a:ea typeface="Arial"/>
                          <a:cs typeface="Arial"/>
                        </a:rPr>
                        <a:t>Responsibility</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extLst>
                  <a:ext uri="{0D108BD9-81ED-4DB2-BD59-A6C34878D82A}">
                    <a16:rowId xmlns:a16="http://schemas.microsoft.com/office/drawing/2014/main" val="10000"/>
                  </a:ext>
                </a:extLst>
              </a:tr>
              <a:tr h="555625">
                <a:tc>
                  <a:txBody>
                    <a:bodyPr/>
                    <a:lstStyle/>
                    <a:p>
                      <a:r>
                        <a:rPr sz="1875" b="0">
                          <a:solidFill>
                            <a:srgbClr val="516174"/>
                          </a:solidFill>
                          <a:latin typeface="Arial"/>
                          <a:ea typeface="Arial"/>
                          <a:cs typeface="Arial"/>
                        </a:rPr>
                        <a:t>Browser UI</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Plain HTML, CSS and JavaScript with bundled offline assets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1"/>
                  </a:ext>
                </a:extLst>
              </a:tr>
              <a:tr h="555625">
                <a:tc>
                  <a:txBody>
                    <a:bodyPr/>
                    <a:lstStyle/>
                    <a:p>
                      <a:r>
                        <a:rPr sz="1875" b="0">
                          <a:solidFill>
                            <a:srgbClr val="516174"/>
                          </a:solidFill>
                          <a:latin typeface="Arial"/>
                          <a:ea typeface="Arial"/>
                          <a:cs typeface="Arial"/>
                        </a:rPr>
                        <a:t>Loopback server</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Routes requests and checks Host / Origin</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2"/>
                  </a:ext>
                </a:extLst>
              </a:tr>
              <a:tr h="555625">
                <a:tc>
                  <a:txBody>
                    <a:bodyPr/>
                    <a:lstStyle/>
                    <a:p>
                      <a:r>
                        <a:rPr sz="1875" b="0">
                          <a:solidFill>
                            <a:srgbClr val="516174"/>
                          </a:solidFill>
                          <a:latin typeface="Arial"/>
                          <a:ea typeface="Arial"/>
                          <a:cs typeface="Arial"/>
                        </a:rPr>
                        <a:t>Spawned worker</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Compiles or runs with a parent wall-clock deadline</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3"/>
                  </a:ext>
                </a:extLst>
              </a:tr>
              <a:tr h="555625">
                <a:tc>
                  <a:txBody>
                    <a:bodyPr/>
                    <a:lstStyle/>
                    <a:p>
                      <a:r>
                        <a:rPr sz="1875" b="0">
                          <a:solidFill>
                            <a:srgbClr val="516174"/>
                          </a:solidFill>
                          <a:latin typeface="Arial"/>
                          <a:ea typeface="Arial"/>
                          <a:cs typeface="Arial"/>
                        </a:rPr>
                        <a:t>Compiler library</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One implementation for CLI and web operations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4"/>
                  </a:ext>
                </a:extLst>
              </a:tr>
              <a:tr h="555625">
                <a:tc>
                  <a:txBody>
                    <a:bodyPr/>
                    <a:lstStyle/>
                    <a:p>
                      <a:r>
                        <a:rPr sz="1875" b="0">
                          <a:solidFill>
                            <a:srgbClr val="516174"/>
                          </a:solidFill>
                          <a:latin typeface="Arial"/>
                          <a:ea typeface="Arial"/>
                          <a:cs typeface="Arial"/>
                        </a:rPr>
                        <a:t>Bounded VM</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75" b="0">
                          <a:solidFill>
                            <a:srgbClr val="516174"/>
                          </a:solidFill>
                          <a:latin typeface="Arial"/>
                          <a:ea typeface="Arial"/>
                          <a:cs typeface="Arial"/>
                        </a:rPr>
                        <a:t>Validates bytecode and enforces execution limits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68F45389-352E-4AB6-9D99-CAB010F4BD62}"/>
              </a:ext>
            </a:extLst>
          </p:cNvPr>
          <p:cNvSpPr>
            <a:spLocks noGrp="1"/>
          </p:cNvSpPr>
          <p:nvPr/>
        </p:nvSpPr>
        <p:spPr>
          <a:xfrm>
            <a:off x="628650" y="5724525"/>
            <a:ext cx="10668000" cy="514350"/>
          </a:xfrm>
          <a:prstGeom prst="rect">
            <a:avLst/>
          </a:prstGeom>
          <a:noFill/>
          <a:ln w="0">
            <a:noFill/>
          </a:ln>
        </p:spPr>
        <p:txBody>
          <a:bodyPr wrap="square" lIns="0" tIns="0" rIns="0" bIns="0" anchor="t">
            <a:noAutofit/>
          </a:bodyPr>
          <a:lstStyle>
            <a:defPPr>
              <a:defRPr sz="1950" b="1">
                <a:solidFill>
                  <a:srgbClr val="245EEA"/>
                </a:solidFill>
                <a:latin typeface="Arial"/>
                <a:ea typeface="Arial"/>
                <a:cs typeface="Arial"/>
              </a:defRPr>
            </a:defPPr>
            <a:lvl1pPr>
              <a:defRPr sz="1950" b="1">
                <a:solidFill>
                  <a:srgbClr val="245EEA"/>
                </a:solidFill>
                <a:latin typeface="Arial"/>
                <a:ea typeface="Arial"/>
                <a:cs typeface="Arial"/>
              </a:defRPr>
            </a:lvl1pPr>
            <a:lvl2pPr>
              <a:defRPr sz="1950" b="1">
                <a:solidFill>
                  <a:srgbClr val="245EEA"/>
                </a:solidFill>
                <a:latin typeface="Arial"/>
                <a:ea typeface="Arial"/>
                <a:cs typeface="Arial"/>
              </a:defRPr>
            </a:lvl2pPr>
            <a:lvl3pPr>
              <a:defRPr sz="1950" b="1">
                <a:solidFill>
                  <a:srgbClr val="245EEA"/>
                </a:solidFill>
                <a:latin typeface="Arial"/>
                <a:ea typeface="Arial"/>
                <a:cs typeface="Arial"/>
              </a:defRPr>
            </a:lvl3pPr>
            <a:lvl4pPr>
              <a:defRPr sz="1950" b="1">
                <a:solidFill>
                  <a:srgbClr val="245EEA"/>
                </a:solidFill>
                <a:latin typeface="Arial"/>
                <a:ea typeface="Arial"/>
                <a:cs typeface="Arial"/>
              </a:defRPr>
            </a:lvl4pPr>
            <a:lvl5pPr>
              <a:defRPr sz="1950" b="1">
                <a:solidFill>
                  <a:srgbClr val="245EEA"/>
                </a:solidFill>
                <a:latin typeface="Arial"/>
                <a:ea typeface="Arial"/>
                <a:cs typeface="Arial"/>
              </a:defRPr>
            </a:lvl5pPr>
            <a:lvl6pPr>
              <a:defRPr sz="1950" b="1">
                <a:solidFill>
                  <a:srgbClr val="245EEA"/>
                </a:solidFill>
                <a:latin typeface="Arial"/>
                <a:ea typeface="Arial"/>
                <a:cs typeface="Arial"/>
              </a:defRPr>
            </a:lvl6pPr>
            <a:lvl7pPr>
              <a:defRPr sz="1950" b="1">
                <a:solidFill>
                  <a:srgbClr val="245EEA"/>
                </a:solidFill>
                <a:latin typeface="Arial"/>
                <a:ea typeface="Arial"/>
                <a:cs typeface="Arial"/>
              </a:defRPr>
            </a:lvl7pPr>
            <a:lvl8pPr>
              <a:defRPr sz="1950" b="1">
                <a:solidFill>
                  <a:srgbClr val="245EEA"/>
                </a:solidFill>
                <a:latin typeface="Arial"/>
                <a:ea typeface="Arial"/>
                <a:cs typeface="Arial"/>
              </a:defRPr>
            </a:lvl8pPr>
            <a:lvl9pPr>
              <a:defRPr sz="1950" b="1">
                <a:solidFill>
                  <a:srgbClr val="245EEA"/>
                </a:solidFill>
                <a:latin typeface="Arial"/>
                <a:ea typeface="Arial"/>
                <a:cs typeface="Arial"/>
              </a:defRPr>
            </a:lvl9pPr>
          </a:lstStyle>
          <a:p>
            <a:pPr>
              <a:defRPr sz="1950" b="1">
                <a:solidFill>
                  <a:srgbClr val="245EEA"/>
                </a:solidFill>
                <a:latin typeface="Arial"/>
                <a:ea typeface="Arial"/>
                <a:cs typeface="Arial"/>
              </a:defRPr>
            </a:pPr>
            <a:r>
              <a:rPr sz="1950" b="1">
                <a:solidFill>
                  <a:srgbClr val="245EEA"/>
                </a:solidFill>
                <a:latin typeface="Arial"/>
                <a:ea typeface="Arial"/>
                <a:cs typeface="Arial"/>
              </a:rPr>
              <a:t>Runtime requirement: Python 3.11 or newer. No third-party runtime dependencies.</a:t>
            </a:r>
          </a:p>
        </p:txBody>
      </p:sp>
    </p:spTree>
    <p:extLst>
      <p:ext uri="{BB962C8B-B14F-4D97-AF65-F5344CB8AC3E}">
        <p14:creationId xmlns:p14="http://schemas.microsoft.com/office/powerpoint/2010/main" val="1992749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57BDFD-DB1F-4288-81DB-ED40AA2A7412}"/>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Verification</a:t>
            </a:r>
          </a:p>
        </p:txBody>
      </p:sp>
      <p:sp>
        <p:nvSpPr>
          <p:cNvPr id="2" name="Rectangle 1">
            <a:extLst>
              <a:ext uri="{FF2B5EF4-FFF2-40B4-BE49-F238E27FC236}">
                <a16:creationId xmlns:a16="http://schemas.microsoft.com/office/drawing/2014/main" id="{7C157B27-3035-4C0D-868E-55D3AD96AA33}"/>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Local verification snapshot from 26 October 2026</a:t>
            </a:r>
          </a:p>
        </p:txBody>
      </p:sp>
      <p:sp>
        <p:nvSpPr>
          <p:cNvPr id="3" name="Rectangle 2">
            <a:extLst>
              <a:ext uri="{FF2B5EF4-FFF2-40B4-BE49-F238E27FC236}">
                <a16:creationId xmlns:a16="http://schemas.microsoft.com/office/drawing/2014/main" id="{21ED3957-71D6-4F22-A7EB-657F3C1EE926}"/>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21</a:t>
            </a:r>
          </a:p>
        </p:txBody>
      </p:sp>
      <p:sp>
        <p:nvSpPr>
          <p:cNvPr id="4" name="Rectangle 3">
            <a:extLst>
              <a:ext uri="{FF2B5EF4-FFF2-40B4-BE49-F238E27FC236}">
                <a16:creationId xmlns:a16="http://schemas.microsoft.com/office/drawing/2014/main" id="{837E3CAA-D874-412D-9914-C6452DB40844}"/>
              </a:ext>
            </a:extLst>
          </p:cNvPr>
          <p:cNvSpPr>
            <a:spLocks noGrp="1"/>
          </p:cNvSpPr>
          <p:nvPr/>
        </p:nvSpPr>
        <p:spPr>
          <a:xfrm>
            <a:off x="609600" y="2095500"/>
            <a:ext cx="4953000" cy="1238250"/>
          </a:xfrm>
          <a:prstGeom prst="rect">
            <a:avLst/>
          </a:prstGeom>
          <a:noFill/>
          <a:ln w="0">
            <a:noFill/>
          </a:ln>
        </p:spPr>
        <p:txBody>
          <a:bodyPr wrap="square" lIns="0" tIns="0" rIns="0" bIns="0" anchor="t">
            <a:noAutofit/>
          </a:bodyPr>
          <a:lstStyle>
            <a:defPPr>
              <a:defRPr sz="7500" b="1">
                <a:solidFill>
                  <a:srgbClr val="245EEA"/>
                </a:solidFill>
                <a:latin typeface="Arial"/>
                <a:ea typeface="Arial"/>
                <a:cs typeface="Arial"/>
              </a:defRPr>
            </a:defPPr>
            <a:lvl1pPr>
              <a:defRPr sz="7500" b="1">
                <a:solidFill>
                  <a:srgbClr val="245EEA"/>
                </a:solidFill>
                <a:latin typeface="Arial"/>
                <a:ea typeface="Arial"/>
                <a:cs typeface="Arial"/>
              </a:defRPr>
            </a:lvl1pPr>
            <a:lvl2pPr>
              <a:defRPr sz="7500" b="1">
                <a:solidFill>
                  <a:srgbClr val="245EEA"/>
                </a:solidFill>
                <a:latin typeface="Arial"/>
                <a:ea typeface="Arial"/>
                <a:cs typeface="Arial"/>
              </a:defRPr>
            </a:lvl2pPr>
            <a:lvl3pPr>
              <a:defRPr sz="7500" b="1">
                <a:solidFill>
                  <a:srgbClr val="245EEA"/>
                </a:solidFill>
                <a:latin typeface="Arial"/>
                <a:ea typeface="Arial"/>
                <a:cs typeface="Arial"/>
              </a:defRPr>
            </a:lvl3pPr>
            <a:lvl4pPr>
              <a:defRPr sz="7500" b="1">
                <a:solidFill>
                  <a:srgbClr val="245EEA"/>
                </a:solidFill>
                <a:latin typeface="Arial"/>
                <a:ea typeface="Arial"/>
                <a:cs typeface="Arial"/>
              </a:defRPr>
            </a:lvl4pPr>
            <a:lvl5pPr>
              <a:defRPr sz="7500" b="1">
                <a:solidFill>
                  <a:srgbClr val="245EEA"/>
                </a:solidFill>
                <a:latin typeface="Arial"/>
                <a:ea typeface="Arial"/>
                <a:cs typeface="Arial"/>
              </a:defRPr>
            </a:lvl5pPr>
            <a:lvl6pPr>
              <a:defRPr sz="7500" b="1">
                <a:solidFill>
                  <a:srgbClr val="245EEA"/>
                </a:solidFill>
                <a:latin typeface="Arial"/>
                <a:ea typeface="Arial"/>
                <a:cs typeface="Arial"/>
              </a:defRPr>
            </a:lvl6pPr>
            <a:lvl7pPr>
              <a:defRPr sz="7500" b="1">
                <a:solidFill>
                  <a:srgbClr val="245EEA"/>
                </a:solidFill>
                <a:latin typeface="Arial"/>
                <a:ea typeface="Arial"/>
                <a:cs typeface="Arial"/>
              </a:defRPr>
            </a:lvl7pPr>
            <a:lvl8pPr>
              <a:defRPr sz="7500" b="1">
                <a:solidFill>
                  <a:srgbClr val="245EEA"/>
                </a:solidFill>
                <a:latin typeface="Arial"/>
                <a:ea typeface="Arial"/>
                <a:cs typeface="Arial"/>
              </a:defRPr>
            </a:lvl8pPr>
            <a:lvl9pPr>
              <a:defRPr sz="7500" b="1">
                <a:solidFill>
                  <a:srgbClr val="245EEA"/>
                </a:solidFill>
                <a:latin typeface="Arial"/>
                <a:ea typeface="Arial"/>
                <a:cs typeface="Arial"/>
              </a:defRPr>
            </a:lvl9pPr>
          </a:lstStyle>
          <a:p>
            <a:pPr>
              <a:defRPr sz="7500" b="1">
                <a:solidFill>
                  <a:srgbClr val="245EEA"/>
                </a:solidFill>
                <a:latin typeface="Arial"/>
                <a:ea typeface="Arial"/>
                <a:cs typeface="Arial"/>
              </a:defRPr>
            </a:pPr>
            <a:r>
              <a:rPr sz="7500" b="1">
                <a:solidFill>
                  <a:srgbClr val="245EEA"/>
                </a:solidFill>
                <a:latin typeface="Arial"/>
                <a:ea typeface="Arial"/>
                <a:cs typeface="Arial"/>
              </a:rPr>
              <a:t>296</a:t>
            </a:r>
          </a:p>
        </p:txBody>
      </p:sp>
      <p:sp>
        <p:nvSpPr>
          <p:cNvPr id="5" name="Rectangle 4">
            <a:extLst>
              <a:ext uri="{FF2B5EF4-FFF2-40B4-BE49-F238E27FC236}">
                <a16:creationId xmlns:a16="http://schemas.microsoft.com/office/drawing/2014/main" id="{762734EC-2D97-46E6-8591-532502817449}"/>
              </a:ext>
            </a:extLst>
          </p:cNvPr>
          <p:cNvSpPr>
            <a:spLocks noGrp="1"/>
          </p:cNvSpPr>
          <p:nvPr/>
        </p:nvSpPr>
        <p:spPr>
          <a:xfrm>
            <a:off x="647700" y="3495675"/>
            <a:ext cx="4953000" cy="476250"/>
          </a:xfrm>
          <a:prstGeom prst="rect">
            <a:avLst/>
          </a:prstGeom>
          <a:noFill/>
          <a:ln w="0">
            <a:noFill/>
          </a:ln>
        </p:spPr>
        <p:txBody>
          <a:bodyPr wrap="square" lIns="0" tIns="0" rIns="0" bIns="0" anchor="t">
            <a:noAutofit/>
          </a:bodyPr>
          <a:lstStyle>
            <a:defPPr>
              <a:defRPr sz="2400" b="0">
                <a:solidFill>
                  <a:srgbClr val="142238"/>
                </a:solidFill>
                <a:latin typeface="Arial"/>
                <a:ea typeface="Arial"/>
                <a:cs typeface="Arial"/>
              </a:defRPr>
            </a:defPPr>
            <a:lvl1pPr>
              <a:defRPr sz="2400" b="0">
                <a:solidFill>
                  <a:srgbClr val="142238"/>
                </a:solidFill>
                <a:latin typeface="Arial"/>
                <a:ea typeface="Arial"/>
                <a:cs typeface="Arial"/>
              </a:defRPr>
            </a:lvl1pPr>
            <a:lvl2pPr>
              <a:defRPr sz="2400" b="0">
                <a:solidFill>
                  <a:srgbClr val="142238"/>
                </a:solidFill>
                <a:latin typeface="Arial"/>
                <a:ea typeface="Arial"/>
                <a:cs typeface="Arial"/>
              </a:defRPr>
            </a:lvl2pPr>
            <a:lvl3pPr>
              <a:defRPr sz="2400" b="0">
                <a:solidFill>
                  <a:srgbClr val="142238"/>
                </a:solidFill>
                <a:latin typeface="Arial"/>
                <a:ea typeface="Arial"/>
                <a:cs typeface="Arial"/>
              </a:defRPr>
            </a:lvl3pPr>
            <a:lvl4pPr>
              <a:defRPr sz="2400" b="0">
                <a:solidFill>
                  <a:srgbClr val="142238"/>
                </a:solidFill>
                <a:latin typeface="Arial"/>
                <a:ea typeface="Arial"/>
                <a:cs typeface="Arial"/>
              </a:defRPr>
            </a:lvl4pPr>
            <a:lvl5pPr>
              <a:defRPr sz="2400" b="0">
                <a:solidFill>
                  <a:srgbClr val="142238"/>
                </a:solidFill>
                <a:latin typeface="Arial"/>
                <a:ea typeface="Arial"/>
                <a:cs typeface="Arial"/>
              </a:defRPr>
            </a:lvl5pPr>
            <a:lvl6pPr>
              <a:defRPr sz="2400" b="0">
                <a:solidFill>
                  <a:srgbClr val="142238"/>
                </a:solidFill>
                <a:latin typeface="Arial"/>
                <a:ea typeface="Arial"/>
                <a:cs typeface="Arial"/>
              </a:defRPr>
            </a:lvl6pPr>
            <a:lvl7pPr>
              <a:defRPr sz="2400" b="0">
                <a:solidFill>
                  <a:srgbClr val="142238"/>
                </a:solidFill>
                <a:latin typeface="Arial"/>
                <a:ea typeface="Arial"/>
                <a:cs typeface="Arial"/>
              </a:defRPr>
            </a:lvl7pPr>
            <a:lvl8pPr>
              <a:defRPr sz="2400" b="0">
                <a:solidFill>
                  <a:srgbClr val="142238"/>
                </a:solidFill>
                <a:latin typeface="Arial"/>
                <a:ea typeface="Arial"/>
                <a:cs typeface="Arial"/>
              </a:defRPr>
            </a:lvl8pPr>
            <a:lvl9pPr>
              <a:defRPr sz="2400" b="0">
                <a:solidFill>
                  <a:srgbClr val="142238"/>
                </a:solidFill>
                <a:latin typeface="Arial"/>
                <a:ea typeface="Arial"/>
                <a:cs typeface="Arial"/>
              </a:defRPr>
            </a:lvl9pPr>
          </a:lstStyle>
          <a:p>
            <a:pPr>
              <a:defRPr sz="2400" b="0">
                <a:solidFill>
                  <a:srgbClr val="142238"/>
                </a:solidFill>
                <a:latin typeface="Arial"/>
                <a:ea typeface="Arial"/>
                <a:cs typeface="Arial"/>
              </a:defRPr>
            </a:pPr>
            <a:r>
              <a:rPr sz="2400" b="0">
                <a:solidFill>
                  <a:srgbClr val="142238"/>
                </a:solidFill>
                <a:latin typeface="Arial"/>
                <a:ea typeface="Arial"/>
                <a:cs typeface="Arial"/>
              </a:rPr>
              <a:t>Python tests passed</a:t>
            </a:r>
          </a:p>
        </p:txBody>
      </p:sp>
      <p:sp>
        <p:nvSpPr>
          <p:cNvPr id="6" name="Rectangle 5">
            <a:extLst>
              <a:ext uri="{FF2B5EF4-FFF2-40B4-BE49-F238E27FC236}">
                <a16:creationId xmlns:a16="http://schemas.microsoft.com/office/drawing/2014/main" id="{9509EEF7-FCD8-4CEA-9317-BC1A48D8F91E}"/>
              </a:ext>
            </a:extLst>
          </p:cNvPr>
          <p:cNvSpPr>
            <a:spLocks noGrp="1"/>
          </p:cNvSpPr>
          <p:nvPr/>
        </p:nvSpPr>
        <p:spPr>
          <a:xfrm>
            <a:off x="7181850" y="2095500"/>
            <a:ext cx="4000500" cy="1238250"/>
          </a:xfrm>
          <a:prstGeom prst="rect">
            <a:avLst/>
          </a:prstGeom>
          <a:noFill/>
          <a:ln w="0">
            <a:noFill/>
          </a:ln>
        </p:spPr>
        <p:txBody>
          <a:bodyPr wrap="square" lIns="0" tIns="0" rIns="0" bIns="0" anchor="t">
            <a:noAutofit/>
          </a:bodyPr>
          <a:lstStyle>
            <a:defPPr>
              <a:defRPr sz="7500" b="1">
                <a:solidFill>
                  <a:srgbClr val="245EEA"/>
                </a:solidFill>
                <a:latin typeface="Arial"/>
                <a:ea typeface="Arial"/>
                <a:cs typeface="Arial"/>
              </a:defRPr>
            </a:defPPr>
            <a:lvl1pPr>
              <a:defRPr sz="7500" b="1">
                <a:solidFill>
                  <a:srgbClr val="245EEA"/>
                </a:solidFill>
                <a:latin typeface="Arial"/>
                <a:ea typeface="Arial"/>
                <a:cs typeface="Arial"/>
              </a:defRPr>
            </a:lvl1pPr>
            <a:lvl2pPr>
              <a:defRPr sz="7500" b="1">
                <a:solidFill>
                  <a:srgbClr val="245EEA"/>
                </a:solidFill>
                <a:latin typeface="Arial"/>
                <a:ea typeface="Arial"/>
                <a:cs typeface="Arial"/>
              </a:defRPr>
            </a:lvl2pPr>
            <a:lvl3pPr>
              <a:defRPr sz="7500" b="1">
                <a:solidFill>
                  <a:srgbClr val="245EEA"/>
                </a:solidFill>
                <a:latin typeface="Arial"/>
                <a:ea typeface="Arial"/>
                <a:cs typeface="Arial"/>
              </a:defRPr>
            </a:lvl3pPr>
            <a:lvl4pPr>
              <a:defRPr sz="7500" b="1">
                <a:solidFill>
                  <a:srgbClr val="245EEA"/>
                </a:solidFill>
                <a:latin typeface="Arial"/>
                <a:ea typeface="Arial"/>
                <a:cs typeface="Arial"/>
              </a:defRPr>
            </a:lvl4pPr>
            <a:lvl5pPr>
              <a:defRPr sz="7500" b="1">
                <a:solidFill>
                  <a:srgbClr val="245EEA"/>
                </a:solidFill>
                <a:latin typeface="Arial"/>
                <a:ea typeface="Arial"/>
                <a:cs typeface="Arial"/>
              </a:defRPr>
            </a:lvl5pPr>
            <a:lvl6pPr>
              <a:defRPr sz="7500" b="1">
                <a:solidFill>
                  <a:srgbClr val="245EEA"/>
                </a:solidFill>
                <a:latin typeface="Arial"/>
                <a:ea typeface="Arial"/>
                <a:cs typeface="Arial"/>
              </a:defRPr>
            </a:lvl6pPr>
            <a:lvl7pPr>
              <a:defRPr sz="7500" b="1">
                <a:solidFill>
                  <a:srgbClr val="245EEA"/>
                </a:solidFill>
                <a:latin typeface="Arial"/>
                <a:ea typeface="Arial"/>
                <a:cs typeface="Arial"/>
              </a:defRPr>
            </a:lvl7pPr>
            <a:lvl8pPr>
              <a:defRPr sz="7500" b="1">
                <a:solidFill>
                  <a:srgbClr val="245EEA"/>
                </a:solidFill>
                <a:latin typeface="Arial"/>
                <a:ea typeface="Arial"/>
                <a:cs typeface="Arial"/>
              </a:defRPr>
            </a:lvl8pPr>
            <a:lvl9pPr>
              <a:defRPr sz="7500" b="1">
                <a:solidFill>
                  <a:srgbClr val="245EEA"/>
                </a:solidFill>
                <a:latin typeface="Arial"/>
                <a:ea typeface="Arial"/>
                <a:cs typeface="Arial"/>
              </a:defRPr>
            </a:lvl9pPr>
          </a:lstStyle>
          <a:p>
            <a:pPr>
              <a:defRPr sz="7500" b="1">
                <a:solidFill>
                  <a:srgbClr val="245EEA"/>
                </a:solidFill>
                <a:latin typeface="Arial"/>
                <a:ea typeface="Arial"/>
                <a:cs typeface="Arial"/>
              </a:defRPr>
            </a:pPr>
            <a:r>
              <a:rPr sz="7500" b="1">
                <a:solidFill>
                  <a:srgbClr val="245EEA"/>
                </a:solidFill>
                <a:latin typeface="Arial"/>
                <a:ea typeface="Arial"/>
                <a:cs typeface="Arial"/>
              </a:rPr>
              <a:t>54</a:t>
            </a:r>
          </a:p>
        </p:txBody>
      </p:sp>
      <p:sp>
        <p:nvSpPr>
          <p:cNvPr id="7" name="Rectangle 6">
            <a:extLst>
              <a:ext uri="{FF2B5EF4-FFF2-40B4-BE49-F238E27FC236}">
                <a16:creationId xmlns:a16="http://schemas.microsoft.com/office/drawing/2014/main" id="{DBBF69DE-2F94-449E-A4AB-3C611D9FF251}"/>
              </a:ext>
            </a:extLst>
          </p:cNvPr>
          <p:cNvSpPr>
            <a:spLocks noGrp="1"/>
          </p:cNvSpPr>
          <p:nvPr/>
        </p:nvSpPr>
        <p:spPr>
          <a:xfrm>
            <a:off x="7219950" y="3495675"/>
            <a:ext cx="4191000" cy="476250"/>
          </a:xfrm>
          <a:prstGeom prst="rect">
            <a:avLst/>
          </a:prstGeom>
          <a:noFill/>
          <a:ln w="0">
            <a:noFill/>
          </a:ln>
        </p:spPr>
        <p:txBody>
          <a:bodyPr wrap="square" lIns="0" tIns="0" rIns="0" bIns="0" anchor="t">
            <a:noAutofit/>
          </a:bodyPr>
          <a:lstStyle>
            <a:defPPr>
              <a:defRPr sz="2400" b="0">
                <a:solidFill>
                  <a:srgbClr val="142238"/>
                </a:solidFill>
                <a:latin typeface="Arial"/>
                <a:ea typeface="Arial"/>
                <a:cs typeface="Arial"/>
              </a:defRPr>
            </a:defPPr>
            <a:lvl1pPr>
              <a:defRPr sz="2400" b="0">
                <a:solidFill>
                  <a:srgbClr val="142238"/>
                </a:solidFill>
                <a:latin typeface="Arial"/>
                <a:ea typeface="Arial"/>
                <a:cs typeface="Arial"/>
              </a:defRPr>
            </a:lvl1pPr>
            <a:lvl2pPr>
              <a:defRPr sz="2400" b="0">
                <a:solidFill>
                  <a:srgbClr val="142238"/>
                </a:solidFill>
                <a:latin typeface="Arial"/>
                <a:ea typeface="Arial"/>
                <a:cs typeface="Arial"/>
              </a:defRPr>
            </a:lvl2pPr>
            <a:lvl3pPr>
              <a:defRPr sz="2400" b="0">
                <a:solidFill>
                  <a:srgbClr val="142238"/>
                </a:solidFill>
                <a:latin typeface="Arial"/>
                <a:ea typeface="Arial"/>
                <a:cs typeface="Arial"/>
              </a:defRPr>
            </a:lvl3pPr>
            <a:lvl4pPr>
              <a:defRPr sz="2400" b="0">
                <a:solidFill>
                  <a:srgbClr val="142238"/>
                </a:solidFill>
                <a:latin typeface="Arial"/>
                <a:ea typeface="Arial"/>
                <a:cs typeface="Arial"/>
              </a:defRPr>
            </a:lvl4pPr>
            <a:lvl5pPr>
              <a:defRPr sz="2400" b="0">
                <a:solidFill>
                  <a:srgbClr val="142238"/>
                </a:solidFill>
                <a:latin typeface="Arial"/>
                <a:ea typeface="Arial"/>
                <a:cs typeface="Arial"/>
              </a:defRPr>
            </a:lvl5pPr>
            <a:lvl6pPr>
              <a:defRPr sz="2400" b="0">
                <a:solidFill>
                  <a:srgbClr val="142238"/>
                </a:solidFill>
                <a:latin typeface="Arial"/>
                <a:ea typeface="Arial"/>
                <a:cs typeface="Arial"/>
              </a:defRPr>
            </a:lvl6pPr>
            <a:lvl7pPr>
              <a:defRPr sz="2400" b="0">
                <a:solidFill>
                  <a:srgbClr val="142238"/>
                </a:solidFill>
                <a:latin typeface="Arial"/>
                <a:ea typeface="Arial"/>
                <a:cs typeface="Arial"/>
              </a:defRPr>
            </a:lvl7pPr>
            <a:lvl8pPr>
              <a:defRPr sz="2400" b="0">
                <a:solidFill>
                  <a:srgbClr val="142238"/>
                </a:solidFill>
                <a:latin typeface="Arial"/>
                <a:ea typeface="Arial"/>
                <a:cs typeface="Arial"/>
              </a:defRPr>
            </a:lvl8pPr>
            <a:lvl9pPr>
              <a:defRPr sz="2400" b="0">
                <a:solidFill>
                  <a:srgbClr val="142238"/>
                </a:solidFill>
                <a:latin typeface="Arial"/>
                <a:ea typeface="Arial"/>
                <a:cs typeface="Arial"/>
              </a:defRPr>
            </a:lvl9pPr>
          </a:lstStyle>
          <a:p>
            <a:pPr>
              <a:defRPr sz="2400" b="0">
                <a:solidFill>
                  <a:srgbClr val="142238"/>
                </a:solidFill>
                <a:latin typeface="Arial"/>
                <a:ea typeface="Arial"/>
                <a:cs typeface="Arial"/>
              </a:defRPr>
            </a:pPr>
            <a:r>
              <a:rPr sz="2400" b="0">
                <a:solidFill>
                  <a:srgbClr val="142238"/>
                </a:solidFill>
                <a:latin typeface="Arial"/>
                <a:ea typeface="Arial"/>
                <a:cs typeface="Arial"/>
              </a:rPr>
              <a:t>Frontend tests passed</a:t>
            </a:r>
          </a:p>
        </p:txBody>
      </p:sp>
      <p:sp>
        <p:nvSpPr>
          <p:cNvPr id="8" name="Rectangle 7">
            <a:extLst>
              <a:ext uri="{FF2B5EF4-FFF2-40B4-BE49-F238E27FC236}">
                <a16:creationId xmlns:a16="http://schemas.microsoft.com/office/drawing/2014/main" id="{EF21CCC3-D30D-4DBF-AF36-45C770E097FA}"/>
              </a:ext>
            </a:extLst>
          </p:cNvPr>
          <p:cNvSpPr>
            <a:spLocks noGrp="1"/>
          </p:cNvSpPr>
          <p:nvPr/>
        </p:nvSpPr>
        <p:spPr>
          <a:xfrm>
            <a:off x="628650" y="4572000"/>
            <a:ext cx="10668000" cy="695325"/>
          </a:xfrm>
          <a:prstGeom prst="rect">
            <a:avLst/>
          </a:prstGeom>
          <a:noFill/>
          <a:ln w="0">
            <a:noFill/>
          </a:ln>
        </p:spPr>
        <p:txBody>
          <a:bodyPr wrap="square" lIns="0" tIns="0" rIns="0" bIns="0" anchor="t">
            <a:noAutofit/>
          </a:bodyPr>
          <a:lstStyle>
            <a:defPPr>
              <a:defRPr sz="2250" b="0">
                <a:solidFill>
                  <a:srgbClr val="142238"/>
                </a:solidFill>
                <a:latin typeface="Arial"/>
                <a:ea typeface="Arial"/>
                <a:cs typeface="Arial"/>
              </a:defRPr>
            </a:defPPr>
            <a:lvl1pPr>
              <a:defRPr sz="2250" b="0">
                <a:solidFill>
                  <a:srgbClr val="142238"/>
                </a:solidFill>
                <a:latin typeface="Arial"/>
                <a:ea typeface="Arial"/>
                <a:cs typeface="Arial"/>
              </a:defRPr>
            </a:lvl1pPr>
            <a:lvl2pPr>
              <a:defRPr sz="2250" b="0">
                <a:solidFill>
                  <a:srgbClr val="142238"/>
                </a:solidFill>
                <a:latin typeface="Arial"/>
                <a:ea typeface="Arial"/>
                <a:cs typeface="Arial"/>
              </a:defRPr>
            </a:lvl2pPr>
            <a:lvl3pPr>
              <a:defRPr sz="2250" b="0">
                <a:solidFill>
                  <a:srgbClr val="142238"/>
                </a:solidFill>
                <a:latin typeface="Arial"/>
                <a:ea typeface="Arial"/>
                <a:cs typeface="Arial"/>
              </a:defRPr>
            </a:lvl3pPr>
            <a:lvl4pPr>
              <a:defRPr sz="2250" b="0">
                <a:solidFill>
                  <a:srgbClr val="142238"/>
                </a:solidFill>
                <a:latin typeface="Arial"/>
                <a:ea typeface="Arial"/>
                <a:cs typeface="Arial"/>
              </a:defRPr>
            </a:lvl4pPr>
            <a:lvl5pPr>
              <a:defRPr sz="2250" b="0">
                <a:solidFill>
                  <a:srgbClr val="142238"/>
                </a:solidFill>
                <a:latin typeface="Arial"/>
                <a:ea typeface="Arial"/>
                <a:cs typeface="Arial"/>
              </a:defRPr>
            </a:lvl5pPr>
            <a:lvl6pPr>
              <a:defRPr sz="2250" b="0">
                <a:solidFill>
                  <a:srgbClr val="142238"/>
                </a:solidFill>
                <a:latin typeface="Arial"/>
                <a:ea typeface="Arial"/>
                <a:cs typeface="Arial"/>
              </a:defRPr>
            </a:lvl6pPr>
            <a:lvl7pPr>
              <a:defRPr sz="2250" b="0">
                <a:solidFill>
                  <a:srgbClr val="142238"/>
                </a:solidFill>
                <a:latin typeface="Arial"/>
                <a:ea typeface="Arial"/>
                <a:cs typeface="Arial"/>
              </a:defRPr>
            </a:lvl7pPr>
            <a:lvl8pPr>
              <a:defRPr sz="2250" b="0">
                <a:solidFill>
                  <a:srgbClr val="142238"/>
                </a:solidFill>
                <a:latin typeface="Arial"/>
                <a:ea typeface="Arial"/>
                <a:cs typeface="Arial"/>
              </a:defRPr>
            </a:lvl8pPr>
            <a:lvl9pPr>
              <a:defRPr sz="2250" b="0">
                <a:solidFill>
                  <a:srgbClr val="142238"/>
                </a:solidFill>
                <a:latin typeface="Arial"/>
                <a:ea typeface="Arial"/>
                <a:cs typeface="Arial"/>
              </a:defRPr>
            </a:lvl9pPr>
          </a:lstStyle>
          <a:p>
            <a:pPr>
              <a:defRPr sz="2250" b="0">
                <a:solidFill>
                  <a:srgbClr val="142238"/>
                </a:solidFill>
                <a:latin typeface="Arial"/>
                <a:ea typeface="Arial"/>
                <a:cs typeface="Arial"/>
              </a:defRPr>
            </a:pPr>
            <a:r>
              <a:rPr sz="2250" b="0">
                <a:solidFill>
                  <a:srgbClr val="142238"/>
                </a:solidFill>
                <a:latin typeface="Arial"/>
                <a:ea typeface="Arial"/>
                <a:cs typeface="Arial"/>
              </a:rPr>
              <a:t>Compiler behavior, HTTP workers, artifact execution and editor interactions</a:t>
            </a:r>
          </a:p>
        </p:txBody>
      </p:sp>
      <p:sp>
        <p:nvSpPr>
          <p:cNvPr id="9" name="Rectangle 8">
            <a:extLst>
              <a:ext uri="{FF2B5EF4-FFF2-40B4-BE49-F238E27FC236}">
                <a16:creationId xmlns:a16="http://schemas.microsoft.com/office/drawing/2014/main" id="{8C6FD31E-7ABC-4A6D-8F30-CE70B99EE777}"/>
              </a:ext>
            </a:extLst>
          </p:cNvPr>
          <p:cNvSpPr>
            <a:spLocks noGrp="1"/>
          </p:cNvSpPr>
          <p:nvPr/>
        </p:nvSpPr>
        <p:spPr>
          <a:xfrm>
            <a:off x="628650" y="5514975"/>
            <a:ext cx="10715625" cy="657225"/>
          </a:xfrm>
          <a:prstGeom prst="rect">
            <a:avLst/>
          </a:prstGeom>
          <a:noFill/>
          <a:ln w="0">
            <a:noFill/>
          </a:ln>
        </p:spPr>
        <p:txBody>
          <a:bodyPr wrap="square" lIns="0" tIns="0" rIns="0" bIns="0" anchor="t">
            <a:noAutofit/>
          </a:bodyPr>
          <a:lstStyle>
            <a:defPPr>
              <a:defRPr sz="1950" b="0">
                <a:solidFill>
                  <a:srgbClr val="516174"/>
                </a:solidFill>
                <a:latin typeface="Arial"/>
                <a:ea typeface="Arial"/>
                <a:cs typeface="Arial"/>
              </a:defRPr>
            </a:defPPr>
            <a:lvl1pPr>
              <a:defRPr sz="1950" b="0">
                <a:solidFill>
                  <a:srgbClr val="516174"/>
                </a:solidFill>
                <a:latin typeface="Arial"/>
                <a:ea typeface="Arial"/>
                <a:cs typeface="Arial"/>
              </a:defRPr>
            </a:lvl1pPr>
            <a:lvl2pPr>
              <a:defRPr sz="1950" b="0">
                <a:solidFill>
                  <a:srgbClr val="516174"/>
                </a:solidFill>
                <a:latin typeface="Arial"/>
                <a:ea typeface="Arial"/>
                <a:cs typeface="Arial"/>
              </a:defRPr>
            </a:lvl2pPr>
            <a:lvl3pPr>
              <a:defRPr sz="1950" b="0">
                <a:solidFill>
                  <a:srgbClr val="516174"/>
                </a:solidFill>
                <a:latin typeface="Arial"/>
                <a:ea typeface="Arial"/>
                <a:cs typeface="Arial"/>
              </a:defRPr>
            </a:lvl3pPr>
            <a:lvl4pPr>
              <a:defRPr sz="1950" b="0">
                <a:solidFill>
                  <a:srgbClr val="516174"/>
                </a:solidFill>
                <a:latin typeface="Arial"/>
                <a:ea typeface="Arial"/>
                <a:cs typeface="Arial"/>
              </a:defRPr>
            </a:lvl4pPr>
            <a:lvl5pPr>
              <a:defRPr sz="1950" b="0">
                <a:solidFill>
                  <a:srgbClr val="516174"/>
                </a:solidFill>
                <a:latin typeface="Arial"/>
                <a:ea typeface="Arial"/>
                <a:cs typeface="Arial"/>
              </a:defRPr>
            </a:lvl5pPr>
            <a:lvl6pPr>
              <a:defRPr sz="1950" b="0">
                <a:solidFill>
                  <a:srgbClr val="516174"/>
                </a:solidFill>
                <a:latin typeface="Arial"/>
                <a:ea typeface="Arial"/>
                <a:cs typeface="Arial"/>
              </a:defRPr>
            </a:lvl6pPr>
            <a:lvl7pPr>
              <a:defRPr sz="1950" b="0">
                <a:solidFill>
                  <a:srgbClr val="516174"/>
                </a:solidFill>
                <a:latin typeface="Arial"/>
                <a:ea typeface="Arial"/>
                <a:cs typeface="Arial"/>
              </a:defRPr>
            </a:lvl7pPr>
            <a:lvl8pPr>
              <a:defRPr sz="1950" b="0">
                <a:solidFill>
                  <a:srgbClr val="516174"/>
                </a:solidFill>
                <a:latin typeface="Arial"/>
                <a:ea typeface="Arial"/>
                <a:cs typeface="Arial"/>
              </a:defRPr>
            </a:lvl8pPr>
            <a:lvl9pPr>
              <a:defRPr sz="1950" b="0">
                <a:solidFill>
                  <a:srgbClr val="516174"/>
                </a:solidFill>
                <a:latin typeface="Arial"/>
                <a:ea typeface="Arial"/>
                <a:cs typeface="Arial"/>
              </a:defRPr>
            </a:lvl9pPr>
          </a:lstStyle>
          <a:p>
            <a:pPr>
              <a:defRPr sz="1950" b="0">
                <a:solidFill>
                  <a:srgbClr val="516174"/>
                </a:solidFill>
                <a:latin typeface="Arial"/>
                <a:ea typeface="Arial"/>
                <a:cs typeface="Arial"/>
              </a:defRPr>
            </a:pPr>
            <a:r>
              <a:rPr sz="1950" b="0">
                <a:solidFill>
                  <a:srgbClr val="516174"/>
                </a:solidFill>
                <a:latin typeface="Arial"/>
                <a:ea typeface="Arial"/>
                <a:cs typeface="Arial"/>
              </a:rPr>
              <a:t>Optimization tests compare outputs, errors, evaluation order and all valid bundled examples.</a:t>
            </a:r>
          </a:p>
        </p:txBody>
      </p:sp>
    </p:spTree>
    <p:extLst>
      <p:ext uri="{BB962C8B-B14F-4D97-AF65-F5344CB8AC3E}">
        <p14:creationId xmlns:p14="http://schemas.microsoft.com/office/powerpoint/2010/main" val="234463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55A2B88-A3AC-4CCD-AA01-016F10C3489B}"/>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Compiler-design concepts used</a:t>
            </a:r>
          </a:p>
        </p:txBody>
      </p:sp>
      <p:sp>
        <p:nvSpPr>
          <p:cNvPr id="2" name="Rectangle 1">
            <a:extLst>
              <a:ext uri="{FF2B5EF4-FFF2-40B4-BE49-F238E27FC236}">
                <a16:creationId xmlns:a16="http://schemas.microsoft.com/office/drawing/2014/main" id="{6BDC269C-2953-4397-BCD2-72A5E8B4E6DD}"/>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The concepts appear in the compiler implementation itself</a:t>
            </a:r>
          </a:p>
        </p:txBody>
      </p:sp>
      <p:sp>
        <p:nvSpPr>
          <p:cNvPr id="3" name="Rectangle 2">
            <a:extLst>
              <a:ext uri="{FF2B5EF4-FFF2-40B4-BE49-F238E27FC236}">
                <a16:creationId xmlns:a16="http://schemas.microsoft.com/office/drawing/2014/main" id="{D9B0F95F-7F72-4F7E-B350-4722315A8CAF}"/>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22</a:t>
            </a:r>
          </a:p>
        </p:txBody>
      </p:sp>
      <p:graphicFrame>
        <p:nvGraphicFramePr>
          <p:cNvPr id="4" name="Table 3">
            <a:extLst>
              <a:ext uri="{FF2B5EF4-FFF2-40B4-BE49-F238E27FC236}">
                <a16:creationId xmlns:a16="http://schemas.microsoft.com/office/drawing/2014/main" id="{47EA3A4E-E056-4316-BFC2-CED9BE43AAFC}"/>
              </a:ext>
            </a:extLst>
          </p:cNvPr>
          <p:cNvGraphicFramePr/>
          <p:nvPr/>
        </p:nvGraphicFramePr>
        <p:xfrm>
          <a:off x="609600" y="1981200"/>
          <a:ext cx="10972800" cy="3952872"/>
        </p:xfrm>
        <a:graphic>
          <a:graphicData uri="http://schemas.openxmlformats.org/drawingml/2006/table">
            <a:tbl>
              <a:tblPr/>
              <a:tblGrid>
                <a:gridCol w="3333750">
                  <a:extLst>
                    <a:ext uri="{9D8B030D-6E8A-4147-A177-3AD203B41FA5}">
                      <a16:colId xmlns:a16="http://schemas.microsoft.com/office/drawing/2014/main" val="20000"/>
                    </a:ext>
                  </a:extLst>
                </a:gridCol>
                <a:gridCol w="7639050">
                  <a:extLst>
                    <a:ext uri="{9D8B030D-6E8A-4147-A177-3AD203B41FA5}">
                      <a16:colId xmlns:a16="http://schemas.microsoft.com/office/drawing/2014/main" val="20001"/>
                    </a:ext>
                  </a:extLst>
                </a:gridCol>
              </a:tblGrid>
              <a:tr h="564696">
                <a:tc>
                  <a:txBody>
                    <a:bodyPr/>
                    <a:lstStyle/>
                    <a:p>
                      <a:r>
                        <a:rPr sz="1800" b="1">
                          <a:solidFill>
                            <a:srgbClr val="142238"/>
                          </a:solidFill>
                          <a:latin typeface="Arial"/>
                          <a:ea typeface="Arial"/>
                          <a:cs typeface="Arial"/>
                        </a:rPr>
                        <a:t>Concept</a:t>
                      </a:r>
                    </a:p>
                  </a:txBody>
                  <a:tcPr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a:lstStyle/>
                    <a:p>
                      <a:r>
                        <a:rPr sz="1800" b="1">
                          <a:solidFill>
                            <a:srgbClr val="142238"/>
                          </a:solidFill>
                          <a:latin typeface="Arial"/>
                          <a:ea typeface="Arial"/>
                          <a:cs typeface="Arial"/>
                        </a:rPr>
                        <a:t>Concrete implementation</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extLst>
                  <a:ext uri="{0D108BD9-81ED-4DB2-BD59-A6C34878D82A}">
                    <a16:rowId xmlns:a16="http://schemas.microsoft.com/office/drawing/2014/main" val="10000"/>
                  </a:ext>
                </a:extLst>
              </a:tr>
              <a:tr h="564696">
                <a:tc>
                  <a:txBody>
                    <a:bodyPr/>
                    <a:lstStyle/>
                    <a:p>
                      <a:r>
                        <a:rPr sz="1800" b="0">
                          <a:solidFill>
                            <a:srgbClr val="516174"/>
                          </a:solidFill>
                          <a:latin typeface="Arial"/>
                          <a:ea typeface="Arial"/>
                          <a:cs typeface="Arial"/>
                        </a:rPr>
                        <a:t>Lexical and syntax analysis</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Scanner, recursive descent, Pratt precedence and shared AST</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1"/>
                  </a:ext>
                </a:extLst>
              </a:tr>
              <a:tr h="564696">
                <a:tc>
                  <a:txBody>
                    <a:bodyPr/>
                    <a:lstStyle/>
                    <a:p>
                      <a:r>
                        <a:rPr sz="1800" b="0">
                          <a:solidFill>
                            <a:srgbClr val="516174"/>
                          </a:solidFill>
                          <a:latin typeface="Arial"/>
                          <a:ea typeface="Arial"/>
                          <a:cs typeface="Arial"/>
                        </a:rPr>
                        <a:t>Semantic analysis</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Scoped symbols, fixed types, call / return validation</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2"/>
                  </a:ext>
                </a:extLst>
              </a:tr>
              <a:tr h="564696">
                <a:tc>
                  <a:txBody>
                    <a:bodyPr/>
                    <a:lstStyle/>
                    <a:p>
                      <a:r>
                        <a:rPr sz="1800" b="0">
                          <a:solidFill>
                            <a:srgbClr val="516174"/>
                          </a:solidFill>
                          <a:latin typeface="Arial"/>
                          <a:ea typeface="Arial"/>
                          <a:cs typeface="Arial"/>
                        </a:rPr>
                        <a:t>Intermediate code</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Typed three-address operations and symbolic control flow</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3"/>
                  </a:ext>
                </a:extLst>
              </a:tr>
              <a:tr h="564696">
                <a:tc>
                  <a:txBody>
                    <a:bodyPr/>
                    <a:lstStyle/>
                    <a:p>
                      <a:r>
                        <a:rPr sz="1800" b="0">
                          <a:solidFill>
                            <a:srgbClr val="516174"/>
                          </a:solidFill>
                          <a:latin typeface="Arial"/>
                          <a:ea typeface="Arial"/>
                          <a:cs typeface="Arial"/>
                        </a:rPr>
                        <a:t>Optimization and data flow</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Basic blocks, CFG, liveness, next use and constant folding</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4"/>
                  </a:ext>
                </a:extLst>
              </a:tr>
              <a:tr h="564696">
                <a:tc>
                  <a:txBody>
                    <a:bodyPr/>
                    <a:lstStyle/>
                    <a:p>
                      <a:r>
                        <a:rPr sz="1800" b="0">
                          <a:solidFill>
                            <a:srgbClr val="516174"/>
                          </a:solidFill>
                          <a:latin typeface="Arial"/>
                          <a:ea typeface="Arial"/>
                          <a:cs typeface="Arial"/>
                        </a:rPr>
                        <a:t>Code generation</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Stack instructions and deferred jump-target patching</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5"/>
                  </a:ext>
                </a:extLst>
              </a:tr>
              <a:tr h="564696">
                <a:tc>
                  <a:txBody>
                    <a:bodyPr/>
                    <a:lstStyle/>
                    <a:p>
                      <a:r>
                        <a:rPr sz="1800" b="0">
                          <a:solidFill>
                            <a:srgbClr val="516174"/>
                          </a:solidFill>
                          <a:latin typeface="Arial"/>
                          <a:ea typeface="Arial"/>
                          <a:cs typeface="Arial"/>
                        </a:rPr>
                        <a:t>Runtime organization</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Global slots, local slots, call frames and operand stacks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59544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BA782D1-DC0F-411C-A885-A8FDA3463439}"/>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Demonstration sequence</a:t>
            </a:r>
          </a:p>
        </p:txBody>
      </p:sp>
      <p:sp>
        <p:nvSpPr>
          <p:cNvPr id="2" name="Rectangle 1">
            <a:extLst>
              <a:ext uri="{FF2B5EF4-FFF2-40B4-BE49-F238E27FC236}">
                <a16:creationId xmlns:a16="http://schemas.microsoft.com/office/drawing/2014/main" id="{4F398AD8-1C1D-46AF-8DDE-ED815A2ACCCF}"/>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A short walkthrough with observable results</a:t>
            </a:r>
          </a:p>
        </p:txBody>
      </p:sp>
      <p:sp>
        <p:nvSpPr>
          <p:cNvPr id="3" name="Rectangle 2">
            <a:extLst>
              <a:ext uri="{FF2B5EF4-FFF2-40B4-BE49-F238E27FC236}">
                <a16:creationId xmlns:a16="http://schemas.microsoft.com/office/drawing/2014/main" id="{10593578-4E5B-452C-8B6F-4F92D5A265E9}"/>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23</a:t>
            </a:r>
          </a:p>
        </p:txBody>
      </p:sp>
      <p:graphicFrame>
        <p:nvGraphicFramePr>
          <p:cNvPr id="4" name="Table 3">
            <a:extLst>
              <a:ext uri="{FF2B5EF4-FFF2-40B4-BE49-F238E27FC236}">
                <a16:creationId xmlns:a16="http://schemas.microsoft.com/office/drawing/2014/main" id="{6EFA98ED-CDA8-4026-B1BA-388D2067AD84}"/>
              </a:ext>
            </a:extLst>
          </p:cNvPr>
          <p:cNvGraphicFramePr/>
          <p:nvPr/>
        </p:nvGraphicFramePr>
        <p:xfrm>
          <a:off x="609600" y="2009775"/>
          <a:ext cx="10972800" cy="3238500"/>
        </p:xfrm>
        <a:graphic>
          <a:graphicData uri="http://schemas.openxmlformats.org/drawingml/2006/table">
            <a:tbl>
              <a:tblPr/>
              <a:tblGrid>
                <a:gridCol w="3190875">
                  <a:extLst>
                    <a:ext uri="{9D8B030D-6E8A-4147-A177-3AD203B41FA5}">
                      <a16:colId xmlns:a16="http://schemas.microsoft.com/office/drawing/2014/main" val="20000"/>
                    </a:ext>
                  </a:extLst>
                </a:gridCol>
                <a:gridCol w="511492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647700">
                <a:tc>
                  <a:txBody>
                    <a:bodyPr/>
                    <a:lstStyle/>
                    <a:p>
                      <a:r>
                        <a:rPr sz="1800" b="1">
                          <a:solidFill>
                            <a:srgbClr val="142238"/>
                          </a:solidFill>
                          <a:latin typeface="Arial"/>
                          <a:ea typeface="Arial"/>
                          <a:cs typeface="Arial"/>
                        </a:rPr>
                        <a:t>Demo</a:t>
                      </a:r>
                    </a:p>
                  </a:txBody>
                  <a:tcPr anchor="ctr">
                    <a:lnL w="7620">
                      <a:solidFill>
                        <a:srgbClr val="D9E1ED"/>
                      </a:solidFill>
                      <a:prstDash val="soli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a:lstStyle/>
                    <a:p>
                      <a:r>
                        <a:rPr sz="1800" b="1">
                          <a:solidFill>
                            <a:srgbClr val="142238"/>
                          </a:solidFill>
                          <a:latin typeface="Arial"/>
                          <a:ea typeface="Arial"/>
                          <a:cs typeface="Arial"/>
                        </a:rPr>
                        <a:t>What it demonstrates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tc>
                  <a:txBody>
                    <a:bodyPr/>
                    <a:lstStyle/>
                    <a:p>
                      <a:r>
                        <a:rPr sz="1800" b="1">
                          <a:solidFill>
                            <a:srgbClr val="142238"/>
                          </a:solidFill>
                          <a:latin typeface="Arial"/>
                          <a:ea typeface="Arial"/>
                          <a:cs typeface="Arial"/>
                        </a:rPr>
                        <a:t>Expected result</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a:solidFill>
                        <a:srgbClr val="D9E1ED"/>
                      </a:solidFill>
                      <a:prstDash val="solid"/>
                    </a:lnT>
                    <a:lnB w="7620">
                      <a:solidFill>
                        <a:srgbClr val="D9E1ED"/>
                      </a:solidFill>
                      <a:prstDash val="solid"/>
                    </a:lnB>
                    <a:solidFill>
                      <a:srgbClr val="E7EDF8"/>
                    </a:solidFill>
                  </a:tcPr>
                </a:tc>
                <a:extLst>
                  <a:ext uri="{0D108BD9-81ED-4DB2-BD59-A6C34878D82A}">
                    <a16:rowId xmlns:a16="http://schemas.microsoft.com/office/drawing/2014/main" val="10000"/>
                  </a:ext>
                </a:extLst>
              </a:tr>
              <a:tr h="647700">
                <a:tc>
                  <a:txBody>
                    <a:bodyPr/>
                    <a:lstStyle/>
                    <a:p>
                      <a:r>
                        <a:rPr sz="1800" b="0">
                          <a:solidFill>
                            <a:srgbClr val="516174"/>
                          </a:solidFill>
                          <a:latin typeface="Arial"/>
                          <a:ea typeface="Arial"/>
                          <a:cs typeface="Arial"/>
                        </a:rPr>
                        <a:t>p1_mixed.poly</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Six syntax families in one source</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Five output lines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1"/>
                  </a:ext>
                </a:extLst>
              </a:tr>
              <a:tr h="647700">
                <a:tc>
                  <a:txBody>
                    <a:bodyPr/>
                    <a:lstStyle/>
                    <a:p>
                      <a:r>
                        <a:rPr sz="1800" b="0">
                          <a:solidFill>
                            <a:srgbClr val="516174"/>
                          </a:solidFill>
                          <a:latin typeface="Arial"/>
                          <a:ea typeface="Arial"/>
                          <a:cs typeface="Arial"/>
                        </a:rPr>
                        <a:t>mixed_nesting.poly</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Braces and indentation in nested blocks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22</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2"/>
                  </a:ext>
                </a:extLst>
              </a:tr>
              <a:tr h="647700">
                <a:tc>
                  <a:txBody>
                    <a:bodyPr/>
                    <a:lstStyle/>
                    <a:p>
                      <a:r>
                        <a:rPr sz="1800" b="0">
                          <a:solidFill>
                            <a:srgbClr val="516174"/>
                          </a:solidFill>
                          <a:latin typeface="Arial"/>
                          <a:ea typeface="Arial"/>
                          <a:cs typeface="Arial"/>
                        </a:rPr>
                        <a:t>error_type.poly</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A semantic failure blocks later phases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S004 at line 2</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3"/>
                  </a:ext>
                </a:extLst>
              </a:tr>
              <a:tr h="647700">
                <a:tc>
                  <a:txBody>
                    <a:bodyPr/>
                    <a:lstStyle/>
                    <a:p>
                      <a:r>
                        <a:rPr sz="1800" b="0">
                          <a:solidFill>
                            <a:srgbClr val="516174"/>
                          </a:solidFill>
                          <a:latin typeface="Arial"/>
                          <a:ea typeface="Arial"/>
                          <a:cs typeface="Arial"/>
                        </a:rPr>
                        <a:t>print((2 + 3) * 4)</a:t>
                      </a:r>
                    </a:p>
                  </a:txBody>
                  <a:tcPr anchor="ctr">
                    <a:lnL w="7620">
                      <a:solidFill>
                        <a:srgbClr val="D9E1ED"/>
                      </a:solidFill>
                      <a:prstDash val="soli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Original and optimized compilation</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tc>
                  <a:txBody>
                    <a:bodyPr/>
                    <a:lstStyle/>
                    <a:p>
                      <a:r>
                        <a:rPr sz="1800" b="0">
                          <a:solidFill>
                            <a:srgbClr val="516174"/>
                          </a:solidFill>
                          <a:latin typeface="Arial"/>
                          <a:ea typeface="Arial"/>
                          <a:cs typeface="Arial"/>
                        </a:rPr>
                        <a:t>20 with 17 vs 5 steps</a:t>
                      </a:r>
                    </a:p>
                  </a:txBody>
                  <a:tcPr anchor="ctr">
                    <a:lnL w="7620" cap="flat" cmpd="sng" algn="ctr">
                      <a:solidFill>
                        <a:srgbClr val="D9E1ED"/>
                      </a:solidFill>
                      <a:prstDash val="solid"/>
                      <a:round/>
                      <a:headEnd type="none" w="med" len="med"/>
                      <a:tailEnd type="none" w="med" len="med"/>
                    </a:lnL>
                    <a:lnR w="7620">
                      <a:solidFill>
                        <a:srgbClr val="D9E1ED"/>
                      </a:solidFill>
                      <a:prstDash val="solid"/>
                    </a:lnR>
                    <a:lnT w="7620" cap="flat" cmpd="sng" algn="ctr">
                      <a:solidFill>
                        <a:srgbClr val="D9E1ED"/>
                      </a:solidFill>
                      <a:prstDash val="solid"/>
                      <a:round/>
                      <a:headEnd type="none" w="med" len="med"/>
                      <a:tailEnd type="none" w="med" len="med"/>
                    </a:lnT>
                    <a:lnB w="7620">
                      <a:solidFill>
                        <a:srgbClr val="D9E1ED"/>
                      </a:solidFill>
                      <a:prstDash val="solid"/>
                    </a:lnB>
                    <a:solidFill>
                      <a:srgbClr val="F6F8FC"/>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C854B433-A2E7-4F3C-A2DB-03DBB3FA8AD4}"/>
              </a:ext>
            </a:extLst>
          </p:cNvPr>
          <p:cNvSpPr>
            <a:spLocks noGrp="1"/>
          </p:cNvSpPr>
          <p:nvPr/>
        </p:nvSpPr>
        <p:spPr>
          <a:xfrm>
            <a:off x="628650" y="5676900"/>
            <a:ext cx="10810875" cy="514350"/>
          </a:xfrm>
          <a:prstGeom prst="rect">
            <a:avLst/>
          </a:prstGeom>
          <a:noFill/>
          <a:ln w="0">
            <a:noFill/>
          </a:ln>
        </p:spPr>
        <p:txBody>
          <a:bodyPr wrap="square" lIns="0" tIns="0" rIns="0" bIns="0" anchor="t">
            <a:noAutofit/>
          </a:bodyPr>
          <a:lstStyle>
            <a:defPPr>
              <a:defRPr sz="2175" b="1">
                <a:solidFill>
                  <a:srgbClr val="245EEA"/>
                </a:solidFill>
                <a:latin typeface="Arial"/>
                <a:ea typeface="Arial"/>
                <a:cs typeface="Arial"/>
              </a:defRPr>
            </a:defPPr>
            <a:lvl1pPr>
              <a:defRPr sz="2175" b="1">
                <a:solidFill>
                  <a:srgbClr val="245EEA"/>
                </a:solidFill>
                <a:latin typeface="Arial"/>
                <a:ea typeface="Arial"/>
                <a:cs typeface="Arial"/>
              </a:defRPr>
            </a:lvl1pPr>
            <a:lvl2pPr>
              <a:defRPr sz="2175" b="1">
                <a:solidFill>
                  <a:srgbClr val="245EEA"/>
                </a:solidFill>
                <a:latin typeface="Arial"/>
                <a:ea typeface="Arial"/>
                <a:cs typeface="Arial"/>
              </a:defRPr>
            </a:lvl2pPr>
            <a:lvl3pPr>
              <a:defRPr sz="2175" b="1">
                <a:solidFill>
                  <a:srgbClr val="245EEA"/>
                </a:solidFill>
                <a:latin typeface="Arial"/>
                <a:ea typeface="Arial"/>
                <a:cs typeface="Arial"/>
              </a:defRPr>
            </a:lvl3pPr>
            <a:lvl4pPr>
              <a:defRPr sz="2175" b="1">
                <a:solidFill>
                  <a:srgbClr val="245EEA"/>
                </a:solidFill>
                <a:latin typeface="Arial"/>
                <a:ea typeface="Arial"/>
                <a:cs typeface="Arial"/>
              </a:defRPr>
            </a:lvl4pPr>
            <a:lvl5pPr>
              <a:defRPr sz="2175" b="1">
                <a:solidFill>
                  <a:srgbClr val="245EEA"/>
                </a:solidFill>
                <a:latin typeface="Arial"/>
                <a:ea typeface="Arial"/>
                <a:cs typeface="Arial"/>
              </a:defRPr>
            </a:lvl5pPr>
            <a:lvl6pPr>
              <a:defRPr sz="2175" b="1">
                <a:solidFill>
                  <a:srgbClr val="245EEA"/>
                </a:solidFill>
                <a:latin typeface="Arial"/>
                <a:ea typeface="Arial"/>
                <a:cs typeface="Arial"/>
              </a:defRPr>
            </a:lvl6pPr>
            <a:lvl7pPr>
              <a:defRPr sz="2175" b="1">
                <a:solidFill>
                  <a:srgbClr val="245EEA"/>
                </a:solidFill>
                <a:latin typeface="Arial"/>
                <a:ea typeface="Arial"/>
                <a:cs typeface="Arial"/>
              </a:defRPr>
            </a:lvl7pPr>
            <a:lvl8pPr>
              <a:defRPr sz="2175" b="1">
                <a:solidFill>
                  <a:srgbClr val="245EEA"/>
                </a:solidFill>
                <a:latin typeface="Arial"/>
                <a:ea typeface="Arial"/>
                <a:cs typeface="Arial"/>
              </a:defRPr>
            </a:lvl8pPr>
            <a:lvl9pPr>
              <a:defRPr sz="2175" b="1">
                <a:solidFill>
                  <a:srgbClr val="245EEA"/>
                </a:solidFill>
                <a:latin typeface="Arial"/>
                <a:ea typeface="Arial"/>
                <a:cs typeface="Arial"/>
              </a:defRPr>
            </a:lvl9pPr>
          </a:lstStyle>
          <a:p>
            <a:pPr>
              <a:defRPr sz="2175" b="1">
                <a:solidFill>
                  <a:srgbClr val="245EEA"/>
                </a:solidFill>
                <a:latin typeface="Arial"/>
                <a:ea typeface="Arial"/>
                <a:cs typeface="Arial"/>
              </a:defRPr>
            </a:pPr>
            <a:r>
              <a:rPr sz="2175" b="1">
                <a:solidFill>
                  <a:srgbClr val="245EEA"/>
                </a:solidFill>
                <a:latin typeface="Arial"/>
                <a:ea typeface="Arial"/>
                <a:cs typeface="Arial"/>
              </a:rPr>
              <a:t>Finish by building a .pbc file and executing it independently.</a:t>
            </a:r>
          </a:p>
        </p:txBody>
      </p:sp>
    </p:spTree>
    <p:extLst>
      <p:ext uri="{BB962C8B-B14F-4D97-AF65-F5344CB8AC3E}">
        <p14:creationId xmlns:p14="http://schemas.microsoft.com/office/powerpoint/2010/main" val="1810617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C523FBD-79A6-494F-852B-03781F9C574F}"/>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142238"/>
                </a:solidFill>
                <a:latin typeface="Arial"/>
                <a:ea typeface="Arial"/>
                <a:cs typeface="Arial"/>
              </a:defRPr>
            </a:defPPr>
            <a:lvl1pPr>
              <a:defRPr sz="3450" b="1">
                <a:solidFill>
                  <a:srgbClr val="142238"/>
                </a:solidFill>
                <a:latin typeface="Arial"/>
                <a:ea typeface="Arial"/>
                <a:cs typeface="Arial"/>
              </a:defRPr>
            </a:lvl1pPr>
            <a:lvl2pPr>
              <a:defRPr sz="3450" b="1">
                <a:solidFill>
                  <a:srgbClr val="142238"/>
                </a:solidFill>
                <a:latin typeface="Arial"/>
                <a:ea typeface="Arial"/>
                <a:cs typeface="Arial"/>
              </a:defRPr>
            </a:lvl2pPr>
            <a:lvl3pPr>
              <a:defRPr sz="3450" b="1">
                <a:solidFill>
                  <a:srgbClr val="142238"/>
                </a:solidFill>
                <a:latin typeface="Arial"/>
                <a:ea typeface="Arial"/>
                <a:cs typeface="Arial"/>
              </a:defRPr>
            </a:lvl3pPr>
            <a:lvl4pPr>
              <a:defRPr sz="3450" b="1">
                <a:solidFill>
                  <a:srgbClr val="142238"/>
                </a:solidFill>
                <a:latin typeface="Arial"/>
                <a:ea typeface="Arial"/>
                <a:cs typeface="Arial"/>
              </a:defRPr>
            </a:lvl4pPr>
            <a:lvl5pPr>
              <a:defRPr sz="3450" b="1">
                <a:solidFill>
                  <a:srgbClr val="142238"/>
                </a:solidFill>
                <a:latin typeface="Arial"/>
                <a:ea typeface="Arial"/>
                <a:cs typeface="Arial"/>
              </a:defRPr>
            </a:lvl5pPr>
            <a:lvl6pPr>
              <a:defRPr sz="3450" b="1">
                <a:solidFill>
                  <a:srgbClr val="142238"/>
                </a:solidFill>
                <a:latin typeface="Arial"/>
                <a:ea typeface="Arial"/>
                <a:cs typeface="Arial"/>
              </a:defRPr>
            </a:lvl6pPr>
            <a:lvl7pPr>
              <a:defRPr sz="3450" b="1">
                <a:solidFill>
                  <a:srgbClr val="142238"/>
                </a:solidFill>
                <a:latin typeface="Arial"/>
                <a:ea typeface="Arial"/>
                <a:cs typeface="Arial"/>
              </a:defRPr>
            </a:lvl7pPr>
            <a:lvl8pPr>
              <a:defRPr sz="3450" b="1">
                <a:solidFill>
                  <a:srgbClr val="142238"/>
                </a:solidFill>
                <a:latin typeface="Arial"/>
                <a:ea typeface="Arial"/>
                <a:cs typeface="Arial"/>
              </a:defRPr>
            </a:lvl8pPr>
            <a:lvl9pPr>
              <a:defRPr sz="3450" b="1">
                <a:solidFill>
                  <a:srgbClr val="142238"/>
                </a:solidFill>
                <a:latin typeface="Arial"/>
                <a:ea typeface="Arial"/>
                <a:cs typeface="Arial"/>
              </a:defRPr>
            </a:lvl9pPr>
          </a:lstStyle>
          <a:p>
            <a:pPr>
              <a:defRPr sz="3450" b="1">
                <a:solidFill>
                  <a:srgbClr val="142238"/>
                </a:solidFill>
                <a:latin typeface="Arial"/>
                <a:ea typeface="Arial"/>
                <a:cs typeface="Arial"/>
              </a:defRPr>
            </a:pPr>
            <a:r>
              <a:rPr sz="3450" b="1">
                <a:solidFill>
                  <a:srgbClr val="142238"/>
                </a:solidFill>
                <a:latin typeface="Arial"/>
                <a:ea typeface="Arial"/>
                <a:cs typeface="Arial"/>
              </a:rPr>
              <a:t>Current limits and next steps</a:t>
            </a:r>
          </a:p>
        </p:txBody>
      </p:sp>
      <p:sp>
        <p:nvSpPr>
          <p:cNvPr id="2" name="Rectangle 1">
            <a:extLst>
              <a:ext uri="{FF2B5EF4-FFF2-40B4-BE49-F238E27FC236}">
                <a16:creationId xmlns:a16="http://schemas.microsoft.com/office/drawing/2014/main" id="{009A7258-C351-4186-8DC6-3869645F00DF}"/>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516174"/>
                </a:solidFill>
                <a:latin typeface="Arial"/>
                <a:ea typeface="Arial"/>
                <a:cs typeface="Arial"/>
              </a:defRPr>
            </a:defPPr>
            <a:lvl1pPr>
              <a:defRPr sz="1875" b="0">
                <a:solidFill>
                  <a:srgbClr val="516174"/>
                </a:solidFill>
                <a:latin typeface="Arial"/>
                <a:ea typeface="Arial"/>
                <a:cs typeface="Arial"/>
              </a:defRPr>
            </a:lvl1pPr>
            <a:lvl2pPr>
              <a:defRPr sz="1875" b="0">
                <a:solidFill>
                  <a:srgbClr val="516174"/>
                </a:solidFill>
                <a:latin typeface="Arial"/>
                <a:ea typeface="Arial"/>
                <a:cs typeface="Arial"/>
              </a:defRPr>
            </a:lvl2pPr>
            <a:lvl3pPr>
              <a:defRPr sz="1875" b="0">
                <a:solidFill>
                  <a:srgbClr val="516174"/>
                </a:solidFill>
                <a:latin typeface="Arial"/>
                <a:ea typeface="Arial"/>
                <a:cs typeface="Arial"/>
              </a:defRPr>
            </a:lvl3pPr>
            <a:lvl4pPr>
              <a:defRPr sz="1875" b="0">
                <a:solidFill>
                  <a:srgbClr val="516174"/>
                </a:solidFill>
                <a:latin typeface="Arial"/>
                <a:ea typeface="Arial"/>
                <a:cs typeface="Arial"/>
              </a:defRPr>
            </a:lvl4pPr>
            <a:lvl5pPr>
              <a:defRPr sz="1875" b="0">
                <a:solidFill>
                  <a:srgbClr val="516174"/>
                </a:solidFill>
                <a:latin typeface="Arial"/>
                <a:ea typeface="Arial"/>
                <a:cs typeface="Arial"/>
              </a:defRPr>
            </a:lvl5pPr>
            <a:lvl6pPr>
              <a:defRPr sz="1875" b="0">
                <a:solidFill>
                  <a:srgbClr val="516174"/>
                </a:solidFill>
                <a:latin typeface="Arial"/>
                <a:ea typeface="Arial"/>
                <a:cs typeface="Arial"/>
              </a:defRPr>
            </a:lvl6pPr>
            <a:lvl7pPr>
              <a:defRPr sz="1875" b="0">
                <a:solidFill>
                  <a:srgbClr val="516174"/>
                </a:solidFill>
                <a:latin typeface="Arial"/>
                <a:ea typeface="Arial"/>
                <a:cs typeface="Arial"/>
              </a:defRPr>
            </a:lvl7pPr>
            <a:lvl8pPr>
              <a:defRPr sz="1875" b="0">
                <a:solidFill>
                  <a:srgbClr val="516174"/>
                </a:solidFill>
                <a:latin typeface="Arial"/>
                <a:ea typeface="Arial"/>
                <a:cs typeface="Arial"/>
              </a:defRPr>
            </a:lvl8pPr>
            <a:lvl9pPr>
              <a:defRPr sz="1875" b="0">
                <a:solidFill>
                  <a:srgbClr val="516174"/>
                </a:solidFill>
                <a:latin typeface="Arial"/>
                <a:ea typeface="Arial"/>
                <a:cs typeface="Arial"/>
              </a:defRPr>
            </a:lvl9pPr>
          </a:lstStyle>
          <a:p>
            <a:pPr>
              <a:defRPr sz="1875" b="0">
                <a:solidFill>
                  <a:srgbClr val="516174"/>
                </a:solidFill>
                <a:latin typeface="Arial"/>
                <a:ea typeface="Arial"/>
                <a:cs typeface="Arial"/>
              </a:defRPr>
            </a:pPr>
            <a:r>
              <a:rPr sz="1875" b="0">
                <a:solidFill>
                  <a:srgbClr val="516174"/>
                </a:solidFill>
                <a:latin typeface="Arial"/>
                <a:ea typeface="Arial"/>
                <a:cs typeface="Arial"/>
              </a:rPr>
              <a:t>The implementation has a clear, testable boundary</a:t>
            </a:r>
          </a:p>
        </p:txBody>
      </p:sp>
      <p:sp>
        <p:nvSpPr>
          <p:cNvPr id="3" name="Rectangle 2">
            <a:extLst>
              <a:ext uri="{FF2B5EF4-FFF2-40B4-BE49-F238E27FC236}">
                <a16:creationId xmlns:a16="http://schemas.microsoft.com/office/drawing/2014/main" id="{91EB4C40-1F7D-4E31-AEA9-844C076DA46B}"/>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718198"/>
                </a:solidFill>
                <a:latin typeface="Arial"/>
                <a:ea typeface="Arial"/>
                <a:cs typeface="Arial"/>
              </a:defRPr>
            </a:defPPr>
            <a:lvl1pPr>
              <a:defRPr sz="1125" b="0">
                <a:solidFill>
                  <a:srgbClr val="718198"/>
                </a:solidFill>
                <a:latin typeface="Arial"/>
                <a:ea typeface="Arial"/>
                <a:cs typeface="Arial"/>
              </a:defRPr>
            </a:lvl1pPr>
            <a:lvl2pPr>
              <a:defRPr sz="1125" b="0">
                <a:solidFill>
                  <a:srgbClr val="718198"/>
                </a:solidFill>
                <a:latin typeface="Arial"/>
                <a:ea typeface="Arial"/>
                <a:cs typeface="Arial"/>
              </a:defRPr>
            </a:lvl2pPr>
            <a:lvl3pPr>
              <a:defRPr sz="1125" b="0">
                <a:solidFill>
                  <a:srgbClr val="718198"/>
                </a:solidFill>
                <a:latin typeface="Arial"/>
                <a:ea typeface="Arial"/>
                <a:cs typeface="Arial"/>
              </a:defRPr>
            </a:lvl3pPr>
            <a:lvl4pPr>
              <a:defRPr sz="1125" b="0">
                <a:solidFill>
                  <a:srgbClr val="718198"/>
                </a:solidFill>
                <a:latin typeface="Arial"/>
                <a:ea typeface="Arial"/>
                <a:cs typeface="Arial"/>
              </a:defRPr>
            </a:lvl4pPr>
            <a:lvl5pPr>
              <a:defRPr sz="1125" b="0">
                <a:solidFill>
                  <a:srgbClr val="718198"/>
                </a:solidFill>
                <a:latin typeface="Arial"/>
                <a:ea typeface="Arial"/>
                <a:cs typeface="Arial"/>
              </a:defRPr>
            </a:lvl5pPr>
            <a:lvl6pPr>
              <a:defRPr sz="1125" b="0">
                <a:solidFill>
                  <a:srgbClr val="718198"/>
                </a:solidFill>
                <a:latin typeface="Arial"/>
                <a:ea typeface="Arial"/>
                <a:cs typeface="Arial"/>
              </a:defRPr>
            </a:lvl6pPr>
            <a:lvl7pPr>
              <a:defRPr sz="1125" b="0">
                <a:solidFill>
                  <a:srgbClr val="718198"/>
                </a:solidFill>
                <a:latin typeface="Arial"/>
                <a:ea typeface="Arial"/>
                <a:cs typeface="Arial"/>
              </a:defRPr>
            </a:lvl7pPr>
            <a:lvl8pPr>
              <a:defRPr sz="1125" b="0">
                <a:solidFill>
                  <a:srgbClr val="718198"/>
                </a:solidFill>
                <a:latin typeface="Arial"/>
                <a:ea typeface="Arial"/>
                <a:cs typeface="Arial"/>
              </a:defRPr>
            </a:lvl8pPr>
            <a:lvl9pPr>
              <a:defRPr sz="1125" b="0">
                <a:solidFill>
                  <a:srgbClr val="718198"/>
                </a:solidFill>
                <a:latin typeface="Arial"/>
                <a:ea typeface="Arial"/>
                <a:cs typeface="Arial"/>
              </a:defRPr>
            </a:lvl9pPr>
          </a:lstStyle>
          <a:p>
            <a:pPr>
              <a:defRPr sz="1125" b="0">
                <a:solidFill>
                  <a:srgbClr val="718198"/>
                </a:solidFill>
                <a:latin typeface="Arial"/>
                <a:ea typeface="Arial"/>
                <a:cs typeface="Arial"/>
              </a:defRPr>
            </a:pPr>
            <a:r>
              <a:rPr sz="1125" b="0">
                <a:solidFill>
                  <a:srgbClr val="718198"/>
                </a:solidFill>
                <a:latin typeface="Arial"/>
                <a:ea typeface="Arial"/>
                <a:cs typeface="Arial"/>
              </a:rPr>
              <a:t>24</a:t>
            </a:r>
          </a:p>
        </p:txBody>
      </p:sp>
      <p:sp>
        <p:nvSpPr>
          <p:cNvPr id="4" name="Rectangle 3">
            <a:extLst>
              <a:ext uri="{FF2B5EF4-FFF2-40B4-BE49-F238E27FC236}">
                <a16:creationId xmlns:a16="http://schemas.microsoft.com/office/drawing/2014/main" id="{E3FE95EE-AB83-4D2C-9B01-D9DEEA17021E}"/>
              </a:ext>
            </a:extLst>
          </p:cNvPr>
          <p:cNvSpPr>
            <a:spLocks noGrp="1"/>
          </p:cNvSpPr>
          <p:nvPr/>
        </p:nvSpPr>
        <p:spPr>
          <a:xfrm>
            <a:off x="609600" y="2028825"/>
            <a:ext cx="495300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Language boundary</a:t>
            </a:r>
          </a:p>
        </p:txBody>
      </p:sp>
      <p:sp>
        <p:nvSpPr>
          <p:cNvPr id="5" name="Rectangle 4">
            <a:extLst>
              <a:ext uri="{FF2B5EF4-FFF2-40B4-BE49-F238E27FC236}">
                <a16:creationId xmlns:a16="http://schemas.microsoft.com/office/drawing/2014/main" id="{D08A77E1-0CD5-4B80-8653-EBE0CFD37EA1}"/>
              </a:ext>
            </a:extLst>
          </p:cNvPr>
          <p:cNvSpPr>
            <a:spLocks noGrp="1"/>
          </p:cNvSpPr>
          <p:nvPr/>
        </p:nvSpPr>
        <p:spPr>
          <a:xfrm>
            <a:off x="609600" y="2495550"/>
            <a:ext cx="495300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Selected constructs only. Classes, imports and general object operations remain unsupported.</a:t>
            </a:r>
          </a:p>
        </p:txBody>
      </p:sp>
      <p:sp>
        <p:nvSpPr>
          <p:cNvPr id="6" name="Rectangle 5">
            <a:extLst>
              <a:ext uri="{FF2B5EF4-FFF2-40B4-BE49-F238E27FC236}">
                <a16:creationId xmlns:a16="http://schemas.microsoft.com/office/drawing/2014/main" id="{5B917228-73F2-4A8D-8D77-763C64D157AE}"/>
              </a:ext>
            </a:extLst>
          </p:cNvPr>
          <p:cNvSpPr>
            <a:spLocks noGrp="1"/>
          </p:cNvSpPr>
          <p:nvPr/>
        </p:nvSpPr>
        <p:spPr>
          <a:xfrm>
            <a:off x="6572250" y="2028825"/>
            <a:ext cx="495300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Compiler boundary</a:t>
            </a:r>
          </a:p>
        </p:txBody>
      </p:sp>
      <p:sp>
        <p:nvSpPr>
          <p:cNvPr id="7" name="Rectangle 6">
            <a:extLst>
              <a:ext uri="{FF2B5EF4-FFF2-40B4-BE49-F238E27FC236}">
                <a16:creationId xmlns:a16="http://schemas.microsoft.com/office/drawing/2014/main" id="{330D3247-407F-4A87-9835-A55963974CF4}"/>
              </a:ext>
            </a:extLst>
          </p:cNvPr>
          <p:cNvSpPr>
            <a:spLocks noGrp="1"/>
          </p:cNvSpPr>
          <p:nvPr/>
        </p:nvSpPr>
        <p:spPr>
          <a:xfrm>
            <a:off x="6572250" y="2495550"/>
            <a:ext cx="495300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One handwritten parser strategy and a custom stack VM. No LLVM or LR parser-table backend.</a:t>
            </a:r>
          </a:p>
        </p:txBody>
      </p:sp>
      <p:sp>
        <p:nvSpPr>
          <p:cNvPr id="8" name="Rectangle 7">
            <a:extLst>
              <a:ext uri="{FF2B5EF4-FFF2-40B4-BE49-F238E27FC236}">
                <a16:creationId xmlns:a16="http://schemas.microsoft.com/office/drawing/2014/main" id="{46B1E92E-174B-4C34-A1B0-CDBD2AF7BE08}"/>
              </a:ext>
            </a:extLst>
          </p:cNvPr>
          <p:cNvSpPr>
            <a:spLocks noGrp="1"/>
          </p:cNvSpPr>
          <p:nvPr/>
        </p:nvSpPr>
        <p:spPr>
          <a:xfrm>
            <a:off x="609600" y="4171950"/>
            <a:ext cx="495300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Next compiler work</a:t>
            </a:r>
          </a:p>
        </p:txBody>
      </p:sp>
      <p:sp>
        <p:nvSpPr>
          <p:cNvPr id="9" name="Rectangle 8">
            <a:extLst>
              <a:ext uri="{FF2B5EF4-FFF2-40B4-BE49-F238E27FC236}">
                <a16:creationId xmlns:a16="http://schemas.microsoft.com/office/drawing/2014/main" id="{0673A498-A287-4CC9-95FB-CC93E187523B}"/>
              </a:ext>
            </a:extLst>
          </p:cNvPr>
          <p:cNvSpPr>
            <a:spLocks noGrp="1"/>
          </p:cNvSpPr>
          <p:nvPr/>
        </p:nvSpPr>
        <p:spPr>
          <a:xfrm>
            <a:off x="609600" y="4638675"/>
            <a:ext cx="495300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Multiple-error recovery, broader data-flow analysis and further safe optimizations.</a:t>
            </a:r>
          </a:p>
        </p:txBody>
      </p:sp>
      <p:sp>
        <p:nvSpPr>
          <p:cNvPr id="10" name="Rectangle 9">
            <a:extLst>
              <a:ext uri="{FF2B5EF4-FFF2-40B4-BE49-F238E27FC236}">
                <a16:creationId xmlns:a16="http://schemas.microsoft.com/office/drawing/2014/main" id="{175E8459-6FFF-4FAF-9A01-2A160DB989A1}"/>
              </a:ext>
            </a:extLst>
          </p:cNvPr>
          <p:cNvSpPr>
            <a:spLocks noGrp="1"/>
          </p:cNvSpPr>
          <p:nvPr/>
        </p:nvSpPr>
        <p:spPr>
          <a:xfrm>
            <a:off x="6572250" y="4171950"/>
            <a:ext cx="4953000" cy="419100"/>
          </a:xfrm>
          <a:prstGeom prst="rect">
            <a:avLst/>
          </a:prstGeom>
          <a:noFill/>
          <a:ln w="0">
            <a:noFill/>
          </a:ln>
        </p:spPr>
        <p:txBody>
          <a:bodyPr wrap="square" lIns="0" tIns="0" rIns="0" bIns="0" anchor="t">
            <a:noAutofit/>
          </a:bodyPr>
          <a:lstStyle>
            <a:defPPr>
              <a:defRPr sz="2250" b="1">
                <a:solidFill>
                  <a:srgbClr val="245EEA"/>
                </a:solidFill>
                <a:latin typeface="Arial"/>
                <a:ea typeface="Arial"/>
                <a:cs typeface="Arial"/>
              </a:defRPr>
            </a:defPPr>
            <a:lvl1pPr>
              <a:defRPr sz="2250" b="1">
                <a:solidFill>
                  <a:srgbClr val="245EEA"/>
                </a:solidFill>
                <a:latin typeface="Arial"/>
                <a:ea typeface="Arial"/>
                <a:cs typeface="Arial"/>
              </a:defRPr>
            </a:lvl1pPr>
            <a:lvl2pPr>
              <a:defRPr sz="2250" b="1">
                <a:solidFill>
                  <a:srgbClr val="245EEA"/>
                </a:solidFill>
                <a:latin typeface="Arial"/>
                <a:ea typeface="Arial"/>
                <a:cs typeface="Arial"/>
              </a:defRPr>
            </a:lvl2pPr>
            <a:lvl3pPr>
              <a:defRPr sz="2250" b="1">
                <a:solidFill>
                  <a:srgbClr val="245EEA"/>
                </a:solidFill>
                <a:latin typeface="Arial"/>
                <a:ea typeface="Arial"/>
                <a:cs typeface="Arial"/>
              </a:defRPr>
            </a:lvl3pPr>
            <a:lvl4pPr>
              <a:defRPr sz="2250" b="1">
                <a:solidFill>
                  <a:srgbClr val="245EEA"/>
                </a:solidFill>
                <a:latin typeface="Arial"/>
                <a:ea typeface="Arial"/>
                <a:cs typeface="Arial"/>
              </a:defRPr>
            </a:lvl4pPr>
            <a:lvl5pPr>
              <a:defRPr sz="2250" b="1">
                <a:solidFill>
                  <a:srgbClr val="245EEA"/>
                </a:solidFill>
                <a:latin typeface="Arial"/>
                <a:ea typeface="Arial"/>
                <a:cs typeface="Arial"/>
              </a:defRPr>
            </a:lvl5pPr>
            <a:lvl6pPr>
              <a:defRPr sz="2250" b="1">
                <a:solidFill>
                  <a:srgbClr val="245EEA"/>
                </a:solidFill>
                <a:latin typeface="Arial"/>
                <a:ea typeface="Arial"/>
                <a:cs typeface="Arial"/>
              </a:defRPr>
            </a:lvl6pPr>
            <a:lvl7pPr>
              <a:defRPr sz="2250" b="1">
                <a:solidFill>
                  <a:srgbClr val="245EEA"/>
                </a:solidFill>
                <a:latin typeface="Arial"/>
                <a:ea typeface="Arial"/>
                <a:cs typeface="Arial"/>
              </a:defRPr>
            </a:lvl7pPr>
            <a:lvl8pPr>
              <a:defRPr sz="2250" b="1">
                <a:solidFill>
                  <a:srgbClr val="245EEA"/>
                </a:solidFill>
                <a:latin typeface="Arial"/>
                <a:ea typeface="Arial"/>
                <a:cs typeface="Arial"/>
              </a:defRPr>
            </a:lvl8pPr>
            <a:lvl9pPr>
              <a:defRPr sz="2250" b="1">
                <a:solidFill>
                  <a:srgbClr val="245EEA"/>
                </a:solidFill>
                <a:latin typeface="Arial"/>
                <a:ea typeface="Arial"/>
                <a:cs typeface="Arial"/>
              </a:defRPr>
            </a:lvl9pPr>
          </a:lstStyle>
          <a:p>
            <a:pPr>
              <a:defRPr sz="2250" b="1">
                <a:solidFill>
                  <a:srgbClr val="245EEA"/>
                </a:solidFill>
                <a:latin typeface="Arial"/>
                <a:ea typeface="Arial"/>
                <a:cs typeface="Arial"/>
              </a:defRPr>
            </a:pPr>
            <a:r>
              <a:rPr sz="2250" b="1">
                <a:solidFill>
                  <a:srgbClr val="245EEA"/>
                </a:solidFill>
                <a:latin typeface="Arial"/>
                <a:ea typeface="Arial"/>
                <a:cs typeface="Arial"/>
              </a:rPr>
              <a:t>Next engineering work</a:t>
            </a:r>
          </a:p>
        </p:txBody>
      </p:sp>
      <p:sp>
        <p:nvSpPr>
          <p:cNvPr id="11" name="Rectangle 10">
            <a:extLst>
              <a:ext uri="{FF2B5EF4-FFF2-40B4-BE49-F238E27FC236}">
                <a16:creationId xmlns:a16="http://schemas.microsoft.com/office/drawing/2014/main" id="{13FE5BE7-BC79-4281-A6A4-7487E14C9129}"/>
              </a:ext>
            </a:extLst>
          </p:cNvPr>
          <p:cNvSpPr>
            <a:spLocks noGrp="1"/>
          </p:cNvSpPr>
          <p:nvPr/>
        </p:nvSpPr>
        <p:spPr>
          <a:xfrm>
            <a:off x="6572250" y="4638675"/>
            <a:ext cx="4953000" cy="1000125"/>
          </a:xfrm>
          <a:prstGeom prst="rect">
            <a:avLst/>
          </a:prstGeom>
          <a:noFill/>
          <a:ln w="0">
            <a:noFill/>
          </a:ln>
        </p:spPr>
        <p:txBody>
          <a:bodyPr wrap="square" lIns="0" tIns="0" rIns="0" bIns="0" anchor="t">
            <a:noAutofit/>
          </a:bodyPr>
          <a:lstStyle>
            <a:defPPr>
              <a:defRPr sz="2025" b="0">
                <a:solidFill>
                  <a:srgbClr val="142238"/>
                </a:solidFill>
                <a:latin typeface="Arial"/>
                <a:ea typeface="Arial"/>
                <a:cs typeface="Arial"/>
              </a:defRPr>
            </a:defPPr>
            <a:lvl1pPr>
              <a:defRPr sz="2025" b="0">
                <a:solidFill>
                  <a:srgbClr val="142238"/>
                </a:solidFill>
                <a:latin typeface="Arial"/>
                <a:ea typeface="Arial"/>
                <a:cs typeface="Arial"/>
              </a:defRPr>
            </a:lvl1pPr>
            <a:lvl2pPr>
              <a:defRPr sz="2025" b="0">
                <a:solidFill>
                  <a:srgbClr val="142238"/>
                </a:solidFill>
                <a:latin typeface="Arial"/>
                <a:ea typeface="Arial"/>
                <a:cs typeface="Arial"/>
              </a:defRPr>
            </a:lvl2pPr>
            <a:lvl3pPr>
              <a:defRPr sz="2025" b="0">
                <a:solidFill>
                  <a:srgbClr val="142238"/>
                </a:solidFill>
                <a:latin typeface="Arial"/>
                <a:ea typeface="Arial"/>
                <a:cs typeface="Arial"/>
              </a:defRPr>
            </a:lvl3pPr>
            <a:lvl4pPr>
              <a:defRPr sz="2025" b="0">
                <a:solidFill>
                  <a:srgbClr val="142238"/>
                </a:solidFill>
                <a:latin typeface="Arial"/>
                <a:ea typeface="Arial"/>
                <a:cs typeface="Arial"/>
              </a:defRPr>
            </a:lvl4pPr>
            <a:lvl5pPr>
              <a:defRPr sz="2025" b="0">
                <a:solidFill>
                  <a:srgbClr val="142238"/>
                </a:solidFill>
                <a:latin typeface="Arial"/>
                <a:ea typeface="Arial"/>
                <a:cs typeface="Arial"/>
              </a:defRPr>
            </a:lvl5pPr>
            <a:lvl6pPr>
              <a:defRPr sz="2025" b="0">
                <a:solidFill>
                  <a:srgbClr val="142238"/>
                </a:solidFill>
                <a:latin typeface="Arial"/>
                <a:ea typeface="Arial"/>
                <a:cs typeface="Arial"/>
              </a:defRPr>
            </a:lvl6pPr>
            <a:lvl7pPr>
              <a:defRPr sz="2025" b="0">
                <a:solidFill>
                  <a:srgbClr val="142238"/>
                </a:solidFill>
                <a:latin typeface="Arial"/>
                <a:ea typeface="Arial"/>
                <a:cs typeface="Arial"/>
              </a:defRPr>
            </a:lvl7pPr>
            <a:lvl8pPr>
              <a:defRPr sz="2025" b="0">
                <a:solidFill>
                  <a:srgbClr val="142238"/>
                </a:solidFill>
                <a:latin typeface="Arial"/>
                <a:ea typeface="Arial"/>
                <a:cs typeface="Arial"/>
              </a:defRPr>
            </a:lvl8pPr>
            <a:lvl9pPr>
              <a:defRPr sz="2025" b="0">
                <a:solidFill>
                  <a:srgbClr val="142238"/>
                </a:solidFill>
                <a:latin typeface="Arial"/>
                <a:ea typeface="Arial"/>
                <a:cs typeface="Arial"/>
              </a:defRPr>
            </a:lvl9pPr>
          </a:lstStyle>
          <a:p>
            <a:pPr>
              <a:defRPr sz="2025" b="0">
                <a:solidFill>
                  <a:srgbClr val="142238"/>
                </a:solidFill>
                <a:latin typeface="Arial"/>
                <a:ea typeface="Arial"/>
                <a:cs typeface="Arial"/>
              </a:defRPr>
            </a:pPr>
            <a:r>
              <a:rPr sz="2025" b="0">
                <a:solidFill>
                  <a:srgbClr val="142238"/>
                </a:solidFill>
                <a:latin typeface="Arial"/>
                <a:ea typeface="Arial"/>
                <a:cs typeface="Arial"/>
              </a:rPr>
              <a:t>Larger benchmark programs and more diagnostics for grammar extensions.</a:t>
            </a:r>
          </a:p>
        </p:txBody>
      </p:sp>
    </p:spTree>
    <p:extLst>
      <p:ext uri="{BB962C8B-B14F-4D97-AF65-F5344CB8AC3E}">
        <p14:creationId xmlns:p14="http://schemas.microsoft.com/office/powerpoint/2010/main" val="1531882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C142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0B4C420-C3CC-46CB-BF2B-8DD3702D9EC4}"/>
              </a:ext>
            </a:extLst>
          </p:cNvPr>
          <p:cNvSpPr>
            <a:spLocks noGrp="1"/>
          </p:cNvSpPr>
          <p:nvPr/>
        </p:nvSpPr>
        <p:spPr>
          <a:xfrm>
            <a:off x="609600" y="457200"/>
            <a:ext cx="10972800" cy="666750"/>
          </a:xfrm>
          <a:prstGeom prst="rect">
            <a:avLst/>
          </a:prstGeom>
          <a:noFill/>
          <a:ln w="0">
            <a:noFill/>
          </a:ln>
        </p:spPr>
        <p:txBody>
          <a:bodyPr wrap="square" lIns="0" tIns="0" rIns="0" bIns="0" anchor="t">
            <a:noAutofit/>
          </a:bodyPr>
          <a:lstStyle>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a:pPr>
              <a:defRPr sz="3450" b="1">
                <a:solidFill>
                  <a:srgbClr val="FFFFFF"/>
                </a:solidFill>
                <a:latin typeface="Arial"/>
                <a:ea typeface="Arial"/>
                <a:cs typeface="Arial"/>
              </a:defRPr>
            </a:pPr>
            <a:r>
              <a:rPr sz="3450" b="1">
                <a:solidFill>
                  <a:srgbClr val="FFFFFF"/>
                </a:solidFill>
                <a:latin typeface="Arial"/>
                <a:ea typeface="Arial"/>
                <a:cs typeface="Arial"/>
              </a:rPr>
              <a:t>What Polyglot demonstrates</a:t>
            </a:r>
          </a:p>
        </p:txBody>
      </p:sp>
      <p:sp>
        <p:nvSpPr>
          <p:cNvPr id="2" name="Rectangle 1">
            <a:extLst>
              <a:ext uri="{FF2B5EF4-FFF2-40B4-BE49-F238E27FC236}">
                <a16:creationId xmlns:a16="http://schemas.microsoft.com/office/drawing/2014/main" id="{64196E40-C6CB-4472-BC8A-CA0E72945E50}"/>
              </a:ext>
            </a:extLst>
          </p:cNvPr>
          <p:cNvSpPr>
            <a:spLocks noGrp="1"/>
          </p:cNvSpPr>
          <p:nvPr/>
        </p:nvSpPr>
        <p:spPr>
          <a:xfrm>
            <a:off x="628650" y="1200150"/>
            <a:ext cx="10934700" cy="495300"/>
          </a:xfrm>
          <a:prstGeom prst="rect">
            <a:avLst/>
          </a:prstGeom>
          <a:noFill/>
          <a:ln w="0">
            <a:noFill/>
          </a:ln>
        </p:spPr>
        <p:txBody>
          <a:bodyPr wrap="square" lIns="0" tIns="0" rIns="0" bIns="0" anchor="t">
            <a:noAutofit/>
          </a:bodyPr>
          <a:lstStyle>
            <a:defPPr>
              <a:defRPr sz="1875" b="0">
                <a:solidFill>
                  <a:srgbClr val="B7C6DB"/>
                </a:solidFill>
                <a:latin typeface="Arial"/>
                <a:ea typeface="Arial"/>
                <a:cs typeface="Arial"/>
              </a:defRPr>
            </a:defPPr>
            <a:lvl1pPr>
              <a:defRPr sz="1875" b="0">
                <a:solidFill>
                  <a:srgbClr val="B7C6DB"/>
                </a:solidFill>
                <a:latin typeface="Arial"/>
                <a:ea typeface="Arial"/>
                <a:cs typeface="Arial"/>
              </a:defRPr>
            </a:lvl1pPr>
            <a:lvl2pPr>
              <a:defRPr sz="1875" b="0">
                <a:solidFill>
                  <a:srgbClr val="B7C6DB"/>
                </a:solidFill>
                <a:latin typeface="Arial"/>
                <a:ea typeface="Arial"/>
                <a:cs typeface="Arial"/>
              </a:defRPr>
            </a:lvl2pPr>
            <a:lvl3pPr>
              <a:defRPr sz="1875" b="0">
                <a:solidFill>
                  <a:srgbClr val="B7C6DB"/>
                </a:solidFill>
                <a:latin typeface="Arial"/>
                <a:ea typeface="Arial"/>
                <a:cs typeface="Arial"/>
              </a:defRPr>
            </a:lvl3pPr>
            <a:lvl4pPr>
              <a:defRPr sz="1875" b="0">
                <a:solidFill>
                  <a:srgbClr val="B7C6DB"/>
                </a:solidFill>
                <a:latin typeface="Arial"/>
                <a:ea typeface="Arial"/>
                <a:cs typeface="Arial"/>
              </a:defRPr>
            </a:lvl4pPr>
            <a:lvl5pPr>
              <a:defRPr sz="1875" b="0">
                <a:solidFill>
                  <a:srgbClr val="B7C6DB"/>
                </a:solidFill>
                <a:latin typeface="Arial"/>
                <a:ea typeface="Arial"/>
                <a:cs typeface="Arial"/>
              </a:defRPr>
            </a:lvl5pPr>
            <a:lvl6pPr>
              <a:defRPr sz="1875" b="0">
                <a:solidFill>
                  <a:srgbClr val="B7C6DB"/>
                </a:solidFill>
                <a:latin typeface="Arial"/>
                <a:ea typeface="Arial"/>
                <a:cs typeface="Arial"/>
              </a:defRPr>
            </a:lvl6pPr>
            <a:lvl7pPr>
              <a:defRPr sz="1875" b="0">
                <a:solidFill>
                  <a:srgbClr val="B7C6DB"/>
                </a:solidFill>
                <a:latin typeface="Arial"/>
                <a:ea typeface="Arial"/>
                <a:cs typeface="Arial"/>
              </a:defRPr>
            </a:lvl7pPr>
            <a:lvl8pPr>
              <a:defRPr sz="1875" b="0">
                <a:solidFill>
                  <a:srgbClr val="B7C6DB"/>
                </a:solidFill>
                <a:latin typeface="Arial"/>
                <a:ea typeface="Arial"/>
                <a:cs typeface="Arial"/>
              </a:defRPr>
            </a:lvl8pPr>
            <a:lvl9pPr>
              <a:defRPr sz="1875" b="0">
                <a:solidFill>
                  <a:srgbClr val="B7C6DB"/>
                </a:solidFill>
                <a:latin typeface="Arial"/>
                <a:ea typeface="Arial"/>
                <a:cs typeface="Arial"/>
              </a:defRPr>
            </a:lvl9pPr>
          </a:lstStyle>
          <a:p>
            <a:pPr>
              <a:defRPr sz="1875" b="0">
                <a:solidFill>
                  <a:srgbClr val="B7C6DB"/>
                </a:solidFill>
                <a:latin typeface="Arial"/>
                <a:ea typeface="Arial"/>
                <a:cs typeface="Arial"/>
              </a:defRPr>
            </a:pPr>
            <a:r>
              <a:rPr sz="1875" b="0">
                <a:solidFill>
                  <a:srgbClr val="B7C6DB"/>
                </a:solidFill>
                <a:latin typeface="Arial"/>
                <a:ea typeface="Arial"/>
                <a:cs typeface="Arial"/>
              </a:rPr>
              <a:t>A complete compiler pipeline for a defined mixed-syntax language</a:t>
            </a:r>
          </a:p>
        </p:txBody>
      </p:sp>
      <p:sp>
        <p:nvSpPr>
          <p:cNvPr id="3" name="Rectangle 2">
            <a:extLst>
              <a:ext uri="{FF2B5EF4-FFF2-40B4-BE49-F238E27FC236}">
                <a16:creationId xmlns:a16="http://schemas.microsoft.com/office/drawing/2014/main" id="{8448E70D-7576-4326-80AE-61A4ECF9BE0F}"/>
              </a:ext>
            </a:extLst>
          </p:cNvPr>
          <p:cNvSpPr>
            <a:spLocks noGrp="1"/>
          </p:cNvSpPr>
          <p:nvPr/>
        </p:nvSpPr>
        <p:spPr>
          <a:xfrm>
            <a:off x="11191875" y="6410325"/>
            <a:ext cx="381000" cy="209550"/>
          </a:xfrm>
          <a:prstGeom prst="rect">
            <a:avLst/>
          </a:prstGeom>
          <a:noFill/>
          <a:ln w="0">
            <a:noFill/>
          </a:ln>
        </p:spPr>
        <p:txBody>
          <a:bodyPr wrap="square" lIns="0" tIns="0" rIns="0" bIns="0" anchor="t">
            <a:noAutofit/>
          </a:bodyPr>
          <a:lstStyle>
            <a:defPPr>
              <a:defRPr sz="1125" b="0">
                <a:solidFill>
                  <a:srgbClr val="8A9BB3"/>
                </a:solidFill>
                <a:latin typeface="Arial"/>
                <a:ea typeface="Arial"/>
                <a:cs typeface="Arial"/>
              </a:defRPr>
            </a:defPPr>
            <a:lvl1pPr>
              <a:defRPr sz="1125" b="0">
                <a:solidFill>
                  <a:srgbClr val="8A9BB3"/>
                </a:solidFill>
                <a:latin typeface="Arial"/>
                <a:ea typeface="Arial"/>
                <a:cs typeface="Arial"/>
              </a:defRPr>
            </a:lvl1pPr>
            <a:lvl2pPr>
              <a:defRPr sz="1125" b="0">
                <a:solidFill>
                  <a:srgbClr val="8A9BB3"/>
                </a:solidFill>
                <a:latin typeface="Arial"/>
                <a:ea typeface="Arial"/>
                <a:cs typeface="Arial"/>
              </a:defRPr>
            </a:lvl2pPr>
            <a:lvl3pPr>
              <a:defRPr sz="1125" b="0">
                <a:solidFill>
                  <a:srgbClr val="8A9BB3"/>
                </a:solidFill>
                <a:latin typeface="Arial"/>
                <a:ea typeface="Arial"/>
                <a:cs typeface="Arial"/>
              </a:defRPr>
            </a:lvl3pPr>
            <a:lvl4pPr>
              <a:defRPr sz="1125" b="0">
                <a:solidFill>
                  <a:srgbClr val="8A9BB3"/>
                </a:solidFill>
                <a:latin typeface="Arial"/>
                <a:ea typeface="Arial"/>
                <a:cs typeface="Arial"/>
              </a:defRPr>
            </a:lvl4pPr>
            <a:lvl5pPr>
              <a:defRPr sz="1125" b="0">
                <a:solidFill>
                  <a:srgbClr val="8A9BB3"/>
                </a:solidFill>
                <a:latin typeface="Arial"/>
                <a:ea typeface="Arial"/>
                <a:cs typeface="Arial"/>
              </a:defRPr>
            </a:lvl5pPr>
            <a:lvl6pPr>
              <a:defRPr sz="1125" b="0">
                <a:solidFill>
                  <a:srgbClr val="8A9BB3"/>
                </a:solidFill>
                <a:latin typeface="Arial"/>
                <a:ea typeface="Arial"/>
                <a:cs typeface="Arial"/>
              </a:defRPr>
            </a:lvl6pPr>
            <a:lvl7pPr>
              <a:defRPr sz="1125" b="0">
                <a:solidFill>
                  <a:srgbClr val="8A9BB3"/>
                </a:solidFill>
                <a:latin typeface="Arial"/>
                <a:ea typeface="Arial"/>
                <a:cs typeface="Arial"/>
              </a:defRPr>
            </a:lvl7pPr>
            <a:lvl8pPr>
              <a:defRPr sz="1125" b="0">
                <a:solidFill>
                  <a:srgbClr val="8A9BB3"/>
                </a:solidFill>
                <a:latin typeface="Arial"/>
                <a:ea typeface="Arial"/>
                <a:cs typeface="Arial"/>
              </a:defRPr>
            </a:lvl8pPr>
            <a:lvl9pPr>
              <a:defRPr sz="1125" b="0">
                <a:solidFill>
                  <a:srgbClr val="8A9BB3"/>
                </a:solidFill>
                <a:latin typeface="Arial"/>
                <a:ea typeface="Arial"/>
                <a:cs typeface="Arial"/>
              </a:defRPr>
            </a:lvl9pPr>
          </a:lstStyle>
          <a:p>
            <a:pPr>
              <a:defRPr sz="1125" b="0">
                <a:solidFill>
                  <a:srgbClr val="8A9BB3"/>
                </a:solidFill>
                <a:latin typeface="Arial"/>
                <a:ea typeface="Arial"/>
                <a:cs typeface="Arial"/>
              </a:defRPr>
            </a:pPr>
            <a:r>
              <a:rPr sz="1125" b="0">
                <a:solidFill>
                  <a:srgbClr val="8A9BB3"/>
                </a:solidFill>
                <a:latin typeface="Arial"/>
                <a:ea typeface="Arial"/>
                <a:cs typeface="Arial"/>
              </a:rPr>
              <a:t>25</a:t>
            </a:r>
          </a:p>
        </p:txBody>
      </p:sp>
      <p:sp>
        <p:nvSpPr>
          <p:cNvPr id="4" name="Rectangle 3">
            <a:extLst>
              <a:ext uri="{FF2B5EF4-FFF2-40B4-BE49-F238E27FC236}">
                <a16:creationId xmlns:a16="http://schemas.microsoft.com/office/drawing/2014/main" id="{D5AA2737-5F69-4F68-A3BE-94920DB53AC2}"/>
              </a:ext>
            </a:extLst>
          </p:cNvPr>
          <p:cNvSpPr>
            <a:spLocks noGrp="1"/>
          </p:cNvSpPr>
          <p:nvPr/>
        </p:nvSpPr>
        <p:spPr>
          <a:xfrm>
            <a:off x="609600" y="2276475"/>
            <a:ext cx="10763250" cy="638175"/>
          </a:xfrm>
          <a:prstGeom prst="rect">
            <a:avLst/>
          </a:prstGeom>
          <a:noFill/>
          <a:ln w="0">
            <a:noFill/>
          </a:ln>
        </p:spPr>
        <p:txBody>
          <a:bodyPr wrap="square" lIns="0" tIns="0" rIns="0" bIns="0" anchor="t">
            <a:noAutofit/>
          </a:bodyPr>
          <a:lstStyle>
            <a:defPPr>
              <a:defRPr sz="3900" b="1">
                <a:solidFill>
                  <a:srgbClr val="FFFFFF"/>
                </a:solidFill>
                <a:latin typeface="Arial"/>
                <a:ea typeface="Arial"/>
                <a:cs typeface="Arial"/>
              </a:defRPr>
            </a:defPPr>
            <a:lvl1pPr>
              <a:defRPr sz="3900" b="1">
                <a:solidFill>
                  <a:srgbClr val="FFFFFF"/>
                </a:solidFill>
                <a:latin typeface="Arial"/>
                <a:ea typeface="Arial"/>
                <a:cs typeface="Arial"/>
              </a:defRPr>
            </a:lvl1pPr>
            <a:lvl2pPr>
              <a:defRPr sz="3900" b="1">
                <a:solidFill>
                  <a:srgbClr val="FFFFFF"/>
                </a:solidFill>
                <a:latin typeface="Arial"/>
                <a:ea typeface="Arial"/>
                <a:cs typeface="Arial"/>
              </a:defRPr>
            </a:lvl2pPr>
            <a:lvl3pPr>
              <a:defRPr sz="3900" b="1">
                <a:solidFill>
                  <a:srgbClr val="FFFFFF"/>
                </a:solidFill>
                <a:latin typeface="Arial"/>
                <a:ea typeface="Arial"/>
                <a:cs typeface="Arial"/>
              </a:defRPr>
            </a:lvl3pPr>
            <a:lvl4pPr>
              <a:defRPr sz="3900" b="1">
                <a:solidFill>
                  <a:srgbClr val="FFFFFF"/>
                </a:solidFill>
                <a:latin typeface="Arial"/>
                <a:ea typeface="Arial"/>
                <a:cs typeface="Arial"/>
              </a:defRPr>
            </a:lvl4pPr>
            <a:lvl5pPr>
              <a:defRPr sz="3900" b="1">
                <a:solidFill>
                  <a:srgbClr val="FFFFFF"/>
                </a:solidFill>
                <a:latin typeface="Arial"/>
                <a:ea typeface="Arial"/>
                <a:cs typeface="Arial"/>
              </a:defRPr>
            </a:lvl5pPr>
            <a:lvl6pPr>
              <a:defRPr sz="3900" b="1">
                <a:solidFill>
                  <a:srgbClr val="FFFFFF"/>
                </a:solidFill>
                <a:latin typeface="Arial"/>
                <a:ea typeface="Arial"/>
                <a:cs typeface="Arial"/>
              </a:defRPr>
            </a:lvl6pPr>
            <a:lvl7pPr>
              <a:defRPr sz="3900" b="1">
                <a:solidFill>
                  <a:srgbClr val="FFFFFF"/>
                </a:solidFill>
                <a:latin typeface="Arial"/>
                <a:ea typeface="Arial"/>
                <a:cs typeface="Arial"/>
              </a:defRPr>
            </a:lvl7pPr>
            <a:lvl8pPr>
              <a:defRPr sz="3900" b="1">
                <a:solidFill>
                  <a:srgbClr val="FFFFFF"/>
                </a:solidFill>
                <a:latin typeface="Arial"/>
                <a:ea typeface="Arial"/>
                <a:cs typeface="Arial"/>
              </a:defRPr>
            </a:lvl8pPr>
            <a:lvl9pPr>
              <a:defRPr sz="3900" b="1">
                <a:solidFill>
                  <a:srgbClr val="FFFFFF"/>
                </a:solidFill>
                <a:latin typeface="Arial"/>
                <a:ea typeface="Arial"/>
                <a:cs typeface="Arial"/>
              </a:defRPr>
            </a:lvl9pPr>
          </a:lstStyle>
          <a:p>
            <a:pPr>
              <a:defRPr sz="3900" b="1">
                <a:solidFill>
                  <a:srgbClr val="FFFFFF"/>
                </a:solidFill>
                <a:latin typeface="Arial"/>
                <a:ea typeface="Arial"/>
                <a:cs typeface="Arial"/>
              </a:defRPr>
            </a:pPr>
            <a:r>
              <a:rPr sz="3900" b="1">
                <a:solidFill>
                  <a:srgbClr val="FFFFFF"/>
                </a:solidFill>
                <a:latin typeface="Arial"/>
                <a:ea typeface="Arial"/>
                <a:cs typeface="Arial"/>
              </a:rPr>
              <a:t>One shared semantic model</a:t>
            </a:r>
          </a:p>
        </p:txBody>
      </p:sp>
      <p:sp>
        <p:nvSpPr>
          <p:cNvPr id="5" name="Rectangle 4">
            <a:extLst>
              <a:ext uri="{FF2B5EF4-FFF2-40B4-BE49-F238E27FC236}">
                <a16:creationId xmlns:a16="http://schemas.microsoft.com/office/drawing/2014/main" id="{EE7AFDA7-54AD-4576-ADA7-59A3D3ED9CFD}"/>
              </a:ext>
            </a:extLst>
          </p:cNvPr>
          <p:cNvSpPr>
            <a:spLocks noGrp="1"/>
          </p:cNvSpPr>
          <p:nvPr/>
        </p:nvSpPr>
        <p:spPr>
          <a:xfrm>
            <a:off x="609600" y="3333750"/>
            <a:ext cx="10763250" cy="638175"/>
          </a:xfrm>
          <a:prstGeom prst="rect">
            <a:avLst/>
          </a:prstGeom>
          <a:noFill/>
          <a:ln w="0">
            <a:noFill/>
          </a:ln>
        </p:spPr>
        <p:txBody>
          <a:bodyPr wrap="square" lIns="0" tIns="0" rIns="0" bIns="0" anchor="t">
            <a:noAutofit/>
          </a:bodyPr>
          <a:lstStyle>
            <a:defPPr>
              <a:defRPr sz="3900" b="1">
                <a:solidFill>
                  <a:srgbClr val="44DDBB"/>
                </a:solidFill>
                <a:latin typeface="Arial"/>
                <a:ea typeface="Arial"/>
                <a:cs typeface="Arial"/>
              </a:defRPr>
            </a:defPPr>
            <a:lvl1pPr>
              <a:defRPr sz="3900" b="1">
                <a:solidFill>
                  <a:srgbClr val="44DDBB"/>
                </a:solidFill>
                <a:latin typeface="Arial"/>
                <a:ea typeface="Arial"/>
                <a:cs typeface="Arial"/>
              </a:defRPr>
            </a:lvl1pPr>
            <a:lvl2pPr>
              <a:defRPr sz="3900" b="1">
                <a:solidFill>
                  <a:srgbClr val="44DDBB"/>
                </a:solidFill>
                <a:latin typeface="Arial"/>
                <a:ea typeface="Arial"/>
                <a:cs typeface="Arial"/>
              </a:defRPr>
            </a:lvl2pPr>
            <a:lvl3pPr>
              <a:defRPr sz="3900" b="1">
                <a:solidFill>
                  <a:srgbClr val="44DDBB"/>
                </a:solidFill>
                <a:latin typeface="Arial"/>
                <a:ea typeface="Arial"/>
                <a:cs typeface="Arial"/>
              </a:defRPr>
            </a:lvl3pPr>
            <a:lvl4pPr>
              <a:defRPr sz="3900" b="1">
                <a:solidFill>
                  <a:srgbClr val="44DDBB"/>
                </a:solidFill>
                <a:latin typeface="Arial"/>
                <a:ea typeface="Arial"/>
                <a:cs typeface="Arial"/>
              </a:defRPr>
            </a:lvl4pPr>
            <a:lvl5pPr>
              <a:defRPr sz="3900" b="1">
                <a:solidFill>
                  <a:srgbClr val="44DDBB"/>
                </a:solidFill>
                <a:latin typeface="Arial"/>
                <a:ea typeface="Arial"/>
                <a:cs typeface="Arial"/>
              </a:defRPr>
            </a:lvl5pPr>
            <a:lvl6pPr>
              <a:defRPr sz="3900" b="1">
                <a:solidFill>
                  <a:srgbClr val="44DDBB"/>
                </a:solidFill>
                <a:latin typeface="Arial"/>
                <a:ea typeface="Arial"/>
                <a:cs typeface="Arial"/>
              </a:defRPr>
            </a:lvl6pPr>
            <a:lvl7pPr>
              <a:defRPr sz="3900" b="1">
                <a:solidFill>
                  <a:srgbClr val="44DDBB"/>
                </a:solidFill>
                <a:latin typeface="Arial"/>
                <a:ea typeface="Arial"/>
                <a:cs typeface="Arial"/>
              </a:defRPr>
            </a:lvl7pPr>
            <a:lvl8pPr>
              <a:defRPr sz="3900" b="1">
                <a:solidFill>
                  <a:srgbClr val="44DDBB"/>
                </a:solidFill>
                <a:latin typeface="Arial"/>
                <a:ea typeface="Arial"/>
                <a:cs typeface="Arial"/>
              </a:defRPr>
            </a:lvl8pPr>
            <a:lvl9pPr>
              <a:defRPr sz="3900" b="1">
                <a:solidFill>
                  <a:srgbClr val="44DDBB"/>
                </a:solidFill>
                <a:latin typeface="Arial"/>
                <a:ea typeface="Arial"/>
                <a:cs typeface="Arial"/>
              </a:defRPr>
            </a:lvl9pPr>
          </a:lstStyle>
          <a:p>
            <a:pPr>
              <a:defRPr sz="3900" b="1">
                <a:solidFill>
                  <a:srgbClr val="44DDBB"/>
                </a:solidFill>
                <a:latin typeface="Arial"/>
                <a:ea typeface="Arial"/>
                <a:cs typeface="Arial"/>
              </a:defRPr>
            </a:pPr>
            <a:r>
              <a:rPr sz="3900" b="1">
                <a:solidFill>
                  <a:srgbClr val="44DDBB"/>
                </a:solidFill>
                <a:latin typeface="Arial"/>
                <a:ea typeface="Arial"/>
                <a:cs typeface="Arial"/>
              </a:rPr>
              <a:t>Actual IR optimization</a:t>
            </a:r>
          </a:p>
        </p:txBody>
      </p:sp>
      <p:sp>
        <p:nvSpPr>
          <p:cNvPr id="6" name="Rectangle 5">
            <a:extLst>
              <a:ext uri="{FF2B5EF4-FFF2-40B4-BE49-F238E27FC236}">
                <a16:creationId xmlns:a16="http://schemas.microsoft.com/office/drawing/2014/main" id="{7434661A-505A-4EAE-9B89-C7136633E714}"/>
              </a:ext>
            </a:extLst>
          </p:cNvPr>
          <p:cNvSpPr>
            <a:spLocks noGrp="1"/>
          </p:cNvSpPr>
          <p:nvPr/>
        </p:nvSpPr>
        <p:spPr>
          <a:xfrm>
            <a:off x="609600" y="4391025"/>
            <a:ext cx="10763250" cy="638175"/>
          </a:xfrm>
          <a:prstGeom prst="rect">
            <a:avLst/>
          </a:prstGeom>
          <a:noFill/>
          <a:ln w="0">
            <a:noFill/>
          </a:ln>
        </p:spPr>
        <p:txBody>
          <a:bodyPr wrap="square" lIns="0" tIns="0" rIns="0" bIns="0" anchor="t">
            <a:noAutofit/>
          </a:bodyPr>
          <a:lstStyle>
            <a:defPPr>
              <a:defRPr sz="3900" b="1">
                <a:solidFill>
                  <a:srgbClr val="FFFFFF"/>
                </a:solidFill>
                <a:latin typeface="Arial"/>
                <a:ea typeface="Arial"/>
                <a:cs typeface="Arial"/>
              </a:defRPr>
            </a:defPPr>
            <a:lvl1pPr>
              <a:defRPr sz="3900" b="1">
                <a:solidFill>
                  <a:srgbClr val="FFFFFF"/>
                </a:solidFill>
                <a:latin typeface="Arial"/>
                <a:ea typeface="Arial"/>
                <a:cs typeface="Arial"/>
              </a:defRPr>
            </a:lvl1pPr>
            <a:lvl2pPr>
              <a:defRPr sz="3900" b="1">
                <a:solidFill>
                  <a:srgbClr val="FFFFFF"/>
                </a:solidFill>
                <a:latin typeface="Arial"/>
                <a:ea typeface="Arial"/>
                <a:cs typeface="Arial"/>
              </a:defRPr>
            </a:lvl2pPr>
            <a:lvl3pPr>
              <a:defRPr sz="3900" b="1">
                <a:solidFill>
                  <a:srgbClr val="FFFFFF"/>
                </a:solidFill>
                <a:latin typeface="Arial"/>
                <a:ea typeface="Arial"/>
                <a:cs typeface="Arial"/>
              </a:defRPr>
            </a:lvl3pPr>
            <a:lvl4pPr>
              <a:defRPr sz="3900" b="1">
                <a:solidFill>
                  <a:srgbClr val="FFFFFF"/>
                </a:solidFill>
                <a:latin typeface="Arial"/>
                <a:ea typeface="Arial"/>
                <a:cs typeface="Arial"/>
              </a:defRPr>
            </a:lvl4pPr>
            <a:lvl5pPr>
              <a:defRPr sz="3900" b="1">
                <a:solidFill>
                  <a:srgbClr val="FFFFFF"/>
                </a:solidFill>
                <a:latin typeface="Arial"/>
                <a:ea typeface="Arial"/>
                <a:cs typeface="Arial"/>
              </a:defRPr>
            </a:lvl5pPr>
            <a:lvl6pPr>
              <a:defRPr sz="3900" b="1">
                <a:solidFill>
                  <a:srgbClr val="FFFFFF"/>
                </a:solidFill>
                <a:latin typeface="Arial"/>
                <a:ea typeface="Arial"/>
                <a:cs typeface="Arial"/>
              </a:defRPr>
            </a:lvl6pPr>
            <a:lvl7pPr>
              <a:defRPr sz="3900" b="1">
                <a:solidFill>
                  <a:srgbClr val="FFFFFF"/>
                </a:solidFill>
                <a:latin typeface="Arial"/>
                <a:ea typeface="Arial"/>
                <a:cs typeface="Arial"/>
              </a:defRPr>
            </a:lvl7pPr>
            <a:lvl8pPr>
              <a:defRPr sz="3900" b="1">
                <a:solidFill>
                  <a:srgbClr val="FFFFFF"/>
                </a:solidFill>
                <a:latin typeface="Arial"/>
                <a:ea typeface="Arial"/>
                <a:cs typeface="Arial"/>
              </a:defRPr>
            </a:lvl8pPr>
            <a:lvl9pPr>
              <a:defRPr sz="3900" b="1">
                <a:solidFill>
                  <a:srgbClr val="FFFFFF"/>
                </a:solidFill>
                <a:latin typeface="Arial"/>
                <a:ea typeface="Arial"/>
                <a:cs typeface="Arial"/>
              </a:defRPr>
            </a:lvl9pPr>
          </a:lstStyle>
          <a:p>
            <a:pPr>
              <a:defRPr sz="3900" b="1">
                <a:solidFill>
                  <a:srgbClr val="FFFFFF"/>
                </a:solidFill>
                <a:latin typeface="Arial"/>
                <a:ea typeface="Arial"/>
                <a:cs typeface="Arial"/>
              </a:defRPr>
            </a:pPr>
            <a:r>
              <a:rPr sz="3900" b="1">
                <a:solidFill>
                  <a:srgbClr val="FFFFFF"/>
                </a:solidFill>
                <a:latin typeface="Arial"/>
                <a:ea typeface="Arial"/>
                <a:cs typeface="Arial"/>
              </a:rPr>
              <a:t>Independent bytecode execution</a:t>
            </a:r>
          </a:p>
        </p:txBody>
      </p:sp>
      <p:sp>
        <p:nvSpPr>
          <p:cNvPr id="7" name="Rectangle 6">
            <a:extLst>
              <a:ext uri="{FF2B5EF4-FFF2-40B4-BE49-F238E27FC236}">
                <a16:creationId xmlns:a16="http://schemas.microsoft.com/office/drawing/2014/main" id="{7D658FF3-7AF0-4CC0-922A-64C0B4A9A8BB}"/>
              </a:ext>
            </a:extLst>
          </p:cNvPr>
          <p:cNvSpPr>
            <a:spLocks noGrp="1"/>
          </p:cNvSpPr>
          <p:nvPr/>
        </p:nvSpPr>
        <p:spPr>
          <a:xfrm>
            <a:off x="628650" y="5695950"/>
            <a:ext cx="10477500" cy="590550"/>
          </a:xfrm>
          <a:prstGeom prst="rect">
            <a:avLst/>
          </a:prstGeom>
          <a:noFill/>
          <a:ln w="0">
            <a:noFill/>
          </a:ln>
        </p:spPr>
        <p:txBody>
          <a:bodyPr wrap="square" lIns="0" tIns="0" rIns="0" bIns="0" anchor="t">
            <a:noAutofit/>
          </a:bodyPr>
          <a:lstStyle>
            <a:defPPr>
              <a:defRPr sz="1950" b="0">
                <a:solidFill>
                  <a:srgbClr val="BCCCE1"/>
                </a:solidFill>
                <a:latin typeface="Arial"/>
                <a:ea typeface="Arial"/>
                <a:cs typeface="Arial"/>
              </a:defRPr>
            </a:defPPr>
            <a:lvl1pPr>
              <a:defRPr sz="1950" b="0">
                <a:solidFill>
                  <a:srgbClr val="BCCCE1"/>
                </a:solidFill>
                <a:latin typeface="Arial"/>
                <a:ea typeface="Arial"/>
                <a:cs typeface="Arial"/>
              </a:defRPr>
            </a:lvl1pPr>
            <a:lvl2pPr>
              <a:defRPr sz="1950" b="0">
                <a:solidFill>
                  <a:srgbClr val="BCCCE1"/>
                </a:solidFill>
                <a:latin typeface="Arial"/>
                <a:ea typeface="Arial"/>
                <a:cs typeface="Arial"/>
              </a:defRPr>
            </a:lvl2pPr>
            <a:lvl3pPr>
              <a:defRPr sz="1950" b="0">
                <a:solidFill>
                  <a:srgbClr val="BCCCE1"/>
                </a:solidFill>
                <a:latin typeface="Arial"/>
                <a:ea typeface="Arial"/>
                <a:cs typeface="Arial"/>
              </a:defRPr>
            </a:lvl3pPr>
            <a:lvl4pPr>
              <a:defRPr sz="1950" b="0">
                <a:solidFill>
                  <a:srgbClr val="BCCCE1"/>
                </a:solidFill>
                <a:latin typeface="Arial"/>
                <a:ea typeface="Arial"/>
                <a:cs typeface="Arial"/>
              </a:defRPr>
            </a:lvl4pPr>
            <a:lvl5pPr>
              <a:defRPr sz="1950" b="0">
                <a:solidFill>
                  <a:srgbClr val="BCCCE1"/>
                </a:solidFill>
                <a:latin typeface="Arial"/>
                <a:ea typeface="Arial"/>
                <a:cs typeface="Arial"/>
              </a:defRPr>
            </a:lvl5pPr>
            <a:lvl6pPr>
              <a:defRPr sz="1950" b="0">
                <a:solidFill>
                  <a:srgbClr val="BCCCE1"/>
                </a:solidFill>
                <a:latin typeface="Arial"/>
                <a:ea typeface="Arial"/>
                <a:cs typeface="Arial"/>
              </a:defRPr>
            </a:lvl6pPr>
            <a:lvl7pPr>
              <a:defRPr sz="1950" b="0">
                <a:solidFill>
                  <a:srgbClr val="BCCCE1"/>
                </a:solidFill>
                <a:latin typeface="Arial"/>
                <a:ea typeface="Arial"/>
                <a:cs typeface="Arial"/>
              </a:defRPr>
            </a:lvl7pPr>
            <a:lvl8pPr>
              <a:defRPr sz="1950" b="0">
                <a:solidFill>
                  <a:srgbClr val="BCCCE1"/>
                </a:solidFill>
                <a:latin typeface="Arial"/>
                <a:ea typeface="Arial"/>
                <a:cs typeface="Arial"/>
              </a:defRPr>
            </a:lvl8pPr>
            <a:lvl9pPr>
              <a:defRPr sz="1950" b="0">
                <a:solidFill>
                  <a:srgbClr val="BCCCE1"/>
                </a:solidFill>
                <a:latin typeface="Arial"/>
                <a:ea typeface="Arial"/>
                <a:cs typeface="Arial"/>
              </a:defRPr>
            </a:lvl9pPr>
          </a:lstStyle>
          <a:p>
            <a:pPr>
              <a:defRPr sz="1950" b="0">
                <a:solidFill>
                  <a:srgbClr val="BCCCE1"/>
                </a:solidFill>
                <a:latin typeface="Arial"/>
                <a:ea typeface="Arial"/>
                <a:cs typeface="Arial"/>
              </a:defRPr>
            </a:pPr>
            <a:r>
              <a:rPr sz="1950" b="0">
                <a:solidFill>
                  <a:srgbClr val="BCCCE1"/>
                </a:solidFill>
                <a:latin typeface="Arial"/>
                <a:ea typeface="Arial"/>
                <a:cs typeface="Arial"/>
              </a:rPr>
              <a:t>Working evidence is available in the editor, compiler stages, tests and artifacts.</a:t>
            </a:r>
          </a:p>
        </p:txBody>
      </p:sp>
    </p:spTree>
    <p:extLst>
      <p:ext uri="{BB962C8B-B14F-4D97-AF65-F5344CB8AC3E}">
        <p14:creationId xmlns:p14="http://schemas.microsoft.com/office/powerpoint/2010/main" val="36171988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5358</Words>
  <Application>Microsoft Macintosh PowerPoint</Application>
  <DocSecurity>0</DocSecurity>
  <PresentationFormat>Widescreen</PresentationFormat>
  <Paragraphs>440</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Arial</vt:lpstr>
      <vt:lpstr>Courier New</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Umang Nagaji Vekariya</cp:lastModifiedBy>
  <cp:revision>1</cp:revision>
  <dcterms:created xsi:type="dcterms:W3CDTF">2026-10-26T05:02:03Z</dcterms:created>
  <dcterms:modified xsi:type="dcterms:W3CDTF">2026-10-26T06:22:04Z</dcterms:modified>
</cp:coreProperties>
</file>