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24266eeea174c62" /><Relationship Type="http://schemas.openxmlformats.org/officeDocument/2006/relationships/extended-properties" Target="/docProps/app.xml" Id="R7ea6dd1813ad4568" /><Relationship Type="http://schemas.openxmlformats.org/officeDocument/2006/relationships/officeDocument" Target="/ppt/presentation.xml" Id="R521a45e360654a42" /></Relationships>
</file>

<file path=ppt/presentation.xml><?xml version="1.0" encoding="utf-8"?>
<p:presentation xmlns:p="http://schemas.openxmlformats.org/presentationml/2006/main">
  <p:sldMasterIdLst>
    <p:sldMasterId xmlns:r="http://schemas.openxmlformats.org/officeDocument/2006/relationships" id="2147483648" r:id="R7c8868f5c5b14802"/>
  </p:sldMasterIdLst>
  <p:notesMasterIdLst>
    <p:notesMasterId xmlns:r="http://schemas.openxmlformats.org/officeDocument/2006/relationships" r:id="R0280b741828f48ab"/>
  </p:notesMasterIdLst>
  <p:sldIdLst>
    <p:sldId xmlns:r="http://schemas.openxmlformats.org/officeDocument/2006/relationships" id="256" r:id="R63f53c0594744e7c"/>
    <p:sldId xmlns:r="http://schemas.openxmlformats.org/officeDocument/2006/relationships" id="257" r:id="Rfc45db97d5064064"/>
    <p:sldId xmlns:r="http://schemas.openxmlformats.org/officeDocument/2006/relationships" id="258" r:id="R7818316657da419f"/>
    <p:sldId xmlns:r="http://schemas.openxmlformats.org/officeDocument/2006/relationships" id="259" r:id="Rfa7462501f5341b7"/>
    <p:sldId xmlns:r="http://schemas.openxmlformats.org/officeDocument/2006/relationships" id="260" r:id="Rdebe61af94b1496d"/>
    <p:sldId xmlns:r="http://schemas.openxmlformats.org/officeDocument/2006/relationships" id="261" r:id="Rcf1edeca15ae4951"/>
    <p:sldId xmlns:r="http://schemas.openxmlformats.org/officeDocument/2006/relationships" id="262" r:id="R0e5053cfc42646d7"/>
    <p:sldId xmlns:r="http://schemas.openxmlformats.org/officeDocument/2006/relationships" id="263" r:id="R5abdd08cc5e34817"/>
    <p:sldId xmlns:r="http://schemas.openxmlformats.org/officeDocument/2006/relationships" id="264" r:id="Rbab7973c6ebc46ab"/>
    <p:sldId xmlns:r="http://schemas.openxmlformats.org/officeDocument/2006/relationships" id="265" r:id="Rce73eebdc3344d65"/>
    <p:sldId xmlns:r="http://schemas.openxmlformats.org/officeDocument/2006/relationships" id="266" r:id="R9d01e728556a4499"/>
    <p:sldId xmlns:r="http://schemas.openxmlformats.org/officeDocument/2006/relationships" id="267" r:id="Rb9aa66259ab94f8c"/>
    <p:sldId xmlns:r="http://schemas.openxmlformats.org/officeDocument/2006/relationships" id="268" r:id="R597d9c03b1d545e0"/>
    <p:sldId xmlns:r="http://schemas.openxmlformats.org/officeDocument/2006/relationships" id="269" r:id="Rda7b67d6edcc41de"/>
    <p:sldId xmlns:r="http://schemas.openxmlformats.org/officeDocument/2006/relationships" id="270" r:id="R1607128305d34b39"/>
    <p:sldId xmlns:r="http://schemas.openxmlformats.org/officeDocument/2006/relationships" id="271" r:id="R554b45c853224163"/>
    <p:sldId xmlns:r="http://schemas.openxmlformats.org/officeDocument/2006/relationships" id="272" r:id="Rab03f58b9c1a4e19"/>
    <p:sldId xmlns:r="http://schemas.openxmlformats.org/officeDocument/2006/relationships" id="273" r:id="Rd4da0771ffbb44d3"/>
    <p:sldId xmlns:r="http://schemas.openxmlformats.org/officeDocument/2006/relationships" id="274" r:id="R45fb82554bf74ad4"/>
    <p:sldId xmlns:r="http://schemas.openxmlformats.org/officeDocument/2006/relationships" id="275" r:id="R0811c486ffb74471"/>
    <p:sldId xmlns:r="http://schemas.openxmlformats.org/officeDocument/2006/relationships" id="276" r:id="Rcd6b351406de49ed"/>
    <p:sldId xmlns:r="http://schemas.openxmlformats.org/officeDocument/2006/relationships" id="277" r:id="Rf261e86e1113431d"/>
    <p:sldId xmlns:r="http://schemas.openxmlformats.org/officeDocument/2006/relationships" id="278" r:id="Ra2efe07cabef43b6"/>
    <p:sldId xmlns:r="http://schemas.openxmlformats.org/officeDocument/2006/relationships" id="279" r:id="R4f68c4294cc74f98"/>
    <p:sldId xmlns:r="http://schemas.openxmlformats.org/officeDocument/2006/relationships" id="280" r:id="R36fda315de684ba2"/>
    <p:sldId xmlns:r="http://schemas.openxmlformats.org/officeDocument/2006/relationships" id="281" r:id="Raa730cdbfed24744"/>
    <p:sldId xmlns:r="http://schemas.openxmlformats.org/officeDocument/2006/relationships" id="282" r:id="R2ce0ce87840a4c08"/>
    <p:sldId xmlns:r="http://schemas.openxmlformats.org/officeDocument/2006/relationships" id="283" r:id="R63222c6abf3c482f"/>
    <p:sldId xmlns:r="http://schemas.openxmlformats.org/officeDocument/2006/relationships" id="284" r:id="R3210ec4a46a1432c"/>
    <p:sldId xmlns:r="http://schemas.openxmlformats.org/officeDocument/2006/relationships" id="285" r:id="R855b68fed9eb4c7b"/>
    <p:sldId xmlns:r="http://schemas.openxmlformats.org/officeDocument/2006/relationships" id="286" r:id="R42f220ec6d344214"/>
    <p:sldId xmlns:r="http://schemas.openxmlformats.org/officeDocument/2006/relationships" id="287" r:id="Ra72bf5004d4c4555"/>
    <p:sldId xmlns:r="http://schemas.openxmlformats.org/officeDocument/2006/relationships" id="288" r:id="Re1567bd529664b6b"/>
    <p:sldId xmlns:r="http://schemas.openxmlformats.org/officeDocument/2006/relationships" id="289" r:id="Rdee3a80df3c349b8"/>
    <p:sldId xmlns:r="http://schemas.openxmlformats.org/officeDocument/2006/relationships" id="290" r:id="R1f6a9f1b23714ba0"/>
    <p:sldId xmlns:r="http://schemas.openxmlformats.org/officeDocument/2006/relationships" id="291" r:id="R57cc7b08bb3c4b0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42e48d7cfe4f33" /><Relationship Type="http://schemas.openxmlformats.org/officeDocument/2006/relationships/slideMaster" Target="/ppt/slideMasters/slideMaster1.xml" Id="R7c8868f5c5b14802" /><Relationship Type="http://schemas.openxmlformats.org/officeDocument/2006/relationships/notesMaster" Target="/ppt/notesMasters/notesMaster1.xml" Id="R0280b741828f48ab" /><Relationship Type="http://schemas.openxmlformats.org/officeDocument/2006/relationships/presProps" Target="/ppt/presProps.xml" Id="R97098cdeca1a4602" /><Relationship Type="http://schemas.openxmlformats.org/officeDocument/2006/relationships/tableStyles" Target="/ppt/tableStyles.xml" Id="Re2bff32f5daa434b" /><Relationship Type="http://schemas.openxmlformats.org/officeDocument/2006/relationships/slide" Target="/ppt/slides/slide1.xml" Id="R63f53c0594744e7c" /><Relationship Type="http://schemas.openxmlformats.org/officeDocument/2006/relationships/slide" Target="/ppt/slides/slide2.xml" Id="Rfc45db97d5064064" /><Relationship Type="http://schemas.openxmlformats.org/officeDocument/2006/relationships/slide" Target="/ppt/slides/slide3.xml" Id="R7818316657da419f" /><Relationship Type="http://schemas.openxmlformats.org/officeDocument/2006/relationships/slide" Target="/ppt/slides/slide4.xml" Id="Rfa7462501f5341b7" /><Relationship Type="http://schemas.openxmlformats.org/officeDocument/2006/relationships/slide" Target="/ppt/slides/slide5.xml" Id="Rdebe61af94b1496d" /><Relationship Type="http://schemas.openxmlformats.org/officeDocument/2006/relationships/slide" Target="/ppt/slides/slide6.xml" Id="Rcf1edeca15ae4951" /><Relationship Type="http://schemas.openxmlformats.org/officeDocument/2006/relationships/slide" Target="/ppt/slides/slide7.xml" Id="R0e5053cfc42646d7" /><Relationship Type="http://schemas.openxmlformats.org/officeDocument/2006/relationships/slide" Target="/ppt/slides/slide8.xml" Id="R5abdd08cc5e34817" /><Relationship Type="http://schemas.openxmlformats.org/officeDocument/2006/relationships/slide" Target="/ppt/slides/slide9.xml" Id="Rbab7973c6ebc46ab" /><Relationship Type="http://schemas.openxmlformats.org/officeDocument/2006/relationships/slide" Target="/ppt/slides/slide10.xml" Id="Rce73eebdc3344d65" /><Relationship Type="http://schemas.openxmlformats.org/officeDocument/2006/relationships/slide" Target="/ppt/slides/slide11.xml" Id="R9d01e728556a4499" /><Relationship Type="http://schemas.openxmlformats.org/officeDocument/2006/relationships/slide" Target="/ppt/slides/slide12.xml" Id="Rb9aa66259ab94f8c" /><Relationship Type="http://schemas.openxmlformats.org/officeDocument/2006/relationships/slide" Target="/ppt/slides/slide13.xml" Id="R597d9c03b1d545e0" /><Relationship Type="http://schemas.openxmlformats.org/officeDocument/2006/relationships/slide" Target="/ppt/slides/slide14.xml" Id="Rda7b67d6edcc41de" /><Relationship Type="http://schemas.openxmlformats.org/officeDocument/2006/relationships/slide" Target="/ppt/slides/slide15.xml" Id="R1607128305d34b39" /><Relationship Type="http://schemas.openxmlformats.org/officeDocument/2006/relationships/slide" Target="/ppt/slides/slide16.xml" Id="R554b45c853224163" /><Relationship Type="http://schemas.openxmlformats.org/officeDocument/2006/relationships/slide" Target="/ppt/slides/slide17.xml" Id="Rab03f58b9c1a4e19" /><Relationship Type="http://schemas.openxmlformats.org/officeDocument/2006/relationships/slide" Target="/ppt/slides/slide18.xml" Id="Rd4da0771ffbb44d3" /><Relationship Type="http://schemas.openxmlformats.org/officeDocument/2006/relationships/slide" Target="/ppt/slides/slide19.xml" Id="R45fb82554bf74ad4" /><Relationship Type="http://schemas.openxmlformats.org/officeDocument/2006/relationships/slide" Target="/ppt/slides/slide20.xml" Id="R0811c486ffb74471" /><Relationship Type="http://schemas.openxmlformats.org/officeDocument/2006/relationships/slide" Target="/ppt/slides/slide21.xml" Id="Rcd6b351406de49ed" /><Relationship Type="http://schemas.openxmlformats.org/officeDocument/2006/relationships/slide" Target="/ppt/slides/slide22.xml" Id="Rf261e86e1113431d" /><Relationship Type="http://schemas.openxmlformats.org/officeDocument/2006/relationships/slide" Target="/ppt/slides/slide23.xml" Id="Ra2efe07cabef43b6" /><Relationship Type="http://schemas.openxmlformats.org/officeDocument/2006/relationships/slide" Target="/ppt/slides/slide24.xml" Id="R4f68c4294cc74f98" /><Relationship Type="http://schemas.openxmlformats.org/officeDocument/2006/relationships/slide" Target="/ppt/slides/slide25.xml" Id="R36fda315de684ba2" /><Relationship Type="http://schemas.openxmlformats.org/officeDocument/2006/relationships/slide" Target="/ppt/slides/slide26.xml" Id="Raa730cdbfed24744" /><Relationship Type="http://schemas.openxmlformats.org/officeDocument/2006/relationships/slide" Target="/ppt/slides/slide27.xml" Id="R2ce0ce87840a4c08" /><Relationship Type="http://schemas.openxmlformats.org/officeDocument/2006/relationships/slide" Target="/ppt/slides/slide28.xml" Id="R63222c6abf3c482f" /><Relationship Type="http://schemas.openxmlformats.org/officeDocument/2006/relationships/slide" Target="/ppt/slides/slide29.xml" Id="R3210ec4a46a1432c" /><Relationship Type="http://schemas.openxmlformats.org/officeDocument/2006/relationships/slide" Target="/ppt/slides/slide30.xml" Id="R855b68fed9eb4c7b" /><Relationship Type="http://schemas.openxmlformats.org/officeDocument/2006/relationships/slide" Target="/ppt/slides/slide31.xml" Id="R42f220ec6d344214" /><Relationship Type="http://schemas.openxmlformats.org/officeDocument/2006/relationships/slide" Target="/ppt/slides/slide32.xml" Id="Ra72bf5004d4c4555" /><Relationship Type="http://schemas.openxmlformats.org/officeDocument/2006/relationships/slide" Target="/ppt/slides/slide33.xml" Id="Re1567bd529664b6b" /><Relationship Type="http://schemas.openxmlformats.org/officeDocument/2006/relationships/slide" Target="/ppt/slides/slide34.xml" Id="Rdee3a80df3c349b8" /><Relationship Type="http://schemas.openxmlformats.org/officeDocument/2006/relationships/slide" Target="/ppt/slides/slide35.xml" Id="R1f6a9f1b23714ba0" /><Relationship Type="http://schemas.openxmlformats.org/officeDocument/2006/relationships/slide" Target="/ppt/slides/slide36.xml" Id="R57cc7b08bb3c4b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8641f1398c4b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d4f80243aa4292" /><Relationship Type="http://schemas.openxmlformats.org/officeDocument/2006/relationships/notesMaster" Target="/ppt/notesMasters/notesMaster1.xml" Id="Rc648024605e040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6d77935e444867" /><Relationship Type="http://schemas.openxmlformats.org/officeDocument/2006/relationships/notesMaster" Target="/ppt/notesMasters/notesMaster1.xml" Id="Rcbddde685deb45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7e86524e134358" /><Relationship Type="http://schemas.openxmlformats.org/officeDocument/2006/relationships/notesMaster" Target="/ppt/notesMasters/notesMaster1.xml" Id="R09b82aceb33142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5ee637f5c14eff" /><Relationship Type="http://schemas.openxmlformats.org/officeDocument/2006/relationships/notesMaster" Target="/ppt/notesMasters/notesMaster1.xml" Id="Rb29b17b37dba4e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d967f9954e4843" /><Relationship Type="http://schemas.openxmlformats.org/officeDocument/2006/relationships/notesMaster" Target="/ppt/notesMasters/notesMaster1.xml" Id="Ref4ad5bfc04145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8da9b22e9b4339" /><Relationship Type="http://schemas.openxmlformats.org/officeDocument/2006/relationships/notesMaster" Target="/ppt/notesMasters/notesMaster1.xml" Id="Rd06acb621a4e47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e96c68de4b465b" /><Relationship Type="http://schemas.openxmlformats.org/officeDocument/2006/relationships/notesMaster" Target="/ppt/notesMasters/notesMaster1.xml" Id="Re5769b66b1cf4e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aa7d88b6ad490e" /><Relationship Type="http://schemas.openxmlformats.org/officeDocument/2006/relationships/notesMaster" Target="/ppt/notesMasters/notesMaster1.xml" Id="Ra794108aedfd4d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b65840b31b4f14" /><Relationship Type="http://schemas.openxmlformats.org/officeDocument/2006/relationships/notesMaster" Target="/ppt/notesMasters/notesMaster1.xml" Id="R02bacdf32c2e4c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3dbd4aeac147db" /><Relationship Type="http://schemas.openxmlformats.org/officeDocument/2006/relationships/notesMaster" Target="/ppt/notesMasters/notesMaster1.xml" Id="Rfa562577a2e34f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580be974974979" /><Relationship Type="http://schemas.openxmlformats.org/officeDocument/2006/relationships/notesMaster" Target="/ppt/notesMasters/notesMaster1.xml" Id="R9aea1d530acb43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e24beea8f342f7" /><Relationship Type="http://schemas.openxmlformats.org/officeDocument/2006/relationships/notesMaster" Target="/ppt/notesMasters/notesMaster1.xml" Id="R10a225ebd02c47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34b9ae3f544b0c" /><Relationship Type="http://schemas.openxmlformats.org/officeDocument/2006/relationships/notesMaster" Target="/ppt/notesMasters/notesMaster1.xml" Id="R513c19773e0f4c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89a9296d364ae7" /><Relationship Type="http://schemas.openxmlformats.org/officeDocument/2006/relationships/notesMaster" Target="/ppt/notesMasters/notesMaster1.xml" Id="Rbd654f267dfa41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a54750eac54cb3" /><Relationship Type="http://schemas.openxmlformats.org/officeDocument/2006/relationships/notesMaster" Target="/ppt/notesMasters/notesMaster1.xml" Id="R05d27e80aad44a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6d0033a48f4c66" /><Relationship Type="http://schemas.openxmlformats.org/officeDocument/2006/relationships/notesMaster" Target="/ppt/notesMasters/notesMaster1.xml" Id="R70533806d1994d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67565f48964254" /><Relationship Type="http://schemas.openxmlformats.org/officeDocument/2006/relationships/notesMaster" Target="/ppt/notesMasters/notesMaster1.xml" Id="R99f36ec368804b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8184c3f30e48f3" /><Relationship Type="http://schemas.openxmlformats.org/officeDocument/2006/relationships/notesMaster" Target="/ppt/notesMasters/notesMaster1.xml" Id="R5b22860f809f44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0be5fd08bcc4794" /><Relationship Type="http://schemas.openxmlformats.org/officeDocument/2006/relationships/notesMaster" Target="/ppt/notesMasters/notesMaster1.xml" Id="R0ff1cd39455b43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e41ff48584d4399" /><Relationship Type="http://schemas.openxmlformats.org/officeDocument/2006/relationships/notesMaster" Target="/ppt/notesMasters/notesMaster1.xml" Id="Rb6e0fd9782054a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1a60356d4204663" /><Relationship Type="http://schemas.openxmlformats.org/officeDocument/2006/relationships/notesMaster" Target="/ppt/notesMasters/notesMaster1.xml" Id="R8fd598f8a08c40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1f9dfe14b9a4f74" /><Relationship Type="http://schemas.openxmlformats.org/officeDocument/2006/relationships/notesMaster" Target="/ppt/notesMasters/notesMaster1.xml" Id="Ra461b6a8d2544b3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c4338fdab1456f" /><Relationship Type="http://schemas.openxmlformats.org/officeDocument/2006/relationships/notesMaster" Target="/ppt/notesMasters/notesMaster1.xml" Id="R99e3b57a8fb34b7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29f6c56476d4c0e" /><Relationship Type="http://schemas.openxmlformats.org/officeDocument/2006/relationships/notesMaster" Target="/ppt/notesMasters/notesMaster1.xml" Id="R2d12b72b2fdf4eb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a6f04d5d9ce4c5b" /><Relationship Type="http://schemas.openxmlformats.org/officeDocument/2006/relationships/notesMaster" Target="/ppt/notesMasters/notesMaster1.xml" Id="R1f0ea6d9fb21478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8df6849bb5146d1" /><Relationship Type="http://schemas.openxmlformats.org/officeDocument/2006/relationships/notesMaster" Target="/ppt/notesMasters/notesMaster1.xml" Id="R53bc2c6fc2b74be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7631ec4ca334509" /><Relationship Type="http://schemas.openxmlformats.org/officeDocument/2006/relationships/notesMaster" Target="/ppt/notesMasters/notesMaster1.xml" Id="R3ed1255ce6344fa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da9f87792ff475d" /><Relationship Type="http://schemas.openxmlformats.org/officeDocument/2006/relationships/notesMaster" Target="/ppt/notesMasters/notesMaster1.xml" Id="R44dc1aa8e5484a7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9d7f69a03c94138" /><Relationship Type="http://schemas.openxmlformats.org/officeDocument/2006/relationships/notesMaster" Target="/ppt/notesMasters/notesMaster1.xml" Id="Re34a49596b3f440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10aa05a4ee34ec4" /><Relationship Type="http://schemas.openxmlformats.org/officeDocument/2006/relationships/notesMaster" Target="/ppt/notesMasters/notesMaster1.xml" Id="R1388f20b03d746d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bd26ed482994c2c" /><Relationship Type="http://schemas.openxmlformats.org/officeDocument/2006/relationships/notesMaster" Target="/ppt/notesMasters/notesMaster1.xml" Id="Rd8d1e4201b394cb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c14c7788fd347c0" /><Relationship Type="http://schemas.openxmlformats.org/officeDocument/2006/relationships/notesMaster" Target="/ppt/notesMasters/notesMaster1.xml" Id="Rd5cc22feabf74df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56763e71cc14394" /><Relationship Type="http://schemas.openxmlformats.org/officeDocument/2006/relationships/notesMaster" Target="/ppt/notesMasters/notesMaster1.xml" Id="R46c117de9649462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55b6c45ebb34969" /><Relationship Type="http://schemas.openxmlformats.org/officeDocument/2006/relationships/notesMaster" Target="/ppt/notesMasters/notesMaster1.xml" Id="Radf547c57ae5497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b0d0ab12f3b419a" /><Relationship Type="http://schemas.openxmlformats.org/officeDocument/2006/relationships/notesMaster" Target="/ppt/notesMasters/notesMaster1.xml" Id="Rbfd7d56de068470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803235f19644ac8" /><Relationship Type="http://schemas.openxmlformats.org/officeDocument/2006/relationships/notesMaster" Target="/ppt/notesMasters/notesMaster1.xml" Id="Rc20554cb204844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Introduce PolyGlot as a compiler for a defined mixed-syntax language. Selected constructs inspired by six languages share one semantic model. The implementation includes actual compilation, optimization and execution. Avoid describing it as six full language compilers.</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https://github.com/hst257/PolyGlot/blob/0b04aa2/README.md</a:t>
            </a:r>
          </a:p>
          <a:p xmlns:a="http://schemas.openxmlformats.org/drawingml/2006/main">
            <a:r>
              <a:t>https://github.com/hst257/PolyGlot/blob/0b04aa2/src/polyglot/compiler.py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Explain the engineering question: can selected surface syntaxes share one AST, type system and execution model? PolyGlot answers this for a restricted procedural language. All accepted constructs compile to the same intermediate representation and VM. The objective is a working compiler-design implementation rather than compatibility with complete Python, Java or C programs.</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https://github.com/hst257/PolyGlot/blob/0b04aa2/docs/architecture.md</a:t>
            </a:r>
          </a:p>
          <a:p xmlns:a="http://schemas.openxmlformats.org/drawingml/2006/main">
            <a:r>
              <a:t>https://github.com/hst257/PolyGlot/blob/0b04aa2/docs/language.md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Run this exact validated example if asked. add uses C-style syntax. twice uses Python-style syntax and calls add. BASIC LET assigns base. console.log prints twice(base), producing 6. Name resolution and types cross syntax boundaries because all declarations and calls share one compiler model.</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https://github.com/hst257/PolyGlot/blob/0b04aa2/src/polyglot/parser/dispatch.py</a:t>
            </a:r>
          </a:p>
          <a:p xmlns:a="http://schemas.openxmlformats.org/drawingml/2006/main">
            <a:r>
              <a:t>https://github.com/hst257/PolyGlot/blob/0b04aa2/src/polyglot/semantics.py</a:t>
            </a:r>
          </a:p>
          <a:p xmlns:a="http://schemas.openxmlformats.org/drawingml/2006/main">
            <a:r>
              <a:t>https://github.com/hst257/PolyGlot/blob/0b04aa2/src/polyglot/vm.py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Use the terms statically typed, imperative, procedural and structured. An inferred variable still has a fixed checked type. Java-style output does not imply classes. JavaScript-style functions require type annotations. Different syntaxes do not retain all of their original language semantics. Arrays use invariant primitive element types and fixed-length objects.</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https://github.com/hst257/PolyGlot/blob/0b04aa2/docs/language.md</a:t>
            </a:r>
          </a:p>
          <a:p xmlns:a="http://schemas.openxmlformats.org/drawingml/2006/main">
            <a:r>
              <a:t>https://github.com/hst257/PolyGlot/blob/0b04aa2/docs/grammar.ebnf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This diagram shows the local architecture. The browser sends JSON to /api/check, /api/run, /api/build, /api/exec or /api/inspect. The loopback HTTP server checks requests and starts a spawned worker with a parent deadline. The worker uses execute_job, which invokes the shared compiler and optionally VM execution. The CLI calls the same compiler and VM directly. Results return as JSON, including actual stage representations. The arrow toward the VM shows the run path. Check and Build compile without executing.</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https://github.com/hst257/PolyGlot/blob/0b04aa2/src/polyglot/web/server.py</a:t>
            </a:r>
          </a:p>
          <a:p xmlns:a="http://schemas.openxmlformats.org/drawingml/2006/main">
            <a:r>
              <a:t>https://github.com/hst257/PolyGlot/blob/0b04aa2/src/polyglot/web/worker.py</a:t>
            </a:r>
          </a:p>
          <a:p xmlns:a="http://schemas.openxmlformats.org/drawingml/2006/main">
            <a:r>
              <a:t>https://github.com/hst257/PolyGlot/blob/0b04aa2/src/polyglot/cli.py</a:t>
            </a:r>
          </a:p>
          <a:p xmlns:a="http://schemas.openxmlformats.org/drawingml/2006/main">
            <a:r>
              <a:t>https://github.com/hst257/PolyGlot/blob/0b04aa2/src/polyglot/compiler.py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Explain each representation rather than only naming phases. The lexer preserves source spans. Statement parsing uses recursive descent and expressions use Pratt parsing. Family-specific constructs normalize to common AST nodes. Semantic analysis annotates bindings and types. Lowering creates typed IR. The optimizer runs by default. Code generation maps IR temporaries to local slots and patches symbolic jumps. Generated and uploaded artifacts pass validation before execution. Diagnostics are a cross-cutting concern, using preserved source mappings.</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https://github.com/hst257/PolyGlot/blob/0b04aa2/src/polyglot/compiler.py</a:t>
            </a:r>
          </a:p>
          <a:p xmlns:a="http://schemas.openxmlformats.org/drawingml/2006/main">
            <a:r>
              <a:t>https://github.com/hst257/PolyGlot/blob/0b04aa2/src/polyglot/ir.py</a:t>
            </a:r>
          </a:p>
          <a:p xmlns:a="http://schemas.openxmlformats.org/drawingml/2006/main">
            <a:r>
              <a:t>https://github.com/hst257/PolyGlot/blob/0b04aa2/src/polyglot/codegen.py</a:t>
            </a:r>
          </a:p>
          <a:p xmlns:a="http://schemas.openxmlformats.org/drawingml/2006/main">
            <a:r>
              <a:t>https://github.com/hst257/PolyGlot/blob/0b04aa2/src/polyglot/artifact.py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There is no initial whole-file language detector. Dispatch operates while parsing statements. def and PRINT are distinctive. int x = 3 can match several syntax families, so recognition keeps candidate families instead of inventing a unique language. Provenance is inspection metadata and does not select semantics. This deterministic design avoids trying six entire parsers in sequence. Shared expression parsing and mixed block handling connect the family modules.</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https://github.com/hst257/PolyGlot/blob/0b04aa2/src/polyglot/parser/dispatch.py</a:t>
            </a:r>
          </a:p>
          <a:p xmlns:a="http://schemas.openxmlformats.org/drawingml/2006/main">
            <a:r>
              <a:t>https://github.com/hst257/PolyGlot/blob/0b04aa2/src/polyglot/parser/shared.py</a:t>
            </a:r>
          </a:p>
          <a:p xmlns:a="http://schemas.openxmlformats.org/drawingml/2006/main">
            <a:r>
              <a:t>https://github.com/hst257/PolyGlot/blob/0b04aa2/docs/architecture.md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The scanner is handwritten. In this implementation keywords such as int are NAME tokens, interpreted by the parser. Do not claim a separate KEYWORD token class or a generated Lex/Flex DFA. lex(Source) returns positioned tokens. Comments and quoted strings need careful scanning so operators inside them do not act as code. Layout context works with the parser to support mixed braces and indentation.</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https://github.com/hst257/PolyGlot/blob/0b04aa2/src/polyglot/lexer.py</a:t>
            </a:r>
          </a:p>
          <a:p xmlns:a="http://schemas.openxmlformats.org/drawingml/2006/main">
            <a:r>
              <a:t>https://github.com/hst257/PolyGlot/blob/0b04aa2/src/polyglot/source.py</a:t>
            </a:r>
          </a:p>
          <a:p xmlns:a="http://schemas.openxmlformats.org/drawingml/2006/main">
            <a:r>
              <a:t>https://github.com/hst257/PolyGlot/blob/0b04aa2/src/polyglot/layout.py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This is an editable diagram of the expression subtree, not a concrete parse tree. The multiplication belongs inside the right operand of addition. The full AST also contains Program and Output. The actual source was compiled and executed for this deck and produced 14. A Pratt parser uses binding-power rules to build this grouping without trying every grammar.</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https://github.com/hst257/PolyGlot/blob/0b04aa2/src/polyglot/parser/shared.py</a:t>
            </a:r>
          </a:p>
          <a:p xmlns:a="http://schemas.openxmlformats.org/drawingml/2006/main">
            <a:r>
              <a:t>https://github.com/hst257/PolyGlot/blob/0b04aa2/docs/grammar.ebnf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Different surface syntax becomes one operation with common semantics. These output examples normalize to Output. The AST is abstract because it retains semantic structure rather than punctuation. printf is a useful qualification: its format-string structure uses explicit formatting segments and lowers through FORMAT and OUTPUT, so avoid claiming every output form follows exactly the same AST path. The Node dataclass contains kind, span, data and meta.</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https://github.com/hst257/PolyGlot/blob/0b04aa2/src/polyglot/ast.py</a:t>
            </a:r>
          </a:p>
          <a:p xmlns:a="http://schemas.openxmlformats.org/drawingml/2006/main">
            <a:r>
              <a:t>https://github.com/hst257/PolyGlot/blob/0b04aa2/src/polyglot/parser/shared.py</a:t>
            </a:r>
          </a:p>
          <a:p xmlns:a="http://schemas.openxmlformats.org/drawingml/2006/main">
            <a:r>
              <a:t>https://github.com/hst257/PolyGlot/blob/0b04aa2/src/polyglot/ir.py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This is the exact mixed_nesting example. The C-style loop has four iterations. Even values add 0 and 2. Odd values add 10 each, producing 22. Parser layout context matters because indentation cannot be interpreted independently from braces and grammar. The AST records nested control-flow nodes. The compiler lowers them to labels, comparisons, branches and jumps. This is structured programming support, with single-entry statement constructs and explicit break/continue handling.</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https://github.com/hst257/PolyGlot/blob/0b04aa2/examples/mixed_nesting.poly</a:t>
            </a:r>
          </a:p>
          <a:p xmlns:a="http://schemas.openxmlformats.org/drawingml/2006/main">
            <a:r>
              <a:t>https://github.com/hst257/PolyGlot/blob/0b04aa2/src/polyglot/layout.py</a:t>
            </a:r>
          </a:p>
          <a:p xmlns:a="http://schemas.openxmlformats.org/drawingml/2006/main">
            <a:r>
              <a:t>https://github.com/hst257/PolyGlot/blob/0b04aa2/src/polyglot/parser/shared.py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Use the selected actual symbol records to identify bonus as an immutable int global and values as int[]. sum_values accepts int[] and returns int. Semantic analysis resolves storage class and slots, validates static types, enforces const and annotates the AST. Collecting top-level function signatures first enables forward calls and recursion. A later source spelling cannot bypass shared const or type rules.</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https://github.com/hst257/PolyGlot/blob/0b04aa2/src/polyglot/semantics.py</a:t>
            </a:r>
          </a:p>
          <a:p xmlns:a="http://schemas.openxmlformats.org/drawingml/2006/main">
            <a:r>
              <a:t>https://github.com/hst257/PolyGlot/blob/0b04aa2/src/polyglot/types.py</a:t>
            </a:r>
          </a:p>
          <a:p xmlns:a="http://schemas.openxmlformats.org/drawingml/2006/main">
            <a:r>
              <a:t>https://github.com/hst257/PolyGlot/blob/0b04aa2/examples/p1_mixed.poly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The syntax error is at line 1 column 11. The type mismatch is at line 2. Runtime division by zero must remain observable even when the optimizer sees constant operands. Check the precise diagnostic wording from the current implementation. The pipeline reports completed stages and a null artifact on compile failure. Runtime failures retain compilation data and any prior output. The current implementation reports the first compiler error.</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https://github.com/hst257/PolyGlot/blob/0b04aa2/src/polyglot/compiler.py</a:t>
            </a:r>
          </a:p>
          <a:p xmlns:a="http://schemas.openxmlformats.org/drawingml/2006/main">
            <a:r>
              <a:t>https://github.com/hst257/PolyGlot/blob/0b04aa2/src/polyglot/diagnostics.py</a:t>
            </a:r>
          </a:p>
          <a:p xmlns:a="http://schemas.openxmlformats.org/drawingml/2006/main">
            <a:r>
              <a:t>https://github.com/hst257/PolyGlot/blob/0b04aa2/src/polyglot/vm.py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All arithmetic temporaries in this example have type int. The left expression lowers to constants, two binary operations, output and return. This is three-address style because an arithmetic instruction typically has one destination and two operands. Control flow uses symbolic labels and branch/jump operations. The original IR remains available for inspection even after optimization. The executed form is stages.optimized_ir.</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https://github.com/hst257/PolyGlot/blob/0b04aa2/src/polyglot/ir.py</a:t>
            </a:r>
          </a:p>
          <a:p xmlns:a="http://schemas.openxmlformats.org/drawingml/2006/main">
            <a:r>
              <a:t>https://github.com/hst257/PolyGlot/blob/0b04aa2/src/polyglot/compiler.py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This diagram corresponds to the actual original CFG for the validated source. B0 has true and false successors. Each output block leads to the exit. Constant branch simplification replaces the known branch with a direct jump to B1. Rebuilding reachability then removes B2 because no entry path reaches it. This distinction matters: structural reachability before simplification still includes both edges. Labels and post-terminator instructions define leaders.</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https://github.com/hst257/PolyGlot/blob/0b04aa2/src/polyglot/analysis.py</a:t>
            </a:r>
          </a:p>
          <a:p xmlns:a="http://schemas.openxmlformats.org/drawingml/2006/main">
            <a:r>
              <a:t>https://github.com/hst257/PolyGlot/blob/0b04aa2/src/polyglot/optimizer.py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USE contains temporaries read before a definition in a block. DEF contains temporaries defined in that block. OUT unions successor IN sets. IN combines local USE with values required afterward that the block does not define. The worklist repeats until IN stops changing. Next-use scanning handles multiple definitions of a temporary. Emphasize that these facts support conservative dead-constant removal, not arbitrary dead instruction removal or physical-register allocation.</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https://github.com/hst257/PolyGlot/blob/0b04aa2/src/polyglot/analysis.py</a:t>
            </a:r>
          </a:p>
          <a:p xmlns:a="http://schemas.openxmlformats.org/drawingml/2006/main">
            <a:r>
              <a:t>https://github.com/hst257/PolyGlot/blob/0b04aa2/src/polyglot/optimizer.py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Known values are tracked only inside a basic block and do not flow through mutable bindings or control-flow joins. Folding uses VM-compatible semantics and respects numeric and value limits. Reachable calls, output, loads, stores and array checks remain. Potentially trapping operations remain unless a valid successful fold is proven. For example 1/0 must still fail at runtime with its source location. Oversized functions retain their original IR and report the skip.</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https://github.com/hst257/PolyGlot/blob/0b04aa2/src/polyglot/optimizer.py</a:t>
            </a:r>
          </a:p>
          <a:p xmlns:a="http://schemas.openxmlformats.org/drawingml/2006/main">
            <a:r>
              <a:t>https://github.com/hst257/PolyGlot/blob/0b04aa2/tests/test_optimization.py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The expression was compiled and executed with optimize=False and optimize=True for this deck. The unoptimized artifact has 17 instructions and executes 17 steps. The optimized artifact has 5 and executes 5. Both produce 20 followed by a newline. The optimizer folds two binary operations and removes four dead constants. Reduction is (17-5)/17, rounded to 70.6%. Never present this as measured elapsed-time performance or a universal speedup.</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https://github.com/hst257/PolyGlot/blob/0b04aa2/tests/test_optimization.py</a:t>
            </a:r>
          </a:p>
          <a:p xmlns:a="http://schemas.openxmlformats.org/drawingml/2006/main">
            <a:r>
              <a:t>https://github.com/hst257/PolyGlot/blob/0b04aa2/src/polyglot/compiler.py</a:t>
            </a:r>
          </a:p>
          <a:p xmlns:a="http://schemas.openxmlformats.org/drawingml/2006/main">
            <a:r>
              <a:t>https://github.com/hst257/PolyGlot/blob/0b04aa2/src/polyglot/optimizer.py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generate in codegen.py is our own implementation. It visits each function and IR instruction. Literals enter a constant pool. Global and local bindings use resolved storage slots. A temporary maps to fn.local_count plus its temporary index. For BINARY, codegen loads both operands onto the stack, emits the normalized operator and stores the result. No LLVM, JVM or external compiler library generates this bytecode.</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https://github.com/hst257/PolyGlot/blob/0b04aa2/src/polyglot/codegen.py</a:t>
            </a:r>
          </a:p>
          <a:p xmlns:a="http://schemas.openxmlformats.org/drawingml/2006/main">
            <a:r>
              <a:t>https://github.com/hst257/PolyGlot/blob/0b04aa2/docs/bytecode.md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The generator keeps labels and jumps collections for each function. On LABEL it records len(code). On a jump it saves the position and target label and emits a placeholder operand of zero. After emission it replaces the placeholder with labels[target]. A BRANCH loads its condition, emits JUMP_IF_FALSE for the false target, then JUMP for the true target. This is deferred jump-target resolution, commonly called backpatching.</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https://github.com/hst257/PolyGlot/blob/0b04aa2/src/polyglot/codegen.py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The current artifact version is 3 and older supported versions remain readable. Bytecode is represented using JSON with named opcodes rather than native machine-code bytes. Function records include signatures, storage sizes and instruction lists. The loader rejects unknown opcodes, malformed values, invalid jumps, stack underflow, inconsistent branch-stack heights and bad return forms. Source metadata inside the artifact supports runtime errors after source-independent execution.</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https://github.com/hst257/PolyGlot/blob/0b04aa2/src/polyglot/artifact.py</a:t>
            </a:r>
          </a:p>
          <a:p xmlns:a="http://schemas.openxmlformats.org/drawingml/2006/main">
            <a:r>
              <a:t>https://github.com/hst257/PolyGlot/blob/0b04aa2/docs/bytecode.md</a:t>
            </a:r>
          </a:p>
          <a:p xmlns:a="http://schemas.openxmlformats.org/drawingml/2006/main">
            <a:r>
              <a:t>https://github.com/hst257/PolyGlot/blob/0b04aa2/tests/test_artifact.py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This listing matches the actual optimized artifact for print((2 + 3) * 4). The constant pool contains one int with value 20. Temporary 4 remains in local slot 4 because the optimizer does not renumber temporary storage. OUTPUT pops its argument. RETURN_VOID completes main. Our Python implementation interprets this instruction set. It does not evaluate source as Python, Java or C.</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https://github.com/hst257/PolyGlot/blob/0b04aa2/src/polyglot/vm.py</a:t>
            </a:r>
          </a:p>
          <a:p xmlns:a="http://schemas.openxmlformats.org/drawingml/2006/main">
            <a:r>
              <a:t>https://github.com/hst257/PolyGlot/blob/0b04aa2/src/polyglot/codegen.py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This schematic uses the mixed example from slide 3. The VM frame contains function, locals, ip, stack and callsite. Global storage is separate. Parameters occupy the first local slots. Calling twice then add creates fresh frames, preserving each caller state. RETURN_VALUE transfers the result to the caller. The same mechanism enables recursion. factorial(6) produces 720. The drawing is an execution model explanation, not a screenshot of a live step debugger.</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https://github.com/hst257/PolyGlot/blob/0b04aa2/src/polyglot/vm.py</a:t>
            </a:r>
          </a:p>
          <a:p xmlns:a="http://schemas.openxmlformats.org/drawingml/2006/main">
            <a:r>
              <a:t>https://github.com/hst257/PolyGlot/blob/0b04aa2/examples/recursion.poly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The full bundled array_iteration example uses five elements and prints 1 through 5. This shortened valid example prints 1, 2 and 3. ForEach lowers to a captured array, ARRAY_LENGTH, an index comparison, ARRAY_GET, branches and jumps. No additional VM opcode is needed specifically for iteration. Continue targets the index update. Assigning the loop variable does not update the array element. Objects have fixed lengths and share references when assigned or passed to a function.</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https://github.com/hst257/PolyGlot/blob/0b04aa2/src/polyglot/ir.py</a:t>
            </a:r>
          </a:p>
          <a:p xmlns:a="http://schemas.openxmlformats.org/drawingml/2006/main">
            <a:r>
              <a:t>https://github.com/hst257/PolyGlot/blob/0b04aa2/src/polyglot/vm.py</a:t>
            </a:r>
          </a:p>
          <a:p xmlns:a="http://schemas.openxmlformats.org/drawingml/2006/main">
            <a:r>
              <a:t>https://github.com/hst257/PolyGlot/blob/0b04aa2/examples/array_iteration.poly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This screenshot shows an actual successful p1_mixed run. The program includes all six syntax families. It has 110 tokens, 13 recognized constructs, 40 AST nodes, 7 bindings and 57 original IR operations. The optimized artifact has 128 static instructions and the run executes 194 steps. The difference between static instructions and executed steps comes from loops and calls. The UI provides Check, Build and Run plus stage inspection.</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https://github.com/hst257/PolyGlot/blob/0b04aa2/examples/p1_mixed.poly</a:t>
            </a:r>
          </a:p>
          <a:p xmlns:a="http://schemas.openxmlformats.org/drawingml/2006/main">
            <a:r>
              <a:t>https://github.com/hst257/PolyGlot/blob/0b04aa2/src/polyglot/web/static/app.js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The screenshot comes from the original AST for the optimized expression. Multiplication has addition and 4 as children. Addition has 2 and 3 as children. Optimization changes IR, not the original inspected AST. The inspector supports orientation, expansion, subtree focus, zoom and source navigation. Explain the difference between an AST and a concrete parse tree: parentheses and punctuation guide construction but do not appear as separate semantic nodes.</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https://github.com/hst257/PolyGlot/blob/0b04aa2/src/polyglot/ast.py</a:t>
            </a:r>
          </a:p>
          <a:p xmlns:a="http://schemas.openxmlformats.org/drawingml/2006/main">
            <a:r>
              <a:t>https://github.com/hst257/PolyGlot/blob/0b04aa2/src/polyglot/web/static/app.js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This screenshot uses error_type.poly. count first receives an int and then a string. Parsing completes but semantic analysis rejects the assignment. No bytecode artifact is produced. The ribbon shows the later stages as blocked and the diagnostic links back to the source. Mention that only the first error is reported and that improving recovery is future work.</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https://github.com/hst257/PolyGlot/blob/0b04aa2/examples/error_type.poly</a:t>
            </a:r>
          </a:p>
          <a:p xmlns:a="http://schemas.openxmlformats.org/drawingml/2006/main">
            <a:r>
              <a:t>https://github.com/hst257/PolyGlot/blob/0b04aa2/src/polyglot/compiler.py</a:t>
            </a:r>
          </a:p>
          <a:p xmlns:a="http://schemas.openxmlformats.org/drawingml/2006/main">
            <a:r>
              <a:t>https://github.com/hst257/PolyGlot/blob/0b04aa2/src/polyglot/web/static/app.js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The standard local app has a Python server. Node and jsdom support development tests only and are not runtime requirements. The static build uses a module Web Worker and Pyodide to run the same Python compiler in the browser, without a remote Python backend. Pyodide hosts our compiler implementation and does not compile .poly source itself. The runtime downloads on first use. At this verified snapshot the GitHub Actions build passed but the repository owner still needs to enable Pages before deployment can complete. Do not claim a publicly live URL.</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https://github.com/hst257/PolyGlot/blob/0b04aa2/pyproject.toml</a:t>
            </a:r>
          </a:p>
          <a:p xmlns:a="http://schemas.openxmlformats.org/drawingml/2006/main">
            <a:r>
              <a:t>https://github.com/hst257/PolyGlot/blob/0b04aa2/package.json</a:t>
            </a:r>
          </a:p>
          <a:p xmlns:a="http://schemas.openxmlformats.org/drawingml/2006/main">
            <a:r>
              <a:t>https://github.com/hst257/PolyGlot/blob/0b04aa2/tools/build_pages.py</a:t>
            </a:r>
          </a:p>
          <a:p xmlns:a="http://schemas.openxmlformats.org/drawingml/2006/main">
            <a:r>
              <a:t>https://github.com/hst257/PolyGlot/blob/0b04aa2/tools/pages/compiler-worker.mjs</a:t>
            </a:r>
          </a:p>
          <a:p xmlns:a="http://schemas.openxmlformats.org/drawingml/2006/main">
            <a:r>
              <a:t>https://github.com/hst257/PolyGlot/blob/0b04aa2/docs/verification.md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Both suites were rerun while rebuilding this presentation. The full Python suite includes real loopback HTTP tests. The frontend tests execute the actual editor against compiler responses. Optimization tests compare outputs and runtime errors with optimization enabled and disabled. This establishes tested behavior, not formal proof or a performance benchmark. Earlier browser-build verification matched native results on 26 cases under real WebAssembly Python.</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https://github.com/hst257/PolyGlot/blob/0b04aa2/tests/test_optimization.py</a:t>
            </a:r>
          </a:p>
          <a:p xmlns:a="http://schemas.openxmlformats.org/drawingml/2006/main">
            <a:r>
              <a:t>https://github.com/hst257/PolyGlot/blob/0b04aa2/tests/test_http.py</a:t>
            </a:r>
          </a:p>
          <a:p xmlns:a="http://schemas.openxmlformats.org/drawingml/2006/main">
            <a:r>
              <a:t>https://github.com/hst257/PolyGlot/blob/0b04aa2/tests/test_artifact.py</a:t>
            </a:r>
          </a:p>
          <a:p xmlns:a="http://schemas.openxmlformats.org/drawingml/2006/main">
            <a:r>
              <a:t>https://github.com/hst257/PolyGlot/blob/0b04aa2/tests/web/editor.test.cjs</a:t>
            </a:r>
          </a:p>
          <a:p xmlns:a="http://schemas.openxmlformats.org/drawingml/2006/main">
            <a:r>
              <a:t>https://github.com/hst257/PolyGlot/blob/0b04aa2/docs/verification.md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Rehearse these steps before the assessment. Start with the full mixed program and show output, then inspect one token, one symbol and the AST. Keep the nested example brief. For the expression, the normal UI IR panel shows original IR and bytecode shows the optimized result. Use CLI/API for an explicit unoptimized comparison. Trigger one deliberate semantic error, then restore a valid example. Finish by building and independently executing an artifact.</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https://github.com/hst257/PolyGlot/blob/0b04aa2/examples/p1_mixed.poly</a:t>
            </a:r>
          </a:p>
          <a:p xmlns:a="http://schemas.openxmlformats.org/drawingml/2006/main">
            <a:r>
              <a:t>https://github.com/hst257/PolyGlot/blob/0b04aa2/examples/mixed_nesting.poly</a:t>
            </a:r>
          </a:p>
          <a:p xmlns:a="http://schemas.openxmlformats.org/drawingml/2006/main">
            <a:r>
              <a:t>https://github.com/hst257/PolyGlot/blob/0b04aa2/examples/error_type.poly</a:t>
            </a:r>
          </a:p>
          <a:p xmlns:a="http://schemas.openxmlformats.org/drawingml/2006/main">
            <a:r>
              <a:t>https://github.com/hst257/PolyGlot/blob/0b04aa2/src/polyglot/cli.py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Be candid. The project does not include LLVM, a generated DFA, simultaneous LL/LR parse-table implementations, general CSE, loop optimization or physical-register allocation. The VM is a stack target so hardware registers are not a current backend concern. Existing liveness is for IR temporaries. A single error currently stops compilation. Improvements should expand verified behavior rather than claim complete compatibility with the source languages.</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https://github.com/hst257/PolyGlot/blob/0b04aa2/docs/language.md</a:t>
            </a:r>
          </a:p>
          <a:p xmlns:a="http://schemas.openxmlformats.org/drawingml/2006/main">
            <a:r>
              <a:t>https://github.com/hst257/PolyGlot/blob/0b04aa2/docs/architecture.md</a:t>
            </a:r>
          </a:p>
          <a:p xmlns:a="http://schemas.openxmlformats.org/drawingml/2006/main">
            <a:r>
              <a:t>https://github.com/hst257/PolyGlot/blob/0b04aa2/src/polyglot/optimizer.py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Close with the actual contribution. Selected syntax families normalize into one semantic model. The compiler performs real analysis and code generation. The resulting bytecode can run independently of the source. Invite questions about a specific stage and use the implementation map or viva appendix when needed.</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https://github.com/hst257/PolyGlot/blob/0b04aa2/src/polyglot/compiler.py</a:t>
            </a:r>
          </a:p>
          <a:p xmlns:a="http://schemas.openxmlformats.org/drawingml/2006/main">
            <a:r>
              <a:t>https://github.com/hst257/PolyGlot/blob/0b04aa2/src/polyglot/codegen.py</a:t>
            </a:r>
          </a:p>
          <a:p xmlns:a="http://schemas.openxmlformats.org/drawingml/2006/main">
            <a:r>
              <a:t>https://github.com/hst257/PolyGlot/blob/0b04aa2/src/polyglot/vm.py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All listed modules are under src/polyglot. This is a navigation map for implementation questions. The compiler orchestration is compiler.py. For a code demonstration, open compile_source first, then follow the stage the professor asks about. The source repository is https://github.com/hst257/PolyGlot.</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https://github.com/hst257/PolyGlot/blob/0b04aa2/src/polyglot/compiler.py</a:t>
            </a:r>
          </a:p>
          <a:p xmlns:a="http://schemas.openxmlformats.org/drawingml/2006/main">
            <a:r>
              <a:t>https://github.com/hst257/PolyGlot/blob/0b04aa2/docs/architecture.md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Use n carefully. Source length and program input size are different quantities. The parser uses deterministic dispatch and bounded lookahead, but approximately linear behavior is a design objective rather than a formal complexity or timing benchmark. Do not assert that the entire compiler, especially fixed-point analysis, is O(n). The original control-flow structure generally determines runtime Big-O. Our measured 17-versus-5 case demonstrates fewer executed instructions, not speed versus C, Java or Python.</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https://github.com/hst257/PolyGlot/blob/0b04aa2/docs/architecture.md</a:t>
            </a:r>
          </a:p>
          <a:p xmlns:a="http://schemas.openxmlformats.org/drawingml/2006/main">
            <a:r>
              <a:t>https://github.com/hst257/PolyGlot/blob/0b04aa2/src/polyglot/analysis.py</a:t>
            </a:r>
          </a:p>
          <a:p xmlns:a="http://schemas.openxmlformats.org/drawingml/2006/main">
            <a:r>
              <a:t>https://github.com/hst257/PolyGlot/blob/0b04aa2/src/polyglot/optimizer.py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These are concise answers to common questions. Expand with the architecture diagram or a concrete source example. Do not imply external runtimes execute each syntax. The compiler core uses standard Python facilities and our own algorithms. Pyodide is only the browser host runtime in the static version.</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https://github.com/hst257/PolyGlot/blob/0b04aa2/docs/architecture.md</a:t>
            </a:r>
          </a:p>
          <a:p xmlns:a="http://schemas.openxmlformats.org/drawingml/2006/main">
            <a:r>
              <a:t>https://github.com/hst257/PolyGlot/blob/0b04aa2/src/polyglot/compiler.py</a:t>
            </a:r>
          </a:p>
          <a:p xmlns:a="http://schemas.openxmlformats.org/drawingml/2006/main">
            <a:r>
              <a:t>https://github.com/hst257/PolyGlot/blob/0b04aa2/src/polyglot/codegen.py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These are suggested responsibilities, not claims about who implemented which code. Every member should understand slides 5 and 6 and be able to state the common architecture explanation. Presenter 1 hands tokens to Presenter 2. Presenter 2 hands checked AST to Presenter 3. Presenter 3 hands bytecode to Presenter 4. The main presentation ends at slide 32. Slides 33–36 are optional backup. Launch the local app in advance and keep the terminal open.</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references, repository snapshot 0b04aa2, 26 October 2026:</a:t>
            </a:r>
          </a:p>
          <a:p xmlns:a="http://schemas.openxmlformats.org/drawingml/2006/main">
            <a:r>
              <a:t>https://github.com/hst257/PolyGlot/blob/0b04aa2/README.md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2f9c038c3646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85f81ddae64c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76eea896d14b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8fdad42c80499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9996a8690e45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358bdd999348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2A0E71-3648-42A4-97FC-72D5F18D98A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93DCA8-297F-4AA1-9528-098FF427415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79C445-2D9C-48C0-A74B-C7D1C8C3544B}"/>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D2A8B8-99D7-4FFE-861C-6DE06A8D0AB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8B19AB-9D24-471E-914C-7057E815FEB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95BFC16-AA97-44F8-AE3B-9553F9C8DE3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7F9E13-5E1C-4373-AAE7-EBCCAC22328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C389A4-0334-4A27-8B20-49F3AE88002E}"/>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B3BC23-68C4-4E4B-891E-1E31E6A90C8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5C3C7A-921C-48C8-BC35-9A16BCC749CE}"/>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005b3c0ba44a30" /><Relationship Type="http://schemas.openxmlformats.org/officeDocument/2006/relationships/slideLayout" Target="/ppt/slideLayouts/slideLayout1.xml" Id="R28b2cc983c18424a" /><Relationship Type="http://schemas.openxmlformats.org/officeDocument/2006/relationships/slideLayout" Target="/ppt/slideLayouts/slideLayout2.xml" Id="R659c8790a680493a" /><Relationship Type="http://schemas.openxmlformats.org/officeDocument/2006/relationships/slideLayout" Target="/ppt/slideLayouts/slideLayout3.xml" Id="Rbe12c5a8ffb546d9" /><Relationship Type="http://schemas.openxmlformats.org/officeDocument/2006/relationships/slideLayout" Target="/ppt/slideLayouts/slideLayout4.xml" Id="Rb37e9242e966478c" /><Relationship Type="http://schemas.openxmlformats.org/officeDocument/2006/relationships/slideLayout" Target="/ppt/slideLayouts/slideLayout5.xml" Id="R4f8d43bcca3f4fc1" /><Relationship Type="http://schemas.openxmlformats.org/officeDocument/2006/relationships/slideLayout" Target="/ppt/slideLayouts/slideLayout6.xml" Id="R7a1cdd81efc046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b2cc983c18424a"/>
    <p:sldLayoutId xmlns:r="http://schemas.openxmlformats.org/officeDocument/2006/relationships" id="2147483650" r:id="R659c8790a680493a"/>
    <p:sldLayoutId xmlns:r="http://schemas.openxmlformats.org/officeDocument/2006/relationships" id="2147483651" r:id="Rbe12c5a8ffb546d9"/>
    <p:sldLayoutId xmlns:r="http://schemas.openxmlformats.org/officeDocument/2006/relationships" id="2147483652" r:id="Rb37e9242e966478c"/>
    <p:sldLayoutId xmlns:r="http://schemas.openxmlformats.org/officeDocument/2006/relationships" id="2147483653" r:id="R4f8d43bcca3f4fc1"/>
    <p:sldLayoutId xmlns:r="http://schemas.openxmlformats.org/officeDocument/2006/relationships" id="2147483654" r:id="R7a1cdd81efc046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a8690a5170a4cb9" /><Relationship Type="http://schemas.openxmlformats.org/officeDocument/2006/relationships/notesSlide" Target="/ppt/notesSlides/notesSlide1.xml" Id="Rf74d394412ff47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36e7826f0724254" /><Relationship Type="http://schemas.openxmlformats.org/officeDocument/2006/relationships/notesSlide" Target="/ppt/notesSlides/notesSlide2.xml" Id="Rd11b9ed8625f44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9f49d975bf487f" /><Relationship Type="http://schemas.openxmlformats.org/officeDocument/2006/relationships/notesSlide" Target="/ppt/notesSlides/notesSlide3.xml" Id="Rc9555a5107fc41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cbe4f72bac442c" /><Relationship Type="http://schemas.openxmlformats.org/officeDocument/2006/relationships/notesSlide" Target="/ppt/notesSlides/notesSlide4.xml" Id="R210eaf8fde374c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35f27ecdc449e5" /><Relationship Type="http://schemas.openxmlformats.org/officeDocument/2006/relationships/notesSlide" Target="/ppt/notesSlides/notesSlide5.xml" Id="Rc7f7380f02694c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2b1f81a2ad04d60" /><Relationship Type="http://schemas.openxmlformats.org/officeDocument/2006/relationships/notesSlide" Target="/ppt/notesSlides/notesSlide6.xml" Id="Re81aacdc9da94a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00d1a50e21f492c" /><Relationship Type="http://schemas.openxmlformats.org/officeDocument/2006/relationships/notesSlide" Target="/ppt/notesSlides/notesSlide7.xml" Id="R014405506e7147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095006d119f4990" /><Relationship Type="http://schemas.openxmlformats.org/officeDocument/2006/relationships/notesSlide" Target="/ppt/notesSlides/notesSlide8.xml" Id="Rc4ed909f9c414a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47e4f1e3eb4323" /><Relationship Type="http://schemas.openxmlformats.org/officeDocument/2006/relationships/notesSlide" Target="/ppt/notesSlides/notesSlide9.xml" Id="Re6b57bc0bc324e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7d7ac42c81e4025" /><Relationship Type="http://schemas.openxmlformats.org/officeDocument/2006/relationships/notesSlide" Target="/ppt/notesSlides/notesSlide10.xml" Id="R577fa742576240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41e88e8d514af9" /><Relationship Type="http://schemas.openxmlformats.org/officeDocument/2006/relationships/notesSlide" Target="/ppt/notesSlides/notesSlide11.xml" Id="R997f4f423e664d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b14d422e83c4373" /><Relationship Type="http://schemas.openxmlformats.org/officeDocument/2006/relationships/notesSlide" Target="/ppt/notesSlides/notesSlide12.xml" Id="Raea627c774584bc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869d17773a34dad" /><Relationship Type="http://schemas.openxmlformats.org/officeDocument/2006/relationships/notesSlide" Target="/ppt/notesSlides/notesSlide13.xml" Id="R53a0c4be541a48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ffcf867fab3497b" /><Relationship Type="http://schemas.openxmlformats.org/officeDocument/2006/relationships/notesSlide" Target="/ppt/notesSlides/notesSlide14.xml" Id="Rf8e6fe2c50ae41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6c3ed38d6e74217" /><Relationship Type="http://schemas.openxmlformats.org/officeDocument/2006/relationships/notesSlide" Target="/ppt/notesSlides/notesSlide15.xml" Id="R5a127e58722f45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78ec8eeece4de3" /><Relationship Type="http://schemas.openxmlformats.org/officeDocument/2006/relationships/notesSlide" Target="/ppt/notesSlides/notesSlide16.xml" Id="Rca1da3c3986d4b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ca78beed42647ed" /><Relationship Type="http://schemas.openxmlformats.org/officeDocument/2006/relationships/notesSlide" Target="/ppt/notesSlides/notesSlide17.xml" Id="R994aeda6ef924fc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86b20220f1f4235" /><Relationship Type="http://schemas.openxmlformats.org/officeDocument/2006/relationships/chart" Target="/ppt/slides/charts/chart1.xml" Id="Rb8e444464ede44ce" /><Relationship Type="http://schemas.openxmlformats.org/officeDocument/2006/relationships/notesSlide" Target="/ppt/notesSlides/notesSlide18.xml" Id="Rb88eade941164e0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d354bc0d6204a27" /><Relationship Type="http://schemas.openxmlformats.org/officeDocument/2006/relationships/notesSlide" Target="/ppt/notesSlides/notesSlide19.xml" Id="R6aab46d4ed67438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051c3ad59cf4609" /><Relationship Type="http://schemas.openxmlformats.org/officeDocument/2006/relationships/notesSlide" Target="/ppt/notesSlides/notesSlide20.xml" Id="Rbc826fa7b1de452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7b5520fb3484001" /><Relationship Type="http://schemas.openxmlformats.org/officeDocument/2006/relationships/notesSlide" Target="/ppt/notesSlides/notesSlide21.xml" Id="Rb7227bdb9507402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ba10070eddc47d9" /><Relationship Type="http://schemas.openxmlformats.org/officeDocument/2006/relationships/notesSlide" Target="/ppt/notesSlides/notesSlide22.xml" Id="R4ba57d2335954eb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44541c317ec412e" /><Relationship Type="http://schemas.openxmlformats.org/officeDocument/2006/relationships/notesSlide" Target="/ppt/notesSlides/notesSlide23.xml" Id="R47a1a6c748114f9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090ac8337c940cd" /><Relationship Type="http://schemas.openxmlformats.org/officeDocument/2006/relationships/notesSlide" Target="/ppt/notesSlides/notesSlide24.xml" Id="R9eca8c26e4fc45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26c277b67d94dcb" /><Relationship Type="http://schemas.openxmlformats.org/officeDocument/2006/relationships/image" Target="/ppt/media/image.jpeg" Id="R96929c5204f04abb" /><Relationship Type="http://schemas.openxmlformats.org/officeDocument/2006/relationships/notesSlide" Target="/ppt/notesSlides/notesSlide25.xml" Id="R1df5699b5864414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c0fcf69fa6a4530" /><Relationship Type="http://schemas.openxmlformats.org/officeDocument/2006/relationships/image" Target="/ppt/media/image.png" Id="R0367367e01dd41f9" /><Relationship Type="http://schemas.openxmlformats.org/officeDocument/2006/relationships/notesSlide" Target="/ppt/notesSlides/notesSlide26.xml" Id="R2a94270e88c1496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18a95cbbfa740d3" /><Relationship Type="http://schemas.openxmlformats.org/officeDocument/2006/relationships/image" Target="/ppt/media/image2.png" Id="Rc68e684ee54f4fa9" /><Relationship Type="http://schemas.openxmlformats.org/officeDocument/2006/relationships/image" Target="/ppt/media/image3.png" Id="R9035a6d63d01405a" /><Relationship Type="http://schemas.openxmlformats.org/officeDocument/2006/relationships/notesSlide" Target="/ppt/notesSlides/notesSlide27.xml" Id="Rae02a14dc7e6415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0cb967011e74db5" /><Relationship Type="http://schemas.openxmlformats.org/officeDocument/2006/relationships/notesSlide" Target="/ppt/notesSlides/notesSlide28.xml" Id="R206b016cfb8546d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d393172af9543b4" /><Relationship Type="http://schemas.openxmlformats.org/officeDocument/2006/relationships/notesSlide" Target="/ppt/notesSlides/notesSlide29.xml" Id="R739b92ca63b5433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ab8a37c0a1b43a7" /><Relationship Type="http://schemas.openxmlformats.org/officeDocument/2006/relationships/notesSlide" Target="/ppt/notesSlides/notesSlide30.xml" Id="Rd9e196dcde9e4eb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ad7c4251e764d63" /><Relationship Type="http://schemas.openxmlformats.org/officeDocument/2006/relationships/notesSlide" Target="/ppt/notesSlides/notesSlide31.xml" Id="R553965ee71404e0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d88641bf4c54b68" /><Relationship Type="http://schemas.openxmlformats.org/officeDocument/2006/relationships/notesSlide" Target="/ppt/notesSlides/notesSlide32.xml" Id="R2cbdf4f0bb61427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7f597f50dbc4974" /><Relationship Type="http://schemas.openxmlformats.org/officeDocument/2006/relationships/notesSlide" Target="/ppt/notesSlides/notesSlide33.xml" Id="Re4674da1104b43e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a2d80fc7f63490c" /><Relationship Type="http://schemas.openxmlformats.org/officeDocument/2006/relationships/notesSlide" Target="/ppt/notesSlides/notesSlide34.xml" Id="R9f7df6de66254a9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ce822ccd6634ec2" /><Relationship Type="http://schemas.openxmlformats.org/officeDocument/2006/relationships/notesSlide" Target="/ppt/notesSlides/notesSlide35.xml" Id="Rbaf7ffb2065e469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8bbe9a28fe04a0d" /><Relationship Type="http://schemas.openxmlformats.org/officeDocument/2006/relationships/notesSlide" Target="/ppt/notesSlides/notesSlide36.xml" Id="Rd1e9c2b20de54be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Executed VM instructions</c:v>
          </c:tx>
          <c:spPr>
            <a:solidFill xmlns:a="http://schemas.openxmlformats.org/drawingml/2006/main">
              <a:srgbClr val="2956D7"/>
            </a:solidFill>
          </c:spPr>
          <c:invertIfNegative val="0"/>
          <c:dPt>
            <c:idx val="0"/>
            <c:invertIfNegative val="0"/>
            <c:spPr>
              <a:solidFill xmlns:a="http://schemas.openxmlformats.org/drawingml/2006/main">
                <a:srgbClr val="778DAA"/>
              </a:solidFill>
            </c:spPr>
          </c:dPt>
          <c:dPt>
            <c:idx val="1"/>
            <c:invertIfNegative val="0"/>
            <c:spPr>
              <a:solidFill xmlns:a="http://schemas.openxmlformats.org/drawingml/2006/main">
                <a:srgbClr val="76D9C3"/>
              </a:solidFill>
            </c:spPr>
          </c:dPt>
          <c:cat>
            <c:strRef>
              <c:f>'Chart Data'!$A$2:$A$3</c:f>
              <c:strCache>
                <c:ptCount val="2"/>
                <c:pt idx="0">
                  <c:v>Unoptimized</c:v>
                </c:pt>
                <c:pt idx="1">
                  <c:v>Optimized</c:v>
                </c:pt>
              </c:strCache>
            </c:strRef>
          </c:cat>
          <c:val>
            <c:numRef>
              <c:f>'Chart Data'!$B$2:$B$3</c:f>
              <c:numCache>
                <c:formatCode>General</c:formatCode>
                <c:ptCount val="2"/>
                <c:pt idx="0">
                  <c:v>17</c:v>
                </c:pt>
                <c:pt idx="1">
                  <c:v>5</c:v>
                </c:pt>
              </c:numCache>
            </c:numRef>
          </c:val>
        </c:ser>
        <c:dLbls>
          <c:txPr>
            <a:bodyPr xmlns:a="http://schemas.openxmlformats.org/drawingml/2006/main" anchorCtr="1"/>
            <a:lstStyle xmlns:a="http://schemas.openxmlformats.org/drawingml/2006/main"/>
            <a:p xmlns:a="http://schemas.openxmlformats.org/drawingml/2006/main">
              <a:pPr>
                <a:defRPr sz="2775" b="1">
                  <a:solidFill>
                    <a:srgbClr val="FFFFFF"/>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9525">
              <a:solidFill>
                <a:srgbClr val="34496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025">
                <a:solidFill>
                  <a:srgbClr val="B5C7DE"/>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325">
                <a:solidFill>
                  <a:srgbClr val="FFFFFF"/>
                </a:solidFill>
                <a:latin typeface="Arial"/>
                <a:ea typeface="Arial"/>
                <a:cs typeface="Arial"/>
              </a:defRPr>
            </a:pPr>
          </a:p>
        </c:txPr>
        <c:crossAx val="48650112"/>
        <c:crossBetween val="between"/>
      </c:valAx>
      <c:spPr>
        <a:solidFill xmlns:a="http://schemas.openxmlformats.org/drawingml/2006/main">
          <a:srgbClr val="101D31"/>
        </a:solidFill>
      </c:spPr>
    </c:plotArea>
    <c:plotVisOnly val="1"/>
  </c:chart>
  <c:spPr>
    <a:solidFill xmlns:a="http://schemas.openxmlformats.org/drawingml/2006/main">
      <a:srgbClr val="101D3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sp>
        <p:nvSpPr>
          <p:cNvPr id="6" name="PolyGlot">
            <a:extLst xmlns:a="http://schemas.openxmlformats.org/drawingml/2006/main">
              <a:ext uri="{FF2B5EF4-FFF2-40B4-BE49-F238E27FC236}">
                <a16:creationId xmlns:a16="http://schemas.microsoft.com/office/drawing/2014/main" id="{4DF13FE5-6EC4-46B2-8D5B-EAF3A1687E53}"/>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PolyGlot</a:t>
            </a:r>
          </a:p>
        </p:txBody>
      </p:sp>
      <p:sp>
        <p:nvSpPr>
          <p:cNvPr id="2" name="01">
            <a:extLst xmlns:a="http://schemas.openxmlformats.org/drawingml/2006/main">
              <a:ext uri="{FF2B5EF4-FFF2-40B4-BE49-F238E27FC236}">
                <a16:creationId xmlns:a16="http://schemas.microsoft.com/office/drawing/2014/main" id="{C5700153-404C-4C7A-8C21-C15E51CC13A5}"/>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5C7DE"/>
                </a:solidFill>
                <a:latin typeface="Arial"/>
                <a:ea typeface="Arial"/>
                <a:cs typeface="Arial"/>
              </a:defRPr>
            </a:defPPr>
            <a:lvl1pPr algn="r">
              <a:defRPr sz="1500" b="0">
                <a:solidFill>
                  <a:srgbClr val="B5C7DE"/>
                </a:solidFill>
                <a:latin typeface="Arial"/>
                <a:ea typeface="Arial"/>
                <a:cs typeface="Arial"/>
              </a:defRPr>
            </a:lvl1pPr>
            <a:lvl2pPr algn="r">
              <a:defRPr sz="1500" b="0">
                <a:solidFill>
                  <a:srgbClr val="B5C7DE"/>
                </a:solidFill>
                <a:latin typeface="Arial"/>
                <a:ea typeface="Arial"/>
                <a:cs typeface="Arial"/>
              </a:defRPr>
            </a:lvl2pPr>
            <a:lvl3pPr algn="r">
              <a:defRPr sz="1500" b="0">
                <a:solidFill>
                  <a:srgbClr val="B5C7DE"/>
                </a:solidFill>
                <a:latin typeface="Arial"/>
                <a:ea typeface="Arial"/>
                <a:cs typeface="Arial"/>
              </a:defRPr>
            </a:lvl3pPr>
            <a:lvl4pPr algn="r">
              <a:defRPr sz="1500" b="0">
                <a:solidFill>
                  <a:srgbClr val="B5C7DE"/>
                </a:solidFill>
                <a:latin typeface="Arial"/>
                <a:ea typeface="Arial"/>
                <a:cs typeface="Arial"/>
              </a:defRPr>
            </a:lvl4pPr>
            <a:lvl5pPr algn="r">
              <a:defRPr sz="1500" b="0">
                <a:solidFill>
                  <a:srgbClr val="B5C7DE"/>
                </a:solidFill>
                <a:latin typeface="Arial"/>
                <a:ea typeface="Arial"/>
                <a:cs typeface="Arial"/>
              </a:defRPr>
            </a:lvl5pPr>
            <a:lvl6pPr algn="r">
              <a:defRPr sz="1500" b="0">
                <a:solidFill>
                  <a:srgbClr val="B5C7DE"/>
                </a:solidFill>
                <a:latin typeface="Arial"/>
                <a:ea typeface="Arial"/>
                <a:cs typeface="Arial"/>
              </a:defRPr>
            </a:lvl6pPr>
            <a:lvl7pPr algn="r">
              <a:defRPr sz="1500" b="0">
                <a:solidFill>
                  <a:srgbClr val="B5C7DE"/>
                </a:solidFill>
                <a:latin typeface="Arial"/>
                <a:ea typeface="Arial"/>
                <a:cs typeface="Arial"/>
              </a:defRPr>
            </a:lvl7pPr>
            <a:lvl8pPr algn="r">
              <a:defRPr sz="1500" b="0">
                <a:solidFill>
                  <a:srgbClr val="B5C7DE"/>
                </a:solidFill>
                <a:latin typeface="Arial"/>
                <a:ea typeface="Arial"/>
                <a:cs typeface="Arial"/>
              </a:defRPr>
            </a:lvl8pPr>
            <a:lvl9pPr algn="r">
              <a:defRPr sz="1500" b="0">
                <a:solidFill>
                  <a:srgbClr val="B5C7DE"/>
                </a:solidFill>
                <a:latin typeface="Arial"/>
                <a:ea typeface="Arial"/>
                <a:cs typeface="Arial"/>
              </a:defRPr>
            </a:lvl9pPr>
          </a:lstStyle>
          <a:p xmlns:a="http://schemas.openxmlformats.org/drawingml/2006/main">
            <a:pPr algn="r">
              <a:defRPr sz="1500" b="0">
                <a:solidFill>
                  <a:srgbClr val="B5C7DE"/>
                </a:solidFill>
                <a:latin typeface="Arial"/>
                <a:ea typeface="Arial"/>
                <a:cs typeface="Arial"/>
              </a:defRPr>
            </a:pPr>
            <a:r>
              <a:rPr sz="1500" b="0">
                <a:solidFill>
                  <a:srgbClr val="B5C7DE"/>
                </a:solidFill>
                <a:latin typeface="Arial"/>
                <a:ea typeface="Arial"/>
                <a:cs typeface="Arial"/>
              </a:rPr>
              <a:t>01</a:t>
            </a:r>
          </a:p>
        </p:txBody>
      </p:sp>
      <p:sp>
        <p:nvSpPr>
          <p:cNvPr id="3" name="A compiler for&#10;mixed syntax">
            <a:extLst xmlns:a="http://schemas.openxmlformats.org/drawingml/2006/main">
              <a:ext uri="{FF2B5EF4-FFF2-40B4-BE49-F238E27FC236}">
                <a16:creationId xmlns:a16="http://schemas.microsoft.com/office/drawing/2014/main" id="{FF1697F7-E2FC-4DB6-9B41-0CD10D098391}"/>
              </a:ext>
            </a:extLst>
          </p:cNvPr>
          <p:cNvSpPr>
            <a:spLocks xmlns:a="http://schemas.openxmlformats.org/drawingml/2006/main" noGrp="1"/>
          </p:cNvSpPr>
          <p:nvPr/>
        </p:nvSpPr>
        <p:spPr>
          <a:xfrm xmlns:a="http://schemas.openxmlformats.org/drawingml/2006/main">
            <a:off x="762000" y="2343150"/>
            <a:ext cx="12573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200" b="1">
                <a:solidFill>
                  <a:srgbClr val="FFFFFF"/>
                </a:solidFill>
                <a:latin typeface="Arial"/>
                <a:ea typeface="Arial"/>
                <a:cs typeface="Arial"/>
              </a:defRPr>
            </a:defPPr>
            <a:lvl1pPr algn="l">
              <a:defRPr sz="7200" b="1">
                <a:solidFill>
                  <a:srgbClr val="FFFFFF"/>
                </a:solidFill>
                <a:latin typeface="Arial"/>
                <a:ea typeface="Arial"/>
                <a:cs typeface="Arial"/>
              </a:defRPr>
            </a:lvl1pPr>
            <a:lvl2pPr algn="l">
              <a:defRPr sz="7200" b="1">
                <a:solidFill>
                  <a:srgbClr val="FFFFFF"/>
                </a:solidFill>
                <a:latin typeface="Arial"/>
                <a:ea typeface="Arial"/>
                <a:cs typeface="Arial"/>
              </a:defRPr>
            </a:lvl2pPr>
            <a:lvl3pPr algn="l">
              <a:defRPr sz="7200" b="1">
                <a:solidFill>
                  <a:srgbClr val="FFFFFF"/>
                </a:solidFill>
                <a:latin typeface="Arial"/>
                <a:ea typeface="Arial"/>
                <a:cs typeface="Arial"/>
              </a:defRPr>
            </a:lvl3pPr>
            <a:lvl4pPr algn="l">
              <a:defRPr sz="7200" b="1">
                <a:solidFill>
                  <a:srgbClr val="FFFFFF"/>
                </a:solidFill>
                <a:latin typeface="Arial"/>
                <a:ea typeface="Arial"/>
                <a:cs typeface="Arial"/>
              </a:defRPr>
            </a:lvl4pPr>
            <a:lvl5pPr algn="l">
              <a:defRPr sz="7200" b="1">
                <a:solidFill>
                  <a:srgbClr val="FFFFFF"/>
                </a:solidFill>
                <a:latin typeface="Arial"/>
                <a:ea typeface="Arial"/>
                <a:cs typeface="Arial"/>
              </a:defRPr>
            </a:lvl5pPr>
            <a:lvl6pPr algn="l">
              <a:defRPr sz="7200" b="1">
                <a:solidFill>
                  <a:srgbClr val="FFFFFF"/>
                </a:solidFill>
                <a:latin typeface="Arial"/>
                <a:ea typeface="Arial"/>
                <a:cs typeface="Arial"/>
              </a:defRPr>
            </a:lvl6pPr>
            <a:lvl7pPr algn="l">
              <a:defRPr sz="7200" b="1">
                <a:solidFill>
                  <a:srgbClr val="FFFFFF"/>
                </a:solidFill>
                <a:latin typeface="Arial"/>
                <a:ea typeface="Arial"/>
                <a:cs typeface="Arial"/>
              </a:defRPr>
            </a:lvl7pPr>
            <a:lvl8pPr algn="l">
              <a:defRPr sz="7200" b="1">
                <a:solidFill>
                  <a:srgbClr val="FFFFFF"/>
                </a:solidFill>
                <a:latin typeface="Arial"/>
                <a:ea typeface="Arial"/>
                <a:cs typeface="Arial"/>
              </a:defRPr>
            </a:lvl8pPr>
            <a:lvl9pPr algn="l">
              <a:defRPr sz="7200" b="1">
                <a:solidFill>
                  <a:srgbClr val="FFFFFF"/>
                </a:solidFill>
                <a:latin typeface="Arial"/>
                <a:ea typeface="Arial"/>
                <a:cs typeface="Arial"/>
              </a:defRPr>
            </a:lvl9pPr>
          </a:lstStyle>
          <a:p xmlns:a="http://schemas.openxmlformats.org/drawingml/2006/main">
            <a:pPr algn="l">
              <a:defRPr sz="7200" b="1">
                <a:solidFill>
                  <a:srgbClr val="FFFFFF"/>
                </a:solidFill>
                <a:latin typeface="Arial"/>
                <a:ea typeface="Arial"/>
                <a:cs typeface="Arial"/>
              </a:defRPr>
            </a:pPr>
            <a:r>
              <a:rPr sz="7200" b="1">
                <a:solidFill>
                  <a:srgbClr val="FFFFFF"/>
                </a:solidFill>
                <a:latin typeface="Arial"/>
                <a:ea typeface="Arial"/>
                <a:cs typeface="Arial"/>
              </a:rPr>
              <a:t>A compiler for</a:t>
            </a:r>
          </a:p>
          <a:p xmlns:a="http://schemas.openxmlformats.org/drawingml/2006/main">
            <a:pPr algn="l">
              <a:defRPr sz="7200" b="1">
                <a:solidFill>
                  <a:srgbClr val="FFFFFF"/>
                </a:solidFill>
                <a:latin typeface="Arial"/>
                <a:ea typeface="Arial"/>
                <a:cs typeface="Arial"/>
              </a:defRPr>
            </a:pPr>
            <a:r>
              <a:rPr sz="7200" b="1">
                <a:solidFill>
                  <a:srgbClr val="FFFFFF"/>
                </a:solidFill>
                <a:latin typeface="Arial"/>
                <a:ea typeface="Arial"/>
                <a:cs typeface="Arial"/>
              </a:rPr>
              <a:t>mixed syntax</a:t>
            </a:r>
          </a:p>
        </p:txBody>
      </p:sp>
      <p:sp>
        <p:nvSpPr>
          <p:cNvPr id="4" name="Shared semantics. Typed IR. Custom bytecode.">
            <a:extLst xmlns:a="http://schemas.openxmlformats.org/drawingml/2006/main">
              <a:ext uri="{FF2B5EF4-FFF2-40B4-BE49-F238E27FC236}">
                <a16:creationId xmlns:a16="http://schemas.microsoft.com/office/drawing/2014/main" id="{C49A8A19-8D5B-4D84-B1FE-365250B9A611}"/>
              </a:ext>
            </a:extLst>
          </p:cNvPr>
          <p:cNvSpPr>
            <a:spLocks xmlns:a="http://schemas.openxmlformats.org/drawingml/2006/main" noGrp="1"/>
          </p:cNvSpPr>
          <p:nvPr/>
        </p:nvSpPr>
        <p:spPr>
          <a:xfrm xmlns:a="http://schemas.openxmlformats.org/drawingml/2006/main">
            <a:off x="809625" y="5200650"/>
            <a:ext cx="1333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76D9C3"/>
                </a:solidFill>
                <a:latin typeface="Arial"/>
                <a:ea typeface="Arial"/>
                <a:cs typeface="Arial"/>
              </a:defRPr>
            </a:defPPr>
            <a:lvl1pPr algn="l">
              <a:defRPr sz="3000" b="0">
                <a:solidFill>
                  <a:srgbClr val="76D9C3"/>
                </a:solidFill>
                <a:latin typeface="Arial"/>
                <a:ea typeface="Arial"/>
                <a:cs typeface="Arial"/>
              </a:defRPr>
            </a:lvl1pPr>
            <a:lvl2pPr algn="l">
              <a:defRPr sz="3000" b="0">
                <a:solidFill>
                  <a:srgbClr val="76D9C3"/>
                </a:solidFill>
                <a:latin typeface="Arial"/>
                <a:ea typeface="Arial"/>
                <a:cs typeface="Arial"/>
              </a:defRPr>
            </a:lvl2pPr>
            <a:lvl3pPr algn="l">
              <a:defRPr sz="3000" b="0">
                <a:solidFill>
                  <a:srgbClr val="76D9C3"/>
                </a:solidFill>
                <a:latin typeface="Arial"/>
                <a:ea typeface="Arial"/>
                <a:cs typeface="Arial"/>
              </a:defRPr>
            </a:lvl3pPr>
            <a:lvl4pPr algn="l">
              <a:defRPr sz="3000" b="0">
                <a:solidFill>
                  <a:srgbClr val="76D9C3"/>
                </a:solidFill>
                <a:latin typeface="Arial"/>
                <a:ea typeface="Arial"/>
                <a:cs typeface="Arial"/>
              </a:defRPr>
            </a:lvl4pPr>
            <a:lvl5pPr algn="l">
              <a:defRPr sz="3000" b="0">
                <a:solidFill>
                  <a:srgbClr val="76D9C3"/>
                </a:solidFill>
                <a:latin typeface="Arial"/>
                <a:ea typeface="Arial"/>
                <a:cs typeface="Arial"/>
              </a:defRPr>
            </a:lvl5pPr>
            <a:lvl6pPr algn="l">
              <a:defRPr sz="3000" b="0">
                <a:solidFill>
                  <a:srgbClr val="76D9C3"/>
                </a:solidFill>
                <a:latin typeface="Arial"/>
                <a:ea typeface="Arial"/>
                <a:cs typeface="Arial"/>
              </a:defRPr>
            </a:lvl6pPr>
            <a:lvl7pPr algn="l">
              <a:defRPr sz="3000" b="0">
                <a:solidFill>
                  <a:srgbClr val="76D9C3"/>
                </a:solidFill>
                <a:latin typeface="Arial"/>
                <a:ea typeface="Arial"/>
                <a:cs typeface="Arial"/>
              </a:defRPr>
            </a:lvl7pPr>
            <a:lvl8pPr algn="l">
              <a:defRPr sz="3000" b="0">
                <a:solidFill>
                  <a:srgbClr val="76D9C3"/>
                </a:solidFill>
                <a:latin typeface="Arial"/>
                <a:ea typeface="Arial"/>
                <a:cs typeface="Arial"/>
              </a:defRPr>
            </a:lvl8pPr>
            <a:lvl9pPr algn="l">
              <a:defRPr sz="3000" b="0">
                <a:solidFill>
                  <a:srgbClr val="76D9C3"/>
                </a:solidFill>
                <a:latin typeface="Arial"/>
                <a:ea typeface="Arial"/>
                <a:cs typeface="Arial"/>
              </a:defRPr>
            </a:lvl9pPr>
          </a:lstStyle>
          <a:p xmlns:a="http://schemas.openxmlformats.org/drawingml/2006/main">
            <a:pPr algn="l">
              <a:defRPr sz="3000" b="0">
                <a:solidFill>
                  <a:srgbClr val="76D9C3"/>
                </a:solidFill>
                <a:latin typeface="Arial"/>
                <a:ea typeface="Arial"/>
                <a:cs typeface="Arial"/>
              </a:defRPr>
            </a:pPr>
            <a:r>
              <a:rPr sz="3000" b="0">
                <a:solidFill>
                  <a:srgbClr val="76D9C3"/>
                </a:solidFill>
                <a:latin typeface="Arial"/>
                <a:ea typeface="Arial"/>
                <a:cs typeface="Arial"/>
              </a:rPr>
              <a:t>Shared semantics. Typed IR. Custom bytecode.</a:t>
            </a:r>
          </a:p>
        </p:txBody>
      </p:sp>
      <p:sp>
        <p:nvSpPr>
          <p:cNvPr id="5" name="Compiler Design Project">
            <a:extLst xmlns:a="http://schemas.openxmlformats.org/drawingml/2006/main">
              <a:ext uri="{FF2B5EF4-FFF2-40B4-BE49-F238E27FC236}">
                <a16:creationId xmlns:a16="http://schemas.microsoft.com/office/drawing/2014/main" id="{B7CB33C4-5631-40ED-8F57-8B170314F5F1}"/>
              </a:ext>
            </a:extLst>
          </p:cNvPr>
          <p:cNvSpPr>
            <a:spLocks xmlns:a="http://schemas.openxmlformats.org/drawingml/2006/main" noGrp="1"/>
          </p:cNvSpPr>
          <p:nvPr/>
        </p:nvSpPr>
        <p:spPr>
          <a:xfrm xmlns:a="http://schemas.openxmlformats.org/drawingml/2006/main">
            <a:off x="809625" y="6905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5C7DE"/>
                </a:solidFill>
                <a:latin typeface="Arial"/>
                <a:ea typeface="Arial"/>
                <a:cs typeface="Arial"/>
              </a:defRPr>
            </a:defPPr>
            <a:lvl1pPr algn="l">
              <a:defRPr sz="2250" b="0">
                <a:solidFill>
                  <a:srgbClr val="B5C7DE"/>
                </a:solidFill>
                <a:latin typeface="Arial"/>
                <a:ea typeface="Arial"/>
                <a:cs typeface="Arial"/>
              </a:defRPr>
            </a:lvl1pPr>
            <a:lvl2pPr algn="l">
              <a:defRPr sz="2250" b="0">
                <a:solidFill>
                  <a:srgbClr val="B5C7DE"/>
                </a:solidFill>
                <a:latin typeface="Arial"/>
                <a:ea typeface="Arial"/>
                <a:cs typeface="Arial"/>
              </a:defRPr>
            </a:lvl2pPr>
            <a:lvl3pPr algn="l">
              <a:defRPr sz="2250" b="0">
                <a:solidFill>
                  <a:srgbClr val="B5C7DE"/>
                </a:solidFill>
                <a:latin typeface="Arial"/>
                <a:ea typeface="Arial"/>
                <a:cs typeface="Arial"/>
              </a:defRPr>
            </a:lvl3pPr>
            <a:lvl4pPr algn="l">
              <a:defRPr sz="2250" b="0">
                <a:solidFill>
                  <a:srgbClr val="B5C7DE"/>
                </a:solidFill>
                <a:latin typeface="Arial"/>
                <a:ea typeface="Arial"/>
                <a:cs typeface="Arial"/>
              </a:defRPr>
            </a:lvl4pPr>
            <a:lvl5pPr algn="l">
              <a:defRPr sz="2250" b="0">
                <a:solidFill>
                  <a:srgbClr val="B5C7DE"/>
                </a:solidFill>
                <a:latin typeface="Arial"/>
                <a:ea typeface="Arial"/>
                <a:cs typeface="Arial"/>
              </a:defRPr>
            </a:lvl5pPr>
            <a:lvl6pPr algn="l">
              <a:defRPr sz="2250" b="0">
                <a:solidFill>
                  <a:srgbClr val="B5C7DE"/>
                </a:solidFill>
                <a:latin typeface="Arial"/>
                <a:ea typeface="Arial"/>
                <a:cs typeface="Arial"/>
              </a:defRPr>
            </a:lvl6pPr>
            <a:lvl7pPr algn="l">
              <a:defRPr sz="2250" b="0">
                <a:solidFill>
                  <a:srgbClr val="B5C7DE"/>
                </a:solidFill>
                <a:latin typeface="Arial"/>
                <a:ea typeface="Arial"/>
                <a:cs typeface="Arial"/>
              </a:defRPr>
            </a:lvl7pPr>
            <a:lvl8pPr algn="l">
              <a:defRPr sz="2250" b="0">
                <a:solidFill>
                  <a:srgbClr val="B5C7DE"/>
                </a:solidFill>
                <a:latin typeface="Arial"/>
                <a:ea typeface="Arial"/>
                <a:cs typeface="Arial"/>
              </a:defRPr>
            </a:lvl8pPr>
            <a:lvl9pPr algn="l">
              <a:defRPr sz="2250" b="0">
                <a:solidFill>
                  <a:srgbClr val="B5C7DE"/>
                </a:solidFill>
                <a:latin typeface="Arial"/>
                <a:ea typeface="Arial"/>
                <a:cs typeface="Arial"/>
              </a:defRPr>
            </a:lvl9pPr>
          </a:lstStyle>
          <a:p xmlns:a="http://schemas.openxmlformats.org/drawingml/2006/main">
            <a:pPr algn="l">
              <a:defRPr sz="2250" b="0">
                <a:solidFill>
                  <a:srgbClr val="B5C7DE"/>
                </a:solidFill>
                <a:latin typeface="Arial"/>
                <a:ea typeface="Arial"/>
                <a:cs typeface="Arial"/>
              </a:defRPr>
            </a:pPr>
            <a:r>
              <a:rPr sz="2250" b="0">
                <a:solidFill>
                  <a:srgbClr val="B5C7DE"/>
                </a:solidFill>
                <a:latin typeface="Arial"/>
                <a:ea typeface="Arial"/>
                <a:cs typeface="Arial"/>
              </a:rPr>
              <a:t>Compiler Design Project</a:t>
            </a:r>
          </a:p>
        </p:txBody>
      </p:sp>
    </p:spTree>
    <p:extLst>
      <p:ext uri="{BB962C8B-B14F-4D97-AF65-F5344CB8AC3E}">
        <p14:creationId xmlns:p14="http://schemas.microsoft.com/office/powerpoint/2010/main" val="1563460513"/>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The problem and our approach">
            <a:extLst xmlns:a="http://schemas.openxmlformats.org/drawingml/2006/main">
              <a:ext uri="{FF2B5EF4-FFF2-40B4-BE49-F238E27FC236}">
                <a16:creationId xmlns:a16="http://schemas.microsoft.com/office/drawing/2014/main" id="{D17D91F8-51BA-4EA4-92EC-EEE7C4FC2A9F}"/>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The problem and our approach</a:t>
            </a:r>
          </a:p>
        </p:txBody>
      </p:sp>
      <p:sp>
        <p:nvSpPr>
          <p:cNvPr id="2" name="Familiar syntax can share a common compiler implementat">
            <a:extLst xmlns:a="http://schemas.openxmlformats.org/drawingml/2006/main">
              <a:ext uri="{FF2B5EF4-FFF2-40B4-BE49-F238E27FC236}">
                <a16:creationId xmlns:a16="http://schemas.microsoft.com/office/drawing/2014/main" id="{3791F604-CB40-4E1C-8AA9-0E6256249803}"/>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Familiar syntax can share a common compiler implementation</a:t>
            </a:r>
          </a:p>
        </p:txBody>
      </p:sp>
      <p:sp>
        <p:nvSpPr>
          <p:cNvPr id="3" name="02">
            <a:extLst xmlns:a="http://schemas.openxmlformats.org/drawingml/2006/main">
              <a:ext uri="{FF2B5EF4-FFF2-40B4-BE49-F238E27FC236}">
                <a16:creationId xmlns:a16="http://schemas.microsoft.com/office/drawing/2014/main" id="{CB5E143E-5314-4908-99EE-359BC7D1BB89}"/>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02</a:t>
            </a:r>
          </a:p>
        </p:txBody>
      </p:sp>
      <p:sp>
        <p:nvSpPr>
          <p:cNvPr id="4" name="The problem">
            <a:extLst xmlns:a="http://schemas.openxmlformats.org/drawingml/2006/main">
              <a:ext uri="{FF2B5EF4-FFF2-40B4-BE49-F238E27FC236}">
                <a16:creationId xmlns:a16="http://schemas.microsoft.com/office/drawing/2014/main" id="{F9F294BA-CEAE-4480-BC29-275B032574F5}"/>
              </a:ext>
            </a:extLst>
          </p:cNvPr>
          <p:cNvSpPr>
            <a:spLocks xmlns:a="http://schemas.openxmlformats.org/drawingml/2006/main" noGrp="1"/>
          </p:cNvSpPr>
          <p:nvPr/>
        </p:nvSpPr>
        <p:spPr>
          <a:xfrm xmlns:a="http://schemas.openxmlformats.org/drawingml/2006/main">
            <a:off x="762000" y="27051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596577"/>
                </a:solidFill>
                <a:latin typeface="Arial"/>
                <a:ea typeface="Arial"/>
                <a:cs typeface="Arial"/>
              </a:defRPr>
            </a:defPPr>
            <a:lvl1pPr algn="l">
              <a:defRPr sz="3000" b="1">
                <a:solidFill>
                  <a:srgbClr val="596577"/>
                </a:solidFill>
                <a:latin typeface="Arial"/>
                <a:ea typeface="Arial"/>
                <a:cs typeface="Arial"/>
              </a:defRPr>
            </a:lvl1pPr>
            <a:lvl2pPr algn="l">
              <a:defRPr sz="3000" b="1">
                <a:solidFill>
                  <a:srgbClr val="596577"/>
                </a:solidFill>
                <a:latin typeface="Arial"/>
                <a:ea typeface="Arial"/>
                <a:cs typeface="Arial"/>
              </a:defRPr>
            </a:lvl2pPr>
            <a:lvl3pPr algn="l">
              <a:defRPr sz="3000" b="1">
                <a:solidFill>
                  <a:srgbClr val="596577"/>
                </a:solidFill>
                <a:latin typeface="Arial"/>
                <a:ea typeface="Arial"/>
                <a:cs typeface="Arial"/>
              </a:defRPr>
            </a:lvl3pPr>
            <a:lvl4pPr algn="l">
              <a:defRPr sz="3000" b="1">
                <a:solidFill>
                  <a:srgbClr val="596577"/>
                </a:solidFill>
                <a:latin typeface="Arial"/>
                <a:ea typeface="Arial"/>
                <a:cs typeface="Arial"/>
              </a:defRPr>
            </a:lvl4pPr>
            <a:lvl5pPr algn="l">
              <a:defRPr sz="3000" b="1">
                <a:solidFill>
                  <a:srgbClr val="596577"/>
                </a:solidFill>
                <a:latin typeface="Arial"/>
                <a:ea typeface="Arial"/>
                <a:cs typeface="Arial"/>
              </a:defRPr>
            </a:lvl5pPr>
            <a:lvl6pPr algn="l">
              <a:defRPr sz="3000" b="1">
                <a:solidFill>
                  <a:srgbClr val="596577"/>
                </a:solidFill>
                <a:latin typeface="Arial"/>
                <a:ea typeface="Arial"/>
                <a:cs typeface="Arial"/>
              </a:defRPr>
            </a:lvl6pPr>
            <a:lvl7pPr algn="l">
              <a:defRPr sz="3000" b="1">
                <a:solidFill>
                  <a:srgbClr val="596577"/>
                </a:solidFill>
                <a:latin typeface="Arial"/>
                <a:ea typeface="Arial"/>
                <a:cs typeface="Arial"/>
              </a:defRPr>
            </a:lvl7pPr>
            <a:lvl8pPr algn="l">
              <a:defRPr sz="3000" b="1">
                <a:solidFill>
                  <a:srgbClr val="596577"/>
                </a:solidFill>
                <a:latin typeface="Arial"/>
                <a:ea typeface="Arial"/>
                <a:cs typeface="Arial"/>
              </a:defRPr>
            </a:lvl8pPr>
            <a:lvl9pPr algn="l">
              <a:defRPr sz="3000" b="1">
                <a:solidFill>
                  <a:srgbClr val="596577"/>
                </a:solidFill>
                <a:latin typeface="Arial"/>
                <a:ea typeface="Arial"/>
                <a:cs typeface="Arial"/>
              </a:defRPr>
            </a:lvl9pPr>
          </a:lstStyle>
          <a:p xmlns:a="http://schemas.openxmlformats.org/drawingml/2006/main">
            <a:pPr algn="l">
              <a:defRPr sz="3000" b="1">
                <a:solidFill>
                  <a:srgbClr val="596577"/>
                </a:solidFill>
                <a:latin typeface="Arial"/>
                <a:ea typeface="Arial"/>
                <a:cs typeface="Arial"/>
              </a:defRPr>
            </a:pPr>
            <a:r>
              <a:rPr sz="3000" b="1">
                <a:solidFill>
                  <a:srgbClr val="596577"/>
                </a:solidFill>
                <a:latin typeface="Arial"/>
                <a:ea typeface="Arial"/>
                <a:cs typeface="Arial"/>
              </a:rPr>
              <a:t>The problem</a:t>
            </a:r>
          </a:p>
        </p:txBody>
      </p:sp>
      <p:sp>
        <p:nvSpPr>
          <p:cNvPr id="5" name="Different syntax usually means&#10;different tools and runt">
            <a:extLst xmlns:a="http://schemas.openxmlformats.org/drawingml/2006/main">
              <a:ext uri="{FF2B5EF4-FFF2-40B4-BE49-F238E27FC236}">
                <a16:creationId xmlns:a16="http://schemas.microsoft.com/office/drawing/2014/main" id="{68268DCA-B21E-4674-8CDF-28E1ABBDBF7D}"/>
              </a:ext>
            </a:extLst>
          </p:cNvPr>
          <p:cNvSpPr>
            <a:spLocks xmlns:a="http://schemas.openxmlformats.org/drawingml/2006/main" noGrp="1"/>
          </p:cNvSpPr>
          <p:nvPr/>
        </p:nvSpPr>
        <p:spPr>
          <a:xfrm xmlns:a="http://schemas.openxmlformats.org/drawingml/2006/main">
            <a:off x="762000" y="3543300"/>
            <a:ext cx="609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73C"/>
                </a:solidFill>
                <a:latin typeface="Arial"/>
                <a:ea typeface="Arial"/>
                <a:cs typeface="Arial"/>
              </a:defRPr>
            </a:defPPr>
            <a:lvl1pPr algn="l">
              <a:defRPr sz="3225" b="1">
                <a:solidFill>
                  <a:srgbClr val="17273C"/>
                </a:solidFill>
                <a:latin typeface="Arial"/>
                <a:ea typeface="Arial"/>
                <a:cs typeface="Arial"/>
              </a:defRPr>
            </a:lvl1pPr>
            <a:lvl2pPr algn="l">
              <a:defRPr sz="3225" b="1">
                <a:solidFill>
                  <a:srgbClr val="17273C"/>
                </a:solidFill>
                <a:latin typeface="Arial"/>
                <a:ea typeface="Arial"/>
                <a:cs typeface="Arial"/>
              </a:defRPr>
            </a:lvl2pPr>
            <a:lvl3pPr algn="l">
              <a:defRPr sz="3225" b="1">
                <a:solidFill>
                  <a:srgbClr val="17273C"/>
                </a:solidFill>
                <a:latin typeface="Arial"/>
                <a:ea typeface="Arial"/>
                <a:cs typeface="Arial"/>
              </a:defRPr>
            </a:lvl3pPr>
            <a:lvl4pPr algn="l">
              <a:defRPr sz="3225" b="1">
                <a:solidFill>
                  <a:srgbClr val="17273C"/>
                </a:solidFill>
                <a:latin typeface="Arial"/>
                <a:ea typeface="Arial"/>
                <a:cs typeface="Arial"/>
              </a:defRPr>
            </a:lvl4pPr>
            <a:lvl5pPr algn="l">
              <a:defRPr sz="3225" b="1">
                <a:solidFill>
                  <a:srgbClr val="17273C"/>
                </a:solidFill>
                <a:latin typeface="Arial"/>
                <a:ea typeface="Arial"/>
                <a:cs typeface="Arial"/>
              </a:defRPr>
            </a:lvl5pPr>
            <a:lvl6pPr algn="l">
              <a:defRPr sz="3225" b="1">
                <a:solidFill>
                  <a:srgbClr val="17273C"/>
                </a:solidFill>
                <a:latin typeface="Arial"/>
                <a:ea typeface="Arial"/>
                <a:cs typeface="Arial"/>
              </a:defRPr>
            </a:lvl6pPr>
            <a:lvl7pPr algn="l">
              <a:defRPr sz="3225" b="1">
                <a:solidFill>
                  <a:srgbClr val="17273C"/>
                </a:solidFill>
                <a:latin typeface="Arial"/>
                <a:ea typeface="Arial"/>
                <a:cs typeface="Arial"/>
              </a:defRPr>
            </a:lvl7pPr>
            <a:lvl8pPr algn="l">
              <a:defRPr sz="3225" b="1">
                <a:solidFill>
                  <a:srgbClr val="17273C"/>
                </a:solidFill>
                <a:latin typeface="Arial"/>
                <a:ea typeface="Arial"/>
                <a:cs typeface="Arial"/>
              </a:defRPr>
            </a:lvl8pPr>
            <a:lvl9pPr algn="l">
              <a:defRPr sz="3225" b="1">
                <a:solidFill>
                  <a:srgbClr val="17273C"/>
                </a:solidFill>
                <a:latin typeface="Arial"/>
                <a:ea typeface="Arial"/>
                <a:cs typeface="Arial"/>
              </a:defRPr>
            </a:lvl9pPr>
          </a:lstStyle>
          <a:p xmlns:a="http://schemas.openxmlformats.org/drawingml/2006/main">
            <a:pPr algn="l">
              <a:defRPr sz="3225" b="1">
                <a:solidFill>
                  <a:srgbClr val="17273C"/>
                </a:solidFill>
                <a:latin typeface="Arial"/>
                <a:ea typeface="Arial"/>
                <a:cs typeface="Arial"/>
              </a:defRPr>
            </a:pPr>
            <a:r>
              <a:rPr sz="3225" b="1">
                <a:solidFill>
                  <a:srgbClr val="17273C"/>
                </a:solidFill>
                <a:latin typeface="Arial"/>
                <a:ea typeface="Arial"/>
                <a:cs typeface="Arial"/>
              </a:rPr>
              <a:t>Different syntax usually means</a:t>
            </a:r>
          </a:p>
          <a:p xmlns:a="http://schemas.openxmlformats.org/drawingml/2006/main">
            <a:pPr algn="l">
              <a:defRPr sz="3225" b="1">
                <a:solidFill>
                  <a:srgbClr val="17273C"/>
                </a:solidFill>
                <a:latin typeface="Arial"/>
                <a:ea typeface="Arial"/>
                <a:cs typeface="Arial"/>
              </a:defRPr>
            </a:pPr>
            <a:r>
              <a:rPr sz="3225" b="1">
                <a:solidFill>
                  <a:srgbClr val="17273C"/>
                </a:solidFill>
                <a:latin typeface="Arial"/>
                <a:ea typeface="Arial"/>
                <a:cs typeface="Arial"/>
              </a:rPr>
              <a:t>different tools and runtimes.</a:t>
            </a:r>
          </a:p>
        </p:txBody>
      </p:sp>
      <p:sp>
        <p:nvSpPr>
          <p:cNvPr id="6" name="Our approach">
            <a:extLst xmlns:a="http://schemas.openxmlformats.org/drawingml/2006/main">
              <a:ext uri="{FF2B5EF4-FFF2-40B4-BE49-F238E27FC236}">
                <a16:creationId xmlns:a16="http://schemas.microsoft.com/office/drawing/2014/main" id="{EB5DB825-4C6E-4084-A9D5-9723E1104474}"/>
              </a:ext>
            </a:extLst>
          </p:cNvPr>
          <p:cNvSpPr>
            <a:spLocks xmlns:a="http://schemas.openxmlformats.org/drawingml/2006/main" noGrp="1"/>
          </p:cNvSpPr>
          <p:nvPr/>
        </p:nvSpPr>
        <p:spPr>
          <a:xfrm xmlns:a="http://schemas.openxmlformats.org/drawingml/2006/main">
            <a:off x="8334375" y="2705100"/>
            <a:ext cx="600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56D7"/>
                </a:solidFill>
                <a:latin typeface="Arial"/>
                <a:ea typeface="Arial"/>
                <a:cs typeface="Arial"/>
              </a:defRPr>
            </a:defPPr>
            <a:lvl1pPr algn="l">
              <a:defRPr sz="3000" b="1">
                <a:solidFill>
                  <a:srgbClr val="2956D7"/>
                </a:solidFill>
                <a:latin typeface="Arial"/>
                <a:ea typeface="Arial"/>
                <a:cs typeface="Arial"/>
              </a:defRPr>
            </a:lvl1pPr>
            <a:lvl2pPr algn="l">
              <a:defRPr sz="3000" b="1">
                <a:solidFill>
                  <a:srgbClr val="2956D7"/>
                </a:solidFill>
                <a:latin typeface="Arial"/>
                <a:ea typeface="Arial"/>
                <a:cs typeface="Arial"/>
              </a:defRPr>
            </a:lvl2pPr>
            <a:lvl3pPr algn="l">
              <a:defRPr sz="3000" b="1">
                <a:solidFill>
                  <a:srgbClr val="2956D7"/>
                </a:solidFill>
                <a:latin typeface="Arial"/>
                <a:ea typeface="Arial"/>
                <a:cs typeface="Arial"/>
              </a:defRPr>
            </a:lvl3pPr>
            <a:lvl4pPr algn="l">
              <a:defRPr sz="3000" b="1">
                <a:solidFill>
                  <a:srgbClr val="2956D7"/>
                </a:solidFill>
                <a:latin typeface="Arial"/>
                <a:ea typeface="Arial"/>
                <a:cs typeface="Arial"/>
              </a:defRPr>
            </a:lvl4pPr>
            <a:lvl5pPr algn="l">
              <a:defRPr sz="3000" b="1">
                <a:solidFill>
                  <a:srgbClr val="2956D7"/>
                </a:solidFill>
                <a:latin typeface="Arial"/>
                <a:ea typeface="Arial"/>
                <a:cs typeface="Arial"/>
              </a:defRPr>
            </a:lvl5pPr>
            <a:lvl6pPr algn="l">
              <a:defRPr sz="3000" b="1">
                <a:solidFill>
                  <a:srgbClr val="2956D7"/>
                </a:solidFill>
                <a:latin typeface="Arial"/>
                <a:ea typeface="Arial"/>
                <a:cs typeface="Arial"/>
              </a:defRPr>
            </a:lvl6pPr>
            <a:lvl7pPr algn="l">
              <a:defRPr sz="3000" b="1">
                <a:solidFill>
                  <a:srgbClr val="2956D7"/>
                </a:solidFill>
                <a:latin typeface="Arial"/>
                <a:ea typeface="Arial"/>
                <a:cs typeface="Arial"/>
              </a:defRPr>
            </a:lvl7pPr>
            <a:lvl8pPr algn="l">
              <a:defRPr sz="3000" b="1">
                <a:solidFill>
                  <a:srgbClr val="2956D7"/>
                </a:solidFill>
                <a:latin typeface="Arial"/>
                <a:ea typeface="Arial"/>
                <a:cs typeface="Arial"/>
              </a:defRPr>
            </a:lvl8pPr>
            <a:lvl9pPr algn="l">
              <a:defRPr sz="3000" b="1">
                <a:solidFill>
                  <a:srgbClr val="2956D7"/>
                </a:solidFill>
                <a:latin typeface="Arial"/>
                <a:ea typeface="Arial"/>
                <a:cs typeface="Arial"/>
              </a:defRPr>
            </a:lvl9pPr>
          </a:lstStyle>
          <a:p xmlns:a="http://schemas.openxmlformats.org/drawingml/2006/main">
            <a:pPr algn="l">
              <a:defRPr sz="3000" b="1">
                <a:solidFill>
                  <a:srgbClr val="2956D7"/>
                </a:solidFill>
                <a:latin typeface="Arial"/>
                <a:ea typeface="Arial"/>
                <a:cs typeface="Arial"/>
              </a:defRPr>
            </a:pPr>
            <a:r>
              <a:rPr sz="3000" b="1">
                <a:solidFill>
                  <a:srgbClr val="2956D7"/>
                </a:solidFill>
                <a:latin typeface="Arial"/>
                <a:ea typeface="Arial"/>
                <a:cs typeface="Arial"/>
              </a:rPr>
              <a:t>Our approach</a:t>
            </a:r>
          </a:p>
        </p:txBody>
      </p:sp>
      <p:sp>
        <p:nvSpPr>
          <p:cNvPr id="7" name="Normalize accepted constructs&#10;into one internal languag">
            <a:extLst xmlns:a="http://schemas.openxmlformats.org/drawingml/2006/main">
              <a:ext uri="{FF2B5EF4-FFF2-40B4-BE49-F238E27FC236}">
                <a16:creationId xmlns:a16="http://schemas.microsoft.com/office/drawing/2014/main" id="{1D901504-B60A-41E7-AC31-647A8C8931CE}"/>
              </a:ext>
            </a:extLst>
          </p:cNvPr>
          <p:cNvSpPr>
            <a:spLocks xmlns:a="http://schemas.openxmlformats.org/drawingml/2006/main" noGrp="1"/>
          </p:cNvSpPr>
          <p:nvPr/>
        </p:nvSpPr>
        <p:spPr>
          <a:xfrm xmlns:a="http://schemas.openxmlformats.org/drawingml/2006/main">
            <a:off x="8334375" y="3543300"/>
            <a:ext cx="6000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73C"/>
                </a:solidFill>
                <a:latin typeface="Arial"/>
                <a:ea typeface="Arial"/>
                <a:cs typeface="Arial"/>
              </a:defRPr>
            </a:defPPr>
            <a:lvl1pPr algn="l">
              <a:defRPr sz="3225" b="1">
                <a:solidFill>
                  <a:srgbClr val="17273C"/>
                </a:solidFill>
                <a:latin typeface="Arial"/>
                <a:ea typeface="Arial"/>
                <a:cs typeface="Arial"/>
              </a:defRPr>
            </a:lvl1pPr>
            <a:lvl2pPr algn="l">
              <a:defRPr sz="3225" b="1">
                <a:solidFill>
                  <a:srgbClr val="17273C"/>
                </a:solidFill>
                <a:latin typeface="Arial"/>
                <a:ea typeface="Arial"/>
                <a:cs typeface="Arial"/>
              </a:defRPr>
            </a:lvl2pPr>
            <a:lvl3pPr algn="l">
              <a:defRPr sz="3225" b="1">
                <a:solidFill>
                  <a:srgbClr val="17273C"/>
                </a:solidFill>
                <a:latin typeface="Arial"/>
                <a:ea typeface="Arial"/>
                <a:cs typeface="Arial"/>
              </a:defRPr>
            </a:lvl3pPr>
            <a:lvl4pPr algn="l">
              <a:defRPr sz="3225" b="1">
                <a:solidFill>
                  <a:srgbClr val="17273C"/>
                </a:solidFill>
                <a:latin typeface="Arial"/>
                <a:ea typeface="Arial"/>
                <a:cs typeface="Arial"/>
              </a:defRPr>
            </a:lvl4pPr>
            <a:lvl5pPr algn="l">
              <a:defRPr sz="3225" b="1">
                <a:solidFill>
                  <a:srgbClr val="17273C"/>
                </a:solidFill>
                <a:latin typeface="Arial"/>
                <a:ea typeface="Arial"/>
                <a:cs typeface="Arial"/>
              </a:defRPr>
            </a:lvl5pPr>
            <a:lvl6pPr algn="l">
              <a:defRPr sz="3225" b="1">
                <a:solidFill>
                  <a:srgbClr val="17273C"/>
                </a:solidFill>
                <a:latin typeface="Arial"/>
                <a:ea typeface="Arial"/>
                <a:cs typeface="Arial"/>
              </a:defRPr>
            </a:lvl6pPr>
            <a:lvl7pPr algn="l">
              <a:defRPr sz="3225" b="1">
                <a:solidFill>
                  <a:srgbClr val="17273C"/>
                </a:solidFill>
                <a:latin typeface="Arial"/>
                <a:ea typeface="Arial"/>
                <a:cs typeface="Arial"/>
              </a:defRPr>
            </a:lvl7pPr>
            <a:lvl8pPr algn="l">
              <a:defRPr sz="3225" b="1">
                <a:solidFill>
                  <a:srgbClr val="17273C"/>
                </a:solidFill>
                <a:latin typeface="Arial"/>
                <a:ea typeface="Arial"/>
                <a:cs typeface="Arial"/>
              </a:defRPr>
            </a:lvl8pPr>
            <a:lvl9pPr algn="l">
              <a:defRPr sz="3225" b="1">
                <a:solidFill>
                  <a:srgbClr val="17273C"/>
                </a:solidFill>
                <a:latin typeface="Arial"/>
                <a:ea typeface="Arial"/>
                <a:cs typeface="Arial"/>
              </a:defRPr>
            </a:lvl9pPr>
          </a:lstStyle>
          <a:p xmlns:a="http://schemas.openxmlformats.org/drawingml/2006/main">
            <a:pPr algn="l">
              <a:defRPr sz="3225" b="1">
                <a:solidFill>
                  <a:srgbClr val="17273C"/>
                </a:solidFill>
                <a:latin typeface="Arial"/>
                <a:ea typeface="Arial"/>
                <a:cs typeface="Arial"/>
              </a:defRPr>
            </a:pPr>
            <a:r>
              <a:rPr sz="3225" b="1">
                <a:solidFill>
                  <a:srgbClr val="17273C"/>
                </a:solidFill>
                <a:latin typeface="Arial"/>
                <a:ea typeface="Arial"/>
                <a:cs typeface="Arial"/>
              </a:rPr>
              <a:t>Normalize accepted constructs</a:t>
            </a:r>
          </a:p>
          <a:p xmlns:a="http://schemas.openxmlformats.org/drawingml/2006/main">
            <a:pPr algn="l">
              <a:defRPr sz="3225" b="1">
                <a:solidFill>
                  <a:srgbClr val="17273C"/>
                </a:solidFill>
                <a:latin typeface="Arial"/>
                <a:ea typeface="Arial"/>
                <a:cs typeface="Arial"/>
              </a:defRPr>
            </a:pPr>
            <a:r>
              <a:rPr sz="3225" b="1">
                <a:solidFill>
                  <a:srgbClr val="17273C"/>
                </a:solidFill>
                <a:latin typeface="Arial"/>
                <a:ea typeface="Arial"/>
                <a:cs typeface="Arial"/>
              </a:rPr>
              <a:t>into one internal language.</a:t>
            </a:r>
          </a:p>
        </p:txBody>
      </p:sp>
      <p:sp>
        <p:nvSpPr>
          <p:cNvPr id="8" name="The project studies syntax normalization and a complete">
            <a:extLst xmlns:a="http://schemas.openxmlformats.org/drawingml/2006/main">
              <a:ext uri="{FF2B5EF4-FFF2-40B4-BE49-F238E27FC236}">
                <a16:creationId xmlns:a16="http://schemas.microsoft.com/office/drawing/2014/main" id="{768AFE86-9711-439E-A679-CB7574579339}"/>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The project studies syntax normalization and a complete compiler pipeline.</a:t>
            </a:r>
          </a:p>
        </p:txBody>
      </p:sp>
    </p:spTree>
    <p:extLst>
      <p:ext uri="{BB962C8B-B14F-4D97-AF65-F5344CB8AC3E}">
        <p14:creationId xmlns:p14="http://schemas.microsoft.com/office/powerpoint/2010/main" val="494609737"/>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One program, several syntax families">
            <a:extLst xmlns:a="http://schemas.openxmlformats.org/drawingml/2006/main">
              <a:ext uri="{FF2B5EF4-FFF2-40B4-BE49-F238E27FC236}">
                <a16:creationId xmlns:a16="http://schemas.microsoft.com/office/drawing/2014/main" id="{14764D6E-9C77-4D08-BA75-6DA47F74E71D}"/>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One program, several syntax families</a:t>
            </a:r>
          </a:p>
        </p:txBody>
      </p:sp>
      <p:sp>
        <p:nvSpPr>
          <p:cNvPr id="2" name="Functions and variables interact through the same symbo">
            <a:extLst xmlns:a="http://schemas.openxmlformats.org/drawingml/2006/main">
              <a:ext uri="{FF2B5EF4-FFF2-40B4-BE49-F238E27FC236}">
                <a16:creationId xmlns:a16="http://schemas.microsoft.com/office/drawing/2014/main" id="{06F8CBDB-053B-4B83-B51E-D1CB1B6B7A6E}"/>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Functions and variables interact through the same symbol table</a:t>
            </a:r>
          </a:p>
        </p:txBody>
      </p:sp>
      <p:sp>
        <p:nvSpPr>
          <p:cNvPr id="3" name="03">
            <a:extLst xmlns:a="http://schemas.openxmlformats.org/drawingml/2006/main">
              <a:ext uri="{FF2B5EF4-FFF2-40B4-BE49-F238E27FC236}">
                <a16:creationId xmlns:a16="http://schemas.microsoft.com/office/drawing/2014/main" id="{2F3851D3-C2DC-4ACA-B1EF-91A6C3F1D36F}"/>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03</a:t>
            </a:r>
          </a:p>
        </p:txBody>
      </p:sp>
      <p:sp>
        <p:nvSpPr>
          <p:cNvPr id="4" name="int add(int a, int b) {&#10;    return a + b;&#10;}&#10;&#10;def twice(">
            <a:extLst xmlns:a="http://schemas.openxmlformats.org/drawingml/2006/main">
              <a:ext uri="{FF2B5EF4-FFF2-40B4-BE49-F238E27FC236}">
                <a16:creationId xmlns:a16="http://schemas.microsoft.com/office/drawing/2014/main" id="{162E99E3-97C7-403F-B5D1-3985018AD723}"/>
              </a:ext>
            </a:extLst>
          </p:cNvPr>
          <p:cNvSpPr>
            <a:spLocks xmlns:a="http://schemas.openxmlformats.org/drawingml/2006/main" noGrp="1"/>
          </p:cNvSpPr>
          <p:nvPr/>
        </p:nvSpPr>
        <p:spPr>
          <a:xfrm xmlns:a="http://schemas.openxmlformats.org/drawingml/2006/main">
            <a:off x="781050" y="2571750"/>
            <a:ext cx="9525000" cy="438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2237"/>
                </a:solidFill>
                <a:latin typeface="Courier New"/>
                <a:ea typeface="Courier New"/>
                <a:cs typeface="Courier New"/>
              </a:defRPr>
            </a:defPPr>
            <a:lvl1pPr algn="l">
              <a:defRPr sz="2250" b="0">
                <a:solidFill>
                  <a:srgbClr val="162237"/>
                </a:solidFill>
                <a:latin typeface="Courier New"/>
                <a:ea typeface="Courier New"/>
                <a:cs typeface="Courier New"/>
              </a:defRPr>
            </a:lvl1pPr>
            <a:lvl2pPr algn="l">
              <a:defRPr sz="2250" b="0">
                <a:solidFill>
                  <a:srgbClr val="162237"/>
                </a:solidFill>
                <a:latin typeface="Courier New"/>
                <a:ea typeface="Courier New"/>
                <a:cs typeface="Courier New"/>
              </a:defRPr>
            </a:lvl2pPr>
            <a:lvl3pPr algn="l">
              <a:defRPr sz="2250" b="0">
                <a:solidFill>
                  <a:srgbClr val="162237"/>
                </a:solidFill>
                <a:latin typeface="Courier New"/>
                <a:ea typeface="Courier New"/>
                <a:cs typeface="Courier New"/>
              </a:defRPr>
            </a:lvl3pPr>
            <a:lvl4pPr algn="l">
              <a:defRPr sz="2250" b="0">
                <a:solidFill>
                  <a:srgbClr val="162237"/>
                </a:solidFill>
                <a:latin typeface="Courier New"/>
                <a:ea typeface="Courier New"/>
                <a:cs typeface="Courier New"/>
              </a:defRPr>
            </a:lvl4pPr>
            <a:lvl5pPr algn="l">
              <a:defRPr sz="2250" b="0">
                <a:solidFill>
                  <a:srgbClr val="162237"/>
                </a:solidFill>
                <a:latin typeface="Courier New"/>
                <a:ea typeface="Courier New"/>
                <a:cs typeface="Courier New"/>
              </a:defRPr>
            </a:lvl5pPr>
            <a:lvl6pPr algn="l">
              <a:defRPr sz="2250" b="0">
                <a:solidFill>
                  <a:srgbClr val="162237"/>
                </a:solidFill>
                <a:latin typeface="Courier New"/>
                <a:ea typeface="Courier New"/>
                <a:cs typeface="Courier New"/>
              </a:defRPr>
            </a:lvl6pPr>
            <a:lvl7pPr algn="l">
              <a:defRPr sz="2250" b="0">
                <a:solidFill>
                  <a:srgbClr val="162237"/>
                </a:solidFill>
                <a:latin typeface="Courier New"/>
                <a:ea typeface="Courier New"/>
                <a:cs typeface="Courier New"/>
              </a:defRPr>
            </a:lvl7pPr>
            <a:lvl8pPr algn="l">
              <a:defRPr sz="2250" b="0">
                <a:solidFill>
                  <a:srgbClr val="162237"/>
                </a:solidFill>
                <a:latin typeface="Courier New"/>
                <a:ea typeface="Courier New"/>
                <a:cs typeface="Courier New"/>
              </a:defRPr>
            </a:lvl8pPr>
            <a:lvl9pPr algn="l">
              <a:defRPr sz="2250" b="0">
                <a:solidFill>
                  <a:srgbClr val="162237"/>
                </a:solidFill>
                <a:latin typeface="Courier New"/>
                <a:ea typeface="Courier New"/>
                <a:cs typeface="Courier New"/>
              </a:defRPr>
            </a:lvl9pPr>
          </a:lstStyle>
          <a:p xmlns:a="http://schemas.openxmlformats.org/drawingml/2006/main">
            <a:pPr algn="l">
              <a:defRPr sz="2250" b="0">
                <a:solidFill>
                  <a:srgbClr val="162237"/>
                </a:solidFill>
                <a:latin typeface="Courier New"/>
                <a:ea typeface="Courier New"/>
                <a:cs typeface="Courier New"/>
              </a:defRPr>
            </a:pPr>
            <a:r>
              <a:rPr sz="2250" b="0">
                <a:solidFill>
                  <a:srgbClr val="162237"/>
                </a:solidFill>
                <a:latin typeface="Courier New"/>
                <a:ea typeface="Courier New"/>
                <a:cs typeface="Courier New"/>
              </a:rPr>
              <a:t>int add(int a, int b) {</a:t>
            </a:r>
          </a:p>
          <a:p xmlns:a="http://schemas.openxmlformats.org/drawingml/2006/main">
            <a:pPr algn="l">
              <a:defRPr sz="2250" b="0">
                <a:solidFill>
                  <a:srgbClr val="162237"/>
                </a:solidFill>
                <a:latin typeface="Courier New"/>
                <a:ea typeface="Courier New"/>
                <a:cs typeface="Courier New"/>
              </a:defRPr>
            </a:pPr>
            <a:r>
              <a:rPr sz="2250" b="0">
                <a:solidFill>
                  <a:srgbClr val="162237"/>
                </a:solidFill>
                <a:latin typeface="Courier New"/>
                <a:ea typeface="Courier New"/>
                <a:cs typeface="Courier New"/>
              </a:rPr>
              <a:t>    return a + b;</a:t>
            </a:r>
          </a:p>
          <a:p xmlns:a="http://schemas.openxmlformats.org/drawingml/2006/main">
            <a:pPr algn="l">
              <a:defRPr sz="2250" b="0">
                <a:solidFill>
                  <a:srgbClr val="162237"/>
                </a:solidFill>
                <a:latin typeface="Courier New"/>
                <a:ea typeface="Courier New"/>
                <a:cs typeface="Courier New"/>
              </a:defRPr>
            </a:pPr>
            <a:r>
              <a:rPr sz="2250" b="0">
                <a:solidFill>
                  <a:srgbClr val="162237"/>
                </a:solidFill>
                <a:latin typeface="Courier New"/>
                <a:ea typeface="Courier New"/>
                <a:cs typeface="Courier New"/>
              </a:rPr>
              <a:t>}</a:t>
            </a:r>
          </a:p>
          <a:p xmlns:a="http://schemas.openxmlformats.org/drawingml/2006/main">
            <a:r>
              <a:t/>
            </a:r>
          </a:p>
          <a:p xmlns:a="http://schemas.openxmlformats.org/drawingml/2006/main">
            <a:pPr algn="l">
              <a:defRPr sz="2250" b="0">
                <a:solidFill>
                  <a:srgbClr val="162237"/>
                </a:solidFill>
                <a:latin typeface="Courier New"/>
                <a:ea typeface="Courier New"/>
                <a:cs typeface="Courier New"/>
              </a:defRPr>
            </a:pPr>
            <a:r>
              <a:rPr sz="2250" b="0">
                <a:solidFill>
                  <a:srgbClr val="162237"/>
                </a:solidFill>
                <a:latin typeface="Courier New"/>
                <a:ea typeface="Courier New"/>
                <a:cs typeface="Courier New"/>
              </a:rPr>
              <a:t>def twice(value: int) -&gt; int:</a:t>
            </a:r>
          </a:p>
          <a:p xmlns:a="http://schemas.openxmlformats.org/drawingml/2006/main">
            <a:pPr algn="l">
              <a:defRPr sz="2250" b="0">
                <a:solidFill>
                  <a:srgbClr val="162237"/>
                </a:solidFill>
                <a:latin typeface="Courier New"/>
                <a:ea typeface="Courier New"/>
                <a:cs typeface="Courier New"/>
              </a:defRPr>
            </a:pPr>
            <a:r>
              <a:rPr sz="2250" b="0">
                <a:solidFill>
                  <a:srgbClr val="162237"/>
                </a:solidFill>
                <a:latin typeface="Courier New"/>
                <a:ea typeface="Courier New"/>
                <a:cs typeface="Courier New"/>
              </a:rPr>
              <a:t>    return add(value, value)</a:t>
            </a:r>
          </a:p>
          <a:p xmlns:a="http://schemas.openxmlformats.org/drawingml/2006/main">
            <a:r>
              <a:t/>
            </a:r>
          </a:p>
          <a:p xmlns:a="http://schemas.openxmlformats.org/drawingml/2006/main">
            <a:pPr algn="l">
              <a:defRPr sz="2250" b="0">
                <a:solidFill>
                  <a:srgbClr val="162237"/>
                </a:solidFill>
                <a:latin typeface="Courier New"/>
                <a:ea typeface="Courier New"/>
                <a:cs typeface="Courier New"/>
              </a:defRPr>
            </a:pPr>
            <a:r>
              <a:rPr sz="2250" b="0">
                <a:solidFill>
                  <a:srgbClr val="162237"/>
                </a:solidFill>
                <a:latin typeface="Courier New"/>
                <a:ea typeface="Courier New"/>
                <a:cs typeface="Courier New"/>
              </a:rPr>
              <a:t>LET base = 3</a:t>
            </a:r>
          </a:p>
          <a:p xmlns:a="http://schemas.openxmlformats.org/drawingml/2006/main">
            <a:pPr algn="l">
              <a:defRPr sz="2250" b="0">
                <a:solidFill>
                  <a:srgbClr val="162237"/>
                </a:solidFill>
                <a:latin typeface="Courier New"/>
                <a:ea typeface="Courier New"/>
                <a:cs typeface="Courier New"/>
              </a:defRPr>
            </a:pPr>
            <a:r>
              <a:rPr sz="2250" b="0">
                <a:solidFill>
                  <a:srgbClr val="162237"/>
                </a:solidFill>
                <a:latin typeface="Courier New"/>
                <a:ea typeface="Courier New"/>
                <a:cs typeface="Courier New"/>
              </a:rPr>
              <a:t>console.log(twice(base));</a:t>
            </a:r>
          </a:p>
          <a:p xmlns:a="http://schemas.openxmlformats.org/drawingml/2006/main">
            <a:r>
              <a:t/>
            </a:r>
          </a:p>
        </p:txBody>
      </p:sp>
      <p:sp>
        <p:nvSpPr>
          <p:cNvPr id="5" name="Output">
            <a:extLst xmlns:a="http://schemas.openxmlformats.org/drawingml/2006/main">
              <a:ext uri="{FF2B5EF4-FFF2-40B4-BE49-F238E27FC236}">
                <a16:creationId xmlns:a16="http://schemas.microsoft.com/office/drawing/2014/main" id="{CE53D70C-251C-4C6C-9DD1-1D4A67F964D6}"/>
              </a:ext>
            </a:extLst>
          </p:cNvPr>
          <p:cNvSpPr>
            <a:spLocks xmlns:a="http://schemas.openxmlformats.org/drawingml/2006/main" noGrp="1"/>
          </p:cNvSpPr>
          <p:nvPr/>
        </p:nvSpPr>
        <p:spPr>
          <a:xfrm xmlns:a="http://schemas.openxmlformats.org/drawingml/2006/main">
            <a:off x="11715750" y="295275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956D7"/>
                </a:solidFill>
                <a:latin typeface="Arial"/>
                <a:ea typeface="Arial"/>
                <a:cs typeface="Arial"/>
              </a:defRPr>
            </a:defPPr>
            <a:lvl1pPr algn="l">
              <a:defRPr sz="2850" b="1">
                <a:solidFill>
                  <a:srgbClr val="2956D7"/>
                </a:solidFill>
                <a:latin typeface="Arial"/>
                <a:ea typeface="Arial"/>
                <a:cs typeface="Arial"/>
              </a:defRPr>
            </a:lvl1pPr>
            <a:lvl2pPr algn="l">
              <a:defRPr sz="2850" b="1">
                <a:solidFill>
                  <a:srgbClr val="2956D7"/>
                </a:solidFill>
                <a:latin typeface="Arial"/>
                <a:ea typeface="Arial"/>
                <a:cs typeface="Arial"/>
              </a:defRPr>
            </a:lvl2pPr>
            <a:lvl3pPr algn="l">
              <a:defRPr sz="2850" b="1">
                <a:solidFill>
                  <a:srgbClr val="2956D7"/>
                </a:solidFill>
                <a:latin typeface="Arial"/>
                <a:ea typeface="Arial"/>
                <a:cs typeface="Arial"/>
              </a:defRPr>
            </a:lvl3pPr>
            <a:lvl4pPr algn="l">
              <a:defRPr sz="2850" b="1">
                <a:solidFill>
                  <a:srgbClr val="2956D7"/>
                </a:solidFill>
                <a:latin typeface="Arial"/>
                <a:ea typeface="Arial"/>
                <a:cs typeface="Arial"/>
              </a:defRPr>
            </a:lvl4pPr>
            <a:lvl5pPr algn="l">
              <a:defRPr sz="2850" b="1">
                <a:solidFill>
                  <a:srgbClr val="2956D7"/>
                </a:solidFill>
                <a:latin typeface="Arial"/>
                <a:ea typeface="Arial"/>
                <a:cs typeface="Arial"/>
              </a:defRPr>
            </a:lvl5pPr>
            <a:lvl6pPr algn="l">
              <a:defRPr sz="2850" b="1">
                <a:solidFill>
                  <a:srgbClr val="2956D7"/>
                </a:solidFill>
                <a:latin typeface="Arial"/>
                <a:ea typeface="Arial"/>
                <a:cs typeface="Arial"/>
              </a:defRPr>
            </a:lvl6pPr>
            <a:lvl7pPr algn="l">
              <a:defRPr sz="2850" b="1">
                <a:solidFill>
                  <a:srgbClr val="2956D7"/>
                </a:solidFill>
                <a:latin typeface="Arial"/>
                <a:ea typeface="Arial"/>
                <a:cs typeface="Arial"/>
              </a:defRPr>
            </a:lvl7pPr>
            <a:lvl8pPr algn="l">
              <a:defRPr sz="2850" b="1">
                <a:solidFill>
                  <a:srgbClr val="2956D7"/>
                </a:solidFill>
                <a:latin typeface="Arial"/>
                <a:ea typeface="Arial"/>
                <a:cs typeface="Arial"/>
              </a:defRPr>
            </a:lvl8pPr>
            <a:lvl9pPr algn="l">
              <a:defRPr sz="2850" b="1">
                <a:solidFill>
                  <a:srgbClr val="2956D7"/>
                </a:solidFill>
                <a:latin typeface="Arial"/>
                <a:ea typeface="Arial"/>
                <a:cs typeface="Arial"/>
              </a:defRPr>
            </a:lvl9pPr>
          </a:lstStyle>
          <a:p xmlns:a="http://schemas.openxmlformats.org/drawingml/2006/main">
            <a:pPr algn="l">
              <a:defRPr sz="2850" b="1">
                <a:solidFill>
                  <a:srgbClr val="2956D7"/>
                </a:solidFill>
                <a:latin typeface="Arial"/>
                <a:ea typeface="Arial"/>
                <a:cs typeface="Arial"/>
              </a:defRPr>
            </a:pPr>
            <a:r>
              <a:rPr sz="2850" b="1">
                <a:solidFill>
                  <a:srgbClr val="2956D7"/>
                </a:solidFill>
                <a:latin typeface="Arial"/>
                <a:ea typeface="Arial"/>
                <a:cs typeface="Arial"/>
              </a:rPr>
              <a:t>Output</a:t>
            </a:r>
          </a:p>
        </p:txBody>
      </p:sp>
      <p:sp>
        <p:nvSpPr>
          <p:cNvPr id="6" name="6">
            <a:extLst xmlns:a="http://schemas.openxmlformats.org/drawingml/2006/main">
              <a:ext uri="{FF2B5EF4-FFF2-40B4-BE49-F238E27FC236}">
                <a16:creationId xmlns:a16="http://schemas.microsoft.com/office/drawing/2014/main" id="{C6A7CDC1-4549-4532-8D8B-1AAE58202250}"/>
              </a:ext>
            </a:extLst>
          </p:cNvPr>
          <p:cNvSpPr>
            <a:spLocks xmlns:a="http://schemas.openxmlformats.org/drawingml/2006/main" noGrp="1"/>
          </p:cNvSpPr>
          <p:nvPr/>
        </p:nvSpPr>
        <p:spPr>
          <a:xfrm xmlns:a="http://schemas.openxmlformats.org/drawingml/2006/main">
            <a:off x="11715750" y="374332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0">
                <a:solidFill>
                  <a:srgbClr val="162237"/>
                </a:solidFill>
                <a:latin typeface="Courier New"/>
                <a:ea typeface="Courier New"/>
                <a:cs typeface="Courier New"/>
              </a:defRPr>
            </a:defPPr>
            <a:lvl1pPr algn="l">
              <a:defRPr sz="6600" b="0">
                <a:solidFill>
                  <a:srgbClr val="162237"/>
                </a:solidFill>
                <a:latin typeface="Courier New"/>
                <a:ea typeface="Courier New"/>
                <a:cs typeface="Courier New"/>
              </a:defRPr>
            </a:lvl1pPr>
            <a:lvl2pPr algn="l">
              <a:defRPr sz="6600" b="0">
                <a:solidFill>
                  <a:srgbClr val="162237"/>
                </a:solidFill>
                <a:latin typeface="Courier New"/>
                <a:ea typeface="Courier New"/>
                <a:cs typeface="Courier New"/>
              </a:defRPr>
            </a:lvl2pPr>
            <a:lvl3pPr algn="l">
              <a:defRPr sz="6600" b="0">
                <a:solidFill>
                  <a:srgbClr val="162237"/>
                </a:solidFill>
                <a:latin typeface="Courier New"/>
                <a:ea typeface="Courier New"/>
                <a:cs typeface="Courier New"/>
              </a:defRPr>
            </a:lvl3pPr>
            <a:lvl4pPr algn="l">
              <a:defRPr sz="6600" b="0">
                <a:solidFill>
                  <a:srgbClr val="162237"/>
                </a:solidFill>
                <a:latin typeface="Courier New"/>
                <a:ea typeface="Courier New"/>
                <a:cs typeface="Courier New"/>
              </a:defRPr>
            </a:lvl4pPr>
            <a:lvl5pPr algn="l">
              <a:defRPr sz="6600" b="0">
                <a:solidFill>
                  <a:srgbClr val="162237"/>
                </a:solidFill>
                <a:latin typeface="Courier New"/>
                <a:ea typeface="Courier New"/>
                <a:cs typeface="Courier New"/>
              </a:defRPr>
            </a:lvl5pPr>
            <a:lvl6pPr algn="l">
              <a:defRPr sz="6600" b="0">
                <a:solidFill>
                  <a:srgbClr val="162237"/>
                </a:solidFill>
                <a:latin typeface="Courier New"/>
                <a:ea typeface="Courier New"/>
                <a:cs typeface="Courier New"/>
              </a:defRPr>
            </a:lvl6pPr>
            <a:lvl7pPr algn="l">
              <a:defRPr sz="6600" b="0">
                <a:solidFill>
                  <a:srgbClr val="162237"/>
                </a:solidFill>
                <a:latin typeface="Courier New"/>
                <a:ea typeface="Courier New"/>
                <a:cs typeface="Courier New"/>
              </a:defRPr>
            </a:lvl7pPr>
            <a:lvl8pPr algn="l">
              <a:defRPr sz="6600" b="0">
                <a:solidFill>
                  <a:srgbClr val="162237"/>
                </a:solidFill>
                <a:latin typeface="Courier New"/>
                <a:ea typeface="Courier New"/>
                <a:cs typeface="Courier New"/>
              </a:defRPr>
            </a:lvl8pPr>
            <a:lvl9pPr algn="l">
              <a:defRPr sz="6600" b="0">
                <a:solidFill>
                  <a:srgbClr val="162237"/>
                </a:solidFill>
                <a:latin typeface="Courier New"/>
                <a:ea typeface="Courier New"/>
                <a:cs typeface="Courier New"/>
              </a:defRPr>
            </a:lvl9pPr>
          </a:lstStyle>
          <a:p xmlns:a="http://schemas.openxmlformats.org/drawingml/2006/main">
            <a:pPr algn="l">
              <a:defRPr sz="6600" b="0">
                <a:solidFill>
                  <a:srgbClr val="162237"/>
                </a:solidFill>
                <a:latin typeface="Courier New"/>
                <a:ea typeface="Courier New"/>
                <a:cs typeface="Courier New"/>
              </a:defRPr>
            </a:pPr>
            <a:r>
              <a:rPr sz="6600" b="0">
                <a:solidFill>
                  <a:srgbClr val="162237"/>
                </a:solidFill>
                <a:latin typeface="Courier New"/>
                <a:ea typeface="Courier New"/>
                <a:cs typeface="Courier New"/>
              </a:rPr>
              <a:t>6</a:t>
            </a:r>
          </a:p>
        </p:txBody>
      </p:sp>
      <p:sp>
        <p:nvSpPr>
          <p:cNvPr id="7" name="C-style function&#10;Python-style function&#10;BASIC assignment">
            <a:extLst xmlns:a="http://schemas.openxmlformats.org/drawingml/2006/main">
              <a:ext uri="{FF2B5EF4-FFF2-40B4-BE49-F238E27FC236}">
                <a16:creationId xmlns:a16="http://schemas.microsoft.com/office/drawing/2014/main" id="{4D57D118-62DA-4448-A3D2-510CC4CF941B}"/>
              </a:ext>
            </a:extLst>
          </p:cNvPr>
          <p:cNvSpPr>
            <a:spLocks xmlns:a="http://schemas.openxmlformats.org/drawingml/2006/main" noGrp="1"/>
          </p:cNvSpPr>
          <p:nvPr/>
        </p:nvSpPr>
        <p:spPr>
          <a:xfrm xmlns:a="http://schemas.openxmlformats.org/drawingml/2006/main">
            <a:off x="10953750" y="5286375"/>
            <a:ext cx="342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96577"/>
                </a:solidFill>
                <a:latin typeface="Arial"/>
                <a:ea typeface="Arial"/>
                <a:cs typeface="Arial"/>
              </a:defRPr>
            </a:defPPr>
            <a:lvl1pPr algn="l">
              <a:defRPr sz="2100" b="0">
                <a:solidFill>
                  <a:srgbClr val="596577"/>
                </a:solidFill>
                <a:latin typeface="Arial"/>
                <a:ea typeface="Arial"/>
                <a:cs typeface="Arial"/>
              </a:defRPr>
            </a:lvl1pPr>
            <a:lvl2pPr algn="l">
              <a:defRPr sz="2100" b="0">
                <a:solidFill>
                  <a:srgbClr val="596577"/>
                </a:solidFill>
                <a:latin typeface="Arial"/>
                <a:ea typeface="Arial"/>
                <a:cs typeface="Arial"/>
              </a:defRPr>
            </a:lvl2pPr>
            <a:lvl3pPr algn="l">
              <a:defRPr sz="2100" b="0">
                <a:solidFill>
                  <a:srgbClr val="596577"/>
                </a:solidFill>
                <a:latin typeface="Arial"/>
                <a:ea typeface="Arial"/>
                <a:cs typeface="Arial"/>
              </a:defRPr>
            </a:lvl3pPr>
            <a:lvl4pPr algn="l">
              <a:defRPr sz="2100" b="0">
                <a:solidFill>
                  <a:srgbClr val="596577"/>
                </a:solidFill>
                <a:latin typeface="Arial"/>
                <a:ea typeface="Arial"/>
                <a:cs typeface="Arial"/>
              </a:defRPr>
            </a:lvl4pPr>
            <a:lvl5pPr algn="l">
              <a:defRPr sz="2100" b="0">
                <a:solidFill>
                  <a:srgbClr val="596577"/>
                </a:solidFill>
                <a:latin typeface="Arial"/>
                <a:ea typeface="Arial"/>
                <a:cs typeface="Arial"/>
              </a:defRPr>
            </a:lvl5pPr>
            <a:lvl6pPr algn="l">
              <a:defRPr sz="2100" b="0">
                <a:solidFill>
                  <a:srgbClr val="596577"/>
                </a:solidFill>
                <a:latin typeface="Arial"/>
                <a:ea typeface="Arial"/>
                <a:cs typeface="Arial"/>
              </a:defRPr>
            </a:lvl6pPr>
            <a:lvl7pPr algn="l">
              <a:defRPr sz="2100" b="0">
                <a:solidFill>
                  <a:srgbClr val="596577"/>
                </a:solidFill>
                <a:latin typeface="Arial"/>
                <a:ea typeface="Arial"/>
                <a:cs typeface="Arial"/>
              </a:defRPr>
            </a:lvl7pPr>
            <a:lvl8pPr algn="l">
              <a:defRPr sz="2100" b="0">
                <a:solidFill>
                  <a:srgbClr val="596577"/>
                </a:solidFill>
                <a:latin typeface="Arial"/>
                <a:ea typeface="Arial"/>
                <a:cs typeface="Arial"/>
              </a:defRPr>
            </a:lvl8pPr>
            <a:lvl9pPr algn="l">
              <a:defRPr sz="2100" b="0">
                <a:solidFill>
                  <a:srgbClr val="596577"/>
                </a:solidFill>
                <a:latin typeface="Arial"/>
                <a:ea typeface="Arial"/>
                <a:cs typeface="Arial"/>
              </a:defRPr>
            </a:lvl9pPr>
          </a:lstStyle>
          <a:p xmlns:a="http://schemas.openxmlformats.org/drawingml/2006/main">
            <a:pPr algn="l">
              <a:defRPr sz="2100" b="0">
                <a:solidFill>
                  <a:srgbClr val="596577"/>
                </a:solidFill>
                <a:latin typeface="Arial"/>
                <a:ea typeface="Arial"/>
                <a:cs typeface="Arial"/>
              </a:defRPr>
            </a:pPr>
            <a:r>
              <a:rPr sz="2100" b="0">
                <a:solidFill>
                  <a:srgbClr val="596577"/>
                </a:solidFill>
                <a:latin typeface="Arial"/>
                <a:ea typeface="Arial"/>
                <a:cs typeface="Arial"/>
              </a:rPr>
              <a:t>C-style function</a:t>
            </a:r>
          </a:p>
          <a:p xmlns:a="http://schemas.openxmlformats.org/drawingml/2006/main">
            <a:pPr algn="l">
              <a:defRPr sz="2100" b="0">
                <a:solidFill>
                  <a:srgbClr val="596577"/>
                </a:solidFill>
                <a:latin typeface="Arial"/>
                <a:ea typeface="Arial"/>
                <a:cs typeface="Arial"/>
              </a:defRPr>
            </a:pPr>
            <a:r>
              <a:rPr sz="2100" b="0">
                <a:solidFill>
                  <a:srgbClr val="596577"/>
                </a:solidFill>
                <a:latin typeface="Arial"/>
                <a:ea typeface="Arial"/>
                <a:cs typeface="Arial"/>
              </a:rPr>
              <a:t>Python-style function</a:t>
            </a:r>
          </a:p>
          <a:p xmlns:a="http://schemas.openxmlformats.org/drawingml/2006/main">
            <a:pPr algn="l">
              <a:defRPr sz="2100" b="0">
                <a:solidFill>
                  <a:srgbClr val="596577"/>
                </a:solidFill>
                <a:latin typeface="Arial"/>
                <a:ea typeface="Arial"/>
                <a:cs typeface="Arial"/>
              </a:defRPr>
            </a:pPr>
            <a:r>
              <a:rPr sz="2100" b="0">
                <a:solidFill>
                  <a:srgbClr val="596577"/>
                </a:solidFill>
                <a:latin typeface="Arial"/>
                <a:ea typeface="Arial"/>
                <a:cs typeface="Arial"/>
              </a:rPr>
              <a:t>BASIC assignment</a:t>
            </a:r>
          </a:p>
          <a:p xmlns:a="http://schemas.openxmlformats.org/drawingml/2006/main">
            <a:pPr algn="l">
              <a:defRPr sz="2100" b="0">
                <a:solidFill>
                  <a:srgbClr val="596577"/>
                </a:solidFill>
                <a:latin typeface="Arial"/>
                <a:ea typeface="Arial"/>
                <a:cs typeface="Arial"/>
              </a:defRPr>
            </a:pPr>
            <a:r>
              <a:rPr sz="2100" b="0">
                <a:solidFill>
                  <a:srgbClr val="596577"/>
                </a:solidFill>
                <a:latin typeface="Arial"/>
                <a:ea typeface="Arial"/>
                <a:cs typeface="Arial"/>
              </a:rPr>
              <a:t>JavaScript output</a:t>
            </a:r>
          </a:p>
        </p:txBody>
      </p:sp>
    </p:spTree>
    <p:extLst>
      <p:ext uri="{BB962C8B-B14F-4D97-AF65-F5344CB8AC3E}">
        <p14:creationId xmlns:p14="http://schemas.microsoft.com/office/powerpoint/2010/main" val="132036662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Language model and scope">
            <a:extLst xmlns:a="http://schemas.openxmlformats.org/drawingml/2006/main">
              <a:ext uri="{FF2B5EF4-FFF2-40B4-BE49-F238E27FC236}">
                <a16:creationId xmlns:a16="http://schemas.microsoft.com/office/drawing/2014/main" id="{63DEC10B-0A35-4D8E-9676-7FC23EAC6261}"/>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Language model and scope</a:t>
            </a:r>
          </a:p>
        </p:txBody>
      </p:sp>
      <p:sp>
        <p:nvSpPr>
          <p:cNvPr id="2" name="A statically checked, imperative and procedural languag">
            <a:extLst xmlns:a="http://schemas.openxmlformats.org/drawingml/2006/main">
              <a:ext uri="{FF2B5EF4-FFF2-40B4-BE49-F238E27FC236}">
                <a16:creationId xmlns:a16="http://schemas.microsoft.com/office/drawing/2014/main" id="{A168C507-5788-417C-B8FD-3D3858924F12}"/>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A statically checked, imperative and procedural language</a:t>
            </a:r>
          </a:p>
        </p:txBody>
      </p:sp>
      <p:sp>
        <p:nvSpPr>
          <p:cNvPr id="3" name="04">
            <a:extLst xmlns:a="http://schemas.openxmlformats.org/drawingml/2006/main">
              <a:ext uri="{FF2B5EF4-FFF2-40B4-BE49-F238E27FC236}">
                <a16:creationId xmlns:a16="http://schemas.microsoft.com/office/drawing/2014/main" id="{27D6D54D-5D28-4C2A-A356-E25433862112}"/>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04</a:t>
            </a:r>
          </a:p>
        </p:txBody>
      </p:sp>
      <p:sp>
        <p:nvSpPr>
          <p:cNvPr id="4" name="Structured control flow">
            <a:extLst xmlns:a="http://schemas.openxmlformats.org/drawingml/2006/main">
              <a:ext uri="{FF2B5EF4-FFF2-40B4-BE49-F238E27FC236}">
                <a16:creationId xmlns:a16="http://schemas.microsoft.com/office/drawing/2014/main" id="{1959850E-85B1-420D-893E-7A46C1FE9010}"/>
              </a:ext>
            </a:extLst>
          </p:cNvPr>
          <p:cNvSpPr>
            <a:spLocks xmlns:a="http://schemas.openxmlformats.org/drawingml/2006/main" noGrp="1"/>
          </p:cNvSpPr>
          <p:nvPr/>
        </p:nvSpPr>
        <p:spPr>
          <a:xfrm xmlns:a="http://schemas.openxmlformats.org/drawingml/2006/main">
            <a:off x="781050" y="2667000"/>
            <a:ext cx="628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Structured control flow</a:t>
            </a:r>
          </a:p>
        </p:txBody>
      </p:sp>
      <p:sp>
        <p:nvSpPr>
          <p:cNvPr id="5" name="Nested if/else, loops, break and continue.&#10;Braces and i">
            <a:extLst xmlns:a="http://schemas.openxmlformats.org/drawingml/2006/main">
              <a:ext uri="{FF2B5EF4-FFF2-40B4-BE49-F238E27FC236}">
                <a16:creationId xmlns:a16="http://schemas.microsoft.com/office/drawing/2014/main" id="{A89100A4-964E-4106-B23C-337481D4B581}"/>
              </a:ext>
            </a:extLst>
          </p:cNvPr>
          <p:cNvSpPr>
            <a:spLocks xmlns:a="http://schemas.openxmlformats.org/drawingml/2006/main" noGrp="1"/>
          </p:cNvSpPr>
          <p:nvPr/>
        </p:nvSpPr>
        <p:spPr>
          <a:xfrm xmlns:a="http://schemas.openxmlformats.org/drawingml/2006/main">
            <a:off x="781050" y="3286125"/>
            <a:ext cx="6286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Nested if/else, loops, break and continue.</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Braces and indentation can coexist.</a:t>
            </a:r>
          </a:p>
        </p:txBody>
      </p:sp>
      <p:sp>
        <p:nvSpPr>
          <p:cNvPr id="6" name="Functions and storage">
            <a:extLst xmlns:a="http://schemas.openxmlformats.org/drawingml/2006/main">
              <a:ext uri="{FF2B5EF4-FFF2-40B4-BE49-F238E27FC236}">
                <a16:creationId xmlns:a16="http://schemas.microsoft.com/office/drawing/2014/main" id="{4C44B2A2-48DA-48C2-A7E2-88A897027933}"/>
              </a:ext>
            </a:extLst>
          </p:cNvPr>
          <p:cNvSpPr>
            <a:spLocks xmlns:a="http://schemas.openxmlformats.org/drawingml/2006/main" noGrp="1"/>
          </p:cNvSpPr>
          <p:nvPr/>
        </p:nvSpPr>
        <p:spPr>
          <a:xfrm xmlns:a="http://schemas.openxmlformats.org/drawingml/2006/main">
            <a:off x="8048625" y="2667000"/>
            <a:ext cx="628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Functions and storage</a:t>
            </a:r>
          </a:p>
        </p:txBody>
      </p:sp>
      <p:sp>
        <p:nvSpPr>
          <p:cNvPr id="7" name="Typed functions, forward calls and recursion.&#10;Global bi">
            <a:extLst xmlns:a="http://schemas.openxmlformats.org/drawingml/2006/main">
              <a:ext uri="{FF2B5EF4-FFF2-40B4-BE49-F238E27FC236}">
                <a16:creationId xmlns:a16="http://schemas.microsoft.com/office/drawing/2014/main" id="{CBD182B0-0D42-4B92-8BF0-7BFED0E4D3AC}"/>
              </a:ext>
            </a:extLst>
          </p:cNvPr>
          <p:cNvSpPr>
            <a:spLocks xmlns:a="http://schemas.openxmlformats.org/drawingml/2006/main" noGrp="1"/>
          </p:cNvSpPr>
          <p:nvPr/>
        </p:nvSpPr>
        <p:spPr>
          <a:xfrm xmlns:a="http://schemas.openxmlformats.org/drawingml/2006/main">
            <a:off x="8048625" y="3286125"/>
            <a:ext cx="6286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Typed functions, forward calls and recursion.</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Global bindings and frame-local storage.</a:t>
            </a:r>
          </a:p>
        </p:txBody>
      </p:sp>
      <p:sp>
        <p:nvSpPr>
          <p:cNvPr id="8" name="Shared values">
            <a:extLst xmlns:a="http://schemas.openxmlformats.org/drawingml/2006/main">
              <a:ext uri="{FF2B5EF4-FFF2-40B4-BE49-F238E27FC236}">
                <a16:creationId xmlns:a16="http://schemas.microsoft.com/office/drawing/2014/main" id="{244C0EF9-656F-41FC-9A33-24ADD793BC4D}"/>
              </a:ext>
            </a:extLst>
          </p:cNvPr>
          <p:cNvSpPr>
            <a:spLocks xmlns:a="http://schemas.openxmlformats.org/drawingml/2006/main" noGrp="1"/>
          </p:cNvSpPr>
          <p:nvPr/>
        </p:nvSpPr>
        <p:spPr>
          <a:xfrm xmlns:a="http://schemas.openxmlformats.org/drawingml/2006/main">
            <a:off x="781050" y="5219700"/>
            <a:ext cx="628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Shared values</a:t>
            </a:r>
          </a:p>
        </p:txBody>
      </p:sp>
      <p:sp>
        <p:nvSpPr>
          <p:cNvPr id="9" name="int, float, bool, string and fixed-length&#10;one-dimension">
            <a:extLst xmlns:a="http://schemas.openxmlformats.org/drawingml/2006/main">
              <a:ext uri="{FF2B5EF4-FFF2-40B4-BE49-F238E27FC236}">
                <a16:creationId xmlns:a16="http://schemas.microsoft.com/office/drawing/2014/main" id="{379B3153-DBE2-4E5B-840B-46DFE85DB645}"/>
              </a:ext>
            </a:extLst>
          </p:cNvPr>
          <p:cNvSpPr>
            <a:spLocks xmlns:a="http://schemas.openxmlformats.org/drawingml/2006/main" noGrp="1"/>
          </p:cNvSpPr>
          <p:nvPr/>
        </p:nvSpPr>
        <p:spPr>
          <a:xfrm xmlns:a="http://schemas.openxmlformats.org/drawingml/2006/main">
            <a:off x="781050" y="5838825"/>
            <a:ext cx="6286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int, float, bool, string and fixed-length</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one-dimensional arrays.</a:t>
            </a:r>
          </a:p>
        </p:txBody>
      </p:sp>
      <p:sp>
        <p:nvSpPr>
          <p:cNvPr id="10" name="Accepted syntax">
            <a:extLst xmlns:a="http://schemas.openxmlformats.org/drawingml/2006/main">
              <a:ext uri="{FF2B5EF4-FFF2-40B4-BE49-F238E27FC236}">
                <a16:creationId xmlns:a16="http://schemas.microsoft.com/office/drawing/2014/main" id="{800F1823-AD1C-4243-9302-6507AF841361}"/>
              </a:ext>
            </a:extLst>
          </p:cNvPr>
          <p:cNvSpPr>
            <a:spLocks xmlns:a="http://schemas.openxmlformats.org/drawingml/2006/main" noGrp="1"/>
          </p:cNvSpPr>
          <p:nvPr/>
        </p:nvSpPr>
        <p:spPr>
          <a:xfrm xmlns:a="http://schemas.openxmlformats.org/drawingml/2006/main">
            <a:off x="8048625" y="5219700"/>
            <a:ext cx="628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Accepted syntax</a:t>
            </a:r>
          </a:p>
        </p:txBody>
      </p:sp>
      <p:sp>
        <p:nvSpPr>
          <p:cNvPr id="11" name="Selected forms inspired by Python, C, C++,&#10;Java, JavaSc">
            <a:extLst xmlns:a="http://schemas.openxmlformats.org/drawingml/2006/main">
              <a:ext uri="{FF2B5EF4-FFF2-40B4-BE49-F238E27FC236}">
                <a16:creationId xmlns:a16="http://schemas.microsoft.com/office/drawing/2014/main" id="{B5698C77-7643-4EC2-86A7-1A0C7A1B8EAF}"/>
              </a:ext>
            </a:extLst>
          </p:cNvPr>
          <p:cNvSpPr>
            <a:spLocks xmlns:a="http://schemas.openxmlformats.org/drawingml/2006/main" noGrp="1"/>
          </p:cNvSpPr>
          <p:nvPr/>
        </p:nvSpPr>
        <p:spPr>
          <a:xfrm xmlns:a="http://schemas.openxmlformats.org/drawingml/2006/main">
            <a:off x="8048625" y="5838825"/>
            <a:ext cx="6286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Selected forms inspired by Python, C, C++,</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Java, JavaScript and BASIC.</a:t>
            </a:r>
          </a:p>
        </p:txBody>
      </p:sp>
    </p:spTree>
    <p:extLst>
      <p:ext uri="{BB962C8B-B14F-4D97-AF65-F5344CB8AC3E}">
        <p14:creationId xmlns:p14="http://schemas.microsoft.com/office/powerpoint/2010/main" val="84837037"/>
      </p:ext>
    </p:extLst>
  </p:cSld>
</p:sld>
</file>

<file path=ppt/slides/slide5.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AF08DC08-D51E-428C-AC8D-40AEC52F9380}"/>
              </a:ext>
            </a:extLst>
          </p:cNvPr>
          <p:cNvCxnSpPr>
            <a:stCxn xmlns:a="http://schemas.openxmlformats.org/drawingml/2006/main" id="19" idx="3"/>
            <a:endCxn xmlns:a="http://schemas.openxmlformats.org/drawingml/2006/main" id="22" idx="1"/>
          </p:cNvCxnSpPr>
          <p:nvPr/>
        </p:nvCxnSpPr>
        <p:spPr>
          <a:xfrm xmlns:a="http://schemas.openxmlformats.org/drawingml/2006/main">
            <a:off x="10858500" y="6072188"/>
            <a:ext cx="952500" cy="0"/>
          </a:xfrm>
          <a:prstGeom xmlns:a="http://schemas.openxmlformats.org/drawingml/2006/main" prst="straightConnector1">
            <a:avLst/>
          </a:prstGeom>
          <a:ln xmlns:a="http://schemas.openxmlformats.org/drawingml/2006/main" w="22860">
            <a:solidFill>
              <a:srgbClr val="76D9C3"/>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E149338A-89CC-4586-8BA9-56319E92D811}"/>
              </a:ext>
            </a:extLst>
          </p:cNvPr>
          <p:cNvCxnSpPr>
            <a:stCxn xmlns:a="http://schemas.openxmlformats.org/drawingml/2006/main" id="16" idx="3"/>
            <a:endCxn xmlns:a="http://schemas.openxmlformats.org/drawingml/2006/main" id="19" idx="1"/>
          </p:cNvCxnSpPr>
          <p:nvPr/>
        </p:nvCxnSpPr>
        <p:spPr>
          <a:xfrm xmlns:a="http://schemas.openxmlformats.org/drawingml/2006/main">
            <a:off x="4476750" y="6072188"/>
            <a:ext cx="1333500" cy="0"/>
          </a:xfrm>
          <a:prstGeom xmlns:a="http://schemas.openxmlformats.org/drawingml/2006/main" prst="straightConnector1">
            <a:avLst/>
          </a:prstGeom>
          <a:ln xmlns:a="http://schemas.openxmlformats.org/drawingml/2006/main" w="22860">
            <a:solidFill>
              <a:srgbClr val="76D9C3"/>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14080F6E-BEEA-4823-8280-EEB7552D7D17}"/>
              </a:ext>
            </a:extLst>
          </p:cNvPr>
          <p:cNvCxnSpPr>
            <a:stCxn xmlns:a="http://schemas.openxmlformats.org/drawingml/2006/main" id="10" idx="2"/>
            <a:endCxn xmlns:a="http://schemas.openxmlformats.org/drawingml/2006/main" id="19" idx="0"/>
          </p:cNvCxnSpPr>
          <p:nvPr/>
        </p:nvCxnSpPr>
        <p:spPr>
          <a:xfrm xmlns:a="http://schemas.openxmlformats.org/drawingml/2006/main" flipH="1">
            <a:off x="8334375" y="4000500"/>
            <a:ext cx="3524250" cy="1381125"/>
          </a:xfrm>
          <a:prstGeom xmlns:a="http://schemas.openxmlformats.org/drawingml/2006/main" prst="bentConnector4">
            <a:avLst>
              <a:gd name="adj1" fmla="val 0"/>
              <a:gd name="adj2" fmla="val 50000"/>
            </a:avLst>
          </a:prstGeom>
          <a:ln xmlns:a="http://schemas.openxmlformats.org/drawingml/2006/main" w="22860">
            <a:solidFill>
              <a:srgbClr val="76D9C3"/>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D8D3DBA5-FF6A-45F4-894A-CD4687E0B841}"/>
              </a:ext>
            </a:extLst>
          </p:cNvPr>
          <p:cNvCxnSpPr>
            <a:stCxn xmlns:a="http://schemas.openxmlformats.org/drawingml/2006/main" id="7" idx="3"/>
            <a:endCxn xmlns:a="http://schemas.openxmlformats.org/drawingml/2006/main" id="10" idx="1"/>
          </p:cNvCxnSpPr>
          <p:nvPr/>
        </p:nvCxnSpPr>
        <p:spPr>
          <a:xfrm xmlns:a="http://schemas.openxmlformats.org/drawingml/2006/main">
            <a:off x="8477250" y="3381375"/>
            <a:ext cx="1143000" cy="0"/>
          </a:xfrm>
          <a:prstGeom xmlns:a="http://schemas.openxmlformats.org/drawingml/2006/main" prst="straightConnector1">
            <a:avLst/>
          </a:prstGeom>
          <a:ln xmlns:a="http://schemas.openxmlformats.org/drawingml/2006/main" w="22860">
            <a:solidFill>
              <a:srgbClr val="76D9C3"/>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B54B1865-1333-46AF-8861-33F12AC8EBA4}"/>
              </a:ext>
            </a:extLst>
          </p:cNvPr>
          <p:cNvCxnSpPr>
            <a:stCxn xmlns:a="http://schemas.openxmlformats.org/drawingml/2006/main" id="4" idx="3"/>
            <a:endCxn xmlns:a="http://schemas.openxmlformats.org/drawingml/2006/main" id="7" idx="1"/>
          </p:cNvCxnSpPr>
          <p:nvPr/>
        </p:nvCxnSpPr>
        <p:spPr>
          <a:xfrm xmlns:a="http://schemas.openxmlformats.org/drawingml/2006/main">
            <a:off x="3810000" y="3381375"/>
            <a:ext cx="952500" cy="0"/>
          </a:xfrm>
          <a:prstGeom xmlns:a="http://schemas.openxmlformats.org/drawingml/2006/main" prst="straightConnector1">
            <a:avLst/>
          </a:prstGeom>
          <a:ln xmlns:a="http://schemas.openxmlformats.org/drawingml/2006/main" w="22860">
            <a:solidFill>
              <a:srgbClr val="76D9C3"/>
            </a:solidFill>
            <a:prstDash val="solid"/>
            <a:tailEnd type="triangle" w="sm" len="sm"/>
          </a:ln>
        </p:spPr>
      </p:cxnSp>
      <p:sp>
        <p:nvSpPr>
          <p:cNvPr id="29" name="System architecture">
            <a:extLst xmlns:a="http://schemas.openxmlformats.org/drawingml/2006/main">
              <a:ext uri="{FF2B5EF4-FFF2-40B4-BE49-F238E27FC236}">
                <a16:creationId xmlns:a16="http://schemas.microsoft.com/office/drawing/2014/main" id="{A70DAB7E-404C-4E7F-BDC3-6C3745E34DF9}"/>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System architecture</a:t>
            </a:r>
          </a:p>
        </p:txBody>
      </p:sp>
      <p:sp>
        <p:nvSpPr>
          <p:cNvPr id="2" name="The IDE and CLI use the same compiler library">
            <a:extLst xmlns:a="http://schemas.openxmlformats.org/drawingml/2006/main">
              <a:ext uri="{FF2B5EF4-FFF2-40B4-BE49-F238E27FC236}">
                <a16:creationId xmlns:a16="http://schemas.microsoft.com/office/drawing/2014/main" id="{A49DC24C-EC87-4336-ABDF-8C06E82F78BB}"/>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5C7DE"/>
                </a:solidFill>
                <a:latin typeface="Arial"/>
                <a:ea typeface="Arial"/>
                <a:cs typeface="Arial"/>
              </a:defRPr>
            </a:defPPr>
            <a:lvl1pPr algn="l">
              <a:defRPr sz="2250" b="0">
                <a:solidFill>
                  <a:srgbClr val="B5C7DE"/>
                </a:solidFill>
                <a:latin typeface="Arial"/>
                <a:ea typeface="Arial"/>
                <a:cs typeface="Arial"/>
              </a:defRPr>
            </a:lvl1pPr>
            <a:lvl2pPr algn="l">
              <a:defRPr sz="2250" b="0">
                <a:solidFill>
                  <a:srgbClr val="B5C7DE"/>
                </a:solidFill>
                <a:latin typeface="Arial"/>
                <a:ea typeface="Arial"/>
                <a:cs typeface="Arial"/>
              </a:defRPr>
            </a:lvl2pPr>
            <a:lvl3pPr algn="l">
              <a:defRPr sz="2250" b="0">
                <a:solidFill>
                  <a:srgbClr val="B5C7DE"/>
                </a:solidFill>
                <a:latin typeface="Arial"/>
                <a:ea typeface="Arial"/>
                <a:cs typeface="Arial"/>
              </a:defRPr>
            </a:lvl3pPr>
            <a:lvl4pPr algn="l">
              <a:defRPr sz="2250" b="0">
                <a:solidFill>
                  <a:srgbClr val="B5C7DE"/>
                </a:solidFill>
                <a:latin typeface="Arial"/>
                <a:ea typeface="Arial"/>
                <a:cs typeface="Arial"/>
              </a:defRPr>
            </a:lvl4pPr>
            <a:lvl5pPr algn="l">
              <a:defRPr sz="2250" b="0">
                <a:solidFill>
                  <a:srgbClr val="B5C7DE"/>
                </a:solidFill>
                <a:latin typeface="Arial"/>
                <a:ea typeface="Arial"/>
                <a:cs typeface="Arial"/>
              </a:defRPr>
            </a:lvl5pPr>
            <a:lvl6pPr algn="l">
              <a:defRPr sz="2250" b="0">
                <a:solidFill>
                  <a:srgbClr val="B5C7DE"/>
                </a:solidFill>
                <a:latin typeface="Arial"/>
                <a:ea typeface="Arial"/>
                <a:cs typeface="Arial"/>
              </a:defRPr>
            </a:lvl6pPr>
            <a:lvl7pPr algn="l">
              <a:defRPr sz="2250" b="0">
                <a:solidFill>
                  <a:srgbClr val="B5C7DE"/>
                </a:solidFill>
                <a:latin typeface="Arial"/>
                <a:ea typeface="Arial"/>
                <a:cs typeface="Arial"/>
              </a:defRPr>
            </a:lvl7pPr>
            <a:lvl8pPr algn="l">
              <a:defRPr sz="2250" b="0">
                <a:solidFill>
                  <a:srgbClr val="B5C7DE"/>
                </a:solidFill>
                <a:latin typeface="Arial"/>
                <a:ea typeface="Arial"/>
                <a:cs typeface="Arial"/>
              </a:defRPr>
            </a:lvl8pPr>
            <a:lvl9pPr algn="l">
              <a:defRPr sz="2250" b="0">
                <a:solidFill>
                  <a:srgbClr val="B5C7DE"/>
                </a:solidFill>
                <a:latin typeface="Arial"/>
                <a:ea typeface="Arial"/>
                <a:cs typeface="Arial"/>
              </a:defRPr>
            </a:lvl9pPr>
          </a:lstStyle>
          <a:p xmlns:a="http://schemas.openxmlformats.org/drawingml/2006/main">
            <a:pPr algn="l">
              <a:defRPr sz="2250" b="0">
                <a:solidFill>
                  <a:srgbClr val="B5C7DE"/>
                </a:solidFill>
                <a:latin typeface="Arial"/>
                <a:ea typeface="Arial"/>
                <a:cs typeface="Arial"/>
              </a:defRPr>
            </a:pPr>
            <a:r>
              <a:rPr sz="2250" b="0">
                <a:solidFill>
                  <a:srgbClr val="B5C7DE"/>
                </a:solidFill>
                <a:latin typeface="Arial"/>
                <a:ea typeface="Arial"/>
                <a:cs typeface="Arial"/>
              </a:rPr>
              <a:t>The IDE and CLI use the same compiler library</a:t>
            </a:r>
          </a:p>
        </p:txBody>
      </p:sp>
      <p:sp>
        <p:nvSpPr>
          <p:cNvPr id="3" name="05">
            <a:extLst xmlns:a="http://schemas.openxmlformats.org/drawingml/2006/main">
              <a:ext uri="{FF2B5EF4-FFF2-40B4-BE49-F238E27FC236}">
                <a16:creationId xmlns:a16="http://schemas.microsoft.com/office/drawing/2014/main" id="{4ABC0875-9A2C-4862-AF73-0CF4699407C2}"/>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5C7DE"/>
                </a:solidFill>
                <a:latin typeface="Arial"/>
                <a:ea typeface="Arial"/>
                <a:cs typeface="Arial"/>
              </a:defRPr>
            </a:defPPr>
            <a:lvl1pPr algn="r">
              <a:defRPr sz="1500" b="0">
                <a:solidFill>
                  <a:srgbClr val="B5C7DE"/>
                </a:solidFill>
                <a:latin typeface="Arial"/>
                <a:ea typeface="Arial"/>
                <a:cs typeface="Arial"/>
              </a:defRPr>
            </a:lvl1pPr>
            <a:lvl2pPr algn="r">
              <a:defRPr sz="1500" b="0">
                <a:solidFill>
                  <a:srgbClr val="B5C7DE"/>
                </a:solidFill>
                <a:latin typeface="Arial"/>
                <a:ea typeface="Arial"/>
                <a:cs typeface="Arial"/>
              </a:defRPr>
            </a:lvl2pPr>
            <a:lvl3pPr algn="r">
              <a:defRPr sz="1500" b="0">
                <a:solidFill>
                  <a:srgbClr val="B5C7DE"/>
                </a:solidFill>
                <a:latin typeface="Arial"/>
                <a:ea typeface="Arial"/>
                <a:cs typeface="Arial"/>
              </a:defRPr>
            </a:lvl3pPr>
            <a:lvl4pPr algn="r">
              <a:defRPr sz="1500" b="0">
                <a:solidFill>
                  <a:srgbClr val="B5C7DE"/>
                </a:solidFill>
                <a:latin typeface="Arial"/>
                <a:ea typeface="Arial"/>
                <a:cs typeface="Arial"/>
              </a:defRPr>
            </a:lvl4pPr>
            <a:lvl5pPr algn="r">
              <a:defRPr sz="1500" b="0">
                <a:solidFill>
                  <a:srgbClr val="B5C7DE"/>
                </a:solidFill>
                <a:latin typeface="Arial"/>
                <a:ea typeface="Arial"/>
                <a:cs typeface="Arial"/>
              </a:defRPr>
            </a:lvl5pPr>
            <a:lvl6pPr algn="r">
              <a:defRPr sz="1500" b="0">
                <a:solidFill>
                  <a:srgbClr val="B5C7DE"/>
                </a:solidFill>
                <a:latin typeface="Arial"/>
                <a:ea typeface="Arial"/>
                <a:cs typeface="Arial"/>
              </a:defRPr>
            </a:lvl6pPr>
            <a:lvl7pPr algn="r">
              <a:defRPr sz="1500" b="0">
                <a:solidFill>
                  <a:srgbClr val="B5C7DE"/>
                </a:solidFill>
                <a:latin typeface="Arial"/>
                <a:ea typeface="Arial"/>
                <a:cs typeface="Arial"/>
              </a:defRPr>
            </a:lvl7pPr>
            <a:lvl8pPr algn="r">
              <a:defRPr sz="1500" b="0">
                <a:solidFill>
                  <a:srgbClr val="B5C7DE"/>
                </a:solidFill>
                <a:latin typeface="Arial"/>
                <a:ea typeface="Arial"/>
                <a:cs typeface="Arial"/>
              </a:defRPr>
            </a:lvl8pPr>
            <a:lvl9pPr algn="r">
              <a:defRPr sz="1500" b="0">
                <a:solidFill>
                  <a:srgbClr val="B5C7DE"/>
                </a:solidFill>
                <a:latin typeface="Arial"/>
                <a:ea typeface="Arial"/>
                <a:cs typeface="Arial"/>
              </a:defRPr>
            </a:lvl9pPr>
          </a:lstStyle>
          <a:p xmlns:a="http://schemas.openxmlformats.org/drawingml/2006/main">
            <a:pPr algn="r">
              <a:defRPr sz="1500" b="0">
                <a:solidFill>
                  <a:srgbClr val="B5C7DE"/>
                </a:solidFill>
                <a:latin typeface="Arial"/>
                <a:ea typeface="Arial"/>
                <a:cs typeface="Arial"/>
              </a:defRPr>
            </a:pPr>
            <a:r>
              <a:rPr sz="1500" b="0">
                <a:solidFill>
                  <a:srgbClr val="B5C7DE"/>
                </a:solidFill>
                <a:latin typeface="Arial"/>
                <a:ea typeface="Arial"/>
                <a:cs typeface="Arial"/>
              </a:rPr>
              <a:t>05</a:t>
            </a:r>
          </a:p>
        </p:txBody>
      </p:sp>
      <p:sp>
        <p:nvSpPr>
          <p:cNvPr id="4" name="Browser IDE">
            <a:extLst xmlns:a="http://schemas.openxmlformats.org/drawingml/2006/main">
              <a:ext uri="{FF2B5EF4-FFF2-40B4-BE49-F238E27FC236}">
                <a16:creationId xmlns:a16="http://schemas.microsoft.com/office/drawing/2014/main" id="{D7CBCD07-55B7-4CD5-B2D2-190C7568E0E9}"/>
              </a:ext>
            </a:extLst>
          </p:cNvPr>
          <p:cNvSpPr>
            <a:spLocks xmlns:a="http://schemas.openxmlformats.org/drawingml/2006/main" noGrp="1"/>
          </p:cNvSpPr>
          <p:nvPr/>
        </p:nvSpPr>
        <p:spPr>
          <a:xfrm xmlns:a="http://schemas.openxmlformats.org/drawingml/2006/main">
            <a:off x="762000" y="2762250"/>
            <a:ext cx="3048000" cy="12382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5" name="Browser IDE">
            <a:extLst xmlns:a="http://schemas.openxmlformats.org/drawingml/2006/main">
              <a:ext uri="{FF2B5EF4-FFF2-40B4-BE49-F238E27FC236}">
                <a16:creationId xmlns:a16="http://schemas.microsoft.com/office/drawing/2014/main" id="{CB50AB17-108E-4464-967A-EE7C60058818}"/>
              </a:ext>
            </a:extLst>
          </p:cNvPr>
          <p:cNvSpPr>
            <a:spLocks xmlns:a="http://schemas.openxmlformats.org/drawingml/2006/main" noGrp="1"/>
          </p:cNvSpPr>
          <p:nvPr/>
        </p:nvSpPr>
        <p:spPr>
          <a:xfrm xmlns:a="http://schemas.openxmlformats.org/drawingml/2006/main">
            <a:off x="952500" y="2933700"/>
            <a:ext cx="266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Browser IDE</a:t>
            </a:r>
          </a:p>
        </p:txBody>
      </p:sp>
      <p:sp>
        <p:nvSpPr>
          <p:cNvPr id="6" name="HTML, CSS, JavaScript">
            <a:extLst xmlns:a="http://schemas.openxmlformats.org/drawingml/2006/main">
              <a:ext uri="{FF2B5EF4-FFF2-40B4-BE49-F238E27FC236}">
                <a16:creationId xmlns:a16="http://schemas.microsoft.com/office/drawing/2014/main" id="{0B530FB4-D5ED-49F4-BE04-B9AFF4BDBDB9}"/>
              </a:ext>
            </a:extLst>
          </p:cNvPr>
          <p:cNvSpPr>
            <a:spLocks xmlns:a="http://schemas.openxmlformats.org/drawingml/2006/main" noGrp="1"/>
          </p:cNvSpPr>
          <p:nvPr/>
        </p:nvSpPr>
        <p:spPr>
          <a:xfrm xmlns:a="http://schemas.openxmlformats.org/drawingml/2006/main">
            <a:off x="952500" y="34861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HTML, CSS, JavaScript</a:t>
            </a:r>
          </a:p>
        </p:txBody>
      </p:sp>
      <p:sp>
        <p:nvSpPr>
          <p:cNvPr id="7" name="Local HTTP server">
            <a:extLst xmlns:a="http://schemas.openxmlformats.org/drawingml/2006/main">
              <a:ext uri="{FF2B5EF4-FFF2-40B4-BE49-F238E27FC236}">
                <a16:creationId xmlns:a16="http://schemas.microsoft.com/office/drawing/2014/main" id="{22576B24-E16C-4AD1-A6DD-DFC20D262098}"/>
              </a:ext>
            </a:extLst>
          </p:cNvPr>
          <p:cNvSpPr>
            <a:spLocks xmlns:a="http://schemas.openxmlformats.org/drawingml/2006/main" noGrp="1"/>
          </p:cNvSpPr>
          <p:nvPr/>
        </p:nvSpPr>
        <p:spPr>
          <a:xfrm xmlns:a="http://schemas.openxmlformats.org/drawingml/2006/main">
            <a:off x="4762500" y="2762250"/>
            <a:ext cx="3714750" cy="12382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8" name="Local HTTP server">
            <a:extLst xmlns:a="http://schemas.openxmlformats.org/drawingml/2006/main">
              <a:ext uri="{FF2B5EF4-FFF2-40B4-BE49-F238E27FC236}">
                <a16:creationId xmlns:a16="http://schemas.microsoft.com/office/drawing/2014/main" id="{66D4431E-4831-4850-8C08-640F0245FCE7}"/>
              </a:ext>
            </a:extLst>
          </p:cNvPr>
          <p:cNvSpPr>
            <a:spLocks xmlns:a="http://schemas.openxmlformats.org/drawingml/2006/main" noGrp="1"/>
          </p:cNvSpPr>
          <p:nvPr/>
        </p:nvSpPr>
        <p:spPr>
          <a:xfrm xmlns:a="http://schemas.openxmlformats.org/drawingml/2006/main">
            <a:off x="4953000" y="293370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Local HTTP server</a:t>
            </a:r>
          </a:p>
        </p:txBody>
      </p:sp>
      <p:sp>
        <p:nvSpPr>
          <p:cNvPr id="9" name="Request routing and checks">
            <a:extLst xmlns:a="http://schemas.openxmlformats.org/drawingml/2006/main">
              <a:ext uri="{FF2B5EF4-FFF2-40B4-BE49-F238E27FC236}">
                <a16:creationId xmlns:a16="http://schemas.microsoft.com/office/drawing/2014/main" id="{2683B186-4650-4B86-BE46-B76A23F8221D}"/>
              </a:ext>
            </a:extLst>
          </p:cNvPr>
          <p:cNvSpPr>
            <a:spLocks xmlns:a="http://schemas.openxmlformats.org/drawingml/2006/main" noGrp="1"/>
          </p:cNvSpPr>
          <p:nvPr/>
        </p:nvSpPr>
        <p:spPr>
          <a:xfrm xmlns:a="http://schemas.openxmlformats.org/drawingml/2006/main">
            <a:off x="4953000" y="34861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Request routing and checks</a:t>
            </a:r>
          </a:p>
        </p:txBody>
      </p:sp>
      <p:sp>
        <p:nvSpPr>
          <p:cNvPr id="10" name="Spawned worker">
            <a:extLst xmlns:a="http://schemas.openxmlformats.org/drawingml/2006/main">
              <a:ext uri="{FF2B5EF4-FFF2-40B4-BE49-F238E27FC236}">
                <a16:creationId xmlns:a16="http://schemas.microsoft.com/office/drawing/2014/main" id="{469A9B15-6C79-4C28-BC94-625652E9647D}"/>
              </a:ext>
            </a:extLst>
          </p:cNvPr>
          <p:cNvSpPr>
            <a:spLocks xmlns:a="http://schemas.openxmlformats.org/drawingml/2006/main" noGrp="1"/>
          </p:cNvSpPr>
          <p:nvPr/>
        </p:nvSpPr>
        <p:spPr>
          <a:xfrm xmlns:a="http://schemas.openxmlformats.org/drawingml/2006/main">
            <a:off x="9620250" y="2762250"/>
            <a:ext cx="4476750" cy="12382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11" name="Spawned worker">
            <a:extLst xmlns:a="http://schemas.openxmlformats.org/drawingml/2006/main">
              <a:ext uri="{FF2B5EF4-FFF2-40B4-BE49-F238E27FC236}">
                <a16:creationId xmlns:a16="http://schemas.microsoft.com/office/drawing/2014/main" id="{FF1703DB-9C48-4698-8FC0-4DE14179E1C4}"/>
              </a:ext>
            </a:extLst>
          </p:cNvPr>
          <p:cNvSpPr>
            <a:spLocks xmlns:a="http://schemas.openxmlformats.org/drawingml/2006/main" noGrp="1"/>
          </p:cNvSpPr>
          <p:nvPr/>
        </p:nvSpPr>
        <p:spPr>
          <a:xfrm xmlns:a="http://schemas.openxmlformats.org/drawingml/2006/main">
            <a:off x="9810750" y="2933700"/>
            <a:ext cx="4095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Spawned worker</a:t>
            </a:r>
          </a:p>
        </p:txBody>
      </p:sp>
      <p:sp>
        <p:nvSpPr>
          <p:cNvPr id="12" name="One bounded compiler job">
            <a:extLst xmlns:a="http://schemas.openxmlformats.org/drawingml/2006/main">
              <a:ext uri="{FF2B5EF4-FFF2-40B4-BE49-F238E27FC236}">
                <a16:creationId xmlns:a16="http://schemas.microsoft.com/office/drawing/2014/main" id="{9B1E5E05-359B-46FF-AC85-2ECCA6DE64D9}"/>
              </a:ext>
            </a:extLst>
          </p:cNvPr>
          <p:cNvSpPr>
            <a:spLocks xmlns:a="http://schemas.openxmlformats.org/drawingml/2006/main" noGrp="1"/>
          </p:cNvSpPr>
          <p:nvPr/>
        </p:nvSpPr>
        <p:spPr>
          <a:xfrm xmlns:a="http://schemas.openxmlformats.org/drawingml/2006/main">
            <a:off x="9810750" y="34861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One bounded compiler job</a:t>
            </a:r>
          </a:p>
        </p:txBody>
      </p:sp>
      <p:sp>
        <p:nvSpPr>
          <p:cNvPr id="15" name="JSON request / response">
            <a:extLst xmlns:a="http://schemas.openxmlformats.org/drawingml/2006/main">
              <a:ext uri="{FF2B5EF4-FFF2-40B4-BE49-F238E27FC236}">
                <a16:creationId xmlns:a16="http://schemas.microsoft.com/office/drawing/2014/main" id="{19AAD0D2-9512-45FD-B560-BB6A10832D47}"/>
              </a:ext>
            </a:extLst>
          </p:cNvPr>
          <p:cNvSpPr>
            <a:spLocks xmlns:a="http://schemas.openxmlformats.org/drawingml/2006/main" noGrp="1"/>
          </p:cNvSpPr>
          <p:nvPr/>
        </p:nvSpPr>
        <p:spPr>
          <a:xfrm xmlns:a="http://schemas.openxmlformats.org/drawingml/2006/main">
            <a:off x="4381500" y="219075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5C7DE"/>
                </a:solidFill>
                <a:latin typeface="Arial"/>
                <a:ea typeface="Arial"/>
                <a:cs typeface="Arial"/>
              </a:defRPr>
            </a:defPPr>
            <a:lvl1pPr algn="l">
              <a:defRPr sz="1950" b="0">
                <a:solidFill>
                  <a:srgbClr val="B5C7DE"/>
                </a:solidFill>
                <a:latin typeface="Arial"/>
                <a:ea typeface="Arial"/>
                <a:cs typeface="Arial"/>
              </a:defRPr>
            </a:lvl1pPr>
            <a:lvl2pPr algn="l">
              <a:defRPr sz="1950" b="0">
                <a:solidFill>
                  <a:srgbClr val="B5C7DE"/>
                </a:solidFill>
                <a:latin typeface="Arial"/>
                <a:ea typeface="Arial"/>
                <a:cs typeface="Arial"/>
              </a:defRPr>
            </a:lvl2pPr>
            <a:lvl3pPr algn="l">
              <a:defRPr sz="1950" b="0">
                <a:solidFill>
                  <a:srgbClr val="B5C7DE"/>
                </a:solidFill>
                <a:latin typeface="Arial"/>
                <a:ea typeface="Arial"/>
                <a:cs typeface="Arial"/>
              </a:defRPr>
            </a:lvl3pPr>
            <a:lvl4pPr algn="l">
              <a:defRPr sz="1950" b="0">
                <a:solidFill>
                  <a:srgbClr val="B5C7DE"/>
                </a:solidFill>
                <a:latin typeface="Arial"/>
                <a:ea typeface="Arial"/>
                <a:cs typeface="Arial"/>
              </a:defRPr>
            </a:lvl4pPr>
            <a:lvl5pPr algn="l">
              <a:defRPr sz="1950" b="0">
                <a:solidFill>
                  <a:srgbClr val="B5C7DE"/>
                </a:solidFill>
                <a:latin typeface="Arial"/>
                <a:ea typeface="Arial"/>
                <a:cs typeface="Arial"/>
              </a:defRPr>
            </a:lvl5pPr>
            <a:lvl6pPr algn="l">
              <a:defRPr sz="1950" b="0">
                <a:solidFill>
                  <a:srgbClr val="B5C7DE"/>
                </a:solidFill>
                <a:latin typeface="Arial"/>
                <a:ea typeface="Arial"/>
                <a:cs typeface="Arial"/>
              </a:defRPr>
            </a:lvl6pPr>
            <a:lvl7pPr algn="l">
              <a:defRPr sz="1950" b="0">
                <a:solidFill>
                  <a:srgbClr val="B5C7DE"/>
                </a:solidFill>
                <a:latin typeface="Arial"/>
                <a:ea typeface="Arial"/>
                <a:cs typeface="Arial"/>
              </a:defRPr>
            </a:lvl7pPr>
            <a:lvl8pPr algn="l">
              <a:defRPr sz="1950" b="0">
                <a:solidFill>
                  <a:srgbClr val="B5C7DE"/>
                </a:solidFill>
                <a:latin typeface="Arial"/>
                <a:ea typeface="Arial"/>
                <a:cs typeface="Arial"/>
              </a:defRPr>
            </a:lvl8pPr>
            <a:lvl9pPr algn="l">
              <a:defRPr sz="1950" b="0">
                <a:solidFill>
                  <a:srgbClr val="B5C7DE"/>
                </a:solidFill>
                <a:latin typeface="Arial"/>
                <a:ea typeface="Arial"/>
                <a:cs typeface="Arial"/>
              </a:defRPr>
            </a:lvl9pPr>
          </a:lstStyle>
          <a:p xmlns:a="http://schemas.openxmlformats.org/drawingml/2006/main">
            <a:pPr algn="l">
              <a:defRPr sz="1950" b="0">
                <a:solidFill>
                  <a:srgbClr val="B5C7DE"/>
                </a:solidFill>
                <a:latin typeface="Arial"/>
                <a:ea typeface="Arial"/>
                <a:cs typeface="Arial"/>
              </a:defRPr>
            </a:pPr>
            <a:r>
              <a:rPr sz="1950" b="0">
                <a:solidFill>
                  <a:srgbClr val="B5C7DE"/>
                </a:solidFill>
                <a:latin typeface="Arial"/>
                <a:ea typeface="Arial"/>
                <a:cs typeface="Arial"/>
              </a:rPr>
              <a:t>JSON request / response</a:t>
            </a:r>
          </a:p>
        </p:txBody>
      </p:sp>
      <p:sp>
        <p:nvSpPr>
          <p:cNvPr id="16" name="CLI">
            <a:extLst xmlns:a="http://schemas.openxmlformats.org/drawingml/2006/main">
              <a:ext uri="{FF2B5EF4-FFF2-40B4-BE49-F238E27FC236}">
                <a16:creationId xmlns:a16="http://schemas.microsoft.com/office/drawing/2014/main" id="{4783D2F7-BAC0-4F20-9407-D92CDC6FAD0A}"/>
              </a:ext>
            </a:extLst>
          </p:cNvPr>
          <p:cNvSpPr>
            <a:spLocks xmlns:a="http://schemas.openxmlformats.org/drawingml/2006/main" noGrp="1"/>
          </p:cNvSpPr>
          <p:nvPr/>
        </p:nvSpPr>
        <p:spPr>
          <a:xfrm xmlns:a="http://schemas.openxmlformats.org/drawingml/2006/main">
            <a:off x="762000" y="5381625"/>
            <a:ext cx="3714750" cy="1381125"/>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17" name="CLI">
            <a:extLst xmlns:a="http://schemas.openxmlformats.org/drawingml/2006/main">
              <a:ext uri="{FF2B5EF4-FFF2-40B4-BE49-F238E27FC236}">
                <a16:creationId xmlns:a16="http://schemas.microsoft.com/office/drawing/2014/main" id="{993A3DFC-1413-475D-967A-28C1B1D9B10E}"/>
              </a:ext>
            </a:extLst>
          </p:cNvPr>
          <p:cNvSpPr>
            <a:spLocks xmlns:a="http://schemas.openxmlformats.org/drawingml/2006/main" noGrp="1"/>
          </p:cNvSpPr>
          <p:nvPr/>
        </p:nvSpPr>
        <p:spPr>
          <a:xfrm xmlns:a="http://schemas.openxmlformats.org/drawingml/2006/main">
            <a:off x="952500" y="5553075"/>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CLI</a:t>
            </a:r>
          </a:p>
        </p:txBody>
      </p:sp>
      <p:sp>
        <p:nvSpPr>
          <p:cNvPr id="18" name="check / run / build / exec">
            <a:extLst xmlns:a="http://schemas.openxmlformats.org/drawingml/2006/main">
              <a:ext uri="{FF2B5EF4-FFF2-40B4-BE49-F238E27FC236}">
                <a16:creationId xmlns:a16="http://schemas.microsoft.com/office/drawing/2014/main" id="{144D965F-5AB8-43FC-8745-DC6947E92E40}"/>
              </a:ext>
            </a:extLst>
          </p:cNvPr>
          <p:cNvSpPr>
            <a:spLocks xmlns:a="http://schemas.openxmlformats.org/drawingml/2006/main" noGrp="1"/>
          </p:cNvSpPr>
          <p:nvPr/>
        </p:nvSpPr>
        <p:spPr>
          <a:xfrm xmlns:a="http://schemas.openxmlformats.org/drawingml/2006/main">
            <a:off x="952500" y="6105525"/>
            <a:ext cx="333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check / run / build / exec</a:t>
            </a:r>
          </a:p>
        </p:txBody>
      </p:sp>
      <p:sp>
        <p:nvSpPr>
          <p:cNvPr id="19" name="Shared compiler library">
            <a:extLst xmlns:a="http://schemas.openxmlformats.org/drawingml/2006/main">
              <a:ext uri="{FF2B5EF4-FFF2-40B4-BE49-F238E27FC236}">
                <a16:creationId xmlns:a16="http://schemas.microsoft.com/office/drawing/2014/main" id="{C0DF70F9-B233-44EC-AF5C-F9C39B680D7F}"/>
              </a:ext>
            </a:extLst>
          </p:cNvPr>
          <p:cNvSpPr>
            <a:spLocks xmlns:a="http://schemas.openxmlformats.org/drawingml/2006/main" noGrp="1"/>
          </p:cNvSpPr>
          <p:nvPr/>
        </p:nvSpPr>
        <p:spPr>
          <a:xfrm xmlns:a="http://schemas.openxmlformats.org/drawingml/2006/main">
            <a:off x="5810250" y="5381625"/>
            <a:ext cx="5048250" cy="1381125"/>
          </a:xfrm>
          <a:prstGeom xmlns:a="http://schemas.openxmlformats.org/drawingml/2006/main" prst="rect">
            <a:avLst/>
          </a:prstGeom>
          <a:solidFill xmlns:a="http://schemas.openxmlformats.org/drawingml/2006/main">
            <a:srgbClr val="173F4C"/>
          </a:solidFill>
          <a:ln xmlns:a="http://schemas.openxmlformats.org/drawingml/2006/main" w="16193">
            <a:solidFill>
              <a:srgbClr val="76D9C3"/>
            </a:solidFill>
          </a:ln>
        </p:spPr>
      </p:sp>
      <p:sp>
        <p:nvSpPr>
          <p:cNvPr id="20" name="Shared compiler library">
            <a:extLst xmlns:a="http://schemas.openxmlformats.org/drawingml/2006/main">
              <a:ext uri="{FF2B5EF4-FFF2-40B4-BE49-F238E27FC236}">
                <a16:creationId xmlns:a16="http://schemas.microsoft.com/office/drawing/2014/main" id="{FC877CB7-D5A9-48F5-9925-0A1D82441389}"/>
              </a:ext>
            </a:extLst>
          </p:cNvPr>
          <p:cNvSpPr>
            <a:spLocks xmlns:a="http://schemas.openxmlformats.org/drawingml/2006/main" noGrp="1"/>
          </p:cNvSpPr>
          <p:nvPr/>
        </p:nvSpPr>
        <p:spPr>
          <a:xfrm xmlns:a="http://schemas.openxmlformats.org/drawingml/2006/main">
            <a:off x="6000750" y="555307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vl1pPr algn="l">
              <a:defRPr sz="2325" b="1">
                <a:solidFill>
                  <a:srgbClr val="FFFFFF"/>
                </a:solidFill>
                <a:latin typeface="Arial"/>
                <a:ea typeface="Arial"/>
                <a:cs typeface="Arial"/>
              </a:defRPr>
            </a:lvl1pPr>
            <a:lvl2pPr algn="l">
              <a:defRPr sz="2325" b="1">
                <a:solidFill>
                  <a:srgbClr val="FFFFFF"/>
                </a:solidFill>
                <a:latin typeface="Arial"/>
                <a:ea typeface="Arial"/>
                <a:cs typeface="Arial"/>
              </a:defRPr>
            </a:lvl2pPr>
            <a:lvl3pPr algn="l">
              <a:defRPr sz="2325" b="1">
                <a:solidFill>
                  <a:srgbClr val="FFFFFF"/>
                </a:solidFill>
                <a:latin typeface="Arial"/>
                <a:ea typeface="Arial"/>
                <a:cs typeface="Arial"/>
              </a:defRPr>
            </a:lvl3pPr>
            <a:lvl4pPr algn="l">
              <a:defRPr sz="2325" b="1">
                <a:solidFill>
                  <a:srgbClr val="FFFFFF"/>
                </a:solidFill>
                <a:latin typeface="Arial"/>
                <a:ea typeface="Arial"/>
                <a:cs typeface="Arial"/>
              </a:defRPr>
            </a:lvl4pPr>
            <a:lvl5pPr algn="l">
              <a:defRPr sz="2325" b="1">
                <a:solidFill>
                  <a:srgbClr val="FFFFFF"/>
                </a:solidFill>
                <a:latin typeface="Arial"/>
                <a:ea typeface="Arial"/>
                <a:cs typeface="Arial"/>
              </a:defRPr>
            </a:lvl5pPr>
            <a:lvl6pPr algn="l">
              <a:defRPr sz="2325" b="1">
                <a:solidFill>
                  <a:srgbClr val="FFFFFF"/>
                </a:solidFill>
                <a:latin typeface="Arial"/>
                <a:ea typeface="Arial"/>
                <a:cs typeface="Arial"/>
              </a:defRPr>
            </a:lvl6pPr>
            <a:lvl7pPr algn="l">
              <a:defRPr sz="2325" b="1">
                <a:solidFill>
                  <a:srgbClr val="FFFFFF"/>
                </a:solidFill>
                <a:latin typeface="Arial"/>
                <a:ea typeface="Arial"/>
                <a:cs typeface="Arial"/>
              </a:defRPr>
            </a:lvl7pPr>
            <a:lvl8pPr algn="l">
              <a:defRPr sz="2325" b="1">
                <a:solidFill>
                  <a:srgbClr val="FFFFFF"/>
                </a:solidFill>
                <a:latin typeface="Arial"/>
                <a:ea typeface="Arial"/>
                <a:cs typeface="Arial"/>
              </a:defRPr>
            </a:lvl8pPr>
            <a:lvl9pPr algn="l">
              <a:defRPr sz="2325" b="1">
                <a:solidFill>
                  <a:srgbClr val="FFFFFF"/>
                </a:solidFill>
                <a:latin typeface="Arial"/>
                <a:ea typeface="Arial"/>
                <a:cs typeface="Arial"/>
              </a:defRPr>
            </a:lvl9pPr>
          </a:lstStyle>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Shared compiler library</a:t>
            </a:r>
          </a:p>
        </p:txBody>
      </p:sp>
      <p:sp>
        <p:nvSpPr>
          <p:cNvPr id="21" name="compile_source() and execute_job()">
            <a:extLst xmlns:a="http://schemas.openxmlformats.org/drawingml/2006/main">
              <a:ext uri="{FF2B5EF4-FFF2-40B4-BE49-F238E27FC236}">
                <a16:creationId xmlns:a16="http://schemas.microsoft.com/office/drawing/2014/main" id="{6024CA3A-0999-4E04-ABD9-0E07A33E565E}"/>
              </a:ext>
            </a:extLst>
          </p:cNvPr>
          <p:cNvSpPr>
            <a:spLocks xmlns:a="http://schemas.openxmlformats.org/drawingml/2006/main" noGrp="1"/>
          </p:cNvSpPr>
          <p:nvPr/>
        </p:nvSpPr>
        <p:spPr>
          <a:xfrm xmlns:a="http://schemas.openxmlformats.org/drawingml/2006/main">
            <a:off x="6000750" y="6105525"/>
            <a:ext cx="4667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compile_source() and execute_job()</a:t>
            </a:r>
          </a:p>
        </p:txBody>
      </p:sp>
      <p:sp>
        <p:nvSpPr>
          <p:cNvPr id="22" name="Stack VM">
            <a:extLst xmlns:a="http://schemas.openxmlformats.org/drawingml/2006/main">
              <a:ext uri="{FF2B5EF4-FFF2-40B4-BE49-F238E27FC236}">
                <a16:creationId xmlns:a16="http://schemas.microsoft.com/office/drawing/2014/main" id="{DB4BF7C5-D4BA-403E-9745-6AF2DC80279F}"/>
              </a:ext>
            </a:extLst>
          </p:cNvPr>
          <p:cNvSpPr>
            <a:spLocks xmlns:a="http://schemas.openxmlformats.org/drawingml/2006/main" noGrp="1"/>
          </p:cNvSpPr>
          <p:nvPr/>
        </p:nvSpPr>
        <p:spPr>
          <a:xfrm xmlns:a="http://schemas.openxmlformats.org/drawingml/2006/main">
            <a:off x="11811000" y="5381625"/>
            <a:ext cx="2762250" cy="1381125"/>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23" name="Stack VM">
            <a:extLst xmlns:a="http://schemas.openxmlformats.org/drawingml/2006/main">
              <a:ext uri="{FF2B5EF4-FFF2-40B4-BE49-F238E27FC236}">
                <a16:creationId xmlns:a16="http://schemas.microsoft.com/office/drawing/2014/main" id="{61B631AD-11C1-472B-93AD-D48A9B501AD7}"/>
              </a:ext>
            </a:extLst>
          </p:cNvPr>
          <p:cNvSpPr>
            <a:spLocks xmlns:a="http://schemas.openxmlformats.org/drawingml/2006/main" noGrp="1"/>
          </p:cNvSpPr>
          <p:nvPr/>
        </p:nvSpPr>
        <p:spPr>
          <a:xfrm xmlns:a="http://schemas.openxmlformats.org/drawingml/2006/main">
            <a:off x="12001500" y="555307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Stack VM</a:t>
            </a:r>
          </a:p>
        </p:txBody>
      </p:sp>
      <p:sp>
        <p:nvSpPr>
          <p:cNvPr id="24" name="Validated bytecode execution">
            <a:extLst xmlns:a="http://schemas.openxmlformats.org/drawingml/2006/main">
              <a:ext uri="{FF2B5EF4-FFF2-40B4-BE49-F238E27FC236}">
                <a16:creationId xmlns:a16="http://schemas.microsoft.com/office/drawing/2014/main" id="{DE72FC37-2019-4A7E-AC8A-183C62064ACC}"/>
              </a:ext>
            </a:extLst>
          </p:cNvPr>
          <p:cNvSpPr>
            <a:spLocks xmlns:a="http://schemas.openxmlformats.org/drawingml/2006/main" noGrp="1"/>
          </p:cNvSpPr>
          <p:nvPr/>
        </p:nvSpPr>
        <p:spPr>
          <a:xfrm xmlns:a="http://schemas.openxmlformats.org/drawingml/2006/main">
            <a:off x="12001500" y="6105525"/>
            <a:ext cx="238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Validated bytecode execution</a:t>
            </a:r>
          </a:p>
        </p:txBody>
      </p:sp>
      <p:sp>
        <p:nvSpPr>
          <p:cNvPr id="28" name="Compilation returns stage data and diagnostics. Run add">
            <a:extLst xmlns:a="http://schemas.openxmlformats.org/drawingml/2006/main">
              <a:ext uri="{FF2B5EF4-FFF2-40B4-BE49-F238E27FC236}">
                <a16:creationId xmlns:a16="http://schemas.microsoft.com/office/drawing/2014/main" id="{0C705776-09E1-484E-9CE4-1F8E7EA266B7}"/>
              </a:ext>
            </a:extLst>
          </p:cNvPr>
          <p:cNvSpPr>
            <a:spLocks xmlns:a="http://schemas.openxmlformats.org/drawingml/2006/main" noGrp="1"/>
          </p:cNvSpPr>
          <p:nvPr/>
        </p:nvSpPr>
        <p:spPr>
          <a:xfrm xmlns:a="http://schemas.openxmlformats.org/drawingml/2006/main">
            <a:off x="781050" y="7410450"/>
            <a:ext cx="1362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B5C7DE"/>
                </a:solidFill>
                <a:latin typeface="Arial"/>
                <a:ea typeface="Arial"/>
                <a:cs typeface="Arial"/>
              </a:defRPr>
            </a:defPPr>
            <a:lvl1pPr algn="l">
              <a:defRPr sz="2025" b="0">
                <a:solidFill>
                  <a:srgbClr val="B5C7DE"/>
                </a:solidFill>
                <a:latin typeface="Arial"/>
                <a:ea typeface="Arial"/>
                <a:cs typeface="Arial"/>
              </a:defRPr>
            </a:lvl1pPr>
            <a:lvl2pPr algn="l">
              <a:defRPr sz="2025" b="0">
                <a:solidFill>
                  <a:srgbClr val="B5C7DE"/>
                </a:solidFill>
                <a:latin typeface="Arial"/>
                <a:ea typeface="Arial"/>
                <a:cs typeface="Arial"/>
              </a:defRPr>
            </a:lvl2pPr>
            <a:lvl3pPr algn="l">
              <a:defRPr sz="2025" b="0">
                <a:solidFill>
                  <a:srgbClr val="B5C7DE"/>
                </a:solidFill>
                <a:latin typeface="Arial"/>
                <a:ea typeface="Arial"/>
                <a:cs typeface="Arial"/>
              </a:defRPr>
            </a:lvl3pPr>
            <a:lvl4pPr algn="l">
              <a:defRPr sz="2025" b="0">
                <a:solidFill>
                  <a:srgbClr val="B5C7DE"/>
                </a:solidFill>
                <a:latin typeface="Arial"/>
                <a:ea typeface="Arial"/>
                <a:cs typeface="Arial"/>
              </a:defRPr>
            </a:lvl4pPr>
            <a:lvl5pPr algn="l">
              <a:defRPr sz="2025" b="0">
                <a:solidFill>
                  <a:srgbClr val="B5C7DE"/>
                </a:solidFill>
                <a:latin typeface="Arial"/>
                <a:ea typeface="Arial"/>
                <a:cs typeface="Arial"/>
              </a:defRPr>
            </a:lvl5pPr>
            <a:lvl6pPr algn="l">
              <a:defRPr sz="2025" b="0">
                <a:solidFill>
                  <a:srgbClr val="B5C7DE"/>
                </a:solidFill>
                <a:latin typeface="Arial"/>
                <a:ea typeface="Arial"/>
                <a:cs typeface="Arial"/>
              </a:defRPr>
            </a:lvl6pPr>
            <a:lvl7pPr algn="l">
              <a:defRPr sz="2025" b="0">
                <a:solidFill>
                  <a:srgbClr val="B5C7DE"/>
                </a:solidFill>
                <a:latin typeface="Arial"/>
                <a:ea typeface="Arial"/>
                <a:cs typeface="Arial"/>
              </a:defRPr>
            </a:lvl7pPr>
            <a:lvl8pPr algn="l">
              <a:defRPr sz="2025" b="0">
                <a:solidFill>
                  <a:srgbClr val="B5C7DE"/>
                </a:solidFill>
                <a:latin typeface="Arial"/>
                <a:ea typeface="Arial"/>
                <a:cs typeface="Arial"/>
              </a:defRPr>
            </a:lvl8pPr>
            <a:lvl9pPr algn="l">
              <a:defRPr sz="2025" b="0">
                <a:solidFill>
                  <a:srgbClr val="B5C7DE"/>
                </a:solidFill>
                <a:latin typeface="Arial"/>
                <a:ea typeface="Arial"/>
                <a:cs typeface="Arial"/>
              </a:defRPr>
            </a:lvl9pPr>
          </a:lstStyle>
          <a:p xmlns:a="http://schemas.openxmlformats.org/drawingml/2006/main">
            <a:pPr algn="l">
              <a:defRPr sz="2025" b="0">
                <a:solidFill>
                  <a:srgbClr val="B5C7DE"/>
                </a:solidFill>
                <a:latin typeface="Arial"/>
                <a:ea typeface="Arial"/>
                <a:cs typeface="Arial"/>
              </a:defRPr>
            </a:pPr>
            <a:r>
              <a:rPr sz="2025" b="0">
                <a:solidFill>
                  <a:srgbClr val="B5C7DE"/>
                </a:solidFill>
                <a:latin typeface="Arial"/>
                <a:ea typeface="Arial"/>
                <a:cs typeface="Arial"/>
              </a:rPr>
              <a:t>Compilation returns stage data and diagnostics. Run additionally executes the artifact.</a:t>
            </a:r>
          </a:p>
        </p:txBody>
      </p:sp>
    </p:spTree>
    <p:extLst>
      <p:ext uri="{BB962C8B-B14F-4D97-AF65-F5344CB8AC3E}">
        <p14:creationId xmlns:p14="http://schemas.microsoft.com/office/powerpoint/2010/main" val="1163286045"/>
      </p:ext>
    </p:extLst>
  </p:cSld>
</p:sld>
</file>

<file path=ppt/slides/slide6.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B4C70FF1-0CBD-496D-94A7-6C3EBBAB4D31}"/>
              </a:ext>
            </a:extLst>
          </p:cNvPr>
          <p:cNvCxnSpPr>
            <a:stCxn xmlns:a="http://schemas.openxmlformats.org/drawingml/2006/main" id="29" idx="3"/>
            <a:endCxn xmlns:a="http://schemas.openxmlformats.org/drawingml/2006/main" id="31" idx="1"/>
          </p:cNvCxnSpPr>
          <p:nvPr/>
        </p:nvCxnSpPr>
        <p:spPr>
          <a:xfrm xmlns:a="http://schemas.openxmlformats.org/drawingml/2006/main">
            <a:off x="10953750" y="7534275"/>
            <a:ext cx="571500" cy="0"/>
          </a:xfrm>
          <a:prstGeom xmlns:a="http://schemas.openxmlformats.org/drawingml/2006/main" prst="straightConnector1">
            <a:avLst/>
          </a:prstGeom>
          <a:ln xmlns:a="http://schemas.openxmlformats.org/drawingml/2006/main" w="22860">
            <a:solidFill>
              <a:srgbClr val="76D9C3"/>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646CDDE2-A941-4C45-A44C-C3A860DBB2A3}"/>
              </a:ext>
            </a:extLst>
          </p:cNvPr>
          <p:cNvCxnSpPr>
            <a:stCxn xmlns:a="http://schemas.openxmlformats.org/drawingml/2006/main" id="23" idx="2"/>
            <a:endCxn xmlns:a="http://schemas.openxmlformats.org/drawingml/2006/main" id="29" idx="0"/>
          </p:cNvCxnSpPr>
          <p:nvPr/>
        </p:nvCxnSpPr>
        <p:spPr>
          <a:xfrm xmlns:a="http://schemas.openxmlformats.org/drawingml/2006/main" flipH="1">
            <a:off x="9525000" y="6477000"/>
            <a:ext cx="1762125" cy="666750"/>
          </a:xfrm>
          <a:prstGeom xmlns:a="http://schemas.openxmlformats.org/drawingml/2006/main" prst="bentConnector4">
            <a:avLst>
              <a:gd name="adj1" fmla="val 0"/>
              <a:gd name="adj2" fmla="val 50000"/>
            </a:avLst>
          </a:prstGeom>
          <a:ln xmlns:a="http://schemas.openxmlformats.org/drawingml/2006/main" w="22860">
            <a:solidFill>
              <a:srgbClr val="76D9C3"/>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72AD257C-650E-46D3-AF92-E2D74EF14EBF}"/>
              </a:ext>
            </a:extLst>
          </p:cNvPr>
          <p:cNvCxnSpPr>
            <a:stCxn xmlns:a="http://schemas.openxmlformats.org/drawingml/2006/main" id="12" idx="3"/>
            <a:endCxn xmlns:a="http://schemas.openxmlformats.org/drawingml/2006/main" id="17" idx="1"/>
          </p:cNvCxnSpPr>
          <p:nvPr/>
        </p:nvCxnSpPr>
        <p:spPr>
          <a:xfrm xmlns:a="http://schemas.openxmlformats.org/drawingml/2006/main" flipV="1">
            <a:off x="6667500" y="3381375"/>
            <a:ext cx="1428750" cy="2571750"/>
          </a:xfrm>
          <a:prstGeom xmlns:a="http://schemas.openxmlformats.org/drawingml/2006/main" prst="bentConnector3">
            <a:avLst>
              <a:gd name="adj1" fmla="val 50000"/>
            </a:avLst>
          </a:prstGeom>
          <a:ln xmlns:a="http://schemas.openxmlformats.org/drawingml/2006/main" w="22860">
            <a:solidFill>
              <a:srgbClr val="76D9C3"/>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33617847-F24D-4D6F-8293-84C0A2427B71}"/>
              </a:ext>
            </a:extLst>
          </p:cNvPr>
          <p:cNvCxnSpPr>
            <a:stCxn xmlns:a="http://schemas.openxmlformats.org/drawingml/2006/main" id="20" idx="2"/>
            <a:endCxn xmlns:a="http://schemas.openxmlformats.org/drawingml/2006/main" id="23" idx="0"/>
          </p:cNvCxnSpPr>
          <p:nvPr/>
        </p:nvCxnSpPr>
        <p:spPr>
          <a:xfrm xmlns:a="http://schemas.openxmlformats.org/drawingml/2006/main">
            <a:off x="11287125" y="5191125"/>
            <a:ext cx="0" cy="238125"/>
          </a:xfrm>
          <a:prstGeom xmlns:a="http://schemas.openxmlformats.org/drawingml/2006/main" prst="straightConnector1">
            <a:avLst/>
          </a:prstGeom>
          <a:ln xmlns:a="http://schemas.openxmlformats.org/drawingml/2006/main" w="22860">
            <a:solidFill>
              <a:srgbClr val="76D9C3"/>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583214C2-53C1-4EFE-840B-1348381CC09F}"/>
              </a:ext>
            </a:extLst>
          </p:cNvPr>
          <p:cNvCxnSpPr>
            <a:stCxn xmlns:a="http://schemas.openxmlformats.org/drawingml/2006/main" id="17" idx="2"/>
            <a:endCxn xmlns:a="http://schemas.openxmlformats.org/drawingml/2006/main" id="20" idx="0"/>
          </p:cNvCxnSpPr>
          <p:nvPr/>
        </p:nvCxnSpPr>
        <p:spPr>
          <a:xfrm xmlns:a="http://schemas.openxmlformats.org/drawingml/2006/main">
            <a:off x="11287125" y="3905250"/>
            <a:ext cx="0" cy="238125"/>
          </a:xfrm>
          <a:prstGeom xmlns:a="http://schemas.openxmlformats.org/drawingml/2006/main" prst="straightConnector1">
            <a:avLst/>
          </a:prstGeom>
          <a:ln xmlns:a="http://schemas.openxmlformats.org/drawingml/2006/main" w="22860">
            <a:solidFill>
              <a:srgbClr val="76D9C3"/>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C4D62EB8-97E8-4723-96B6-B7CA13406B6B}"/>
              </a:ext>
            </a:extLst>
          </p:cNvPr>
          <p:cNvCxnSpPr>
            <a:stCxn xmlns:a="http://schemas.openxmlformats.org/drawingml/2006/main" id="9" idx="2"/>
            <a:endCxn xmlns:a="http://schemas.openxmlformats.org/drawingml/2006/main" id="12" idx="0"/>
          </p:cNvCxnSpPr>
          <p:nvPr/>
        </p:nvCxnSpPr>
        <p:spPr>
          <a:xfrm xmlns:a="http://schemas.openxmlformats.org/drawingml/2006/main">
            <a:off x="3714750" y="5191125"/>
            <a:ext cx="0" cy="238125"/>
          </a:xfrm>
          <a:prstGeom xmlns:a="http://schemas.openxmlformats.org/drawingml/2006/main" prst="straightConnector1">
            <a:avLst/>
          </a:prstGeom>
          <a:ln xmlns:a="http://schemas.openxmlformats.org/drawingml/2006/main" w="22860">
            <a:solidFill>
              <a:srgbClr val="76D9C3"/>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29757F4A-5A2B-4812-9CE8-FF9FD72B2454}"/>
              </a:ext>
            </a:extLst>
          </p:cNvPr>
          <p:cNvCxnSpPr>
            <a:stCxn xmlns:a="http://schemas.openxmlformats.org/drawingml/2006/main" id="6" idx="2"/>
            <a:endCxn xmlns:a="http://schemas.openxmlformats.org/drawingml/2006/main" id="9" idx="0"/>
          </p:cNvCxnSpPr>
          <p:nvPr/>
        </p:nvCxnSpPr>
        <p:spPr>
          <a:xfrm xmlns:a="http://schemas.openxmlformats.org/drawingml/2006/main">
            <a:off x="3714750" y="3905250"/>
            <a:ext cx="0" cy="238125"/>
          </a:xfrm>
          <a:prstGeom xmlns:a="http://schemas.openxmlformats.org/drawingml/2006/main" prst="straightConnector1">
            <a:avLst/>
          </a:prstGeom>
          <a:ln xmlns:a="http://schemas.openxmlformats.org/drawingml/2006/main" w="22860">
            <a:solidFill>
              <a:srgbClr val="76D9C3"/>
            </a:solidFill>
            <a:prstDash val="solid"/>
            <a:tailEnd type="triangle" w="sm" len="sm"/>
          </a:ln>
        </p:spPr>
      </p:cxnSp>
      <p:sp>
        <p:nvSpPr>
          <p:cNvPr id="36" name="Compiler architecture">
            <a:extLst xmlns:a="http://schemas.openxmlformats.org/drawingml/2006/main">
              <a:ext uri="{FF2B5EF4-FFF2-40B4-BE49-F238E27FC236}">
                <a16:creationId xmlns:a16="http://schemas.microsoft.com/office/drawing/2014/main" id="{93BBABC6-F056-48CB-9F1B-15186C117455}"/>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Compiler architecture</a:t>
            </a:r>
          </a:p>
        </p:txBody>
      </p:sp>
      <p:sp>
        <p:nvSpPr>
          <p:cNvPr id="2" name="Representations connect every stage of compilation">
            <a:extLst xmlns:a="http://schemas.openxmlformats.org/drawingml/2006/main">
              <a:ext uri="{FF2B5EF4-FFF2-40B4-BE49-F238E27FC236}">
                <a16:creationId xmlns:a16="http://schemas.microsoft.com/office/drawing/2014/main" id="{839D26CD-4646-4A33-8E16-AC97D3569DAB}"/>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5C7DE"/>
                </a:solidFill>
                <a:latin typeface="Arial"/>
                <a:ea typeface="Arial"/>
                <a:cs typeface="Arial"/>
              </a:defRPr>
            </a:defPPr>
            <a:lvl1pPr algn="l">
              <a:defRPr sz="2250" b="0">
                <a:solidFill>
                  <a:srgbClr val="B5C7DE"/>
                </a:solidFill>
                <a:latin typeface="Arial"/>
                <a:ea typeface="Arial"/>
                <a:cs typeface="Arial"/>
              </a:defRPr>
            </a:lvl1pPr>
            <a:lvl2pPr algn="l">
              <a:defRPr sz="2250" b="0">
                <a:solidFill>
                  <a:srgbClr val="B5C7DE"/>
                </a:solidFill>
                <a:latin typeface="Arial"/>
                <a:ea typeface="Arial"/>
                <a:cs typeface="Arial"/>
              </a:defRPr>
            </a:lvl2pPr>
            <a:lvl3pPr algn="l">
              <a:defRPr sz="2250" b="0">
                <a:solidFill>
                  <a:srgbClr val="B5C7DE"/>
                </a:solidFill>
                <a:latin typeface="Arial"/>
                <a:ea typeface="Arial"/>
                <a:cs typeface="Arial"/>
              </a:defRPr>
            </a:lvl3pPr>
            <a:lvl4pPr algn="l">
              <a:defRPr sz="2250" b="0">
                <a:solidFill>
                  <a:srgbClr val="B5C7DE"/>
                </a:solidFill>
                <a:latin typeface="Arial"/>
                <a:ea typeface="Arial"/>
                <a:cs typeface="Arial"/>
              </a:defRPr>
            </a:lvl4pPr>
            <a:lvl5pPr algn="l">
              <a:defRPr sz="2250" b="0">
                <a:solidFill>
                  <a:srgbClr val="B5C7DE"/>
                </a:solidFill>
                <a:latin typeface="Arial"/>
                <a:ea typeface="Arial"/>
                <a:cs typeface="Arial"/>
              </a:defRPr>
            </a:lvl5pPr>
            <a:lvl6pPr algn="l">
              <a:defRPr sz="2250" b="0">
                <a:solidFill>
                  <a:srgbClr val="B5C7DE"/>
                </a:solidFill>
                <a:latin typeface="Arial"/>
                <a:ea typeface="Arial"/>
                <a:cs typeface="Arial"/>
              </a:defRPr>
            </a:lvl6pPr>
            <a:lvl7pPr algn="l">
              <a:defRPr sz="2250" b="0">
                <a:solidFill>
                  <a:srgbClr val="B5C7DE"/>
                </a:solidFill>
                <a:latin typeface="Arial"/>
                <a:ea typeface="Arial"/>
                <a:cs typeface="Arial"/>
              </a:defRPr>
            </a:lvl7pPr>
            <a:lvl8pPr algn="l">
              <a:defRPr sz="2250" b="0">
                <a:solidFill>
                  <a:srgbClr val="B5C7DE"/>
                </a:solidFill>
                <a:latin typeface="Arial"/>
                <a:ea typeface="Arial"/>
                <a:cs typeface="Arial"/>
              </a:defRPr>
            </a:lvl8pPr>
            <a:lvl9pPr algn="l">
              <a:defRPr sz="2250" b="0">
                <a:solidFill>
                  <a:srgbClr val="B5C7DE"/>
                </a:solidFill>
                <a:latin typeface="Arial"/>
                <a:ea typeface="Arial"/>
                <a:cs typeface="Arial"/>
              </a:defRPr>
            </a:lvl9pPr>
          </a:lstStyle>
          <a:p xmlns:a="http://schemas.openxmlformats.org/drawingml/2006/main">
            <a:pPr algn="l">
              <a:defRPr sz="2250" b="0">
                <a:solidFill>
                  <a:srgbClr val="B5C7DE"/>
                </a:solidFill>
                <a:latin typeface="Arial"/>
                <a:ea typeface="Arial"/>
                <a:cs typeface="Arial"/>
              </a:defRPr>
            </a:pPr>
            <a:r>
              <a:rPr sz="2250" b="0">
                <a:solidFill>
                  <a:srgbClr val="B5C7DE"/>
                </a:solidFill>
                <a:latin typeface="Arial"/>
                <a:ea typeface="Arial"/>
                <a:cs typeface="Arial"/>
              </a:rPr>
              <a:t>Representations connect every stage of compilation</a:t>
            </a:r>
          </a:p>
        </p:txBody>
      </p:sp>
      <p:sp>
        <p:nvSpPr>
          <p:cNvPr id="3" name="06">
            <a:extLst xmlns:a="http://schemas.openxmlformats.org/drawingml/2006/main">
              <a:ext uri="{FF2B5EF4-FFF2-40B4-BE49-F238E27FC236}">
                <a16:creationId xmlns:a16="http://schemas.microsoft.com/office/drawing/2014/main" id="{4518F5C0-7061-49E8-B1E9-B66540E0A917}"/>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5C7DE"/>
                </a:solidFill>
                <a:latin typeface="Arial"/>
                <a:ea typeface="Arial"/>
                <a:cs typeface="Arial"/>
              </a:defRPr>
            </a:defPPr>
            <a:lvl1pPr algn="r">
              <a:defRPr sz="1500" b="0">
                <a:solidFill>
                  <a:srgbClr val="B5C7DE"/>
                </a:solidFill>
                <a:latin typeface="Arial"/>
                <a:ea typeface="Arial"/>
                <a:cs typeface="Arial"/>
              </a:defRPr>
            </a:lvl1pPr>
            <a:lvl2pPr algn="r">
              <a:defRPr sz="1500" b="0">
                <a:solidFill>
                  <a:srgbClr val="B5C7DE"/>
                </a:solidFill>
                <a:latin typeface="Arial"/>
                <a:ea typeface="Arial"/>
                <a:cs typeface="Arial"/>
              </a:defRPr>
            </a:lvl2pPr>
            <a:lvl3pPr algn="r">
              <a:defRPr sz="1500" b="0">
                <a:solidFill>
                  <a:srgbClr val="B5C7DE"/>
                </a:solidFill>
                <a:latin typeface="Arial"/>
                <a:ea typeface="Arial"/>
                <a:cs typeface="Arial"/>
              </a:defRPr>
            </a:lvl3pPr>
            <a:lvl4pPr algn="r">
              <a:defRPr sz="1500" b="0">
                <a:solidFill>
                  <a:srgbClr val="B5C7DE"/>
                </a:solidFill>
                <a:latin typeface="Arial"/>
                <a:ea typeface="Arial"/>
                <a:cs typeface="Arial"/>
              </a:defRPr>
            </a:lvl4pPr>
            <a:lvl5pPr algn="r">
              <a:defRPr sz="1500" b="0">
                <a:solidFill>
                  <a:srgbClr val="B5C7DE"/>
                </a:solidFill>
                <a:latin typeface="Arial"/>
                <a:ea typeface="Arial"/>
                <a:cs typeface="Arial"/>
              </a:defRPr>
            </a:lvl5pPr>
            <a:lvl6pPr algn="r">
              <a:defRPr sz="1500" b="0">
                <a:solidFill>
                  <a:srgbClr val="B5C7DE"/>
                </a:solidFill>
                <a:latin typeface="Arial"/>
                <a:ea typeface="Arial"/>
                <a:cs typeface="Arial"/>
              </a:defRPr>
            </a:lvl6pPr>
            <a:lvl7pPr algn="r">
              <a:defRPr sz="1500" b="0">
                <a:solidFill>
                  <a:srgbClr val="B5C7DE"/>
                </a:solidFill>
                <a:latin typeface="Arial"/>
                <a:ea typeface="Arial"/>
                <a:cs typeface="Arial"/>
              </a:defRPr>
            </a:lvl7pPr>
            <a:lvl8pPr algn="r">
              <a:defRPr sz="1500" b="0">
                <a:solidFill>
                  <a:srgbClr val="B5C7DE"/>
                </a:solidFill>
                <a:latin typeface="Arial"/>
                <a:ea typeface="Arial"/>
                <a:cs typeface="Arial"/>
              </a:defRPr>
            </a:lvl8pPr>
            <a:lvl9pPr algn="r">
              <a:defRPr sz="1500" b="0">
                <a:solidFill>
                  <a:srgbClr val="B5C7DE"/>
                </a:solidFill>
                <a:latin typeface="Arial"/>
                <a:ea typeface="Arial"/>
                <a:cs typeface="Arial"/>
              </a:defRPr>
            </a:lvl9pPr>
          </a:lstStyle>
          <a:p xmlns:a="http://schemas.openxmlformats.org/drawingml/2006/main">
            <a:pPr algn="r">
              <a:defRPr sz="1500" b="0">
                <a:solidFill>
                  <a:srgbClr val="B5C7DE"/>
                </a:solidFill>
                <a:latin typeface="Arial"/>
                <a:ea typeface="Arial"/>
                <a:cs typeface="Arial"/>
              </a:defRPr>
            </a:pPr>
            <a:r>
              <a:rPr sz="1500" b="0">
                <a:solidFill>
                  <a:srgbClr val="B5C7DE"/>
                </a:solidFill>
                <a:latin typeface="Arial"/>
                <a:ea typeface="Arial"/>
                <a:cs typeface="Arial"/>
              </a:rPr>
              <a:t>06</a:t>
            </a:r>
          </a:p>
        </p:txBody>
      </p:sp>
      <p:sp>
        <p:nvSpPr>
          <p:cNvPr id="4" name="FRONT END">
            <a:extLst xmlns:a="http://schemas.openxmlformats.org/drawingml/2006/main">
              <a:ext uri="{FF2B5EF4-FFF2-40B4-BE49-F238E27FC236}">
                <a16:creationId xmlns:a16="http://schemas.microsoft.com/office/drawing/2014/main" id="{F09A9468-B6C6-4767-84F5-2AC6530880F1}"/>
              </a:ext>
            </a:extLst>
          </p:cNvPr>
          <p:cNvSpPr>
            <a:spLocks xmlns:a="http://schemas.openxmlformats.org/drawingml/2006/main" noGrp="1"/>
          </p:cNvSpPr>
          <p:nvPr/>
        </p:nvSpPr>
        <p:spPr>
          <a:xfrm xmlns:a="http://schemas.openxmlformats.org/drawingml/2006/main">
            <a:off x="781050" y="24098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76D9C3"/>
                </a:solidFill>
                <a:latin typeface="Arial"/>
                <a:ea typeface="Arial"/>
                <a:cs typeface="Arial"/>
              </a:defRPr>
            </a:defPPr>
            <a:lvl1pPr algn="l">
              <a:defRPr sz="2025" b="1">
                <a:solidFill>
                  <a:srgbClr val="76D9C3"/>
                </a:solidFill>
                <a:latin typeface="Arial"/>
                <a:ea typeface="Arial"/>
                <a:cs typeface="Arial"/>
              </a:defRPr>
            </a:lvl1pPr>
            <a:lvl2pPr algn="l">
              <a:defRPr sz="2025" b="1">
                <a:solidFill>
                  <a:srgbClr val="76D9C3"/>
                </a:solidFill>
                <a:latin typeface="Arial"/>
                <a:ea typeface="Arial"/>
                <a:cs typeface="Arial"/>
              </a:defRPr>
            </a:lvl2pPr>
            <a:lvl3pPr algn="l">
              <a:defRPr sz="2025" b="1">
                <a:solidFill>
                  <a:srgbClr val="76D9C3"/>
                </a:solidFill>
                <a:latin typeface="Arial"/>
                <a:ea typeface="Arial"/>
                <a:cs typeface="Arial"/>
              </a:defRPr>
            </a:lvl3pPr>
            <a:lvl4pPr algn="l">
              <a:defRPr sz="2025" b="1">
                <a:solidFill>
                  <a:srgbClr val="76D9C3"/>
                </a:solidFill>
                <a:latin typeface="Arial"/>
                <a:ea typeface="Arial"/>
                <a:cs typeface="Arial"/>
              </a:defRPr>
            </a:lvl4pPr>
            <a:lvl5pPr algn="l">
              <a:defRPr sz="2025" b="1">
                <a:solidFill>
                  <a:srgbClr val="76D9C3"/>
                </a:solidFill>
                <a:latin typeface="Arial"/>
                <a:ea typeface="Arial"/>
                <a:cs typeface="Arial"/>
              </a:defRPr>
            </a:lvl5pPr>
            <a:lvl6pPr algn="l">
              <a:defRPr sz="2025" b="1">
                <a:solidFill>
                  <a:srgbClr val="76D9C3"/>
                </a:solidFill>
                <a:latin typeface="Arial"/>
                <a:ea typeface="Arial"/>
                <a:cs typeface="Arial"/>
              </a:defRPr>
            </a:lvl6pPr>
            <a:lvl7pPr algn="l">
              <a:defRPr sz="2025" b="1">
                <a:solidFill>
                  <a:srgbClr val="76D9C3"/>
                </a:solidFill>
                <a:latin typeface="Arial"/>
                <a:ea typeface="Arial"/>
                <a:cs typeface="Arial"/>
              </a:defRPr>
            </a:lvl7pPr>
            <a:lvl8pPr algn="l">
              <a:defRPr sz="2025" b="1">
                <a:solidFill>
                  <a:srgbClr val="76D9C3"/>
                </a:solidFill>
                <a:latin typeface="Arial"/>
                <a:ea typeface="Arial"/>
                <a:cs typeface="Arial"/>
              </a:defRPr>
            </a:lvl8pPr>
            <a:lvl9pPr algn="l">
              <a:defRPr sz="2025" b="1">
                <a:solidFill>
                  <a:srgbClr val="76D9C3"/>
                </a:solidFill>
                <a:latin typeface="Arial"/>
                <a:ea typeface="Arial"/>
                <a:cs typeface="Arial"/>
              </a:defRPr>
            </a:lvl9pPr>
          </a:lstStyle>
          <a:p xmlns:a="http://schemas.openxmlformats.org/drawingml/2006/main">
            <a:pPr algn="l">
              <a:defRPr sz="2025" b="1">
                <a:solidFill>
                  <a:srgbClr val="76D9C3"/>
                </a:solidFill>
                <a:latin typeface="Arial"/>
                <a:ea typeface="Arial"/>
                <a:cs typeface="Arial"/>
              </a:defRPr>
            </a:pPr>
            <a:r>
              <a:rPr sz="2025" b="1">
                <a:solidFill>
                  <a:srgbClr val="76D9C3"/>
                </a:solidFill>
                <a:latin typeface="Arial"/>
                <a:ea typeface="Arial"/>
                <a:cs typeface="Arial"/>
              </a:rPr>
              <a:t>FRONT END</a:t>
            </a:r>
          </a:p>
        </p:txBody>
      </p:sp>
      <p:sp>
        <p:nvSpPr>
          <p:cNvPr id="5" name="OPTIMIZATION AND BACK END">
            <a:extLst xmlns:a="http://schemas.openxmlformats.org/drawingml/2006/main">
              <a:ext uri="{FF2B5EF4-FFF2-40B4-BE49-F238E27FC236}">
                <a16:creationId xmlns:a16="http://schemas.microsoft.com/office/drawing/2014/main" id="{F37DA10C-619A-492B-8820-5835176F4977}"/>
              </a:ext>
            </a:extLst>
          </p:cNvPr>
          <p:cNvSpPr>
            <a:spLocks xmlns:a="http://schemas.openxmlformats.org/drawingml/2006/main" noGrp="1"/>
          </p:cNvSpPr>
          <p:nvPr/>
        </p:nvSpPr>
        <p:spPr>
          <a:xfrm xmlns:a="http://schemas.openxmlformats.org/drawingml/2006/main">
            <a:off x="8143875" y="2409825"/>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76D9C3"/>
                </a:solidFill>
                <a:latin typeface="Arial"/>
                <a:ea typeface="Arial"/>
                <a:cs typeface="Arial"/>
              </a:defRPr>
            </a:defPPr>
            <a:lvl1pPr algn="l">
              <a:defRPr sz="2025" b="1">
                <a:solidFill>
                  <a:srgbClr val="76D9C3"/>
                </a:solidFill>
                <a:latin typeface="Arial"/>
                <a:ea typeface="Arial"/>
                <a:cs typeface="Arial"/>
              </a:defRPr>
            </a:lvl1pPr>
            <a:lvl2pPr algn="l">
              <a:defRPr sz="2025" b="1">
                <a:solidFill>
                  <a:srgbClr val="76D9C3"/>
                </a:solidFill>
                <a:latin typeface="Arial"/>
                <a:ea typeface="Arial"/>
                <a:cs typeface="Arial"/>
              </a:defRPr>
            </a:lvl2pPr>
            <a:lvl3pPr algn="l">
              <a:defRPr sz="2025" b="1">
                <a:solidFill>
                  <a:srgbClr val="76D9C3"/>
                </a:solidFill>
                <a:latin typeface="Arial"/>
                <a:ea typeface="Arial"/>
                <a:cs typeface="Arial"/>
              </a:defRPr>
            </a:lvl3pPr>
            <a:lvl4pPr algn="l">
              <a:defRPr sz="2025" b="1">
                <a:solidFill>
                  <a:srgbClr val="76D9C3"/>
                </a:solidFill>
                <a:latin typeface="Arial"/>
                <a:ea typeface="Arial"/>
                <a:cs typeface="Arial"/>
              </a:defRPr>
            </a:lvl4pPr>
            <a:lvl5pPr algn="l">
              <a:defRPr sz="2025" b="1">
                <a:solidFill>
                  <a:srgbClr val="76D9C3"/>
                </a:solidFill>
                <a:latin typeface="Arial"/>
                <a:ea typeface="Arial"/>
                <a:cs typeface="Arial"/>
              </a:defRPr>
            </a:lvl5pPr>
            <a:lvl6pPr algn="l">
              <a:defRPr sz="2025" b="1">
                <a:solidFill>
                  <a:srgbClr val="76D9C3"/>
                </a:solidFill>
                <a:latin typeface="Arial"/>
                <a:ea typeface="Arial"/>
                <a:cs typeface="Arial"/>
              </a:defRPr>
            </a:lvl6pPr>
            <a:lvl7pPr algn="l">
              <a:defRPr sz="2025" b="1">
                <a:solidFill>
                  <a:srgbClr val="76D9C3"/>
                </a:solidFill>
                <a:latin typeface="Arial"/>
                <a:ea typeface="Arial"/>
                <a:cs typeface="Arial"/>
              </a:defRPr>
            </a:lvl7pPr>
            <a:lvl8pPr algn="l">
              <a:defRPr sz="2025" b="1">
                <a:solidFill>
                  <a:srgbClr val="76D9C3"/>
                </a:solidFill>
                <a:latin typeface="Arial"/>
                <a:ea typeface="Arial"/>
                <a:cs typeface="Arial"/>
              </a:defRPr>
            </a:lvl8pPr>
            <a:lvl9pPr algn="l">
              <a:defRPr sz="2025" b="1">
                <a:solidFill>
                  <a:srgbClr val="76D9C3"/>
                </a:solidFill>
                <a:latin typeface="Arial"/>
                <a:ea typeface="Arial"/>
                <a:cs typeface="Arial"/>
              </a:defRPr>
            </a:lvl9pPr>
          </a:lstStyle>
          <a:p xmlns:a="http://schemas.openxmlformats.org/drawingml/2006/main">
            <a:pPr algn="l">
              <a:defRPr sz="2025" b="1">
                <a:solidFill>
                  <a:srgbClr val="76D9C3"/>
                </a:solidFill>
                <a:latin typeface="Arial"/>
                <a:ea typeface="Arial"/>
                <a:cs typeface="Arial"/>
              </a:defRPr>
            </a:pPr>
            <a:r>
              <a:rPr sz="2025" b="1">
                <a:solidFill>
                  <a:srgbClr val="76D9C3"/>
                </a:solidFill>
                <a:latin typeface="Arial"/>
                <a:ea typeface="Arial"/>
                <a:cs typeface="Arial"/>
              </a:rPr>
              <a:t>OPTIMIZATION AND BACK END</a:t>
            </a:r>
          </a:p>
        </p:txBody>
      </p:sp>
      <p:sp>
        <p:nvSpPr>
          <p:cNvPr id="6" name="Lexer">
            <a:extLst xmlns:a="http://schemas.openxmlformats.org/drawingml/2006/main">
              <a:ext uri="{FF2B5EF4-FFF2-40B4-BE49-F238E27FC236}">
                <a16:creationId xmlns:a16="http://schemas.microsoft.com/office/drawing/2014/main" id="{514799D7-B51B-4D4F-8343-E2F6596C6202}"/>
              </a:ext>
            </a:extLst>
          </p:cNvPr>
          <p:cNvSpPr>
            <a:spLocks xmlns:a="http://schemas.openxmlformats.org/drawingml/2006/main" noGrp="1"/>
          </p:cNvSpPr>
          <p:nvPr/>
        </p:nvSpPr>
        <p:spPr>
          <a:xfrm xmlns:a="http://schemas.openxmlformats.org/drawingml/2006/main">
            <a:off x="762000" y="2857500"/>
            <a:ext cx="5905500" cy="10477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7" name="Lexer">
            <a:extLst xmlns:a="http://schemas.openxmlformats.org/drawingml/2006/main">
              <a:ext uri="{FF2B5EF4-FFF2-40B4-BE49-F238E27FC236}">
                <a16:creationId xmlns:a16="http://schemas.microsoft.com/office/drawing/2014/main" id="{68EE7861-4E1F-43A4-B021-5C6449D54487}"/>
              </a:ext>
            </a:extLst>
          </p:cNvPr>
          <p:cNvSpPr>
            <a:spLocks xmlns:a="http://schemas.openxmlformats.org/drawingml/2006/main" noGrp="1"/>
          </p:cNvSpPr>
          <p:nvPr/>
        </p:nvSpPr>
        <p:spPr>
          <a:xfrm xmlns:a="http://schemas.openxmlformats.org/drawingml/2006/main">
            <a:off x="952500" y="3028950"/>
            <a:ext cx="552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Lexer</a:t>
            </a:r>
          </a:p>
        </p:txBody>
      </p:sp>
      <p:sp>
        <p:nvSpPr>
          <p:cNvPr id="8" name="Characters to positioned tokens">
            <a:extLst xmlns:a="http://schemas.openxmlformats.org/drawingml/2006/main">
              <a:ext uri="{FF2B5EF4-FFF2-40B4-BE49-F238E27FC236}">
                <a16:creationId xmlns:a16="http://schemas.microsoft.com/office/drawing/2014/main" id="{7BD0E836-7EDF-42B9-AF89-EF5D90A3520E}"/>
              </a:ext>
            </a:extLst>
          </p:cNvPr>
          <p:cNvSpPr>
            <a:spLocks xmlns:a="http://schemas.openxmlformats.org/drawingml/2006/main" noGrp="1"/>
          </p:cNvSpPr>
          <p:nvPr/>
        </p:nvSpPr>
        <p:spPr>
          <a:xfrm xmlns:a="http://schemas.openxmlformats.org/drawingml/2006/main">
            <a:off x="952500" y="358140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Characters to positioned tokens</a:t>
            </a:r>
          </a:p>
        </p:txBody>
      </p:sp>
      <p:sp>
        <p:nvSpPr>
          <p:cNvPr id="9" name="Parser">
            <a:extLst xmlns:a="http://schemas.openxmlformats.org/drawingml/2006/main">
              <a:ext uri="{FF2B5EF4-FFF2-40B4-BE49-F238E27FC236}">
                <a16:creationId xmlns:a16="http://schemas.microsoft.com/office/drawing/2014/main" id="{FB308102-F250-4918-968E-061E07C346DD}"/>
              </a:ext>
            </a:extLst>
          </p:cNvPr>
          <p:cNvSpPr>
            <a:spLocks xmlns:a="http://schemas.openxmlformats.org/drawingml/2006/main" noGrp="1"/>
          </p:cNvSpPr>
          <p:nvPr/>
        </p:nvSpPr>
        <p:spPr>
          <a:xfrm xmlns:a="http://schemas.openxmlformats.org/drawingml/2006/main">
            <a:off x="762000" y="4143375"/>
            <a:ext cx="5905500" cy="10477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10" name="Parser">
            <a:extLst xmlns:a="http://schemas.openxmlformats.org/drawingml/2006/main">
              <a:ext uri="{FF2B5EF4-FFF2-40B4-BE49-F238E27FC236}">
                <a16:creationId xmlns:a16="http://schemas.microsoft.com/office/drawing/2014/main" id="{E888E4A5-1F2A-40DE-BA73-ACD4F05BD5EA}"/>
              </a:ext>
            </a:extLst>
          </p:cNvPr>
          <p:cNvSpPr>
            <a:spLocks xmlns:a="http://schemas.openxmlformats.org/drawingml/2006/main" noGrp="1"/>
          </p:cNvSpPr>
          <p:nvPr/>
        </p:nvSpPr>
        <p:spPr>
          <a:xfrm xmlns:a="http://schemas.openxmlformats.org/drawingml/2006/main">
            <a:off x="952500" y="4314825"/>
            <a:ext cx="552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Parser</a:t>
            </a:r>
          </a:p>
        </p:txBody>
      </p:sp>
      <p:sp>
        <p:nvSpPr>
          <p:cNvPr id="11" name="Tokens to normalized AST">
            <a:extLst xmlns:a="http://schemas.openxmlformats.org/drawingml/2006/main">
              <a:ext uri="{FF2B5EF4-FFF2-40B4-BE49-F238E27FC236}">
                <a16:creationId xmlns:a16="http://schemas.microsoft.com/office/drawing/2014/main" id="{8ECB9B6D-0989-407E-B5F4-569EAF4FC9DB}"/>
              </a:ext>
            </a:extLst>
          </p:cNvPr>
          <p:cNvSpPr>
            <a:spLocks xmlns:a="http://schemas.openxmlformats.org/drawingml/2006/main" noGrp="1"/>
          </p:cNvSpPr>
          <p:nvPr/>
        </p:nvSpPr>
        <p:spPr>
          <a:xfrm xmlns:a="http://schemas.openxmlformats.org/drawingml/2006/main">
            <a:off x="952500" y="486727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Tokens to normalized AST</a:t>
            </a:r>
          </a:p>
        </p:txBody>
      </p:sp>
      <p:sp>
        <p:nvSpPr>
          <p:cNvPr id="12" name="Semantic analyzer">
            <a:extLst xmlns:a="http://schemas.openxmlformats.org/drawingml/2006/main">
              <a:ext uri="{FF2B5EF4-FFF2-40B4-BE49-F238E27FC236}">
                <a16:creationId xmlns:a16="http://schemas.microsoft.com/office/drawing/2014/main" id="{71022AC6-4387-4ACE-A13C-0DAD1911B2A0}"/>
              </a:ext>
            </a:extLst>
          </p:cNvPr>
          <p:cNvSpPr>
            <a:spLocks xmlns:a="http://schemas.openxmlformats.org/drawingml/2006/main" noGrp="1"/>
          </p:cNvSpPr>
          <p:nvPr/>
        </p:nvSpPr>
        <p:spPr>
          <a:xfrm xmlns:a="http://schemas.openxmlformats.org/drawingml/2006/main">
            <a:off x="762000" y="5429250"/>
            <a:ext cx="5905500" cy="10477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13" name="Semantic analyzer">
            <a:extLst xmlns:a="http://schemas.openxmlformats.org/drawingml/2006/main">
              <a:ext uri="{FF2B5EF4-FFF2-40B4-BE49-F238E27FC236}">
                <a16:creationId xmlns:a16="http://schemas.microsoft.com/office/drawing/2014/main" id="{13663EDF-C373-41FC-B096-09C7200A6F62}"/>
              </a:ext>
            </a:extLst>
          </p:cNvPr>
          <p:cNvSpPr>
            <a:spLocks xmlns:a="http://schemas.openxmlformats.org/drawingml/2006/main" noGrp="1"/>
          </p:cNvSpPr>
          <p:nvPr/>
        </p:nvSpPr>
        <p:spPr>
          <a:xfrm xmlns:a="http://schemas.openxmlformats.org/drawingml/2006/main">
            <a:off x="952500" y="5600700"/>
            <a:ext cx="552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Semantic analyzer</a:t>
            </a:r>
          </a:p>
        </p:txBody>
      </p:sp>
      <p:sp>
        <p:nvSpPr>
          <p:cNvPr id="14" name="Checked types and resolved symbols">
            <a:extLst xmlns:a="http://schemas.openxmlformats.org/drawingml/2006/main">
              <a:ext uri="{FF2B5EF4-FFF2-40B4-BE49-F238E27FC236}">
                <a16:creationId xmlns:a16="http://schemas.microsoft.com/office/drawing/2014/main" id="{F39BF9B8-AC74-4189-A8D2-4D45E67AB6BC}"/>
              </a:ext>
            </a:extLst>
          </p:cNvPr>
          <p:cNvSpPr>
            <a:spLocks xmlns:a="http://schemas.openxmlformats.org/drawingml/2006/main" noGrp="1"/>
          </p:cNvSpPr>
          <p:nvPr/>
        </p:nvSpPr>
        <p:spPr>
          <a:xfrm xmlns:a="http://schemas.openxmlformats.org/drawingml/2006/main">
            <a:off x="952500" y="6153150"/>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Checked types and resolved symbols</a:t>
            </a:r>
          </a:p>
        </p:txBody>
      </p:sp>
      <p:sp>
        <p:nvSpPr>
          <p:cNvPr id="17" name="IR lowering">
            <a:extLst xmlns:a="http://schemas.openxmlformats.org/drawingml/2006/main">
              <a:ext uri="{FF2B5EF4-FFF2-40B4-BE49-F238E27FC236}">
                <a16:creationId xmlns:a16="http://schemas.microsoft.com/office/drawing/2014/main" id="{5942547F-EC67-4A1E-BD79-0D12F3A3DE27}"/>
              </a:ext>
            </a:extLst>
          </p:cNvPr>
          <p:cNvSpPr>
            <a:spLocks xmlns:a="http://schemas.openxmlformats.org/drawingml/2006/main" noGrp="1"/>
          </p:cNvSpPr>
          <p:nvPr/>
        </p:nvSpPr>
        <p:spPr>
          <a:xfrm xmlns:a="http://schemas.openxmlformats.org/drawingml/2006/main">
            <a:off x="8096250" y="2857500"/>
            <a:ext cx="6381750" cy="10477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18" name="IR lowering">
            <a:extLst xmlns:a="http://schemas.openxmlformats.org/drawingml/2006/main">
              <a:ext uri="{FF2B5EF4-FFF2-40B4-BE49-F238E27FC236}">
                <a16:creationId xmlns:a16="http://schemas.microsoft.com/office/drawing/2014/main" id="{7C06089A-438F-4950-A00F-FDA04550131C}"/>
              </a:ext>
            </a:extLst>
          </p:cNvPr>
          <p:cNvSpPr>
            <a:spLocks xmlns:a="http://schemas.openxmlformats.org/drawingml/2006/main" noGrp="1"/>
          </p:cNvSpPr>
          <p:nvPr/>
        </p:nvSpPr>
        <p:spPr>
          <a:xfrm xmlns:a="http://schemas.openxmlformats.org/drawingml/2006/main">
            <a:off x="8286750" y="3028950"/>
            <a:ext cx="600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IR lowering</a:t>
            </a:r>
          </a:p>
        </p:txBody>
      </p:sp>
      <p:sp>
        <p:nvSpPr>
          <p:cNvPr id="19" name="Typed three-address instructions">
            <a:extLst xmlns:a="http://schemas.openxmlformats.org/drawingml/2006/main">
              <a:ext uri="{FF2B5EF4-FFF2-40B4-BE49-F238E27FC236}">
                <a16:creationId xmlns:a16="http://schemas.microsoft.com/office/drawing/2014/main" id="{23694772-7FD6-4BAE-A2C3-F6820A7EFFA7}"/>
              </a:ext>
            </a:extLst>
          </p:cNvPr>
          <p:cNvSpPr>
            <a:spLocks xmlns:a="http://schemas.openxmlformats.org/drawingml/2006/main" noGrp="1"/>
          </p:cNvSpPr>
          <p:nvPr/>
        </p:nvSpPr>
        <p:spPr>
          <a:xfrm xmlns:a="http://schemas.openxmlformats.org/drawingml/2006/main">
            <a:off x="8286750" y="358140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Typed three-address instructions</a:t>
            </a:r>
          </a:p>
        </p:txBody>
      </p:sp>
      <p:sp>
        <p:nvSpPr>
          <p:cNvPr id="20" name="Optimizer">
            <a:extLst xmlns:a="http://schemas.openxmlformats.org/drawingml/2006/main">
              <a:ext uri="{FF2B5EF4-FFF2-40B4-BE49-F238E27FC236}">
                <a16:creationId xmlns:a16="http://schemas.microsoft.com/office/drawing/2014/main" id="{8D950771-5C59-4B4A-9A7A-D0849AA8FFD8}"/>
              </a:ext>
            </a:extLst>
          </p:cNvPr>
          <p:cNvSpPr>
            <a:spLocks xmlns:a="http://schemas.openxmlformats.org/drawingml/2006/main" noGrp="1"/>
          </p:cNvSpPr>
          <p:nvPr/>
        </p:nvSpPr>
        <p:spPr>
          <a:xfrm xmlns:a="http://schemas.openxmlformats.org/drawingml/2006/main">
            <a:off x="8096250" y="4143375"/>
            <a:ext cx="6381750" cy="10477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21" name="Optimizer">
            <a:extLst xmlns:a="http://schemas.openxmlformats.org/drawingml/2006/main">
              <a:ext uri="{FF2B5EF4-FFF2-40B4-BE49-F238E27FC236}">
                <a16:creationId xmlns:a16="http://schemas.microsoft.com/office/drawing/2014/main" id="{6C3F72D3-EB32-4675-BFD6-FC4CBBE37586}"/>
              </a:ext>
            </a:extLst>
          </p:cNvPr>
          <p:cNvSpPr>
            <a:spLocks xmlns:a="http://schemas.openxmlformats.org/drawingml/2006/main" noGrp="1"/>
          </p:cNvSpPr>
          <p:nvPr/>
        </p:nvSpPr>
        <p:spPr>
          <a:xfrm xmlns:a="http://schemas.openxmlformats.org/drawingml/2006/main">
            <a:off x="8286750" y="4314825"/>
            <a:ext cx="600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Optimizer</a:t>
            </a:r>
          </a:p>
        </p:txBody>
      </p:sp>
      <p:sp>
        <p:nvSpPr>
          <p:cNvPr id="22" name="CFG, constants and liveness">
            <a:extLst xmlns:a="http://schemas.openxmlformats.org/drawingml/2006/main">
              <a:ext uri="{FF2B5EF4-FFF2-40B4-BE49-F238E27FC236}">
                <a16:creationId xmlns:a16="http://schemas.microsoft.com/office/drawing/2014/main" id="{06E89569-5E38-4F98-AC46-40C50D9EFE9B}"/>
              </a:ext>
            </a:extLst>
          </p:cNvPr>
          <p:cNvSpPr>
            <a:spLocks xmlns:a="http://schemas.openxmlformats.org/drawingml/2006/main" noGrp="1"/>
          </p:cNvSpPr>
          <p:nvPr/>
        </p:nvSpPr>
        <p:spPr>
          <a:xfrm xmlns:a="http://schemas.openxmlformats.org/drawingml/2006/main">
            <a:off x="8286750" y="4867275"/>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CFG, constants and liveness</a:t>
            </a:r>
          </a:p>
        </p:txBody>
      </p:sp>
      <p:sp>
        <p:nvSpPr>
          <p:cNvPr id="23" name="Code generator">
            <a:extLst xmlns:a="http://schemas.openxmlformats.org/drawingml/2006/main">
              <a:ext uri="{FF2B5EF4-FFF2-40B4-BE49-F238E27FC236}">
                <a16:creationId xmlns:a16="http://schemas.microsoft.com/office/drawing/2014/main" id="{E58A4B96-7C73-41A5-B354-FE40A0F4EBF3}"/>
              </a:ext>
            </a:extLst>
          </p:cNvPr>
          <p:cNvSpPr>
            <a:spLocks xmlns:a="http://schemas.openxmlformats.org/drawingml/2006/main" noGrp="1"/>
          </p:cNvSpPr>
          <p:nvPr/>
        </p:nvSpPr>
        <p:spPr>
          <a:xfrm xmlns:a="http://schemas.openxmlformats.org/drawingml/2006/main">
            <a:off x="8096250" y="5429250"/>
            <a:ext cx="6381750" cy="10477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24" name="Code generator">
            <a:extLst xmlns:a="http://schemas.openxmlformats.org/drawingml/2006/main">
              <a:ext uri="{FF2B5EF4-FFF2-40B4-BE49-F238E27FC236}">
                <a16:creationId xmlns:a16="http://schemas.microsoft.com/office/drawing/2014/main" id="{BE79A903-34B9-4D87-AF0B-7C6F126B0901}"/>
              </a:ext>
            </a:extLst>
          </p:cNvPr>
          <p:cNvSpPr>
            <a:spLocks xmlns:a="http://schemas.openxmlformats.org/drawingml/2006/main" noGrp="1"/>
          </p:cNvSpPr>
          <p:nvPr/>
        </p:nvSpPr>
        <p:spPr>
          <a:xfrm xmlns:a="http://schemas.openxmlformats.org/drawingml/2006/main">
            <a:off x="8286750" y="5600700"/>
            <a:ext cx="600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Code generator</a:t>
            </a:r>
          </a:p>
        </p:txBody>
      </p:sp>
      <p:sp>
        <p:nvSpPr>
          <p:cNvPr id="25" name="Stack bytecode and patched jumps">
            <a:extLst xmlns:a="http://schemas.openxmlformats.org/drawingml/2006/main">
              <a:ext uri="{FF2B5EF4-FFF2-40B4-BE49-F238E27FC236}">
                <a16:creationId xmlns:a16="http://schemas.microsoft.com/office/drawing/2014/main" id="{17D78578-6523-443D-BF06-9E7A5A9B17DD}"/>
              </a:ext>
            </a:extLst>
          </p:cNvPr>
          <p:cNvSpPr>
            <a:spLocks xmlns:a="http://schemas.openxmlformats.org/drawingml/2006/main" noGrp="1"/>
          </p:cNvSpPr>
          <p:nvPr/>
        </p:nvSpPr>
        <p:spPr>
          <a:xfrm xmlns:a="http://schemas.openxmlformats.org/drawingml/2006/main">
            <a:off x="8286750" y="615315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C7DE"/>
                </a:solidFill>
                <a:latin typeface="Arial"/>
                <a:ea typeface="Arial"/>
                <a:cs typeface="Arial"/>
              </a:defRPr>
            </a:defPPr>
            <a:lvl1pPr algn="l">
              <a:defRPr sz="1875" b="0">
                <a:solidFill>
                  <a:srgbClr val="B5C7DE"/>
                </a:solidFill>
                <a:latin typeface="Arial"/>
                <a:ea typeface="Arial"/>
                <a:cs typeface="Arial"/>
              </a:defRPr>
            </a:lvl1pPr>
            <a:lvl2pPr algn="l">
              <a:defRPr sz="1875" b="0">
                <a:solidFill>
                  <a:srgbClr val="B5C7DE"/>
                </a:solidFill>
                <a:latin typeface="Arial"/>
                <a:ea typeface="Arial"/>
                <a:cs typeface="Arial"/>
              </a:defRPr>
            </a:lvl2pPr>
            <a:lvl3pPr algn="l">
              <a:defRPr sz="1875" b="0">
                <a:solidFill>
                  <a:srgbClr val="B5C7DE"/>
                </a:solidFill>
                <a:latin typeface="Arial"/>
                <a:ea typeface="Arial"/>
                <a:cs typeface="Arial"/>
              </a:defRPr>
            </a:lvl3pPr>
            <a:lvl4pPr algn="l">
              <a:defRPr sz="1875" b="0">
                <a:solidFill>
                  <a:srgbClr val="B5C7DE"/>
                </a:solidFill>
                <a:latin typeface="Arial"/>
                <a:ea typeface="Arial"/>
                <a:cs typeface="Arial"/>
              </a:defRPr>
            </a:lvl4pPr>
            <a:lvl5pPr algn="l">
              <a:defRPr sz="1875" b="0">
                <a:solidFill>
                  <a:srgbClr val="B5C7DE"/>
                </a:solidFill>
                <a:latin typeface="Arial"/>
                <a:ea typeface="Arial"/>
                <a:cs typeface="Arial"/>
              </a:defRPr>
            </a:lvl5pPr>
            <a:lvl6pPr algn="l">
              <a:defRPr sz="1875" b="0">
                <a:solidFill>
                  <a:srgbClr val="B5C7DE"/>
                </a:solidFill>
                <a:latin typeface="Arial"/>
                <a:ea typeface="Arial"/>
                <a:cs typeface="Arial"/>
              </a:defRPr>
            </a:lvl6pPr>
            <a:lvl7pPr algn="l">
              <a:defRPr sz="1875" b="0">
                <a:solidFill>
                  <a:srgbClr val="B5C7DE"/>
                </a:solidFill>
                <a:latin typeface="Arial"/>
                <a:ea typeface="Arial"/>
                <a:cs typeface="Arial"/>
              </a:defRPr>
            </a:lvl7pPr>
            <a:lvl8pPr algn="l">
              <a:defRPr sz="1875" b="0">
                <a:solidFill>
                  <a:srgbClr val="B5C7DE"/>
                </a:solidFill>
                <a:latin typeface="Arial"/>
                <a:ea typeface="Arial"/>
                <a:cs typeface="Arial"/>
              </a:defRPr>
            </a:lvl8pPr>
            <a:lvl9pPr algn="l">
              <a:defRPr sz="1875" b="0">
                <a:solidFill>
                  <a:srgbClr val="B5C7DE"/>
                </a:solidFill>
                <a:latin typeface="Arial"/>
                <a:ea typeface="Arial"/>
                <a:cs typeface="Arial"/>
              </a:defRPr>
            </a:lvl9pPr>
          </a:lstStyle>
          <a:p xmlns:a="http://schemas.openxmlformats.org/drawingml/2006/main">
            <a:pPr algn="l">
              <a:defRPr sz="1875" b="0">
                <a:solidFill>
                  <a:srgbClr val="B5C7DE"/>
                </a:solidFill>
                <a:latin typeface="Arial"/>
                <a:ea typeface="Arial"/>
                <a:cs typeface="Arial"/>
              </a:defRPr>
            </a:pPr>
            <a:r>
              <a:rPr sz="1875" b="0">
                <a:solidFill>
                  <a:srgbClr val="B5C7DE"/>
                </a:solidFill>
                <a:latin typeface="Arial"/>
                <a:ea typeface="Arial"/>
                <a:cs typeface="Arial"/>
              </a:rPr>
              <a:t>Stack bytecode and patched jumps</a:t>
            </a:r>
          </a:p>
        </p:txBody>
      </p:sp>
      <p:sp>
        <p:nvSpPr>
          <p:cNvPr id="29" name="Validated .pbc">
            <a:extLst xmlns:a="http://schemas.openxmlformats.org/drawingml/2006/main">
              <a:ext uri="{FF2B5EF4-FFF2-40B4-BE49-F238E27FC236}">
                <a16:creationId xmlns:a16="http://schemas.microsoft.com/office/drawing/2014/main" id="{B23EB1CF-778E-46CF-B80B-48A74C789CB1}"/>
              </a:ext>
            </a:extLst>
          </p:cNvPr>
          <p:cNvSpPr>
            <a:spLocks xmlns:a="http://schemas.openxmlformats.org/drawingml/2006/main" noGrp="1"/>
          </p:cNvSpPr>
          <p:nvPr/>
        </p:nvSpPr>
        <p:spPr>
          <a:xfrm xmlns:a="http://schemas.openxmlformats.org/drawingml/2006/main">
            <a:off x="8096250" y="7143750"/>
            <a:ext cx="2857500" cy="7810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30" name="Validated .pbc">
            <a:extLst xmlns:a="http://schemas.openxmlformats.org/drawingml/2006/main">
              <a:ext uri="{FF2B5EF4-FFF2-40B4-BE49-F238E27FC236}">
                <a16:creationId xmlns:a16="http://schemas.microsoft.com/office/drawing/2014/main" id="{A9762DB2-535C-4151-8457-1E4C64DCEE7D}"/>
              </a:ext>
            </a:extLst>
          </p:cNvPr>
          <p:cNvSpPr>
            <a:spLocks xmlns:a="http://schemas.openxmlformats.org/drawingml/2006/main" noGrp="1"/>
          </p:cNvSpPr>
          <p:nvPr/>
        </p:nvSpPr>
        <p:spPr>
          <a:xfrm xmlns:a="http://schemas.openxmlformats.org/drawingml/2006/main">
            <a:off x="8286750" y="731520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vl1pPr algn="l">
              <a:defRPr sz="2100" b="1">
                <a:solidFill>
                  <a:srgbClr val="FFFFFF"/>
                </a:solidFill>
                <a:latin typeface="Arial"/>
                <a:ea typeface="Arial"/>
                <a:cs typeface="Arial"/>
              </a:defRPr>
            </a:lvl1pPr>
            <a:lvl2pPr algn="l">
              <a:defRPr sz="2100" b="1">
                <a:solidFill>
                  <a:srgbClr val="FFFFFF"/>
                </a:solidFill>
                <a:latin typeface="Arial"/>
                <a:ea typeface="Arial"/>
                <a:cs typeface="Arial"/>
              </a:defRPr>
            </a:lvl2pPr>
            <a:lvl3pPr algn="l">
              <a:defRPr sz="2100" b="1">
                <a:solidFill>
                  <a:srgbClr val="FFFFFF"/>
                </a:solidFill>
                <a:latin typeface="Arial"/>
                <a:ea typeface="Arial"/>
                <a:cs typeface="Arial"/>
              </a:defRPr>
            </a:lvl3pPr>
            <a:lvl4pPr algn="l">
              <a:defRPr sz="2100" b="1">
                <a:solidFill>
                  <a:srgbClr val="FFFFFF"/>
                </a:solidFill>
                <a:latin typeface="Arial"/>
                <a:ea typeface="Arial"/>
                <a:cs typeface="Arial"/>
              </a:defRPr>
            </a:lvl4pPr>
            <a:lvl5pPr algn="l">
              <a:defRPr sz="2100" b="1">
                <a:solidFill>
                  <a:srgbClr val="FFFFFF"/>
                </a:solidFill>
                <a:latin typeface="Arial"/>
                <a:ea typeface="Arial"/>
                <a:cs typeface="Arial"/>
              </a:defRPr>
            </a:lvl5pPr>
            <a:lvl6pPr algn="l">
              <a:defRPr sz="2100" b="1">
                <a:solidFill>
                  <a:srgbClr val="FFFFFF"/>
                </a:solidFill>
                <a:latin typeface="Arial"/>
                <a:ea typeface="Arial"/>
                <a:cs typeface="Arial"/>
              </a:defRPr>
            </a:lvl6pPr>
            <a:lvl7pPr algn="l">
              <a:defRPr sz="2100" b="1">
                <a:solidFill>
                  <a:srgbClr val="FFFFFF"/>
                </a:solidFill>
                <a:latin typeface="Arial"/>
                <a:ea typeface="Arial"/>
                <a:cs typeface="Arial"/>
              </a:defRPr>
            </a:lvl7pPr>
            <a:lvl8pPr algn="l">
              <a:defRPr sz="2100" b="1">
                <a:solidFill>
                  <a:srgbClr val="FFFFFF"/>
                </a:solidFill>
                <a:latin typeface="Arial"/>
                <a:ea typeface="Arial"/>
                <a:cs typeface="Arial"/>
              </a:defRPr>
            </a:lvl8pPr>
            <a:lvl9pPr algn="l">
              <a:defRPr sz="2100" b="1">
                <a:solidFill>
                  <a:srgbClr val="FFFFFF"/>
                </a:solidFill>
                <a:latin typeface="Arial"/>
                <a:ea typeface="Arial"/>
                <a:cs typeface="Arial"/>
              </a:defRPr>
            </a:lvl9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Validated .pbc</a:t>
            </a:r>
          </a:p>
        </p:txBody>
      </p:sp>
      <p:sp>
        <p:nvSpPr>
          <p:cNvPr id="31" name="Stack VM + output">
            <a:extLst xmlns:a="http://schemas.openxmlformats.org/drawingml/2006/main">
              <a:ext uri="{FF2B5EF4-FFF2-40B4-BE49-F238E27FC236}">
                <a16:creationId xmlns:a16="http://schemas.microsoft.com/office/drawing/2014/main" id="{53400FFA-9D4C-48D4-ADBA-4AF04B3BBCB8}"/>
              </a:ext>
            </a:extLst>
          </p:cNvPr>
          <p:cNvSpPr>
            <a:spLocks xmlns:a="http://schemas.openxmlformats.org/drawingml/2006/main" noGrp="1"/>
          </p:cNvSpPr>
          <p:nvPr/>
        </p:nvSpPr>
        <p:spPr>
          <a:xfrm xmlns:a="http://schemas.openxmlformats.org/drawingml/2006/main">
            <a:off x="11525250" y="7143750"/>
            <a:ext cx="2952750" cy="781050"/>
          </a:xfrm>
          <a:prstGeom xmlns:a="http://schemas.openxmlformats.org/drawingml/2006/main" prst="rect">
            <a:avLst/>
          </a:prstGeom>
          <a:solidFill xmlns:a="http://schemas.openxmlformats.org/drawingml/2006/main">
            <a:srgbClr val="182C46"/>
          </a:solidFill>
          <a:ln xmlns:a="http://schemas.openxmlformats.org/drawingml/2006/main" w="16193">
            <a:solidFill>
              <a:srgbClr val="657D9A"/>
            </a:solidFill>
          </a:ln>
        </p:spPr>
      </p:sp>
      <p:sp>
        <p:nvSpPr>
          <p:cNvPr id="32" name="Stack VM + output">
            <a:extLst xmlns:a="http://schemas.openxmlformats.org/drawingml/2006/main">
              <a:ext uri="{FF2B5EF4-FFF2-40B4-BE49-F238E27FC236}">
                <a16:creationId xmlns:a16="http://schemas.microsoft.com/office/drawing/2014/main" id="{CCC0AA8E-0203-4633-81E9-D192348D3277}"/>
              </a:ext>
            </a:extLst>
          </p:cNvPr>
          <p:cNvSpPr>
            <a:spLocks xmlns:a="http://schemas.openxmlformats.org/drawingml/2006/main" noGrp="1"/>
          </p:cNvSpPr>
          <p:nvPr/>
        </p:nvSpPr>
        <p:spPr>
          <a:xfrm xmlns:a="http://schemas.openxmlformats.org/drawingml/2006/main">
            <a:off x="11715750" y="7315200"/>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Stack VM + output</a:t>
            </a:r>
          </a:p>
        </p:txBody>
      </p:sp>
      <p:sp>
        <p:nvSpPr>
          <p:cNvPr id="35" name="Source maps support diagnostics.">
            <a:extLst xmlns:a="http://schemas.openxmlformats.org/drawingml/2006/main">
              <a:ext uri="{FF2B5EF4-FFF2-40B4-BE49-F238E27FC236}">
                <a16:creationId xmlns:a16="http://schemas.microsoft.com/office/drawing/2014/main" id="{43E177E4-95AE-4477-BC93-E834220FA56B}"/>
              </a:ext>
            </a:extLst>
          </p:cNvPr>
          <p:cNvSpPr>
            <a:spLocks xmlns:a="http://schemas.openxmlformats.org/drawingml/2006/main" noGrp="1"/>
          </p:cNvSpPr>
          <p:nvPr/>
        </p:nvSpPr>
        <p:spPr>
          <a:xfrm xmlns:a="http://schemas.openxmlformats.org/drawingml/2006/main">
            <a:off x="781050" y="7286625"/>
            <a:ext cx="590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B5C7DE"/>
                </a:solidFill>
                <a:latin typeface="Arial"/>
                <a:ea typeface="Arial"/>
                <a:cs typeface="Arial"/>
              </a:defRPr>
            </a:defPPr>
            <a:lvl1pPr algn="l">
              <a:defRPr sz="2025" b="0">
                <a:solidFill>
                  <a:srgbClr val="B5C7DE"/>
                </a:solidFill>
                <a:latin typeface="Arial"/>
                <a:ea typeface="Arial"/>
                <a:cs typeface="Arial"/>
              </a:defRPr>
            </a:lvl1pPr>
            <a:lvl2pPr algn="l">
              <a:defRPr sz="2025" b="0">
                <a:solidFill>
                  <a:srgbClr val="B5C7DE"/>
                </a:solidFill>
                <a:latin typeface="Arial"/>
                <a:ea typeface="Arial"/>
                <a:cs typeface="Arial"/>
              </a:defRPr>
            </a:lvl2pPr>
            <a:lvl3pPr algn="l">
              <a:defRPr sz="2025" b="0">
                <a:solidFill>
                  <a:srgbClr val="B5C7DE"/>
                </a:solidFill>
                <a:latin typeface="Arial"/>
                <a:ea typeface="Arial"/>
                <a:cs typeface="Arial"/>
              </a:defRPr>
            </a:lvl3pPr>
            <a:lvl4pPr algn="l">
              <a:defRPr sz="2025" b="0">
                <a:solidFill>
                  <a:srgbClr val="B5C7DE"/>
                </a:solidFill>
                <a:latin typeface="Arial"/>
                <a:ea typeface="Arial"/>
                <a:cs typeface="Arial"/>
              </a:defRPr>
            </a:lvl4pPr>
            <a:lvl5pPr algn="l">
              <a:defRPr sz="2025" b="0">
                <a:solidFill>
                  <a:srgbClr val="B5C7DE"/>
                </a:solidFill>
                <a:latin typeface="Arial"/>
                <a:ea typeface="Arial"/>
                <a:cs typeface="Arial"/>
              </a:defRPr>
            </a:lvl5pPr>
            <a:lvl6pPr algn="l">
              <a:defRPr sz="2025" b="0">
                <a:solidFill>
                  <a:srgbClr val="B5C7DE"/>
                </a:solidFill>
                <a:latin typeface="Arial"/>
                <a:ea typeface="Arial"/>
                <a:cs typeface="Arial"/>
              </a:defRPr>
            </a:lvl6pPr>
            <a:lvl7pPr algn="l">
              <a:defRPr sz="2025" b="0">
                <a:solidFill>
                  <a:srgbClr val="B5C7DE"/>
                </a:solidFill>
                <a:latin typeface="Arial"/>
                <a:ea typeface="Arial"/>
                <a:cs typeface="Arial"/>
              </a:defRPr>
            </a:lvl7pPr>
            <a:lvl8pPr algn="l">
              <a:defRPr sz="2025" b="0">
                <a:solidFill>
                  <a:srgbClr val="B5C7DE"/>
                </a:solidFill>
                <a:latin typeface="Arial"/>
                <a:ea typeface="Arial"/>
                <a:cs typeface="Arial"/>
              </a:defRPr>
            </a:lvl8pPr>
            <a:lvl9pPr algn="l">
              <a:defRPr sz="2025" b="0">
                <a:solidFill>
                  <a:srgbClr val="B5C7DE"/>
                </a:solidFill>
                <a:latin typeface="Arial"/>
                <a:ea typeface="Arial"/>
                <a:cs typeface="Arial"/>
              </a:defRPr>
            </a:lvl9pPr>
          </a:lstStyle>
          <a:p xmlns:a="http://schemas.openxmlformats.org/drawingml/2006/main">
            <a:pPr algn="l">
              <a:defRPr sz="2025" b="0">
                <a:solidFill>
                  <a:srgbClr val="B5C7DE"/>
                </a:solidFill>
                <a:latin typeface="Arial"/>
                <a:ea typeface="Arial"/>
                <a:cs typeface="Arial"/>
              </a:defRPr>
            </a:pPr>
            <a:r>
              <a:rPr sz="2025" b="0">
                <a:solidFill>
                  <a:srgbClr val="B5C7DE"/>
                </a:solidFill>
                <a:latin typeface="Arial"/>
                <a:ea typeface="Arial"/>
                <a:cs typeface="Arial"/>
              </a:rPr>
              <a:t>Source maps support diagnostics.</a:t>
            </a:r>
          </a:p>
        </p:txBody>
      </p:sp>
    </p:spTree>
    <p:extLst>
      <p:ext uri="{BB962C8B-B14F-4D97-AF65-F5344CB8AC3E}">
        <p14:creationId xmlns:p14="http://schemas.microsoft.com/office/powerpoint/2010/main" val="2008171118"/>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87A0AEA3-9C9E-45E0-8D45-E8617FDDE139}"/>
              </a:ext>
            </a:extLst>
          </p:cNvPr>
          <p:cNvCxnSpPr>
            <a:stCxn xmlns:a="http://schemas.openxmlformats.org/drawingml/2006/main" id="7" idx="3"/>
            <a:endCxn xmlns:a="http://schemas.openxmlformats.org/drawingml/2006/main" id="16" idx="1"/>
          </p:cNvCxnSpPr>
          <p:nvPr/>
        </p:nvCxnSpPr>
        <p:spPr>
          <a:xfrm xmlns:a="http://schemas.openxmlformats.org/drawingml/2006/main">
            <a:off x="9525000" y="4048125"/>
            <a:ext cx="1428750" cy="2214563"/>
          </a:xfrm>
          <a:prstGeom xmlns:a="http://schemas.openxmlformats.org/drawingml/2006/main" prst="bentConnector3">
            <a:avLst>
              <a:gd name="adj1" fmla="val 50000"/>
            </a:avLst>
          </a:prstGeom>
          <a:ln xmlns:a="http://schemas.openxmlformats.org/drawingml/2006/main" w="22860">
            <a:solidFill>
              <a:srgbClr val="2956D7"/>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CF86E7FD-5E60-4F0B-B383-CB50269CBDCA}"/>
              </a:ext>
            </a:extLst>
          </p:cNvPr>
          <p:cNvCxnSpPr>
            <a:stCxn xmlns:a="http://schemas.openxmlformats.org/drawingml/2006/main" id="7" idx="3"/>
            <a:endCxn xmlns:a="http://schemas.openxmlformats.org/drawingml/2006/main" id="13" idx="1"/>
          </p:cNvCxnSpPr>
          <p:nvPr/>
        </p:nvCxnSpPr>
        <p:spPr>
          <a:xfrm xmlns:a="http://schemas.openxmlformats.org/drawingml/2006/main">
            <a:off x="9525000" y="4048125"/>
            <a:ext cx="1428750" cy="500063"/>
          </a:xfrm>
          <a:prstGeom xmlns:a="http://schemas.openxmlformats.org/drawingml/2006/main" prst="bentConnector3">
            <a:avLst>
              <a:gd name="adj1" fmla="val 50000"/>
            </a:avLst>
          </a:prstGeom>
          <a:ln xmlns:a="http://schemas.openxmlformats.org/drawingml/2006/main" w="22860">
            <a:solidFill>
              <a:srgbClr val="2956D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8A5BA6B8-A962-43F7-A132-AE0F57E40636}"/>
              </a:ext>
            </a:extLst>
          </p:cNvPr>
          <p:cNvCxnSpPr>
            <a:stCxn xmlns:a="http://schemas.openxmlformats.org/drawingml/2006/main" id="7" idx="3"/>
            <a:endCxn xmlns:a="http://schemas.openxmlformats.org/drawingml/2006/main" id="10" idx="1"/>
          </p:cNvCxnSpPr>
          <p:nvPr/>
        </p:nvCxnSpPr>
        <p:spPr>
          <a:xfrm xmlns:a="http://schemas.openxmlformats.org/drawingml/2006/main" flipV="1">
            <a:off x="9525000" y="2833688"/>
            <a:ext cx="1428750" cy="1214438"/>
          </a:xfrm>
          <a:prstGeom xmlns:a="http://schemas.openxmlformats.org/drawingml/2006/main" prst="bentConnector3">
            <a:avLst>
              <a:gd name="adj1" fmla="val 50000"/>
            </a:avLst>
          </a:prstGeom>
          <a:ln xmlns:a="http://schemas.openxmlformats.org/drawingml/2006/main" w="22860">
            <a:solidFill>
              <a:srgbClr val="2956D7"/>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14C8911B-0A5D-4A9E-BBAC-31BAE076CDCB}"/>
              </a:ext>
            </a:extLst>
          </p:cNvPr>
          <p:cNvCxnSpPr>
            <a:stCxn xmlns:a="http://schemas.openxmlformats.org/drawingml/2006/main" id="4" idx="3"/>
            <a:endCxn xmlns:a="http://schemas.openxmlformats.org/drawingml/2006/main" id="7" idx="1"/>
          </p:cNvCxnSpPr>
          <p:nvPr/>
        </p:nvCxnSpPr>
        <p:spPr>
          <a:xfrm xmlns:a="http://schemas.openxmlformats.org/drawingml/2006/main">
            <a:off x="4000500" y="4048125"/>
            <a:ext cx="1238250" cy="0"/>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sp>
        <p:nvSpPr>
          <p:cNvPr id="24" name="Syntax recognition inside the parser">
            <a:extLst xmlns:a="http://schemas.openxmlformats.org/drawingml/2006/main">
              <a:ext uri="{FF2B5EF4-FFF2-40B4-BE49-F238E27FC236}">
                <a16:creationId xmlns:a16="http://schemas.microsoft.com/office/drawing/2014/main" id="{C315853A-79B4-4E12-B2AB-FE5466F77C5B}"/>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Syntax recognition inside the parser</a:t>
            </a:r>
          </a:p>
        </p:txBody>
      </p:sp>
      <p:sp>
        <p:nvSpPr>
          <p:cNvPr id="2" name="Leading tokens and bounded lookahead guide grammar disp">
            <a:extLst xmlns:a="http://schemas.openxmlformats.org/drawingml/2006/main">
              <a:ext uri="{FF2B5EF4-FFF2-40B4-BE49-F238E27FC236}">
                <a16:creationId xmlns:a16="http://schemas.microsoft.com/office/drawing/2014/main" id="{9346A3A9-6814-4F71-A0A6-134C4CCFD641}"/>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Leading tokens and bounded lookahead guide grammar dispatch</a:t>
            </a:r>
          </a:p>
        </p:txBody>
      </p:sp>
      <p:sp>
        <p:nvSpPr>
          <p:cNvPr id="3" name="07">
            <a:extLst xmlns:a="http://schemas.openxmlformats.org/drawingml/2006/main">
              <a:ext uri="{FF2B5EF4-FFF2-40B4-BE49-F238E27FC236}">
                <a16:creationId xmlns:a16="http://schemas.microsoft.com/office/drawing/2014/main" id="{37D0A4CA-56DA-42C6-AE13-282FF14B21F5}"/>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07</a:t>
            </a:r>
          </a:p>
        </p:txBody>
      </p:sp>
      <p:sp>
        <p:nvSpPr>
          <p:cNvPr id="4" name="Token stream">
            <a:extLst xmlns:a="http://schemas.openxmlformats.org/drawingml/2006/main">
              <a:ext uri="{FF2B5EF4-FFF2-40B4-BE49-F238E27FC236}">
                <a16:creationId xmlns:a16="http://schemas.microsoft.com/office/drawing/2014/main" id="{A03512FC-B3F2-42AF-A9BB-DEB6595EC0C9}"/>
              </a:ext>
            </a:extLst>
          </p:cNvPr>
          <p:cNvSpPr>
            <a:spLocks xmlns:a="http://schemas.openxmlformats.org/drawingml/2006/main" noGrp="1"/>
          </p:cNvSpPr>
          <p:nvPr/>
        </p:nvSpPr>
        <p:spPr>
          <a:xfrm xmlns:a="http://schemas.openxmlformats.org/drawingml/2006/main">
            <a:off x="762000" y="3333750"/>
            <a:ext cx="3238500" cy="142875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5" name="Token stream">
            <a:extLst xmlns:a="http://schemas.openxmlformats.org/drawingml/2006/main">
              <a:ext uri="{FF2B5EF4-FFF2-40B4-BE49-F238E27FC236}">
                <a16:creationId xmlns:a16="http://schemas.microsoft.com/office/drawing/2014/main" id="{B72EF9C9-1C37-4B08-AA83-6508B295F480}"/>
              </a:ext>
            </a:extLst>
          </p:cNvPr>
          <p:cNvSpPr>
            <a:spLocks xmlns:a="http://schemas.openxmlformats.org/drawingml/2006/main" noGrp="1"/>
          </p:cNvSpPr>
          <p:nvPr/>
        </p:nvSpPr>
        <p:spPr>
          <a:xfrm xmlns:a="http://schemas.openxmlformats.org/drawingml/2006/main">
            <a:off x="952500" y="3505200"/>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Token stream</a:t>
            </a:r>
          </a:p>
        </p:txBody>
      </p:sp>
      <p:sp>
        <p:nvSpPr>
          <p:cNvPr id="6" name="NAME, operators, literals, newlines">
            <a:extLst xmlns:a="http://schemas.openxmlformats.org/drawingml/2006/main">
              <a:ext uri="{FF2B5EF4-FFF2-40B4-BE49-F238E27FC236}">
                <a16:creationId xmlns:a16="http://schemas.microsoft.com/office/drawing/2014/main" id="{526153E1-DEC1-426E-AC57-8FB283FB072D}"/>
              </a:ext>
            </a:extLst>
          </p:cNvPr>
          <p:cNvSpPr>
            <a:spLocks xmlns:a="http://schemas.openxmlformats.org/drawingml/2006/main" noGrp="1"/>
          </p:cNvSpPr>
          <p:nvPr/>
        </p:nvSpPr>
        <p:spPr>
          <a:xfrm xmlns:a="http://schemas.openxmlformats.org/drawingml/2006/main">
            <a:off x="952500" y="40576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NAME, operators, literals, newlines</a:t>
            </a:r>
          </a:p>
        </p:txBody>
      </p:sp>
      <p:sp>
        <p:nvSpPr>
          <p:cNvPr id="7" name="Grammar dispatch">
            <a:extLst xmlns:a="http://schemas.openxmlformats.org/drawingml/2006/main">
              <a:ext uri="{FF2B5EF4-FFF2-40B4-BE49-F238E27FC236}">
                <a16:creationId xmlns:a16="http://schemas.microsoft.com/office/drawing/2014/main" id="{764E01C1-2797-4FDA-919B-D04B37F3CB62}"/>
              </a:ext>
            </a:extLst>
          </p:cNvPr>
          <p:cNvSpPr>
            <a:spLocks xmlns:a="http://schemas.openxmlformats.org/drawingml/2006/main" noGrp="1"/>
          </p:cNvSpPr>
          <p:nvPr/>
        </p:nvSpPr>
        <p:spPr>
          <a:xfrm xmlns:a="http://schemas.openxmlformats.org/drawingml/2006/main">
            <a:off x="5238750" y="3333750"/>
            <a:ext cx="4286250" cy="1428750"/>
          </a:xfrm>
          <a:prstGeom xmlns:a="http://schemas.openxmlformats.org/drawingml/2006/main" prst="rect">
            <a:avLst/>
          </a:prstGeom>
          <a:solidFill xmlns:a="http://schemas.openxmlformats.org/drawingml/2006/main">
            <a:srgbClr val="DDF2EC"/>
          </a:solidFill>
          <a:ln xmlns:a="http://schemas.openxmlformats.org/drawingml/2006/main" w="16193">
            <a:solidFill>
              <a:srgbClr val="147B70"/>
            </a:solidFill>
          </a:ln>
        </p:spPr>
      </p:sp>
      <p:sp>
        <p:nvSpPr>
          <p:cNvPr id="8" name="Grammar dispatch">
            <a:extLst xmlns:a="http://schemas.openxmlformats.org/drawingml/2006/main">
              <a:ext uri="{FF2B5EF4-FFF2-40B4-BE49-F238E27FC236}">
                <a16:creationId xmlns:a16="http://schemas.microsoft.com/office/drawing/2014/main" id="{46974C07-F9AE-48F8-BC77-9143A37E1D0D}"/>
              </a:ext>
            </a:extLst>
          </p:cNvPr>
          <p:cNvSpPr>
            <a:spLocks xmlns:a="http://schemas.openxmlformats.org/drawingml/2006/main" noGrp="1"/>
          </p:cNvSpPr>
          <p:nvPr/>
        </p:nvSpPr>
        <p:spPr>
          <a:xfrm xmlns:a="http://schemas.openxmlformats.org/drawingml/2006/main">
            <a:off x="5429250" y="3505200"/>
            <a:ext cx="3905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Grammar dispatch</a:t>
            </a:r>
          </a:p>
        </p:txBody>
      </p:sp>
      <p:sp>
        <p:nvSpPr>
          <p:cNvPr id="9" name="Distinctive prefixes or shared rules">
            <a:extLst xmlns:a="http://schemas.openxmlformats.org/drawingml/2006/main">
              <a:ext uri="{FF2B5EF4-FFF2-40B4-BE49-F238E27FC236}">
                <a16:creationId xmlns:a16="http://schemas.microsoft.com/office/drawing/2014/main" id="{A35A8CCD-8AEF-4E79-9AA0-B09365614257}"/>
              </a:ext>
            </a:extLst>
          </p:cNvPr>
          <p:cNvSpPr>
            <a:spLocks xmlns:a="http://schemas.openxmlformats.org/drawingml/2006/main" noGrp="1"/>
          </p:cNvSpPr>
          <p:nvPr/>
        </p:nvSpPr>
        <p:spPr>
          <a:xfrm xmlns:a="http://schemas.openxmlformats.org/drawingml/2006/main">
            <a:off x="5429250" y="4057650"/>
            <a:ext cx="390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Distinctive prefixes or shared rules</a:t>
            </a:r>
          </a:p>
        </p:txBody>
      </p:sp>
      <p:sp>
        <p:nvSpPr>
          <p:cNvPr id="10" name="Python family">
            <a:extLst xmlns:a="http://schemas.openxmlformats.org/drawingml/2006/main">
              <a:ext uri="{FF2B5EF4-FFF2-40B4-BE49-F238E27FC236}">
                <a16:creationId xmlns:a16="http://schemas.microsoft.com/office/drawing/2014/main" id="{6C7A9AE2-00A5-433F-9DB8-22CA4198F5C2}"/>
              </a:ext>
            </a:extLst>
          </p:cNvPr>
          <p:cNvSpPr>
            <a:spLocks xmlns:a="http://schemas.openxmlformats.org/drawingml/2006/main" noGrp="1"/>
          </p:cNvSpPr>
          <p:nvPr/>
        </p:nvSpPr>
        <p:spPr>
          <a:xfrm xmlns:a="http://schemas.openxmlformats.org/drawingml/2006/main">
            <a:off x="10953750" y="2286000"/>
            <a:ext cx="3524250" cy="1095375"/>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1" name="Python family">
            <a:extLst xmlns:a="http://schemas.openxmlformats.org/drawingml/2006/main">
              <a:ext uri="{FF2B5EF4-FFF2-40B4-BE49-F238E27FC236}">
                <a16:creationId xmlns:a16="http://schemas.microsoft.com/office/drawing/2014/main" id="{6331B368-F4D9-43D1-87B6-278B1B48DF04}"/>
              </a:ext>
            </a:extLst>
          </p:cNvPr>
          <p:cNvSpPr>
            <a:spLocks xmlns:a="http://schemas.openxmlformats.org/drawingml/2006/main" noGrp="1"/>
          </p:cNvSpPr>
          <p:nvPr/>
        </p:nvSpPr>
        <p:spPr>
          <a:xfrm xmlns:a="http://schemas.openxmlformats.org/drawingml/2006/main">
            <a:off x="11144250" y="24574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73C"/>
                </a:solidFill>
                <a:latin typeface="Arial"/>
                <a:ea typeface="Arial"/>
                <a:cs typeface="Arial"/>
              </a:defRPr>
            </a:defPPr>
            <a:lvl1pPr algn="l">
              <a:defRPr sz="2175" b="1">
                <a:solidFill>
                  <a:srgbClr val="17273C"/>
                </a:solidFill>
                <a:latin typeface="Arial"/>
                <a:ea typeface="Arial"/>
                <a:cs typeface="Arial"/>
              </a:defRPr>
            </a:lvl1pPr>
            <a:lvl2pPr algn="l">
              <a:defRPr sz="2175" b="1">
                <a:solidFill>
                  <a:srgbClr val="17273C"/>
                </a:solidFill>
                <a:latin typeface="Arial"/>
                <a:ea typeface="Arial"/>
                <a:cs typeface="Arial"/>
              </a:defRPr>
            </a:lvl2pPr>
            <a:lvl3pPr algn="l">
              <a:defRPr sz="2175" b="1">
                <a:solidFill>
                  <a:srgbClr val="17273C"/>
                </a:solidFill>
                <a:latin typeface="Arial"/>
                <a:ea typeface="Arial"/>
                <a:cs typeface="Arial"/>
              </a:defRPr>
            </a:lvl3pPr>
            <a:lvl4pPr algn="l">
              <a:defRPr sz="2175" b="1">
                <a:solidFill>
                  <a:srgbClr val="17273C"/>
                </a:solidFill>
                <a:latin typeface="Arial"/>
                <a:ea typeface="Arial"/>
                <a:cs typeface="Arial"/>
              </a:defRPr>
            </a:lvl4pPr>
            <a:lvl5pPr algn="l">
              <a:defRPr sz="2175" b="1">
                <a:solidFill>
                  <a:srgbClr val="17273C"/>
                </a:solidFill>
                <a:latin typeface="Arial"/>
                <a:ea typeface="Arial"/>
                <a:cs typeface="Arial"/>
              </a:defRPr>
            </a:lvl5pPr>
            <a:lvl6pPr algn="l">
              <a:defRPr sz="2175" b="1">
                <a:solidFill>
                  <a:srgbClr val="17273C"/>
                </a:solidFill>
                <a:latin typeface="Arial"/>
                <a:ea typeface="Arial"/>
                <a:cs typeface="Arial"/>
              </a:defRPr>
            </a:lvl6pPr>
            <a:lvl7pPr algn="l">
              <a:defRPr sz="2175" b="1">
                <a:solidFill>
                  <a:srgbClr val="17273C"/>
                </a:solidFill>
                <a:latin typeface="Arial"/>
                <a:ea typeface="Arial"/>
                <a:cs typeface="Arial"/>
              </a:defRPr>
            </a:lvl7pPr>
            <a:lvl8pPr algn="l">
              <a:defRPr sz="2175" b="1">
                <a:solidFill>
                  <a:srgbClr val="17273C"/>
                </a:solidFill>
                <a:latin typeface="Arial"/>
                <a:ea typeface="Arial"/>
                <a:cs typeface="Arial"/>
              </a:defRPr>
            </a:lvl8pPr>
            <a:lvl9pPr algn="l">
              <a:defRPr sz="2175" b="1">
                <a:solidFill>
                  <a:srgbClr val="17273C"/>
                </a:solidFill>
                <a:latin typeface="Arial"/>
                <a:ea typeface="Arial"/>
                <a:cs typeface="Arial"/>
              </a:defRPr>
            </a:lvl9pPr>
          </a:lstStyle>
          <a:p xmlns:a="http://schemas.openxmlformats.org/drawingml/2006/main">
            <a:pPr algn="l">
              <a:defRPr sz="2175" b="1">
                <a:solidFill>
                  <a:srgbClr val="17273C"/>
                </a:solidFill>
                <a:latin typeface="Arial"/>
                <a:ea typeface="Arial"/>
                <a:cs typeface="Arial"/>
              </a:defRPr>
            </a:pPr>
            <a:r>
              <a:rPr sz="2175" b="1">
                <a:solidFill>
                  <a:srgbClr val="17273C"/>
                </a:solidFill>
                <a:latin typeface="Arial"/>
                <a:ea typeface="Arial"/>
                <a:cs typeface="Arial"/>
              </a:rPr>
              <a:t>Python family</a:t>
            </a:r>
          </a:p>
        </p:txBody>
      </p:sp>
      <p:sp>
        <p:nvSpPr>
          <p:cNvPr id="12" name="def, for ... in, suites">
            <a:extLst xmlns:a="http://schemas.openxmlformats.org/drawingml/2006/main">
              <a:ext uri="{FF2B5EF4-FFF2-40B4-BE49-F238E27FC236}">
                <a16:creationId xmlns:a16="http://schemas.microsoft.com/office/drawing/2014/main" id="{721B2D50-5DF9-49A2-9E9A-A2564FC59C4D}"/>
              </a:ext>
            </a:extLst>
          </p:cNvPr>
          <p:cNvSpPr>
            <a:spLocks xmlns:a="http://schemas.openxmlformats.org/drawingml/2006/main" noGrp="1"/>
          </p:cNvSpPr>
          <p:nvPr/>
        </p:nvSpPr>
        <p:spPr>
          <a:xfrm xmlns:a="http://schemas.openxmlformats.org/drawingml/2006/main">
            <a:off x="11144250" y="3009900"/>
            <a:ext cx="314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def, for ... in, suites</a:t>
            </a:r>
          </a:p>
        </p:txBody>
      </p:sp>
      <p:sp>
        <p:nvSpPr>
          <p:cNvPr id="13" name="C family">
            <a:extLst xmlns:a="http://schemas.openxmlformats.org/drawingml/2006/main">
              <a:ext uri="{FF2B5EF4-FFF2-40B4-BE49-F238E27FC236}">
                <a16:creationId xmlns:a16="http://schemas.microsoft.com/office/drawing/2014/main" id="{C73D8370-F2B1-49E6-82F3-83A54278E8F3}"/>
              </a:ext>
            </a:extLst>
          </p:cNvPr>
          <p:cNvSpPr>
            <a:spLocks xmlns:a="http://schemas.openxmlformats.org/drawingml/2006/main" noGrp="1"/>
          </p:cNvSpPr>
          <p:nvPr/>
        </p:nvSpPr>
        <p:spPr>
          <a:xfrm xmlns:a="http://schemas.openxmlformats.org/drawingml/2006/main">
            <a:off x="10953750" y="4000500"/>
            <a:ext cx="3524250" cy="1095375"/>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4" name="C family">
            <a:extLst xmlns:a="http://schemas.openxmlformats.org/drawingml/2006/main">
              <a:ext uri="{FF2B5EF4-FFF2-40B4-BE49-F238E27FC236}">
                <a16:creationId xmlns:a16="http://schemas.microsoft.com/office/drawing/2014/main" id="{201C3631-CD61-4EC9-9400-94DEF38A96E0}"/>
              </a:ext>
            </a:extLst>
          </p:cNvPr>
          <p:cNvSpPr>
            <a:spLocks xmlns:a="http://schemas.openxmlformats.org/drawingml/2006/main" noGrp="1"/>
          </p:cNvSpPr>
          <p:nvPr/>
        </p:nvSpPr>
        <p:spPr>
          <a:xfrm xmlns:a="http://schemas.openxmlformats.org/drawingml/2006/main">
            <a:off x="11144250" y="41719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73C"/>
                </a:solidFill>
                <a:latin typeface="Arial"/>
                <a:ea typeface="Arial"/>
                <a:cs typeface="Arial"/>
              </a:defRPr>
            </a:defPPr>
            <a:lvl1pPr algn="l">
              <a:defRPr sz="2175" b="1">
                <a:solidFill>
                  <a:srgbClr val="17273C"/>
                </a:solidFill>
                <a:latin typeface="Arial"/>
                <a:ea typeface="Arial"/>
                <a:cs typeface="Arial"/>
              </a:defRPr>
            </a:lvl1pPr>
            <a:lvl2pPr algn="l">
              <a:defRPr sz="2175" b="1">
                <a:solidFill>
                  <a:srgbClr val="17273C"/>
                </a:solidFill>
                <a:latin typeface="Arial"/>
                <a:ea typeface="Arial"/>
                <a:cs typeface="Arial"/>
              </a:defRPr>
            </a:lvl2pPr>
            <a:lvl3pPr algn="l">
              <a:defRPr sz="2175" b="1">
                <a:solidFill>
                  <a:srgbClr val="17273C"/>
                </a:solidFill>
                <a:latin typeface="Arial"/>
                <a:ea typeface="Arial"/>
                <a:cs typeface="Arial"/>
              </a:defRPr>
            </a:lvl3pPr>
            <a:lvl4pPr algn="l">
              <a:defRPr sz="2175" b="1">
                <a:solidFill>
                  <a:srgbClr val="17273C"/>
                </a:solidFill>
                <a:latin typeface="Arial"/>
                <a:ea typeface="Arial"/>
                <a:cs typeface="Arial"/>
              </a:defRPr>
            </a:lvl4pPr>
            <a:lvl5pPr algn="l">
              <a:defRPr sz="2175" b="1">
                <a:solidFill>
                  <a:srgbClr val="17273C"/>
                </a:solidFill>
                <a:latin typeface="Arial"/>
                <a:ea typeface="Arial"/>
                <a:cs typeface="Arial"/>
              </a:defRPr>
            </a:lvl5pPr>
            <a:lvl6pPr algn="l">
              <a:defRPr sz="2175" b="1">
                <a:solidFill>
                  <a:srgbClr val="17273C"/>
                </a:solidFill>
                <a:latin typeface="Arial"/>
                <a:ea typeface="Arial"/>
                <a:cs typeface="Arial"/>
              </a:defRPr>
            </a:lvl6pPr>
            <a:lvl7pPr algn="l">
              <a:defRPr sz="2175" b="1">
                <a:solidFill>
                  <a:srgbClr val="17273C"/>
                </a:solidFill>
                <a:latin typeface="Arial"/>
                <a:ea typeface="Arial"/>
                <a:cs typeface="Arial"/>
              </a:defRPr>
            </a:lvl7pPr>
            <a:lvl8pPr algn="l">
              <a:defRPr sz="2175" b="1">
                <a:solidFill>
                  <a:srgbClr val="17273C"/>
                </a:solidFill>
                <a:latin typeface="Arial"/>
                <a:ea typeface="Arial"/>
                <a:cs typeface="Arial"/>
              </a:defRPr>
            </a:lvl8pPr>
            <a:lvl9pPr algn="l">
              <a:defRPr sz="2175" b="1">
                <a:solidFill>
                  <a:srgbClr val="17273C"/>
                </a:solidFill>
                <a:latin typeface="Arial"/>
                <a:ea typeface="Arial"/>
                <a:cs typeface="Arial"/>
              </a:defRPr>
            </a:lvl9pPr>
          </a:lstStyle>
          <a:p xmlns:a="http://schemas.openxmlformats.org/drawingml/2006/main">
            <a:pPr algn="l">
              <a:defRPr sz="2175" b="1">
                <a:solidFill>
                  <a:srgbClr val="17273C"/>
                </a:solidFill>
                <a:latin typeface="Arial"/>
                <a:ea typeface="Arial"/>
                <a:cs typeface="Arial"/>
              </a:defRPr>
            </a:pPr>
            <a:r>
              <a:rPr sz="2175" b="1">
                <a:solidFill>
                  <a:srgbClr val="17273C"/>
                </a:solidFill>
                <a:latin typeface="Arial"/>
                <a:ea typeface="Arial"/>
                <a:cs typeface="Arial"/>
              </a:rPr>
              <a:t>C family</a:t>
            </a:r>
          </a:p>
        </p:txBody>
      </p:sp>
      <p:sp>
        <p:nvSpPr>
          <p:cNvPr id="15" name="types, braces, for (...)">
            <a:extLst xmlns:a="http://schemas.openxmlformats.org/drawingml/2006/main">
              <a:ext uri="{FF2B5EF4-FFF2-40B4-BE49-F238E27FC236}">
                <a16:creationId xmlns:a16="http://schemas.microsoft.com/office/drawing/2014/main" id="{2FFC3010-A9AD-4E31-9A12-92A29F4F2850}"/>
              </a:ext>
            </a:extLst>
          </p:cNvPr>
          <p:cNvSpPr>
            <a:spLocks xmlns:a="http://schemas.openxmlformats.org/drawingml/2006/main" noGrp="1"/>
          </p:cNvSpPr>
          <p:nvPr/>
        </p:nvSpPr>
        <p:spPr>
          <a:xfrm xmlns:a="http://schemas.openxmlformats.org/drawingml/2006/main">
            <a:off x="11144250" y="4724400"/>
            <a:ext cx="314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types, braces, for (...)</a:t>
            </a:r>
          </a:p>
        </p:txBody>
      </p:sp>
      <p:sp>
        <p:nvSpPr>
          <p:cNvPr id="16" name="BASIC family">
            <a:extLst xmlns:a="http://schemas.openxmlformats.org/drawingml/2006/main">
              <a:ext uri="{FF2B5EF4-FFF2-40B4-BE49-F238E27FC236}">
                <a16:creationId xmlns:a16="http://schemas.microsoft.com/office/drawing/2014/main" id="{3081B8B6-E3AC-401C-B998-0258CC5DBD50}"/>
              </a:ext>
            </a:extLst>
          </p:cNvPr>
          <p:cNvSpPr>
            <a:spLocks xmlns:a="http://schemas.openxmlformats.org/drawingml/2006/main" noGrp="1"/>
          </p:cNvSpPr>
          <p:nvPr/>
        </p:nvSpPr>
        <p:spPr>
          <a:xfrm xmlns:a="http://schemas.openxmlformats.org/drawingml/2006/main">
            <a:off x="10953750" y="5715000"/>
            <a:ext cx="3524250" cy="1095375"/>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7" name="BASIC family">
            <a:extLst xmlns:a="http://schemas.openxmlformats.org/drawingml/2006/main">
              <a:ext uri="{FF2B5EF4-FFF2-40B4-BE49-F238E27FC236}">
                <a16:creationId xmlns:a16="http://schemas.microsoft.com/office/drawing/2014/main" id="{3F0BFBDF-7947-45DE-8A62-3DA439B5536A}"/>
              </a:ext>
            </a:extLst>
          </p:cNvPr>
          <p:cNvSpPr>
            <a:spLocks xmlns:a="http://schemas.openxmlformats.org/drawingml/2006/main" noGrp="1"/>
          </p:cNvSpPr>
          <p:nvPr/>
        </p:nvSpPr>
        <p:spPr>
          <a:xfrm xmlns:a="http://schemas.openxmlformats.org/drawingml/2006/main">
            <a:off x="11144250" y="58864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73C"/>
                </a:solidFill>
                <a:latin typeface="Arial"/>
                <a:ea typeface="Arial"/>
                <a:cs typeface="Arial"/>
              </a:defRPr>
            </a:defPPr>
            <a:lvl1pPr algn="l">
              <a:defRPr sz="2175" b="1">
                <a:solidFill>
                  <a:srgbClr val="17273C"/>
                </a:solidFill>
                <a:latin typeface="Arial"/>
                <a:ea typeface="Arial"/>
                <a:cs typeface="Arial"/>
              </a:defRPr>
            </a:lvl1pPr>
            <a:lvl2pPr algn="l">
              <a:defRPr sz="2175" b="1">
                <a:solidFill>
                  <a:srgbClr val="17273C"/>
                </a:solidFill>
                <a:latin typeface="Arial"/>
                <a:ea typeface="Arial"/>
                <a:cs typeface="Arial"/>
              </a:defRPr>
            </a:lvl2pPr>
            <a:lvl3pPr algn="l">
              <a:defRPr sz="2175" b="1">
                <a:solidFill>
                  <a:srgbClr val="17273C"/>
                </a:solidFill>
                <a:latin typeface="Arial"/>
                <a:ea typeface="Arial"/>
                <a:cs typeface="Arial"/>
              </a:defRPr>
            </a:lvl3pPr>
            <a:lvl4pPr algn="l">
              <a:defRPr sz="2175" b="1">
                <a:solidFill>
                  <a:srgbClr val="17273C"/>
                </a:solidFill>
                <a:latin typeface="Arial"/>
                <a:ea typeface="Arial"/>
                <a:cs typeface="Arial"/>
              </a:defRPr>
            </a:lvl4pPr>
            <a:lvl5pPr algn="l">
              <a:defRPr sz="2175" b="1">
                <a:solidFill>
                  <a:srgbClr val="17273C"/>
                </a:solidFill>
                <a:latin typeface="Arial"/>
                <a:ea typeface="Arial"/>
                <a:cs typeface="Arial"/>
              </a:defRPr>
            </a:lvl5pPr>
            <a:lvl6pPr algn="l">
              <a:defRPr sz="2175" b="1">
                <a:solidFill>
                  <a:srgbClr val="17273C"/>
                </a:solidFill>
                <a:latin typeface="Arial"/>
                <a:ea typeface="Arial"/>
                <a:cs typeface="Arial"/>
              </a:defRPr>
            </a:lvl6pPr>
            <a:lvl7pPr algn="l">
              <a:defRPr sz="2175" b="1">
                <a:solidFill>
                  <a:srgbClr val="17273C"/>
                </a:solidFill>
                <a:latin typeface="Arial"/>
                <a:ea typeface="Arial"/>
                <a:cs typeface="Arial"/>
              </a:defRPr>
            </a:lvl7pPr>
            <a:lvl8pPr algn="l">
              <a:defRPr sz="2175" b="1">
                <a:solidFill>
                  <a:srgbClr val="17273C"/>
                </a:solidFill>
                <a:latin typeface="Arial"/>
                <a:ea typeface="Arial"/>
                <a:cs typeface="Arial"/>
              </a:defRPr>
            </a:lvl8pPr>
            <a:lvl9pPr algn="l">
              <a:defRPr sz="2175" b="1">
                <a:solidFill>
                  <a:srgbClr val="17273C"/>
                </a:solidFill>
                <a:latin typeface="Arial"/>
                <a:ea typeface="Arial"/>
                <a:cs typeface="Arial"/>
              </a:defRPr>
            </a:lvl9pPr>
          </a:lstStyle>
          <a:p xmlns:a="http://schemas.openxmlformats.org/drawingml/2006/main">
            <a:pPr algn="l">
              <a:defRPr sz="2175" b="1">
                <a:solidFill>
                  <a:srgbClr val="17273C"/>
                </a:solidFill>
                <a:latin typeface="Arial"/>
                <a:ea typeface="Arial"/>
                <a:cs typeface="Arial"/>
              </a:defRPr>
            </a:pPr>
            <a:r>
              <a:rPr sz="2175" b="1">
                <a:solidFill>
                  <a:srgbClr val="17273C"/>
                </a:solidFill>
                <a:latin typeface="Arial"/>
                <a:ea typeface="Arial"/>
                <a:cs typeface="Arial"/>
              </a:rPr>
              <a:t>BASIC family</a:t>
            </a:r>
          </a:p>
        </p:txBody>
      </p:sp>
      <p:sp>
        <p:nvSpPr>
          <p:cNvPr id="18" name="LET and PRINT">
            <a:extLst xmlns:a="http://schemas.openxmlformats.org/drawingml/2006/main">
              <a:ext uri="{FF2B5EF4-FFF2-40B4-BE49-F238E27FC236}">
                <a16:creationId xmlns:a16="http://schemas.microsoft.com/office/drawing/2014/main" id="{D30122C3-8CB3-4BE1-9295-02A1F038AEC1}"/>
              </a:ext>
            </a:extLst>
          </p:cNvPr>
          <p:cNvSpPr>
            <a:spLocks xmlns:a="http://schemas.openxmlformats.org/drawingml/2006/main" noGrp="1"/>
          </p:cNvSpPr>
          <p:nvPr/>
        </p:nvSpPr>
        <p:spPr>
          <a:xfrm xmlns:a="http://schemas.openxmlformats.org/drawingml/2006/main">
            <a:off x="11144250" y="6438900"/>
            <a:ext cx="314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LET and PRINT</a:t>
            </a:r>
          </a:p>
        </p:txBody>
      </p:sp>
      <p:sp>
        <p:nvSpPr>
          <p:cNvPr id="23" name="All paths use shared expression rules and create common">
            <a:extLst xmlns:a="http://schemas.openxmlformats.org/drawingml/2006/main">
              <a:ext uri="{FF2B5EF4-FFF2-40B4-BE49-F238E27FC236}">
                <a16:creationId xmlns:a16="http://schemas.microsoft.com/office/drawing/2014/main" id="{41511560-879A-45B1-8A54-3E918F93F2DB}"/>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All paths use shared expression rules and create common AST nodes.</a:t>
            </a:r>
          </a:p>
        </p:txBody>
      </p:sp>
    </p:spTree>
    <p:extLst>
      <p:ext uri="{BB962C8B-B14F-4D97-AF65-F5344CB8AC3E}">
        <p14:creationId xmlns:p14="http://schemas.microsoft.com/office/powerpoint/2010/main" val="1873999801"/>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Lexical analysis">
            <a:extLst xmlns:a="http://schemas.openxmlformats.org/drawingml/2006/main">
              <a:ext uri="{FF2B5EF4-FFF2-40B4-BE49-F238E27FC236}">
                <a16:creationId xmlns:a16="http://schemas.microsoft.com/office/drawing/2014/main" id="{1D5BBADE-8A91-4D5E-9710-AD399F2208FA}"/>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Lexical analysis</a:t>
            </a:r>
          </a:p>
        </p:txBody>
      </p:sp>
      <p:sp>
        <p:nvSpPr>
          <p:cNvPr id="2" name="The scanner converts characters into positioned tokens">
            <a:extLst xmlns:a="http://schemas.openxmlformats.org/drawingml/2006/main">
              <a:ext uri="{FF2B5EF4-FFF2-40B4-BE49-F238E27FC236}">
                <a16:creationId xmlns:a16="http://schemas.microsoft.com/office/drawing/2014/main" id="{CD25D13B-76ED-447C-BE43-586CCC406432}"/>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The scanner converts characters into positioned tokens</a:t>
            </a:r>
          </a:p>
        </p:txBody>
      </p:sp>
      <p:sp>
        <p:nvSpPr>
          <p:cNvPr id="3" name="08">
            <a:extLst xmlns:a="http://schemas.openxmlformats.org/drawingml/2006/main">
              <a:ext uri="{FF2B5EF4-FFF2-40B4-BE49-F238E27FC236}">
                <a16:creationId xmlns:a16="http://schemas.microsoft.com/office/drawing/2014/main" id="{A9EBBED8-A910-4554-95C4-750701DEFEC5}"/>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08</a:t>
            </a:r>
          </a:p>
        </p:txBody>
      </p:sp>
      <p:sp>
        <p:nvSpPr>
          <p:cNvPr id="4" name="int result = 2 + 3;">
            <a:extLst xmlns:a="http://schemas.openxmlformats.org/drawingml/2006/main">
              <a:ext uri="{FF2B5EF4-FFF2-40B4-BE49-F238E27FC236}">
                <a16:creationId xmlns:a16="http://schemas.microsoft.com/office/drawing/2014/main" id="{0D1BC8E9-9B7A-402F-AE0F-EDFE30190F97}"/>
              </a:ext>
            </a:extLst>
          </p:cNvPr>
          <p:cNvSpPr>
            <a:spLocks xmlns:a="http://schemas.openxmlformats.org/drawingml/2006/main" noGrp="1"/>
          </p:cNvSpPr>
          <p:nvPr/>
        </p:nvSpPr>
        <p:spPr>
          <a:xfrm xmlns:a="http://schemas.openxmlformats.org/drawingml/2006/main">
            <a:off x="781050" y="2543175"/>
            <a:ext cx="1304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162237"/>
                </a:solidFill>
                <a:latin typeface="Courier New"/>
                <a:ea typeface="Courier New"/>
                <a:cs typeface="Courier New"/>
              </a:defRPr>
            </a:defPPr>
            <a:lvl1pPr algn="l">
              <a:defRPr sz="3450" b="0">
                <a:solidFill>
                  <a:srgbClr val="162237"/>
                </a:solidFill>
                <a:latin typeface="Courier New"/>
                <a:ea typeface="Courier New"/>
                <a:cs typeface="Courier New"/>
              </a:defRPr>
            </a:lvl1pPr>
            <a:lvl2pPr algn="l">
              <a:defRPr sz="3450" b="0">
                <a:solidFill>
                  <a:srgbClr val="162237"/>
                </a:solidFill>
                <a:latin typeface="Courier New"/>
                <a:ea typeface="Courier New"/>
                <a:cs typeface="Courier New"/>
              </a:defRPr>
            </a:lvl2pPr>
            <a:lvl3pPr algn="l">
              <a:defRPr sz="3450" b="0">
                <a:solidFill>
                  <a:srgbClr val="162237"/>
                </a:solidFill>
                <a:latin typeface="Courier New"/>
                <a:ea typeface="Courier New"/>
                <a:cs typeface="Courier New"/>
              </a:defRPr>
            </a:lvl3pPr>
            <a:lvl4pPr algn="l">
              <a:defRPr sz="3450" b="0">
                <a:solidFill>
                  <a:srgbClr val="162237"/>
                </a:solidFill>
                <a:latin typeface="Courier New"/>
                <a:ea typeface="Courier New"/>
                <a:cs typeface="Courier New"/>
              </a:defRPr>
            </a:lvl4pPr>
            <a:lvl5pPr algn="l">
              <a:defRPr sz="3450" b="0">
                <a:solidFill>
                  <a:srgbClr val="162237"/>
                </a:solidFill>
                <a:latin typeface="Courier New"/>
                <a:ea typeface="Courier New"/>
                <a:cs typeface="Courier New"/>
              </a:defRPr>
            </a:lvl5pPr>
            <a:lvl6pPr algn="l">
              <a:defRPr sz="3450" b="0">
                <a:solidFill>
                  <a:srgbClr val="162237"/>
                </a:solidFill>
                <a:latin typeface="Courier New"/>
                <a:ea typeface="Courier New"/>
                <a:cs typeface="Courier New"/>
              </a:defRPr>
            </a:lvl6pPr>
            <a:lvl7pPr algn="l">
              <a:defRPr sz="3450" b="0">
                <a:solidFill>
                  <a:srgbClr val="162237"/>
                </a:solidFill>
                <a:latin typeface="Courier New"/>
                <a:ea typeface="Courier New"/>
                <a:cs typeface="Courier New"/>
              </a:defRPr>
            </a:lvl7pPr>
            <a:lvl8pPr algn="l">
              <a:defRPr sz="3450" b="0">
                <a:solidFill>
                  <a:srgbClr val="162237"/>
                </a:solidFill>
                <a:latin typeface="Courier New"/>
                <a:ea typeface="Courier New"/>
                <a:cs typeface="Courier New"/>
              </a:defRPr>
            </a:lvl8pPr>
            <a:lvl9pPr algn="l">
              <a:defRPr sz="3450" b="0">
                <a:solidFill>
                  <a:srgbClr val="162237"/>
                </a:solidFill>
                <a:latin typeface="Courier New"/>
                <a:ea typeface="Courier New"/>
                <a:cs typeface="Courier New"/>
              </a:defRPr>
            </a:lvl9pPr>
          </a:lstStyle>
          <a:p xmlns:a="http://schemas.openxmlformats.org/drawingml/2006/main">
            <a:pPr algn="l">
              <a:defRPr sz="3450" b="0">
                <a:solidFill>
                  <a:srgbClr val="162237"/>
                </a:solidFill>
                <a:latin typeface="Courier New"/>
                <a:ea typeface="Courier New"/>
                <a:cs typeface="Courier New"/>
              </a:defRPr>
            </a:pPr>
            <a:r>
              <a:rPr sz="3450" b="0">
                <a:solidFill>
                  <a:srgbClr val="162237"/>
                </a:solidFill>
                <a:latin typeface="Courier New"/>
                <a:ea typeface="Courier New"/>
                <a:cs typeface="Courier New"/>
              </a:rPr>
              <a:t>int result = 2 + 3;</a:t>
            </a:r>
          </a:p>
        </p:txBody>
      </p:sp>
      <p:graphicFrame>
        <p:nvGraphicFramePr>
          <p:cNvPr id="5" name="">
            <a:extLst xmlns:a="http://schemas.openxmlformats.org/drawingml/2006/main">
              <a:ext uri="{FF2B5EF4-FFF2-40B4-BE49-F238E27FC236}">
                <a16:creationId xmlns:a16="http://schemas.microsoft.com/office/drawing/2014/main" id="{C9264872-8990-4B9E-9177-2B0E52DADEBD}"/>
              </a:ext>
            </a:extLst>
          </p:cNvPr>
          <p:cNvGraphicFramePr/>
          <p:nvPr/>
        </p:nvGraphicFramePr>
        <p:xfrm>
          <a:off xmlns:a="http://schemas.openxmlformats.org/drawingml/2006/main" x="781050" y="3619500"/>
          <a:ext xmlns:a="http://schemas.openxmlformats.org/drawingml/2006/main" cx="13620750" cy="3286125"/>
        </p:xfrm>
        <a:graphic xmlns:a="http://schemas.openxmlformats.org/drawingml/2006/main">
          <a:graphicData uri="http://schemas.openxmlformats.org/drawingml/2006/table">
            <a:tbl>
              <a:tblPr/>
              <a:tblGrid>
                <a:gridCol w="3143250"/>
                <a:gridCol w="3333750"/>
                <a:gridCol w="7143750"/>
              </a:tblGrid>
              <a:tr h="657225">
                <a:tc>
                  <a:txBody>
                    <a:bodyPr lIns="142875" tIns="142875" rIns="142875" bIns="142875"/>
                    <a:lstStyle/>
                    <a:p>
                      <a:r>
                        <a:rPr sz="2250" b="1">
                          <a:solidFill>
                            <a:srgbClr val="17273C"/>
                          </a:solidFill>
                          <a:latin typeface="Arial"/>
                          <a:ea typeface="Arial"/>
                          <a:cs typeface="Arial"/>
                        </a:rPr>
                        <a:t>Token text</a:t>
                      </a:r>
                    </a:p>
                  </a:txBody>
                  <a:tcPr marL="91440" marR="91440" marT="45720" marB="45720" anchor="ctr">
                    <a:lnL w="7620">
                      <a:solidFill>
                        <a:srgbClr val="CDD3D9"/>
                      </a:solidFill>
                      <a:prstDash val="solid"/>
                    </a:lnL>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250" b="1">
                          <a:solidFill>
                            <a:srgbClr val="17273C"/>
                          </a:solidFill>
                          <a:latin typeface="Arial"/>
                          <a:ea typeface="Arial"/>
                          <a:cs typeface="Arial"/>
                        </a:rPr>
                        <a:t>Token category</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250" b="1">
                          <a:solidFill>
                            <a:srgbClr val="17273C"/>
                          </a:solidFill>
                          <a:latin typeface="Arial"/>
                          <a:ea typeface="Arial"/>
                          <a:cs typeface="Arial"/>
                        </a:rPr>
                        <a:t>Purpose</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r>
              <a:tr h="657225">
                <a:tc>
                  <a:txBody>
                    <a:bodyPr lIns="142875" tIns="142875" rIns="142875" bIns="142875"/>
                    <a:lstStyle/>
                    <a:p>
                      <a:r>
                        <a:rPr sz="2250" b="0">
                          <a:solidFill>
                            <a:srgbClr val="17273C"/>
                          </a:solidFill>
                          <a:latin typeface="Arial"/>
                          <a:ea typeface="Arial"/>
                          <a:cs typeface="Arial"/>
                        </a:rPr>
                        <a:t>int, result</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NAME</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Parser interprets names and keywords</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57225">
                <a:tc>
                  <a:txBody>
                    <a:bodyPr lIns="142875" tIns="142875" rIns="142875" bIns="142875"/>
                    <a:lstStyle/>
                    <a:p>
                      <a:r>
                        <a:rPr sz="2250" b="0">
                          <a:solidFill>
                            <a:srgbClr val="17273C"/>
                          </a:solidFill>
                          <a:latin typeface="Arial"/>
                          <a:ea typeface="Arial"/>
                          <a:cs typeface="Arial"/>
                        </a:rPr>
                        <a:t>2, 3</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NUMBER</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Numeric literal values</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57225">
                <a:tc>
                  <a:txBody>
                    <a:bodyPr lIns="142875" tIns="142875" rIns="142875" bIns="142875"/>
                    <a:lstStyle/>
                    <a:p>
                      <a:r>
                        <a:rPr sz="2250" b="0">
                          <a:solidFill>
                            <a:srgbClr val="17273C"/>
                          </a:solidFill>
                          <a:latin typeface="Arial"/>
                          <a:ea typeface="Arial"/>
                          <a:cs typeface="Arial"/>
                        </a:rPr>
                        <a:t>=, +, ;</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OP</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Assignment, addition and separator</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57225">
                <a:tc>
                  <a:txBody>
                    <a:bodyPr lIns="142875" tIns="142875" rIns="142875" bIns="142875"/>
                    <a:lstStyle/>
                    <a:p>
                      <a:r>
                        <a:rPr sz="2250" b="0">
                          <a:solidFill>
                            <a:srgbClr val="17273C"/>
                          </a:solidFill>
                          <a:latin typeface="Arial"/>
                          <a:ea typeface="Arial"/>
                          <a:cs typeface="Arial"/>
                        </a:rPr>
                        <a:t>newline, end</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Layout / end markers</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Statement boundaries and termination</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bl>
          </a:graphicData>
        </a:graphic>
      </p:graphicFrame>
      <p:sp>
        <p:nvSpPr>
          <p:cNvPr id="6" name="Each token retains a source span for diagnostics and ed">
            <a:extLst xmlns:a="http://schemas.openxmlformats.org/drawingml/2006/main">
              <a:ext uri="{FF2B5EF4-FFF2-40B4-BE49-F238E27FC236}">
                <a16:creationId xmlns:a16="http://schemas.microsoft.com/office/drawing/2014/main" id="{8ED91743-C105-4A2F-AAB3-034DD569B0F4}"/>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Each token retains a source span for diagnostics and editor navigation.</a:t>
            </a:r>
          </a:p>
        </p:txBody>
      </p:sp>
    </p:spTree>
    <p:extLst>
      <p:ext uri="{BB962C8B-B14F-4D97-AF65-F5344CB8AC3E}">
        <p14:creationId xmlns:p14="http://schemas.microsoft.com/office/powerpoint/2010/main" val="2133129421"/>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753F96F0-33C9-4CFF-AF5A-C214A7F2C756}"/>
              </a:ext>
            </a:extLst>
          </p:cNvPr>
          <p:cNvCxnSpPr>
            <a:stCxn xmlns:a="http://schemas.openxmlformats.org/drawingml/2006/main" id="11" idx="2"/>
            <a:endCxn xmlns:a="http://schemas.openxmlformats.org/drawingml/2006/main" id="15" idx="0"/>
          </p:cNvCxnSpPr>
          <p:nvPr/>
        </p:nvCxnSpPr>
        <p:spPr>
          <a:xfrm xmlns:a="http://schemas.openxmlformats.org/drawingml/2006/main">
            <a:off x="12906375" y="5191125"/>
            <a:ext cx="1047750" cy="952500"/>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5DEE5CF6-8CEF-4D1C-844E-2F41BDAD0897}"/>
              </a:ext>
            </a:extLst>
          </p:cNvPr>
          <p:cNvCxnSpPr>
            <a:stCxn xmlns:a="http://schemas.openxmlformats.org/drawingml/2006/main" id="11" idx="2"/>
            <a:endCxn xmlns:a="http://schemas.openxmlformats.org/drawingml/2006/main" id="13" idx="0"/>
          </p:cNvCxnSpPr>
          <p:nvPr/>
        </p:nvCxnSpPr>
        <p:spPr>
          <a:xfrm xmlns:a="http://schemas.openxmlformats.org/drawingml/2006/main" flipH="1">
            <a:off x="11477625" y="5191125"/>
            <a:ext cx="1428750" cy="952500"/>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95D65800-443B-41AE-866E-EF6D6B47027D}"/>
              </a:ext>
            </a:extLst>
          </p:cNvPr>
          <p:cNvCxnSpPr>
            <a:stCxn xmlns:a="http://schemas.openxmlformats.org/drawingml/2006/main" id="7" idx="2"/>
            <a:endCxn xmlns:a="http://schemas.openxmlformats.org/drawingml/2006/main" id="11" idx="0"/>
          </p:cNvCxnSpPr>
          <p:nvPr/>
        </p:nvCxnSpPr>
        <p:spPr>
          <a:xfrm xmlns:a="http://schemas.openxmlformats.org/drawingml/2006/main">
            <a:off x="11382375" y="3524250"/>
            <a:ext cx="1524000" cy="809625"/>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471B9EA7-9BB3-45D3-B1F8-A612D4C133AB}"/>
              </a:ext>
            </a:extLst>
          </p:cNvPr>
          <p:cNvCxnSpPr>
            <a:stCxn xmlns:a="http://schemas.openxmlformats.org/drawingml/2006/main" id="7" idx="2"/>
            <a:endCxn xmlns:a="http://schemas.openxmlformats.org/drawingml/2006/main" id="9" idx="0"/>
          </p:cNvCxnSpPr>
          <p:nvPr/>
        </p:nvCxnSpPr>
        <p:spPr>
          <a:xfrm xmlns:a="http://schemas.openxmlformats.org/drawingml/2006/main" flipH="1">
            <a:off x="9120188" y="3524250"/>
            <a:ext cx="2262188" cy="809625"/>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sp>
        <p:nvSpPr>
          <p:cNvPr id="22" name="Parsing and operator precedence">
            <a:extLst xmlns:a="http://schemas.openxmlformats.org/drawingml/2006/main">
              <a:ext uri="{FF2B5EF4-FFF2-40B4-BE49-F238E27FC236}">
                <a16:creationId xmlns:a16="http://schemas.microsoft.com/office/drawing/2014/main" id="{042EC3EA-56F8-447C-91FB-80AC384E452E}"/>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Parsing and operator precedence</a:t>
            </a:r>
          </a:p>
        </p:txBody>
      </p:sp>
      <p:sp>
        <p:nvSpPr>
          <p:cNvPr id="2" name="Recursive descent handles statements. Pratt parsing han">
            <a:extLst xmlns:a="http://schemas.openxmlformats.org/drawingml/2006/main">
              <a:ext uri="{FF2B5EF4-FFF2-40B4-BE49-F238E27FC236}">
                <a16:creationId xmlns:a16="http://schemas.microsoft.com/office/drawing/2014/main" id="{43D3B44B-9D00-468A-9C9F-9FE5AEC40C35}"/>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Recursive descent handles statements. Pratt parsing handles expressions.</a:t>
            </a:r>
          </a:p>
        </p:txBody>
      </p:sp>
      <p:sp>
        <p:nvSpPr>
          <p:cNvPr id="3" name="09">
            <a:extLst xmlns:a="http://schemas.openxmlformats.org/drawingml/2006/main">
              <a:ext uri="{FF2B5EF4-FFF2-40B4-BE49-F238E27FC236}">
                <a16:creationId xmlns:a16="http://schemas.microsoft.com/office/drawing/2014/main" id="{9E434E24-9557-4BD1-883E-BFE1B6944CF8}"/>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09</a:t>
            </a:r>
          </a:p>
        </p:txBody>
      </p:sp>
      <p:sp>
        <p:nvSpPr>
          <p:cNvPr id="4" name="print(2 + 3 * 4)">
            <a:extLst xmlns:a="http://schemas.openxmlformats.org/drawingml/2006/main">
              <a:ext uri="{FF2B5EF4-FFF2-40B4-BE49-F238E27FC236}">
                <a16:creationId xmlns:a16="http://schemas.microsoft.com/office/drawing/2014/main" id="{CDFF1612-9BB5-4BB3-B8B5-37C705D4DB75}"/>
              </a:ext>
            </a:extLst>
          </p:cNvPr>
          <p:cNvSpPr>
            <a:spLocks xmlns:a="http://schemas.openxmlformats.org/drawingml/2006/main" noGrp="1"/>
          </p:cNvSpPr>
          <p:nvPr/>
        </p:nvSpPr>
        <p:spPr>
          <a:xfrm xmlns:a="http://schemas.openxmlformats.org/drawingml/2006/main">
            <a:off x="762000" y="2571750"/>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162237"/>
                </a:solidFill>
                <a:latin typeface="Courier New"/>
                <a:ea typeface="Courier New"/>
                <a:cs typeface="Courier New"/>
              </a:defRPr>
            </a:defPPr>
            <a:lvl1pPr algn="l">
              <a:defRPr sz="3450" b="0">
                <a:solidFill>
                  <a:srgbClr val="162237"/>
                </a:solidFill>
                <a:latin typeface="Courier New"/>
                <a:ea typeface="Courier New"/>
                <a:cs typeface="Courier New"/>
              </a:defRPr>
            </a:lvl1pPr>
            <a:lvl2pPr algn="l">
              <a:defRPr sz="3450" b="0">
                <a:solidFill>
                  <a:srgbClr val="162237"/>
                </a:solidFill>
                <a:latin typeface="Courier New"/>
                <a:ea typeface="Courier New"/>
                <a:cs typeface="Courier New"/>
              </a:defRPr>
            </a:lvl2pPr>
            <a:lvl3pPr algn="l">
              <a:defRPr sz="3450" b="0">
                <a:solidFill>
                  <a:srgbClr val="162237"/>
                </a:solidFill>
                <a:latin typeface="Courier New"/>
                <a:ea typeface="Courier New"/>
                <a:cs typeface="Courier New"/>
              </a:defRPr>
            </a:lvl3pPr>
            <a:lvl4pPr algn="l">
              <a:defRPr sz="3450" b="0">
                <a:solidFill>
                  <a:srgbClr val="162237"/>
                </a:solidFill>
                <a:latin typeface="Courier New"/>
                <a:ea typeface="Courier New"/>
                <a:cs typeface="Courier New"/>
              </a:defRPr>
            </a:lvl4pPr>
            <a:lvl5pPr algn="l">
              <a:defRPr sz="3450" b="0">
                <a:solidFill>
                  <a:srgbClr val="162237"/>
                </a:solidFill>
                <a:latin typeface="Courier New"/>
                <a:ea typeface="Courier New"/>
                <a:cs typeface="Courier New"/>
              </a:defRPr>
            </a:lvl5pPr>
            <a:lvl6pPr algn="l">
              <a:defRPr sz="3450" b="0">
                <a:solidFill>
                  <a:srgbClr val="162237"/>
                </a:solidFill>
                <a:latin typeface="Courier New"/>
                <a:ea typeface="Courier New"/>
                <a:cs typeface="Courier New"/>
              </a:defRPr>
            </a:lvl6pPr>
            <a:lvl7pPr algn="l">
              <a:defRPr sz="3450" b="0">
                <a:solidFill>
                  <a:srgbClr val="162237"/>
                </a:solidFill>
                <a:latin typeface="Courier New"/>
                <a:ea typeface="Courier New"/>
                <a:cs typeface="Courier New"/>
              </a:defRPr>
            </a:lvl7pPr>
            <a:lvl8pPr algn="l">
              <a:defRPr sz="3450" b="0">
                <a:solidFill>
                  <a:srgbClr val="162237"/>
                </a:solidFill>
                <a:latin typeface="Courier New"/>
                <a:ea typeface="Courier New"/>
                <a:cs typeface="Courier New"/>
              </a:defRPr>
            </a:lvl8pPr>
            <a:lvl9pPr algn="l">
              <a:defRPr sz="3450" b="0">
                <a:solidFill>
                  <a:srgbClr val="162237"/>
                </a:solidFill>
                <a:latin typeface="Courier New"/>
                <a:ea typeface="Courier New"/>
                <a:cs typeface="Courier New"/>
              </a:defRPr>
            </a:lvl9pPr>
          </a:lstStyle>
          <a:p xmlns:a="http://schemas.openxmlformats.org/drawingml/2006/main">
            <a:pPr algn="l">
              <a:defRPr sz="3450" b="0">
                <a:solidFill>
                  <a:srgbClr val="162237"/>
                </a:solidFill>
                <a:latin typeface="Courier New"/>
                <a:ea typeface="Courier New"/>
                <a:cs typeface="Courier New"/>
              </a:defRPr>
            </a:pPr>
            <a:r>
              <a:rPr sz="3450" b="0">
                <a:solidFill>
                  <a:srgbClr val="162237"/>
                </a:solidFill>
                <a:latin typeface="Courier New"/>
                <a:ea typeface="Courier New"/>
                <a:cs typeface="Courier New"/>
              </a:rPr>
              <a:t>print(2 + 3 * 4)</a:t>
            </a:r>
          </a:p>
        </p:txBody>
      </p:sp>
      <p:sp>
        <p:nvSpPr>
          <p:cNvPr id="5" name="Binding power">
            <a:extLst xmlns:a="http://schemas.openxmlformats.org/drawingml/2006/main">
              <a:ext uri="{FF2B5EF4-FFF2-40B4-BE49-F238E27FC236}">
                <a16:creationId xmlns:a16="http://schemas.microsoft.com/office/drawing/2014/main" id="{EB27AE07-9B90-4CF3-ACA0-BEE830634112}"/>
              </a:ext>
            </a:extLst>
          </p:cNvPr>
          <p:cNvSpPr>
            <a:spLocks xmlns:a="http://schemas.openxmlformats.org/drawingml/2006/main" noGrp="1"/>
          </p:cNvSpPr>
          <p:nvPr/>
        </p:nvSpPr>
        <p:spPr>
          <a:xfrm xmlns:a="http://schemas.openxmlformats.org/drawingml/2006/main">
            <a:off x="762000" y="3952875"/>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956D7"/>
                </a:solidFill>
                <a:latin typeface="Arial"/>
                <a:ea typeface="Arial"/>
                <a:cs typeface="Arial"/>
              </a:defRPr>
            </a:defPPr>
            <a:lvl1pPr algn="l">
              <a:defRPr sz="2850" b="1">
                <a:solidFill>
                  <a:srgbClr val="2956D7"/>
                </a:solidFill>
                <a:latin typeface="Arial"/>
                <a:ea typeface="Arial"/>
                <a:cs typeface="Arial"/>
              </a:defRPr>
            </a:lvl1pPr>
            <a:lvl2pPr algn="l">
              <a:defRPr sz="2850" b="1">
                <a:solidFill>
                  <a:srgbClr val="2956D7"/>
                </a:solidFill>
                <a:latin typeface="Arial"/>
                <a:ea typeface="Arial"/>
                <a:cs typeface="Arial"/>
              </a:defRPr>
            </a:lvl2pPr>
            <a:lvl3pPr algn="l">
              <a:defRPr sz="2850" b="1">
                <a:solidFill>
                  <a:srgbClr val="2956D7"/>
                </a:solidFill>
                <a:latin typeface="Arial"/>
                <a:ea typeface="Arial"/>
                <a:cs typeface="Arial"/>
              </a:defRPr>
            </a:lvl3pPr>
            <a:lvl4pPr algn="l">
              <a:defRPr sz="2850" b="1">
                <a:solidFill>
                  <a:srgbClr val="2956D7"/>
                </a:solidFill>
                <a:latin typeface="Arial"/>
                <a:ea typeface="Arial"/>
                <a:cs typeface="Arial"/>
              </a:defRPr>
            </a:lvl4pPr>
            <a:lvl5pPr algn="l">
              <a:defRPr sz="2850" b="1">
                <a:solidFill>
                  <a:srgbClr val="2956D7"/>
                </a:solidFill>
                <a:latin typeface="Arial"/>
                <a:ea typeface="Arial"/>
                <a:cs typeface="Arial"/>
              </a:defRPr>
            </a:lvl5pPr>
            <a:lvl6pPr algn="l">
              <a:defRPr sz="2850" b="1">
                <a:solidFill>
                  <a:srgbClr val="2956D7"/>
                </a:solidFill>
                <a:latin typeface="Arial"/>
                <a:ea typeface="Arial"/>
                <a:cs typeface="Arial"/>
              </a:defRPr>
            </a:lvl6pPr>
            <a:lvl7pPr algn="l">
              <a:defRPr sz="2850" b="1">
                <a:solidFill>
                  <a:srgbClr val="2956D7"/>
                </a:solidFill>
                <a:latin typeface="Arial"/>
                <a:ea typeface="Arial"/>
                <a:cs typeface="Arial"/>
              </a:defRPr>
            </a:lvl7pPr>
            <a:lvl8pPr algn="l">
              <a:defRPr sz="2850" b="1">
                <a:solidFill>
                  <a:srgbClr val="2956D7"/>
                </a:solidFill>
                <a:latin typeface="Arial"/>
                <a:ea typeface="Arial"/>
                <a:cs typeface="Arial"/>
              </a:defRPr>
            </a:lvl8pPr>
            <a:lvl9pPr algn="l">
              <a:defRPr sz="2850" b="1">
                <a:solidFill>
                  <a:srgbClr val="2956D7"/>
                </a:solidFill>
                <a:latin typeface="Arial"/>
                <a:ea typeface="Arial"/>
                <a:cs typeface="Arial"/>
              </a:defRPr>
            </a:lvl9pPr>
          </a:lstStyle>
          <a:p xmlns:a="http://schemas.openxmlformats.org/drawingml/2006/main">
            <a:pPr algn="l">
              <a:defRPr sz="2850" b="1">
                <a:solidFill>
                  <a:srgbClr val="2956D7"/>
                </a:solidFill>
                <a:latin typeface="Arial"/>
                <a:ea typeface="Arial"/>
                <a:cs typeface="Arial"/>
              </a:defRPr>
            </a:pPr>
            <a:r>
              <a:rPr sz="2850" b="1">
                <a:solidFill>
                  <a:srgbClr val="2956D7"/>
                </a:solidFill>
                <a:latin typeface="Arial"/>
                <a:ea typeface="Arial"/>
                <a:cs typeface="Arial"/>
              </a:rPr>
              <a:t>Binding power</a:t>
            </a:r>
          </a:p>
        </p:txBody>
      </p:sp>
      <p:sp>
        <p:nvSpPr>
          <p:cNvPr id="6" name="Multiplication binds more tightly&#10;than addition. Parent">
            <a:extLst xmlns:a="http://schemas.openxmlformats.org/drawingml/2006/main">
              <a:ext uri="{FF2B5EF4-FFF2-40B4-BE49-F238E27FC236}">
                <a16:creationId xmlns:a16="http://schemas.microsoft.com/office/drawing/2014/main" id="{FA2E16F6-6792-4B2C-A98B-4E9983925822}"/>
              </a:ext>
            </a:extLst>
          </p:cNvPr>
          <p:cNvSpPr>
            <a:spLocks xmlns:a="http://schemas.openxmlformats.org/drawingml/2006/main" noGrp="1"/>
          </p:cNvSpPr>
          <p:nvPr/>
        </p:nvSpPr>
        <p:spPr>
          <a:xfrm xmlns:a="http://schemas.openxmlformats.org/drawingml/2006/main">
            <a:off x="762000" y="4714875"/>
            <a:ext cx="6191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7273C"/>
                </a:solidFill>
                <a:latin typeface="Arial"/>
                <a:ea typeface="Arial"/>
                <a:cs typeface="Arial"/>
              </a:defRPr>
            </a:defPPr>
            <a:lvl1pPr algn="l">
              <a:defRPr sz="2700" b="0">
                <a:solidFill>
                  <a:srgbClr val="17273C"/>
                </a:solidFill>
                <a:latin typeface="Arial"/>
                <a:ea typeface="Arial"/>
                <a:cs typeface="Arial"/>
              </a:defRPr>
            </a:lvl1pPr>
            <a:lvl2pPr algn="l">
              <a:defRPr sz="2700" b="0">
                <a:solidFill>
                  <a:srgbClr val="17273C"/>
                </a:solidFill>
                <a:latin typeface="Arial"/>
                <a:ea typeface="Arial"/>
                <a:cs typeface="Arial"/>
              </a:defRPr>
            </a:lvl2pPr>
            <a:lvl3pPr algn="l">
              <a:defRPr sz="2700" b="0">
                <a:solidFill>
                  <a:srgbClr val="17273C"/>
                </a:solidFill>
                <a:latin typeface="Arial"/>
                <a:ea typeface="Arial"/>
                <a:cs typeface="Arial"/>
              </a:defRPr>
            </a:lvl3pPr>
            <a:lvl4pPr algn="l">
              <a:defRPr sz="2700" b="0">
                <a:solidFill>
                  <a:srgbClr val="17273C"/>
                </a:solidFill>
                <a:latin typeface="Arial"/>
                <a:ea typeface="Arial"/>
                <a:cs typeface="Arial"/>
              </a:defRPr>
            </a:lvl4pPr>
            <a:lvl5pPr algn="l">
              <a:defRPr sz="2700" b="0">
                <a:solidFill>
                  <a:srgbClr val="17273C"/>
                </a:solidFill>
                <a:latin typeface="Arial"/>
                <a:ea typeface="Arial"/>
                <a:cs typeface="Arial"/>
              </a:defRPr>
            </a:lvl5pPr>
            <a:lvl6pPr algn="l">
              <a:defRPr sz="2700" b="0">
                <a:solidFill>
                  <a:srgbClr val="17273C"/>
                </a:solidFill>
                <a:latin typeface="Arial"/>
                <a:ea typeface="Arial"/>
                <a:cs typeface="Arial"/>
              </a:defRPr>
            </a:lvl6pPr>
            <a:lvl7pPr algn="l">
              <a:defRPr sz="2700" b="0">
                <a:solidFill>
                  <a:srgbClr val="17273C"/>
                </a:solidFill>
                <a:latin typeface="Arial"/>
                <a:ea typeface="Arial"/>
                <a:cs typeface="Arial"/>
              </a:defRPr>
            </a:lvl7pPr>
            <a:lvl8pPr algn="l">
              <a:defRPr sz="2700" b="0">
                <a:solidFill>
                  <a:srgbClr val="17273C"/>
                </a:solidFill>
                <a:latin typeface="Arial"/>
                <a:ea typeface="Arial"/>
                <a:cs typeface="Arial"/>
              </a:defRPr>
            </a:lvl8pPr>
            <a:lvl9pPr algn="l">
              <a:defRPr sz="2700" b="0">
                <a:solidFill>
                  <a:srgbClr val="17273C"/>
                </a:solidFill>
                <a:latin typeface="Arial"/>
                <a:ea typeface="Arial"/>
                <a:cs typeface="Arial"/>
              </a:defRPr>
            </a:lvl9pPr>
          </a:lstStyle>
          <a:p xmlns:a="http://schemas.openxmlformats.org/drawingml/2006/main">
            <a:pPr algn="l">
              <a:defRPr sz="2700" b="0">
                <a:solidFill>
                  <a:srgbClr val="17273C"/>
                </a:solidFill>
                <a:latin typeface="Arial"/>
                <a:ea typeface="Arial"/>
                <a:cs typeface="Arial"/>
              </a:defRPr>
            </a:pPr>
            <a:r>
              <a:rPr sz="2700" b="0">
                <a:solidFill>
                  <a:srgbClr val="17273C"/>
                </a:solidFill>
                <a:latin typeface="Arial"/>
                <a:ea typeface="Arial"/>
                <a:cs typeface="Arial"/>
              </a:rPr>
              <a:t>Multiplication binds more tightly</a:t>
            </a:r>
          </a:p>
          <a:p xmlns:a="http://schemas.openxmlformats.org/drawingml/2006/main">
            <a:pPr algn="l">
              <a:defRPr sz="2700" b="0">
                <a:solidFill>
                  <a:srgbClr val="17273C"/>
                </a:solidFill>
                <a:latin typeface="Arial"/>
                <a:ea typeface="Arial"/>
                <a:cs typeface="Arial"/>
              </a:defRPr>
            </a:pPr>
            <a:r>
              <a:rPr sz="2700" b="0">
                <a:solidFill>
                  <a:srgbClr val="17273C"/>
                </a:solidFill>
                <a:latin typeface="Arial"/>
                <a:ea typeface="Arial"/>
                <a:cs typeface="Arial"/>
              </a:rPr>
              <a:t>than addition. Parentheses can</a:t>
            </a:r>
          </a:p>
          <a:p xmlns:a="http://schemas.openxmlformats.org/drawingml/2006/main">
            <a:pPr algn="l">
              <a:defRPr sz="2700" b="0">
                <a:solidFill>
                  <a:srgbClr val="17273C"/>
                </a:solidFill>
                <a:latin typeface="Arial"/>
                <a:ea typeface="Arial"/>
                <a:cs typeface="Arial"/>
              </a:defRPr>
            </a:pPr>
            <a:r>
              <a:rPr sz="2700" b="0">
                <a:solidFill>
                  <a:srgbClr val="17273C"/>
                </a:solidFill>
                <a:latin typeface="Arial"/>
                <a:ea typeface="Arial"/>
                <a:cs typeface="Arial"/>
              </a:rPr>
              <a:t>change the grouping.</a:t>
            </a:r>
          </a:p>
        </p:txBody>
      </p:sp>
      <p:sp>
        <p:nvSpPr>
          <p:cNvPr id="7" name="Binary +">
            <a:extLst xmlns:a="http://schemas.openxmlformats.org/drawingml/2006/main">
              <a:ext uri="{FF2B5EF4-FFF2-40B4-BE49-F238E27FC236}">
                <a16:creationId xmlns:a16="http://schemas.microsoft.com/office/drawing/2014/main" id="{52770A20-00B1-4B9C-9198-C3AB4CE8A27C}"/>
              </a:ext>
            </a:extLst>
          </p:cNvPr>
          <p:cNvSpPr>
            <a:spLocks xmlns:a="http://schemas.openxmlformats.org/drawingml/2006/main" noGrp="1"/>
          </p:cNvSpPr>
          <p:nvPr/>
        </p:nvSpPr>
        <p:spPr>
          <a:xfrm xmlns:a="http://schemas.openxmlformats.org/drawingml/2006/main">
            <a:off x="10287000" y="2667000"/>
            <a:ext cx="2190750" cy="857250"/>
          </a:xfrm>
          <a:prstGeom xmlns:a="http://schemas.openxmlformats.org/drawingml/2006/main" prst="rect">
            <a:avLst/>
          </a:prstGeom>
          <a:solidFill xmlns:a="http://schemas.openxmlformats.org/drawingml/2006/main">
            <a:srgbClr val="DDF2EC"/>
          </a:solidFill>
          <a:ln xmlns:a="http://schemas.openxmlformats.org/drawingml/2006/main" w="16193">
            <a:solidFill>
              <a:srgbClr val="147B70"/>
            </a:solidFill>
          </a:ln>
        </p:spPr>
      </p:sp>
      <p:sp>
        <p:nvSpPr>
          <p:cNvPr id="8" name="Binary +">
            <a:extLst xmlns:a="http://schemas.openxmlformats.org/drawingml/2006/main">
              <a:ext uri="{FF2B5EF4-FFF2-40B4-BE49-F238E27FC236}">
                <a16:creationId xmlns:a16="http://schemas.microsoft.com/office/drawing/2014/main" id="{8724BCB5-0EC4-41E6-87F5-80E4A051584C}"/>
              </a:ext>
            </a:extLst>
          </p:cNvPr>
          <p:cNvSpPr>
            <a:spLocks xmlns:a="http://schemas.openxmlformats.org/drawingml/2006/main" noGrp="1"/>
          </p:cNvSpPr>
          <p:nvPr/>
        </p:nvSpPr>
        <p:spPr>
          <a:xfrm xmlns:a="http://schemas.openxmlformats.org/drawingml/2006/main">
            <a:off x="10477500" y="283845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7273C"/>
                </a:solidFill>
                <a:latin typeface="Arial"/>
                <a:ea typeface="Arial"/>
                <a:cs typeface="Arial"/>
              </a:defRPr>
            </a:defPPr>
            <a:lvl1pPr algn="l">
              <a:defRPr sz="2550" b="1">
                <a:solidFill>
                  <a:srgbClr val="17273C"/>
                </a:solidFill>
                <a:latin typeface="Arial"/>
                <a:ea typeface="Arial"/>
                <a:cs typeface="Arial"/>
              </a:defRPr>
            </a:lvl1pPr>
            <a:lvl2pPr algn="l">
              <a:defRPr sz="2550" b="1">
                <a:solidFill>
                  <a:srgbClr val="17273C"/>
                </a:solidFill>
                <a:latin typeface="Arial"/>
                <a:ea typeface="Arial"/>
                <a:cs typeface="Arial"/>
              </a:defRPr>
            </a:lvl2pPr>
            <a:lvl3pPr algn="l">
              <a:defRPr sz="2550" b="1">
                <a:solidFill>
                  <a:srgbClr val="17273C"/>
                </a:solidFill>
                <a:latin typeface="Arial"/>
                <a:ea typeface="Arial"/>
                <a:cs typeface="Arial"/>
              </a:defRPr>
            </a:lvl3pPr>
            <a:lvl4pPr algn="l">
              <a:defRPr sz="2550" b="1">
                <a:solidFill>
                  <a:srgbClr val="17273C"/>
                </a:solidFill>
                <a:latin typeface="Arial"/>
                <a:ea typeface="Arial"/>
                <a:cs typeface="Arial"/>
              </a:defRPr>
            </a:lvl4pPr>
            <a:lvl5pPr algn="l">
              <a:defRPr sz="2550" b="1">
                <a:solidFill>
                  <a:srgbClr val="17273C"/>
                </a:solidFill>
                <a:latin typeface="Arial"/>
                <a:ea typeface="Arial"/>
                <a:cs typeface="Arial"/>
              </a:defRPr>
            </a:lvl5pPr>
            <a:lvl6pPr algn="l">
              <a:defRPr sz="2550" b="1">
                <a:solidFill>
                  <a:srgbClr val="17273C"/>
                </a:solidFill>
                <a:latin typeface="Arial"/>
                <a:ea typeface="Arial"/>
                <a:cs typeface="Arial"/>
              </a:defRPr>
            </a:lvl6pPr>
            <a:lvl7pPr algn="l">
              <a:defRPr sz="2550" b="1">
                <a:solidFill>
                  <a:srgbClr val="17273C"/>
                </a:solidFill>
                <a:latin typeface="Arial"/>
                <a:ea typeface="Arial"/>
                <a:cs typeface="Arial"/>
              </a:defRPr>
            </a:lvl7pPr>
            <a:lvl8pPr algn="l">
              <a:defRPr sz="2550" b="1">
                <a:solidFill>
                  <a:srgbClr val="17273C"/>
                </a:solidFill>
                <a:latin typeface="Arial"/>
                <a:ea typeface="Arial"/>
                <a:cs typeface="Arial"/>
              </a:defRPr>
            </a:lvl8pPr>
            <a:lvl9pPr algn="l">
              <a:defRPr sz="2550" b="1">
                <a:solidFill>
                  <a:srgbClr val="17273C"/>
                </a:solidFill>
                <a:latin typeface="Arial"/>
                <a:ea typeface="Arial"/>
                <a:cs typeface="Arial"/>
              </a:defRPr>
            </a:lvl9pPr>
          </a:lstStyle>
          <a:p xmlns:a="http://schemas.openxmlformats.org/drawingml/2006/main">
            <a:pPr algn="l">
              <a:defRPr sz="2550" b="1">
                <a:solidFill>
                  <a:srgbClr val="17273C"/>
                </a:solidFill>
                <a:latin typeface="Arial"/>
                <a:ea typeface="Arial"/>
                <a:cs typeface="Arial"/>
              </a:defRPr>
            </a:pPr>
            <a:r>
              <a:rPr sz="2550" b="1">
                <a:solidFill>
                  <a:srgbClr val="17273C"/>
                </a:solidFill>
                <a:latin typeface="Arial"/>
                <a:ea typeface="Arial"/>
                <a:cs typeface="Arial"/>
              </a:rPr>
              <a:t>Binary +</a:t>
            </a:r>
          </a:p>
        </p:txBody>
      </p:sp>
      <p:sp>
        <p:nvSpPr>
          <p:cNvPr id="9" name="Literal 2">
            <a:extLst xmlns:a="http://schemas.openxmlformats.org/drawingml/2006/main">
              <a:ext uri="{FF2B5EF4-FFF2-40B4-BE49-F238E27FC236}">
                <a16:creationId xmlns:a16="http://schemas.microsoft.com/office/drawing/2014/main" id="{5BAE00D7-DB8B-4201-A664-CBDA0E38C911}"/>
              </a:ext>
            </a:extLst>
          </p:cNvPr>
          <p:cNvSpPr>
            <a:spLocks xmlns:a="http://schemas.openxmlformats.org/drawingml/2006/main" noGrp="1"/>
          </p:cNvSpPr>
          <p:nvPr/>
        </p:nvSpPr>
        <p:spPr>
          <a:xfrm xmlns:a="http://schemas.openxmlformats.org/drawingml/2006/main">
            <a:off x="8096250" y="4333875"/>
            <a:ext cx="2047875" cy="85725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0" name="Literal 2">
            <a:extLst xmlns:a="http://schemas.openxmlformats.org/drawingml/2006/main">
              <a:ext uri="{FF2B5EF4-FFF2-40B4-BE49-F238E27FC236}">
                <a16:creationId xmlns:a16="http://schemas.microsoft.com/office/drawing/2014/main" id="{4A98E63C-4E9F-4E13-B37C-BAD4920F250C}"/>
              </a:ext>
            </a:extLst>
          </p:cNvPr>
          <p:cNvSpPr>
            <a:spLocks xmlns:a="http://schemas.openxmlformats.org/drawingml/2006/main" noGrp="1"/>
          </p:cNvSpPr>
          <p:nvPr/>
        </p:nvSpPr>
        <p:spPr>
          <a:xfrm xmlns:a="http://schemas.openxmlformats.org/drawingml/2006/main">
            <a:off x="8286750" y="4505325"/>
            <a:ext cx="1666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Literal 2</a:t>
            </a:r>
          </a:p>
        </p:txBody>
      </p:sp>
      <p:sp>
        <p:nvSpPr>
          <p:cNvPr id="11" name="Binary *">
            <a:extLst xmlns:a="http://schemas.openxmlformats.org/drawingml/2006/main">
              <a:ext uri="{FF2B5EF4-FFF2-40B4-BE49-F238E27FC236}">
                <a16:creationId xmlns:a16="http://schemas.microsoft.com/office/drawing/2014/main" id="{07A5F0E4-9D65-4378-8CCF-50BBC7FFE7E3}"/>
              </a:ext>
            </a:extLst>
          </p:cNvPr>
          <p:cNvSpPr>
            <a:spLocks xmlns:a="http://schemas.openxmlformats.org/drawingml/2006/main" noGrp="1"/>
          </p:cNvSpPr>
          <p:nvPr/>
        </p:nvSpPr>
        <p:spPr>
          <a:xfrm xmlns:a="http://schemas.openxmlformats.org/drawingml/2006/main">
            <a:off x="11811000" y="4333875"/>
            <a:ext cx="2190750" cy="857250"/>
          </a:xfrm>
          <a:prstGeom xmlns:a="http://schemas.openxmlformats.org/drawingml/2006/main" prst="rect">
            <a:avLst/>
          </a:prstGeom>
          <a:solidFill xmlns:a="http://schemas.openxmlformats.org/drawingml/2006/main">
            <a:srgbClr val="DDF2EC"/>
          </a:solidFill>
          <a:ln xmlns:a="http://schemas.openxmlformats.org/drawingml/2006/main" w="16193">
            <a:solidFill>
              <a:srgbClr val="147B70"/>
            </a:solidFill>
          </a:ln>
        </p:spPr>
      </p:sp>
      <p:sp>
        <p:nvSpPr>
          <p:cNvPr id="12" name="Binary *">
            <a:extLst xmlns:a="http://schemas.openxmlformats.org/drawingml/2006/main">
              <a:ext uri="{FF2B5EF4-FFF2-40B4-BE49-F238E27FC236}">
                <a16:creationId xmlns:a16="http://schemas.microsoft.com/office/drawing/2014/main" id="{30A2CD8C-DCC1-43FC-A659-FF401B2232DF}"/>
              </a:ext>
            </a:extLst>
          </p:cNvPr>
          <p:cNvSpPr>
            <a:spLocks xmlns:a="http://schemas.openxmlformats.org/drawingml/2006/main" noGrp="1"/>
          </p:cNvSpPr>
          <p:nvPr/>
        </p:nvSpPr>
        <p:spPr>
          <a:xfrm xmlns:a="http://schemas.openxmlformats.org/drawingml/2006/main">
            <a:off x="12001500" y="45053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7273C"/>
                </a:solidFill>
                <a:latin typeface="Arial"/>
                <a:ea typeface="Arial"/>
                <a:cs typeface="Arial"/>
              </a:defRPr>
            </a:defPPr>
            <a:lvl1pPr algn="l">
              <a:defRPr sz="2550" b="1">
                <a:solidFill>
                  <a:srgbClr val="17273C"/>
                </a:solidFill>
                <a:latin typeface="Arial"/>
                <a:ea typeface="Arial"/>
                <a:cs typeface="Arial"/>
              </a:defRPr>
            </a:lvl1pPr>
            <a:lvl2pPr algn="l">
              <a:defRPr sz="2550" b="1">
                <a:solidFill>
                  <a:srgbClr val="17273C"/>
                </a:solidFill>
                <a:latin typeface="Arial"/>
                <a:ea typeface="Arial"/>
                <a:cs typeface="Arial"/>
              </a:defRPr>
            </a:lvl2pPr>
            <a:lvl3pPr algn="l">
              <a:defRPr sz="2550" b="1">
                <a:solidFill>
                  <a:srgbClr val="17273C"/>
                </a:solidFill>
                <a:latin typeface="Arial"/>
                <a:ea typeface="Arial"/>
                <a:cs typeface="Arial"/>
              </a:defRPr>
            </a:lvl3pPr>
            <a:lvl4pPr algn="l">
              <a:defRPr sz="2550" b="1">
                <a:solidFill>
                  <a:srgbClr val="17273C"/>
                </a:solidFill>
                <a:latin typeface="Arial"/>
                <a:ea typeface="Arial"/>
                <a:cs typeface="Arial"/>
              </a:defRPr>
            </a:lvl4pPr>
            <a:lvl5pPr algn="l">
              <a:defRPr sz="2550" b="1">
                <a:solidFill>
                  <a:srgbClr val="17273C"/>
                </a:solidFill>
                <a:latin typeface="Arial"/>
                <a:ea typeface="Arial"/>
                <a:cs typeface="Arial"/>
              </a:defRPr>
            </a:lvl5pPr>
            <a:lvl6pPr algn="l">
              <a:defRPr sz="2550" b="1">
                <a:solidFill>
                  <a:srgbClr val="17273C"/>
                </a:solidFill>
                <a:latin typeface="Arial"/>
                <a:ea typeface="Arial"/>
                <a:cs typeface="Arial"/>
              </a:defRPr>
            </a:lvl6pPr>
            <a:lvl7pPr algn="l">
              <a:defRPr sz="2550" b="1">
                <a:solidFill>
                  <a:srgbClr val="17273C"/>
                </a:solidFill>
                <a:latin typeface="Arial"/>
                <a:ea typeface="Arial"/>
                <a:cs typeface="Arial"/>
              </a:defRPr>
            </a:lvl7pPr>
            <a:lvl8pPr algn="l">
              <a:defRPr sz="2550" b="1">
                <a:solidFill>
                  <a:srgbClr val="17273C"/>
                </a:solidFill>
                <a:latin typeface="Arial"/>
                <a:ea typeface="Arial"/>
                <a:cs typeface="Arial"/>
              </a:defRPr>
            </a:lvl8pPr>
            <a:lvl9pPr algn="l">
              <a:defRPr sz="2550" b="1">
                <a:solidFill>
                  <a:srgbClr val="17273C"/>
                </a:solidFill>
                <a:latin typeface="Arial"/>
                <a:ea typeface="Arial"/>
                <a:cs typeface="Arial"/>
              </a:defRPr>
            </a:lvl9pPr>
          </a:lstStyle>
          <a:p xmlns:a="http://schemas.openxmlformats.org/drawingml/2006/main">
            <a:pPr algn="l">
              <a:defRPr sz="2550" b="1">
                <a:solidFill>
                  <a:srgbClr val="17273C"/>
                </a:solidFill>
                <a:latin typeface="Arial"/>
                <a:ea typeface="Arial"/>
                <a:cs typeface="Arial"/>
              </a:defRPr>
            </a:pPr>
            <a:r>
              <a:rPr sz="2550" b="1">
                <a:solidFill>
                  <a:srgbClr val="17273C"/>
                </a:solidFill>
                <a:latin typeface="Arial"/>
                <a:ea typeface="Arial"/>
                <a:cs typeface="Arial"/>
              </a:rPr>
              <a:t>Binary *</a:t>
            </a:r>
          </a:p>
        </p:txBody>
      </p:sp>
      <p:sp>
        <p:nvSpPr>
          <p:cNvPr id="13" name="Literal 3">
            <a:extLst xmlns:a="http://schemas.openxmlformats.org/drawingml/2006/main">
              <a:ext uri="{FF2B5EF4-FFF2-40B4-BE49-F238E27FC236}">
                <a16:creationId xmlns:a16="http://schemas.microsoft.com/office/drawing/2014/main" id="{037F2F32-B9AB-467B-9E84-26B46FF6E535}"/>
              </a:ext>
            </a:extLst>
          </p:cNvPr>
          <p:cNvSpPr>
            <a:spLocks xmlns:a="http://schemas.openxmlformats.org/drawingml/2006/main" noGrp="1"/>
          </p:cNvSpPr>
          <p:nvPr/>
        </p:nvSpPr>
        <p:spPr>
          <a:xfrm xmlns:a="http://schemas.openxmlformats.org/drawingml/2006/main">
            <a:off x="10477500" y="6143625"/>
            <a:ext cx="2000250" cy="85725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4" name="Literal 3">
            <a:extLst xmlns:a="http://schemas.openxmlformats.org/drawingml/2006/main">
              <a:ext uri="{FF2B5EF4-FFF2-40B4-BE49-F238E27FC236}">
                <a16:creationId xmlns:a16="http://schemas.microsoft.com/office/drawing/2014/main" id="{0A4896C9-BB0B-4632-B2DD-34336BF8C52C}"/>
              </a:ext>
            </a:extLst>
          </p:cNvPr>
          <p:cNvSpPr>
            <a:spLocks xmlns:a="http://schemas.openxmlformats.org/drawingml/2006/main" noGrp="1"/>
          </p:cNvSpPr>
          <p:nvPr/>
        </p:nvSpPr>
        <p:spPr>
          <a:xfrm xmlns:a="http://schemas.openxmlformats.org/drawingml/2006/main">
            <a:off x="10668000" y="6315075"/>
            <a:ext cx="161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73C"/>
                </a:solidFill>
                <a:latin typeface="Arial"/>
                <a:ea typeface="Arial"/>
                <a:cs typeface="Arial"/>
              </a:defRPr>
            </a:defPPr>
            <a:lvl1pPr algn="l">
              <a:defRPr sz="2250" b="1">
                <a:solidFill>
                  <a:srgbClr val="17273C"/>
                </a:solidFill>
                <a:latin typeface="Arial"/>
                <a:ea typeface="Arial"/>
                <a:cs typeface="Arial"/>
              </a:defRPr>
            </a:lvl1pPr>
            <a:lvl2pPr algn="l">
              <a:defRPr sz="2250" b="1">
                <a:solidFill>
                  <a:srgbClr val="17273C"/>
                </a:solidFill>
                <a:latin typeface="Arial"/>
                <a:ea typeface="Arial"/>
                <a:cs typeface="Arial"/>
              </a:defRPr>
            </a:lvl2pPr>
            <a:lvl3pPr algn="l">
              <a:defRPr sz="2250" b="1">
                <a:solidFill>
                  <a:srgbClr val="17273C"/>
                </a:solidFill>
                <a:latin typeface="Arial"/>
                <a:ea typeface="Arial"/>
                <a:cs typeface="Arial"/>
              </a:defRPr>
            </a:lvl3pPr>
            <a:lvl4pPr algn="l">
              <a:defRPr sz="2250" b="1">
                <a:solidFill>
                  <a:srgbClr val="17273C"/>
                </a:solidFill>
                <a:latin typeface="Arial"/>
                <a:ea typeface="Arial"/>
                <a:cs typeface="Arial"/>
              </a:defRPr>
            </a:lvl4pPr>
            <a:lvl5pPr algn="l">
              <a:defRPr sz="2250" b="1">
                <a:solidFill>
                  <a:srgbClr val="17273C"/>
                </a:solidFill>
                <a:latin typeface="Arial"/>
                <a:ea typeface="Arial"/>
                <a:cs typeface="Arial"/>
              </a:defRPr>
            </a:lvl5pPr>
            <a:lvl6pPr algn="l">
              <a:defRPr sz="2250" b="1">
                <a:solidFill>
                  <a:srgbClr val="17273C"/>
                </a:solidFill>
                <a:latin typeface="Arial"/>
                <a:ea typeface="Arial"/>
                <a:cs typeface="Arial"/>
              </a:defRPr>
            </a:lvl6pPr>
            <a:lvl7pPr algn="l">
              <a:defRPr sz="2250" b="1">
                <a:solidFill>
                  <a:srgbClr val="17273C"/>
                </a:solidFill>
                <a:latin typeface="Arial"/>
                <a:ea typeface="Arial"/>
                <a:cs typeface="Arial"/>
              </a:defRPr>
            </a:lvl7pPr>
            <a:lvl8pPr algn="l">
              <a:defRPr sz="2250" b="1">
                <a:solidFill>
                  <a:srgbClr val="17273C"/>
                </a:solidFill>
                <a:latin typeface="Arial"/>
                <a:ea typeface="Arial"/>
                <a:cs typeface="Arial"/>
              </a:defRPr>
            </a:lvl8pPr>
            <a:lvl9pPr algn="l">
              <a:defRPr sz="2250" b="1">
                <a:solidFill>
                  <a:srgbClr val="17273C"/>
                </a:solidFill>
                <a:latin typeface="Arial"/>
                <a:ea typeface="Arial"/>
                <a:cs typeface="Arial"/>
              </a:defRPr>
            </a:lvl9pPr>
          </a:lstStyle>
          <a:p xmlns:a="http://schemas.openxmlformats.org/drawingml/2006/main">
            <a:pPr algn="l">
              <a:defRPr sz="2250" b="1">
                <a:solidFill>
                  <a:srgbClr val="17273C"/>
                </a:solidFill>
                <a:latin typeface="Arial"/>
                <a:ea typeface="Arial"/>
                <a:cs typeface="Arial"/>
              </a:defRPr>
            </a:pPr>
            <a:r>
              <a:rPr sz="2250" b="1">
                <a:solidFill>
                  <a:srgbClr val="17273C"/>
                </a:solidFill>
                <a:latin typeface="Arial"/>
                <a:ea typeface="Arial"/>
                <a:cs typeface="Arial"/>
              </a:rPr>
              <a:t>Literal 3</a:t>
            </a:r>
          </a:p>
        </p:txBody>
      </p:sp>
      <p:sp>
        <p:nvSpPr>
          <p:cNvPr id="15" name="Literal 4">
            <a:extLst xmlns:a="http://schemas.openxmlformats.org/drawingml/2006/main">
              <a:ext uri="{FF2B5EF4-FFF2-40B4-BE49-F238E27FC236}">
                <a16:creationId xmlns:a16="http://schemas.microsoft.com/office/drawing/2014/main" id="{DE0EA170-335B-48DF-9D9B-4E8F5077AAB1}"/>
              </a:ext>
            </a:extLst>
          </p:cNvPr>
          <p:cNvSpPr>
            <a:spLocks xmlns:a="http://schemas.openxmlformats.org/drawingml/2006/main" noGrp="1"/>
          </p:cNvSpPr>
          <p:nvPr/>
        </p:nvSpPr>
        <p:spPr>
          <a:xfrm xmlns:a="http://schemas.openxmlformats.org/drawingml/2006/main">
            <a:off x="12954000" y="6143625"/>
            <a:ext cx="2000250" cy="85725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6" name="Literal 4">
            <a:extLst xmlns:a="http://schemas.openxmlformats.org/drawingml/2006/main">
              <a:ext uri="{FF2B5EF4-FFF2-40B4-BE49-F238E27FC236}">
                <a16:creationId xmlns:a16="http://schemas.microsoft.com/office/drawing/2014/main" id="{5D85F8DE-851F-4108-838F-D457C5F07570}"/>
              </a:ext>
            </a:extLst>
          </p:cNvPr>
          <p:cNvSpPr>
            <a:spLocks xmlns:a="http://schemas.openxmlformats.org/drawingml/2006/main" noGrp="1"/>
          </p:cNvSpPr>
          <p:nvPr/>
        </p:nvSpPr>
        <p:spPr>
          <a:xfrm xmlns:a="http://schemas.openxmlformats.org/drawingml/2006/main">
            <a:off x="13144500" y="6315075"/>
            <a:ext cx="161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73C"/>
                </a:solidFill>
                <a:latin typeface="Arial"/>
                <a:ea typeface="Arial"/>
                <a:cs typeface="Arial"/>
              </a:defRPr>
            </a:defPPr>
            <a:lvl1pPr algn="l">
              <a:defRPr sz="2250" b="1">
                <a:solidFill>
                  <a:srgbClr val="17273C"/>
                </a:solidFill>
                <a:latin typeface="Arial"/>
                <a:ea typeface="Arial"/>
                <a:cs typeface="Arial"/>
              </a:defRPr>
            </a:lvl1pPr>
            <a:lvl2pPr algn="l">
              <a:defRPr sz="2250" b="1">
                <a:solidFill>
                  <a:srgbClr val="17273C"/>
                </a:solidFill>
                <a:latin typeface="Arial"/>
                <a:ea typeface="Arial"/>
                <a:cs typeface="Arial"/>
              </a:defRPr>
            </a:lvl2pPr>
            <a:lvl3pPr algn="l">
              <a:defRPr sz="2250" b="1">
                <a:solidFill>
                  <a:srgbClr val="17273C"/>
                </a:solidFill>
                <a:latin typeface="Arial"/>
                <a:ea typeface="Arial"/>
                <a:cs typeface="Arial"/>
              </a:defRPr>
            </a:lvl3pPr>
            <a:lvl4pPr algn="l">
              <a:defRPr sz="2250" b="1">
                <a:solidFill>
                  <a:srgbClr val="17273C"/>
                </a:solidFill>
                <a:latin typeface="Arial"/>
                <a:ea typeface="Arial"/>
                <a:cs typeface="Arial"/>
              </a:defRPr>
            </a:lvl4pPr>
            <a:lvl5pPr algn="l">
              <a:defRPr sz="2250" b="1">
                <a:solidFill>
                  <a:srgbClr val="17273C"/>
                </a:solidFill>
                <a:latin typeface="Arial"/>
                <a:ea typeface="Arial"/>
                <a:cs typeface="Arial"/>
              </a:defRPr>
            </a:lvl5pPr>
            <a:lvl6pPr algn="l">
              <a:defRPr sz="2250" b="1">
                <a:solidFill>
                  <a:srgbClr val="17273C"/>
                </a:solidFill>
                <a:latin typeface="Arial"/>
                <a:ea typeface="Arial"/>
                <a:cs typeface="Arial"/>
              </a:defRPr>
            </a:lvl6pPr>
            <a:lvl7pPr algn="l">
              <a:defRPr sz="2250" b="1">
                <a:solidFill>
                  <a:srgbClr val="17273C"/>
                </a:solidFill>
                <a:latin typeface="Arial"/>
                <a:ea typeface="Arial"/>
                <a:cs typeface="Arial"/>
              </a:defRPr>
            </a:lvl7pPr>
            <a:lvl8pPr algn="l">
              <a:defRPr sz="2250" b="1">
                <a:solidFill>
                  <a:srgbClr val="17273C"/>
                </a:solidFill>
                <a:latin typeface="Arial"/>
                <a:ea typeface="Arial"/>
                <a:cs typeface="Arial"/>
              </a:defRPr>
            </a:lvl8pPr>
            <a:lvl9pPr algn="l">
              <a:defRPr sz="2250" b="1">
                <a:solidFill>
                  <a:srgbClr val="17273C"/>
                </a:solidFill>
                <a:latin typeface="Arial"/>
                <a:ea typeface="Arial"/>
                <a:cs typeface="Arial"/>
              </a:defRPr>
            </a:lvl9pPr>
          </a:lstStyle>
          <a:p xmlns:a="http://schemas.openxmlformats.org/drawingml/2006/main">
            <a:pPr algn="l">
              <a:defRPr sz="2250" b="1">
                <a:solidFill>
                  <a:srgbClr val="17273C"/>
                </a:solidFill>
                <a:latin typeface="Arial"/>
                <a:ea typeface="Arial"/>
                <a:cs typeface="Arial"/>
              </a:defRPr>
            </a:pPr>
            <a:r>
              <a:rPr sz="2250" b="1">
                <a:solidFill>
                  <a:srgbClr val="17273C"/>
                </a:solidFill>
                <a:latin typeface="Arial"/>
                <a:ea typeface="Arial"/>
                <a:cs typeface="Arial"/>
              </a:rPr>
              <a:t>Literal 4</a:t>
            </a:r>
          </a:p>
        </p:txBody>
      </p:sp>
      <p:sp>
        <p:nvSpPr>
          <p:cNvPr id="21" name="Expression subtree shown. This program prints 14.">
            <a:extLst xmlns:a="http://schemas.openxmlformats.org/drawingml/2006/main">
              <a:ext uri="{FF2B5EF4-FFF2-40B4-BE49-F238E27FC236}">
                <a16:creationId xmlns:a16="http://schemas.microsoft.com/office/drawing/2014/main" id="{432F09C3-8231-47BE-A911-5426347F6BB0}"/>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Expression subtree shown. This program prints 14.</a:t>
            </a:r>
          </a:p>
        </p:txBody>
      </p:sp>
    </p:spTree>
    <p:extLst>
      <p:ext uri="{BB962C8B-B14F-4D97-AF65-F5344CB8AC3E}">
        <p14:creationId xmlns:p14="http://schemas.microsoft.com/office/powerpoint/2010/main" val="1518136213"/>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1F9739C0-2EF6-447F-B195-8EE6F2E1CABF}"/>
              </a:ext>
            </a:extLst>
          </p:cNvPr>
          <p:cNvCxnSpPr>
            <a:stCxn xmlns:a="http://schemas.openxmlformats.org/drawingml/2006/main" id="4" idx="3"/>
            <a:endCxn xmlns:a="http://schemas.openxmlformats.org/drawingml/2006/main" id="5" idx="1"/>
          </p:cNvCxnSpPr>
          <p:nvPr/>
        </p:nvCxnSpPr>
        <p:spPr>
          <a:xfrm xmlns:a="http://schemas.openxmlformats.org/drawingml/2006/main">
            <a:off x="8020050" y="4572000"/>
            <a:ext cx="1600200" cy="0"/>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sp>
        <p:nvSpPr>
          <p:cNvPr id="11" name="AST normalization">
            <a:extLst xmlns:a="http://schemas.openxmlformats.org/drawingml/2006/main">
              <a:ext uri="{FF2B5EF4-FFF2-40B4-BE49-F238E27FC236}">
                <a16:creationId xmlns:a16="http://schemas.microsoft.com/office/drawing/2014/main" id="{C25DACF4-1A73-4021-83F0-A0846C01C59E}"/>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AST normalization</a:t>
            </a:r>
          </a:p>
        </p:txBody>
      </p:sp>
      <p:sp>
        <p:nvSpPr>
          <p:cNvPr id="2" name="Equivalent output spellings become the same semantic no">
            <a:extLst xmlns:a="http://schemas.openxmlformats.org/drawingml/2006/main">
              <a:ext uri="{FF2B5EF4-FFF2-40B4-BE49-F238E27FC236}">
                <a16:creationId xmlns:a16="http://schemas.microsoft.com/office/drawing/2014/main" id="{9E5572AA-ACE6-45BC-B455-400346D2E1D0}"/>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Equivalent output spellings become the same semantic node</a:t>
            </a:r>
          </a:p>
        </p:txBody>
      </p:sp>
      <p:sp>
        <p:nvSpPr>
          <p:cNvPr id="3" name="10">
            <a:extLst xmlns:a="http://schemas.openxmlformats.org/drawingml/2006/main">
              <a:ext uri="{FF2B5EF4-FFF2-40B4-BE49-F238E27FC236}">
                <a16:creationId xmlns:a16="http://schemas.microsoft.com/office/drawing/2014/main" id="{C712AFCD-A2E3-415E-8D42-B4B76203363B}"/>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10</a:t>
            </a:r>
          </a:p>
        </p:txBody>
      </p:sp>
      <p:sp>
        <p:nvSpPr>
          <p:cNvPr id="4" name="print(value)&#10;&#10;console.log(value);&#10;&#10;System.out.println(v">
            <a:extLst xmlns:a="http://schemas.openxmlformats.org/drawingml/2006/main">
              <a:ext uri="{FF2B5EF4-FFF2-40B4-BE49-F238E27FC236}">
                <a16:creationId xmlns:a16="http://schemas.microsoft.com/office/drawing/2014/main" id="{AF15A3AD-B2A6-44A9-8851-AD94FA92B0B5}"/>
              </a:ext>
            </a:extLst>
          </p:cNvPr>
          <p:cNvSpPr>
            <a:spLocks xmlns:a="http://schemas.openxmlformats.org/drawingml/2006/main" noGrp="1"/>
          </p:cNvSpPr>
          <p:nvPr/>
        </p:nvSpPr>
        <p:spPr>
          <a:xfrm xmlns:a="http://schemas.openxmlformats.org/drawingml/2006/main">
            <a:off x="781050" y="2762250"/>
            <a:ext cx="7239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62237"/>
                </a:solidFill>
                <a:latin typeface="Courier New"/>
                <a:ea typeface="Courier New"/>
                <a:cs typeface="Courier New"/>
              </a:defRPr>
            </a:defPPr>
            <a:lvl1pPr algn="l">
              <a:defRPr sz="2550" b="0">
                <a:solidFill>
                  <a:srgbClr val="162237"/>
                </a:solidFill>
                <a:latin typeface="Courier New"/>
                <a:ea typeface="Courier New"/>
                <a:cs typeface="Courier New"/>
              </a:defRPr>
            </a:lvl1pPr>
            <a:lvl2pPr algn="l">
              <a:defRPr sz="2550" b="0">
                <a:solidFill>
                  <a:srgbClr val="162237"/>
                </a:solidFill>
                <a:latin typeface="Courier New"/>
                <a:ea typeface="Courier New"/>
                <a:cs typeface="Courier New"/>
              </a:defRPr>
            </a:lvl2pPr>
            <a:lvl3pPr algn="l">
              <a:defRPr sz="2550" b="0">
                <a:solidFill>
                  <a:srgbClr val="162237"/>
                </a:solidFill>
                <a:latin typeface="Courier New"/>
                <a:ea typeface="Courier New"/>
                <a:cs typeface="Courier New"/>
              </a:defRPr>
            </a:lvl3pPr>
            <a:lvl4pPr algn="l">
              <a:defRPr sz="2550" b="0">
                <a:solidFill>
                  <a:srgbClr val="162237"/>
                </a:solidFill>
                <a:latin typeface="Courier New"/>
                <a:ea typeface="Courier New"/>
                <a:cs typeface="Courier New"/>
              </a:defRPr>
            </a:lvl4pPr>
            <a:lvl5pPr algn="l">
              <a:defRPr sz="2550" b="0">
                <a:solidFill>
                  <a:srgbClr val="162237"/>
                </a:solidFill>
                <a:latin typeface="Courier New"/>
                <a:ea typeface="Courier New"/>
                <a:cs typeface="Courier New"/>
              </a:defRPr>
            </a:lvl5pPr>
            <a:lvl6pPr algn="l">
              <a:defRPr sz="2550" b="0">
                <a:solidFill>
                  <a:srgbClr val="162237"/>
                </a:solidFill>
                <a:latin typeface="Courier New"/>
                <a:ea typeface="Courier New"/>
                <a:cs typeface="Courier New"/>
              </a:defRPr>
            </a:lvl6pPr>
            <a:lvl7pPr algn="l">
              <a:defRPr sz="2550" b="0">
                <a:solidFill>
                  <a:srgbClr val="162237"/>
                </a:solidFill>
                <a:latin typeface="Courier New"/>
                <a:ea typeface="Courier New"/>
                <a:cs typeface="Courier New"/>
              </a:defRPr>
            </a:lvl7pPr>
            <a:lvl8pPr algn="l">
              <a:defRPr sz="2550" b="0">
                <a:solidFill>
                  <a:srgbClr val="162237"/>
                </a:solidFill>
                <a:latin typeface="Courier New"/>
                <a:ea typeface="Courier New"/>
                <a:cs typeface="Courier New"/>
              </a:defRPr>
            </a:lvl8pPr>
            <a:lvl9pPr algn="l">
              <a:defRPr sz="2550" b="0">
                <a:solidFill>
                  <a:srgbClr val="162237"/>
                </a:solidFill>
                <a:latin typeface="Courier New"/>
                <a:ea typeface="Courier New"/>
                <a:cs typeface="Courier New"/>
              </a:defRPr>
            </a:lvl9pPr>
          </a:lstStyle>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print(value)</a:t>
            </a:r>
          </a:p>
          <a:p xmlns:a="http://schemas.openxmlformats.org/drawingml/2006/main">
            <a:r>
              <a:t/>
            </a:r>
          </a:p>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console.log(value);</a:t>
            </a:r>
          </a:p>
          <a:p xmlns:a="http://schemas.openxmlformats.org/drawingml/2006/main">
            <a:r>
              <a:t/>
            </a:r>
          </a:p>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System.out.println(value);</a:t>
            </a:r>
          </a:p>
          <a:p xmlns:a="http://schemas.openxmlformats.org/drawingml/2006/main">
            <a:r>
              <a:t/>
            </a:r>
          </a:p>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PRINT value</a:t>
            </a:r>
          </a:p>
        </p:txBody>
      </p:sp>
      <p:sp>
        <p:nvSpPr>
          <p:cNvPr id="5" name="Output">
            <a:extLst xmlns:a="http://schemas.openxmlformats.org/drawingml/2006/main">
              <a:ext uri="{FF2B5EF4-FFF2-40B4-BE49-F238E27FC236}">
                <a16:creationId xmlns:a16="http://schemas.microsoft.com/office/drawing/2014/main" id="{527E15D2-6EC7-4EDB-A989-E236954430EF}"/>
              </a:ext>
            </a:extLst>
          </p:cNvPr>
          <p:cNvSpPr>
            <a:spLocks xmlns:a="http://schemas.openxmlformats.org/drawingml/2006/main" noGrp="1"/>
          </p:cNvSpPr>
          <p:nvPr/>
        </p:nvSpPr>
        <p:spPr>
          <a:xfrm xmlns:a="http://schemas.openxmlformats.org/drawingml/2006/main">
            <a:off x="9620250" y="3524250"/>
            <a:ext cx="4476750" cy="2095500"/>
          </a:xfrm>
          <a:prstGeom xmlns:a="http://schemas.openxmlformats.org/drawingml/2006/main" prst="rect">
            <a:avLst/>
          </a:prstGeom>
          <a:solidFill xmlns:a="http://schemas.openxmlformats.org/drawingml/2006/main">
            <a:srgbClr val="DDF2EC"/>
          </a:solidFill>
          <a:ln xmlns:a="http://schemas.openxmlformats.org/drawingml/2006/main" w="16193">
            <a:solidFill>
              <a:srgbClr val="147B70"/>
            </a:solidFill>
          </a:ln>
        </p:spPr>
      </p:sp>
      <p:sp>
        <p:nvSpPr>
          <p:cNvPr id="6" name="Output">
            <a:extLst xmlns:a="http://schemas.openxmlformats.org/drawingml/2006/main">
              <a:ext uri="{FF2B5EF4-FFF2-40B4-BE49-F238E27FC236}">
                <a16:creationId xmlns:a16="http://schemas.microsoft.com/office/drawing/2014/main" id="{0CDCB9D1-418F-4C97-981F-E1CE16134067}"/>
              </a:ext>
            </a:extLst>
          </p:cNvPr>
          <p:cNvSpPr>
            <a:spLocks xmlns:a="http://schemas.openxmlformats.org/drawingml/2006/main" noGrp="1"/>
          </p:cNvSpPr>
          <p:nvPr/>
        </p:nvSpPr>
        <p:spPr>
          <a:xfrm xmlns:a="http://schemas.openxmlformats.org/drawingml/2006/main">
            <a:off x="9810750" y="3695700"/>
            <a:ext cx="4095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73C"/>
                </a:solidFill>
                <a:latin typeface="Arial"/>
                <a:ea typeface="Arial"/>
                <a:cs typeface="Arial"/>
              </a:defRPr>
            </a:defPPr>
            <a:lvl1pPr algn="l">
              <a:defRPr sz="3150" b="1">
                <a:solidFill>
                  <a:srgbClr val="17273C"/>
                </a:solidFill>
                <a:latin typeface="Arial"/>
                <a:ea typeface="Arial"/>
                <a:cs typeface="Arial"/>
              </a:defRPr>
            </a:lvl1pPr>
            <a:lvl2pPr algn="l">
              <a:defRPr sz="3150" b="1">
                <a:solidFill>
                  <a:srgbClr val="17273C"/>
                </a:solidFill>
                <a:latin typeface="Arial"/>
                <a:ea typeface="Arial"/>
                <a:cs typeface="Arial"/>
              </a:defRPr>
            </a:lvl2pPr>
            <a:lvl3pPr algn="l">
              <a:defRPr sz="3150" b="1">
                <a:solidFill>
                  <a:srgbClr val="17273C"/>
                </a:solidFill>
                <a:latin typeface="Arial"/>
                <a:ea typeface="Arial"/>
                <a:cs typeface="Arial"/>
              </a:defRPr>
            </a:lvl3pPr>
            <a:lvl4pPr algn="l">
              <a:defRPr sz="3150" b="1">
                <a:solidFill>
                  <a:srgbClr val="17273C"/>
                </a:solidFill>
                <a:latin typeface="Arial"/>
                <a:ea typeface="Arial"/>
                <a:cs typeface="Arial"/>
              </a:defRPr>
            </a:lvl4pPr>
            <a:lvl5pPr algn="l">
              <a:defRPr sz="3150" b="1">
                <a:solidFill>
                  <a:srgbClr val="17273C"/>
                </a:solidFill>
                <a:latin typeface="Arial"/>
                <a:ea typeface="Arial"/>
                <a:cs typeface="Arial"/>
              </a:defRPr>
            </a:lvl5pPr>
            <a:lvl6pPr algn="l">
              <a:defRPr sz="3150" b="1">
                <a:solidFill>
                  <a:srgbClr val="17273C"/>
                </a:solidFill>
                <a:latin typeface="Arial"/>
                <a:ea typeface="Arial"/>
                <a:cs typeface="Arial"/>
              </a:defRPr>
            </a:lvl6pPr>
            <a:lvl7pPr algn="l">
              <a:defRPr sz="3150" b="1">
                <a:solidFill>
                  <a:srgbClr val="17273C"/>
                </a:solidFill>
                <a:latin typeface="Arial"/>
                <a:ea typeface="Arial"/>
                <a:cs typeface="Arial"/>
              </a:defRPr>
            </a:lvl7pPr>
            <a:lvl8pPr algn="l">
              <a:defRPr sz="3150" b="1">
                <a:solidFill>
                  <a:srgbClr val="17273C"/>
                </a:solidFill>
                <a:latin typeface="Arial"/>
                <a:ea typeface="Arial"/>
                <a:cs typeface="Arial"/>
              </a:defRPr>
            </a:lvl8pPr>
            <a:lvl9pPr algn="l">
              <a:defRPr sz="3150" b="1">
                <a:solidFill>
                  <a:srgbClr val="17273C"/>
                </a:solidFill>
                <a:latin typeface="Arial"/>
                <a:ea typeface="Arial"/>
                <a:cs typeface="Arial"/>
              </a:defRPr>
            </a:lvl9pPr>
          </a:lstStyle>
          <a:p xmlns:a="http://schemas.openxmlformats.org/drawingml/2006/main">
            <a:pPr algn="l">
              <a:defRPr sz="3150" b="1">
                <a:solidFill>
                  <a:srgbClr val="17273C"/>
                </a:solidFill>
                <a:latin typeface="Arial"/>
                <a:ea typeface="Arial"/>
                <a:cs typeface="Arial"/>
              </a:defRPr>
            </a:pPr>
            <a:r>
              <a:rPr sz="3150" b="1">
                <a:solidFill>
                  <a:srgbClr val="17273C"/>
                </a:solidFill>
                <a:latin typeface="Arial"/>
                <a:ea typeface="Arial"/>
                <a:cs typeface="Arial"/>
              </a:rPr>
              <a:t>Output</a:t>
            </a:r>
          </a:p>
        </p:txBody>
      </p:sp>
      <p:sp>
        <p:nvSpPr>
          <p:cNvPr id="7" name="args: [Name(&quot;value&quot;)]&#10;ending: newline">
            <a:extLst xmlns:a="http://schemas.openxmlformats.org/drawingml/2006/main">
              <a:ext uri="{FF2B5EF4-FFF2-40B4-BE49-F238E27FC236}">
                <a16:creationId xmlns:a16="http://schemas.microsoft.com/office/drawing/2014/main" id="{4BDB96E0-32F7-47D6-9D7B-228F9FD0981F}"/>
              </a:ext>
            </a:extLst>
          </p:cNvPr>
          <p:cNvSpPr>
            <a:spLocks xmlns:a="http://schemas.openxmlformats.org/drawingml/2006/main" noGrp="1"/>
          </p:cNvSpPr>
          <p:nvPr/>
        </p:nvSpPr>
        <p:spPr>
          <a:xfrm xmlns:a="http://schemas.openxmlformats.org/drawingml/2006/main">
            <a:off x="9810750" y="4248150"/>
            <a:ext cx="4095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args: [Name("value")]</a:t>
            </a:r>
          </a:p>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ending: newline</a:t>
            </a:r>
          </a:p>
        </p:txBody>
      </p:sp>
      <p:sp>
        <p:nvSpPr>
          <p:cNvPr id="9" name="One AST node kind">
            <a:extLst xmlns:a="http://schemas.openxmlformats.org/drawingml/2006/main">
              <a:ext uri="{FF2B5EF4-FFF2-40B4-BE49-F238E27FC236}">
                <a16:creationId xmlns:a16="http://schemas.microsoft.com/office/drawing/2014/main" id="{288F71D0-6B39-46E5-A644-7CCA5C106757}"/>
              </a:ext>
            </a:extLst>
          </p:cNvPr>
          <p:cNvSpPr>
            <a:spLocks xmlns:a="http://schemas.openxmlformats.org/drawingml/2006/main" noGrp="1"/>
          </p:cNvSpPr>
          <p:nvPr/>
        </p:nvSpPr>
        <p:spPr>
          <a:xfrm xmlns:a="http://schemas.openxmlformats.org/drawingml/2006/main">
            <a:off x="9620250" y="62865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7B70"/>
                </a:solidFill>
                <a:latin typeface="Arial"/>
                <a:ea typeface="Arial"/>
                <a:cs typeface="Arial"/>
              </a:defRPr>
            </a:defPPr>
            <a:lvl1pPr algn="l">
              <a:defRPr sz="2550" b="1">
                <a:solidFill>
                  <a:srgbClr val="147B70"/>
                </a:solidFill>
                <a:latin typeface="Arial"/>
                <a:ea typeface="Arial"/>
                <a:cs typeface="Arial"/>
              </a:defRPr>
            </a:lvl1pPr>
            <a:lvl2pPr algn="l">
              <a:defRPr sz="2550" b="1">
                <a:solidFill>
                  <a:srgbClr val="147B70"/>
                </a:solidFill>
                <a:latin typeface="Arial"/>
                <a:ea typeface="Arial"/>
                <a:cs typeface="Arial"/>
              </a:defRPr>
            </a:lvl2pPr>
            <a:lvl3pPr algn="l">
              <a:defRPr sz="2550" b="1">
                <a:solidFill>
                  <a:srgbClr val="147B70"/>
                </a:solidFill>
                <a:latin typeface="Arial"/>
                <a:ea typeface="Arial"/>
                <a:cs typeface="Arial"/>
              </a:defRPr>
            </a:lvl3pPr>
            <a:lvl4pPr algn="l">
              <a:defRPr sz="2550" b="1">
                <a:solidFill>
                  <a:srgbClr val="147B70"/>
                </a:solidFill>
                <a:latin typeface="Arial"/>
                <a:ea typeface="Arial"/>
                <a:cs typeface="Arial"/>
              </a:defRPr>
            </a:lvl4pPr>
            <a:lvl5pPr algn="l">
              <a:defRPr sz="2550" b="1">
                <a:solidFill>
                  <a:srgbClr val="147B70"/>
                </a:solidFill>
                <a:latin typeface="Arial"/>
                <a:ea typeface="Arial"/>
                <a:cs typeface="Arial"/>
              </a:defRPr>
            </a:lvl5pPr>
            <a:lvl6pPr algn="l">
              <a:defRPr sz="2550" b="1">
                <a:solidFill>
                  <a:srgbClr val="147B70"/>
                </a:solidFill>
                <a:latin typeface="Arial"/>
                <a:ea typeface="Arial"/>
                <a:cs typeface="Arial"/>
              </a:defRPr>
            </a:lvl6pPr>
            <a:lvl7pPr algn="l">
              <a:defRPr sz="2550" b="1">
                <a:solidFill>
                  <a:srgbClr val="147B70"/>
                </a:solidFill>
                <a:latin typeface="Arial"/>
                <a:ea typeface="Arial"/>
                <a:cs typeface="Arial"/>
              </a:defRPr>
            </a:lvl7pPr>
            <a:lvl8pPr algn="l">
              <a:defRPr sz="2550" b="1">
                <a:solidFill>
                  <a:srgbClr val="147B70"/>
                </a:solidFill>
                <a:latin typeface="Arial"/>
                <a:ea typeface="Arial"/>
                <a:cs typeface="Arial"/>
              </a:defRPr>
            </a:lvl8pPr>
            <a:lvl9pPr algn="l">
              <a:defRPr sz="2550" b="1">
                <a:solidFill>
                  <a:srgbClr val="147B70"/>
                </a:solidFill>
                <a:latin typeface="Arial"/>
                <a:ea typeface="Arial"/>
                <a:cs typeface="Arial"/>
              </a:defRPr>
            </a:lvl9pPr>
          </a:lstStyle>
          <a:p xmlns:a="http://schemas.openxmlformats.org/drawingml/2006/main">
            <a:pPr algn="l">
              <a:defRPr sz="2550" b="1">
                <a:solidFill>
                  <a:srgbClr val="147B70"/>
                </a:solidFill>
                <a:latin typeface="Arial"/>
                <a:ea typeface="Arial"/>
                <a:cs typeface="Arial"/>
              </a:defRPr>
            </a:pPr>
            <a:r>
              <a:rPr sz="2550" b="1">
                <a:solidFill>
                  <a:srgbClr val="147B70"/>
                </a:solidFill>
                <a:latin typeface="Arial"/>
                <a:ea typeface="Arial"/>
                <a:cs typeface="Arial"/>
              </a:rPr>
              <a:t>One AST node kind</a:t>
            </a:r>
          </a:p>
        </p:txBody>
      </p:sp>
      <p:sp>
        <p:nvSpPr>
          <p:cNvPr id="10" name="Restricted printf additionally lowers explicit formatti">
            <a:extLst xmlns:a="http://schemas.openxmlformats.org/drawingml/2006/main">
              <a:ext uri="{FF2B5EF4-FFF2-40B4-BE49-F238E27FC236}">
                <a16:creationId xmlns:a16="http://schemas.microsoft.com/office/drawing/2014/main" id="{81B15E1B-883F-4E8A-8FE2-5CC4FE99DA11}"/>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Restricted printf additionally lowers explicit formatting operations.</a:t>
            </a:r>
          </a:p>
        </p:txBody>
      </p:sp>
    </p:spTree>
    <p:extLst>
      <p:ext uri="{BB962C8B-B14F-4D97-AF65-F5344CB8AC3E}">
        <p14:creationId xmlns:p14="http://schemas.microsoft.com/office/powerpoint/2010/main" val="376113510"/>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Structured blocks across syntax families">
            <a:extLst xmlns:a="http://schemas.openxmlformats.org/drawingml/2006/main">
              <a:ext uri="{FF2B5EF4-FFF2-40B4-BE49-F238E27FC236}">
                <a16:creationId xmlns:a16="http://schemas.microsoft.com/office/drawing/2014/main" id="{8AB7D59F-A255-4F81-BBD1-215D83E953C4}"/>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Structured blocks across syntax families</a:t>
            </a:r>
          </a:p>
        </p:txBody>
      </p:sp>
      <p:sp>
        <p:nvSpPr>
          <p:cNvPr id="2" name="The parser tracks suites in their surrounding block con">
            <a:extLst xmlns:a="http://schemas.openxmlformats.org/drawingml/2006/main">
              <a:ext uri="{FF2B5EF4-FFF2-40B4-BE49-F238E27FC236}">
                <a16:creationId xmlns:a16="http://schemas.microsoft.com/office/drawing/2014/main" id="{F8E25366-7DF0-4506-A5CE-2A4F17872A6E}"/>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The parser tracks suites in their surrounding block context</a:t>
            </a:r>
          </a:p>
        </p:txBody>
      </p:sp>
      <p:sp>
        <p:nvSpPr>
          <p:cNvPr id="3" name="11">
            <a:extLst xmlns:a="http://schemas.openxmlformats.org/drawingml/2006/main">
              <a:ext uri="{FF2B5EF4-FFF2-40B4-BE49-F238E27FC236}">
                <a16:creationId xmlns:a16="http://schemas.microsoft.com/office/drawing/2014/main" id="{11459FA5-25A1-414F-A617-A16EB04B436F}"/>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11</a:t>
            </a:r>
          </a:p>
        </p:txBody>
      </p:sp>
      <p:sp>
        <p:nvSpPr>
          <p:cNvPr id="4" name="int score = 0;&#10;&#10;for (int i = 0; i &lt; 4; i++) {&#10;    if i ">
            <a:extLst xmlns:a="http://schemas.openxmlformats.org/drawingml/2006/main">
              <a:ext uri="{FF2B5EF4-FFF2-40B4-BE49-F238E27FC236}">
                <a16:creationId xmlns:a16="http://schemas.microsoft.com/office/drawing/2014/main" id="{4F1F89BB-3DE4-45B8-8C53-A7BB24FEBC0C}"/>
              </a:ext>
            </a:extLst>
          </p:cNvPr>
          <p:cNvSpPr>
            <a:spLocks xmlns:a="http://schemas.openxmlformats.org/drawingml/2006/main" noGrp="1"/>
          </p:cNvSpPr>
          <p:nvPr/>
        </p:nvSpPr>
        <p:spPr>
          <a:xfrm xmlns:a="http://schemas.openxmlformats.org/drawingml/2006/main">
            <a:off x="781050" y="2571750"/>
            <a:ext cx="923925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62237"/>
                </a:solidFill>
                <a:latin typeface="Courier New"/>
                <a:ea typeface="Courier New"/>
                <a:cs typeface="Courier New"/>
              </a:defRPr>
            </a:defPPr>
            <a:lvl1pPr algn="l">
              <a:defRPr sz="2475" b="0">
                <a:solidFill>
                  <a:srgbClr val="162237"/>
                </a:solidFill>
                <a:latin typeface="Courier New"/>
                <a:ea typeface="Courier New"/>
                <a:cs typeface="Courier New"/>
              </a:defRPr>
            </a:lvl1pPr>
            <a:lvl2pPr algn="l">
              <a:defRPr sz="2475" b="0">
                <a:solidFill>
                  <a:srgbClr val="162237"/>
                </a:solidFill>
                <a:latin typeface="Courier New"/>
                <a:ea typeface="Courier New"/>
                <a:cs typeface="Courier New"/>
              </a:defRPr>
            </a:lvl2pPr>
            <a:lvl3pPr algn="l">
              <a:defRPr sz="2475" b="0">
                <a:solidFill>
                  <a:srgbClr val="162237"/>
                </a:solidFill>
                <a:latin typeface="Courier New"/>
                <a:ea typeface="Courier New"/>
                <a:cs typeface="Courier New"/>
              </a:defRPr>
            </a:lvl3pPr>
            <a:lvl4pPr algn="l">
              <a:defRPr sz="2475" b="0">
                <a:solidFill>
                  <a:srgbClr val="162237"/>
                </a:solidFill>
                <a:latin typeface="Courier New"/>
                <a:ea typeface="Courier New"/>
                <a:cs typeface="Courier New"/>
              </a:defRPr>
            </a:lvl4pPr>
            <a:lvl5pPr algn="l">
              <a:defRPr sz="2475" b="0">
                <a:solidFill>
                  <a:srgbClr val="162237"/>
                </a:solidFill>
                <a:latin typeface="Courier New"/>
                <a:ea typeface="Courier New"/>
                <a:cs typeface="Courier New"/>
              </a:defRPr>
            </a:lvl5pPr>
            <a:lvl6pPr algn="l">
              <a:defRPr sz="2475" b="0">
                <a:solidFill>
                  <a:srgbClr val="162237"/>
                </a:solidFill>
                <a:latin typeface="Courier New"/>
                <a:ea typeface="Courier New"/>
                <a:cs typeface="Courier New"/>
              </a:defRPr>
            </a:lvl6pPr>
            <a:lvl7pPr algn="l">
              <a:defRPr sz="2475" b="0">
                <a:solidFill>
                  <a:srgbClr val="162237"/>
                </a:solidFill>
                <a:latin typeface="Courier New"/>
                <a:ea typeface="Courier New"/>
                <a:cs typeface="Courier New"/>
              </a:defRPr>
            </a:lvl7pPr>
            <a:lvl8pPr algn="l">
              <a:defRPr sz="2475" b="0">
                <a:solidFill>
                  <a:srgbClr val="162237"/>
                </a:solidFill>
                <a:latin typeface="Courier New"/>
                <a:ea typeface="Courier New"/>
                <a:cs typeface="Courier New"/>
              </a:defRPr>
            </a:lvl8pPr>
            <a:lvl9pPr algn="l">
              <a:defRPr sz="2475" b="0">
                <a:solidFill>
                  <a:srgbClr val="162237"/>
                </a:solidFill>
                <a:latin typeface="Courier New"/>
                <a:ea typeface="Courier New"/>
                <a:cs typeface="Courier New"/>
              </a:defRPr>
            </a:lvl9pPr>
          </a:lstStyle>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int score = 0;</a:t>
            </a:r>
          </a:p>
          <a:p xmlns:a="http://schemas.openxmlformats.org/drawingml/2006/main">
            <a:r>
              <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for (int i = 0; i &lt; 4; i++) {</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    if i % 2 == 0:</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        score += i</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    else:</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        score += 10</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a:t>
            </a:r>
          </a:p>
          <a:p xmlns:a="http://schemas.openxmlformats.org/drawingml/2006/main">
            <a:r>
              <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print(score)</a:t>
            </a:r>
          </a:p>
        </p:txBody>
      </p:sp>
      <p:sp>
        <p:nvSpPr>
          <p:cNvPr id="5" name="C-style outer loop">
            <a:extLst xmlns:a="http://schemas.openxmlformats.org/drawingml/2006/main">
              <a:ext uri="{FF2B5EF4-FFF2-40B4-BE49-F238E27FC236}">
                <a16:creationId xmlns:a16="http://schemas.microsoft.com/office/drawing/2014/main" id="{B6ED2312-68F0-4FF3-B206-35CB574E9ACF}"/>
              </a:ext>
            </a:extLst>
          </p:cNvPr>
          <p:cNvSpPr>
            <a:spLocks xmlns:a="http://schemas.openxmlformats.org/drawingml/2006/main" noGrp="1"/>
          </p:cNvSpPr>
          <p:nvPr/>
        </p:nvSpPr>
        <p:spPr>
          <a:xfrm xmlns:a="http://schemas.openxmlformats.org/drawingml/2006/main">
            <a:off x="10668000" y="2905125"/>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C-style outer loop</a:t>
            </a:r>
          </a:p>
        </p:txBody>
      </p:sp>
      <p:sp>
        <p:nvSpPr>
          <p:cNvPr id="6" name="Braces delimit the loop body.">
            <a:extLst xmlns:a="http://schemas.openxmlformats.org/drawingml/2006/main">
              <a:ext uri="{FF2B5EF4-FFF2-40B4-BE49-F238E27FC236}">
                <a16:creationId xmlns:a16="http://schemas.microsoft.com/office/drawing/2014/main" id="{089C2DB0-19E6-4863-B4CE-773266F90DEA}"/>
              </a:ext>
            </a:extLst>
          </p:cNvPr>
          <p:cNvSpPr>
            <a:spLocks xmlns:a="http://schemas.openxmlformats.org/drawingml/2006/main" noGrp="1"/>
          </p:cNvSpPr>
          <p:nvPr/>
        </p:nvSpPr>
        <p:spPr>
          <a:xfrm xmlns:a="http://schemas.openxmlformats.org/drawingml/2006/main">
            <a:off x="10668000" y="3524250"/>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Braces delimit the loop body.</a:t>
            </a:r>
          </a:p>
        </p:txBody>
      </p:sp>
      <p:sp>
        <p:nvSpPr>
          <p:cNvPr id="7" name="Inner branch">
            <a:extLst xmlns:a="http://schemas.openxmlformats.org/drawingml/2006/main">
              <a:ext uri="{FF2B5EF4-FFF2-40B4-BE49-F238E27FC236}">
                <a16:creationId xmlns:a16="http://schemas.microsoft.com/office/drawing/2014/main" id="{51A3B5E0-21FF-41D1-8C72-0EE07FF8A570}"/>
              </a:ext>
            </a:extLst>
          </p:cNvPr>
          <p:cNvSpPr>
            <a:spLocks xmlns:a="http://schemas.openxmlformats.org/drawingml/2006/main" noGrp="1"/>
          </p:cNvSpPr>
          <p:nvPr/>
        </p:nvSpPr>
        <p:spPr>
          <a:xfrm xmlns:a="http://schemas.openxmlformats.org/drawingml/2006/main">
            <a:off x="10668000" y="5095875"/>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Inner branch</a:t>
            </a:r>
          </a:p>
        </p:txBody>
      </p:sp>
      <p:sp>
        <p:nvSpPr>
          <p:cNvPr id="8" name="Indentation delimits each suite.">
            <a:extLst xmlns:a="http://schemas.openxmlformats.org/drawingml/2006/main">
              <a:ext uri="{FF2B5EF4-FFF2-40B4-BE49-F238E27FC236}">
                <a16:creationId xmlns:a16="http://schemas.microsoft.com/office/drawing/2014/main" id="{F823B87F-1181-4885-A915-58F295933944}"/>
              </a:ext>
            </a:extLst>
          </p:cNvPr>
          <p:cNvSpPr>
            <a:spLocks xmlns:a="http://schemas.openxmlformats.org/drawingml/2006/main" noGrp="1"/>
          </p:cNvSpPr>
          <p:nvPr/>
        </p:nvSpPr>
        <p:spPr>
          <a:xfrm xmlns:a="http://schemas.openxmlformats.org/drawingml/2006/main">
            <a:off x="10668000" y="5715000"/>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Indentation delimits each suite.</a:t>
            </a:r>
          </a:p>
        </p:txBody>
      </p:sp>
      <p:sp>
        <p:nvSpPr>
          <p:cNvPr id="9" name="examples/mixed_nesting.poly prints 22.">
            <a:extLst xmlns:a="http://schemas.openxmlformats.org/drawingml/2006/main">
              <a:ext uri="{FF2B5EF4-FFF2-40B4-BE49-F238E27FC236}">
                <a16:creationId xmlns:a16="http://schemas.microsoft.com/office/drawing/2014/main" id="{E29DC5E5-85A2-4350-BD8D-E7D8FF68DEBF}"/>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examples/mixed_nesting.poly prints 22.</a:t>
            </a:r>
          </a:p>
        </p:txBody>
      </p:sp>
    </p:spTree>
    <p:extLst>
      <p:ext uri="{BB962C8B-B14F-4D97-AF65-F5344CB8AC3E}">
        <p14:creationId xmlns:p14="http://schemas.microsoft.com/office/powerpoint/2010/main" val="79027857"/>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Semantic analysis and the symbol table">
            <a:extLst xmlns:a="http://schemas.openxmlformats.org/drawingml/2006/main">
              <a:ext uri="{FF2B5EF4-FFF2-40B4-BE49-F238E27FC236}">
                <a16:creationId xmlns:a16="http://schemas.microsoft.com/office/drawing/2014/main" id="{41C81130-6461-4034-86CB-A32B3C26CCEA}"/>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Semantic analysis and the symbol table</a:t>
            </a:r>
          </a:p>
        </p:txBody>
      </p:sp>
      <p:sp>
        <p:nvSpPr>
          <p:cNvPr id="2" name="Parsing checks structure. Semantic analysis checks mean">
            <a:extLst xmlns:a="http://schemas.openxmlformats.org/drawingml/2006/main">
              <a:ext uri="{FF2B5EF4-FFF2-40B4-BE49-F238E27FC236}">
                <a16:creationId xmlns:a16="http://schemas.microsoft.com/office/drawing/2014/main" id="{9F64321D-E02D-4601-B233-52B77714ACA6}"/>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Parsing checks structure. Semantic analysis checks meaning.</a:t>
            </a:r>
          </a:p>
        </p:txBody>
      </p:sp>
      <p:sp>
        <p:nvSpPr>
          <p:cNvPr id="3" name="12">
            <a:extLst xmlns:a="http://schemas.openxmlformats.org/drawingml/2006/main">
              <a:ext uri="{FF2B5EF4-FFF2-40B4-BE49-F238E27FC236}">
                <a16:creationId xmlns:a16="http://schemas.microsoft.com/office/drawing/2014/main" id="{36AAA7FA-50CB-409C-BF4E-DFA7D64DBE3A}"/>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12</a:t>
            </a:r>
          </a:p>
        </p:txBody>
      </p:sp>
      <p:sp>
        <p:nvSpPr>
          <p:cNvPr id="4" name="Name resolution and type checking annotate the AST befo">
            <a:extLst xmlns:a="http://schemas.openxmlformats.org/drawingml/2006/main">
              <a:ext uri="{FF2B5EF4-FFF2-40B4-BE49-F238E27FC236}">
                <a16:creationId xmlns:a16="http://schemas.microsoft.com/office/drawing/2014/main" id="{7140C3FB-3ADA-4661-8CED-BAAE5BF221F2}"/>
              </a:ext>
            </a:extLst>
          </p:cNvPr>
          <p:cNvSpPr>
            <a:spLocks xmlns:a="http://schemas.openxmlformats.org/drawingml/2006/main" noGrp="1"/>
          </p:cNvSpPr>
          <p:nvPr/>
        </p:nvSpPr>
        <p:spPr>
          <a:xfrm xmlns:a="http://schemas.openxmlformats.org/drawingml/2006/main">
            <a:off x="781050" y="2552700"/>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7273C"/>
                </a:solidFill>
                <a:latin typeface="Arial"/>
                <a:ea typeface="Arial"/>
                <a:cs typeface="Arial"/>
              </a:defRPr>
            </a:defPPr>
            <a:lvl1pPr algn="l">
              <a:defRPr sz="2475" b="0">
                <a:solidFill>
                  <a:srgbClr val="17273C"/>
                </a:solidFill>
                <a:latin typeface="Arial"/>
                <a:ea typeface="Arial"/>
                <a:cs typeface="Arial"/>
              </a:defRPr>
            </a:lvl1pPr>
            <a:lvl2pPr algn="l">
              <a:defRPr sz="2475" b="0">
                <a:solidFill>
                  <a:srgbClr val="17273C"/>
                </a:solidFill>
                <a:latin typeface="Arial"/>
                <a:ea typeface="Arial"/>
                <a:cs typeface="Arial"/>
              </a:defRPr>
            </a:lvl2pPr>
            <a:lvl3pPr algn="l">
              <a:defRPr sz="2475" b="0">
                <a:solidFill>
                  <a:srgbClr val="17273C"/>
                </a:solidFill>
                <a:latin typeface="Arial"/>
                <a:ea typeface="Arial"/>
                <a:cs typeface="Arial"/>
              </a:defRPr>
            </a:lvl3pPr>
            <a:lvl4pPr algn="l">
              <a:defRPr sz="2475" b="0">
                <a:solidFill>
                  <a:srgbClr val="17273C"/>
                </a:solidFill>
                <a:latin typeface="Arial"/>
                <a:ea typeface="Arial"/>
                <a:cs typeface="Arial"/>
              </a:defRPr>
            </a:lvl4pPr>
            <a:lvl5pPr algn="l">
              <a:defRPr sz="2475" b="0">
                <a:solidFill>
                  <a:srgbClr val="17273C"/>
                </a:solidFill>
                <a:latin typeface="Arial"/>
                <a:ea typeface="Arial"/>
                <a:cs typeface="Arial"/>
              </a:defRPr>
            </a:lvl5pPr>
            <a:lvl6pPr algn="l">
              <a:defRPr sz="2475" b="0">
                <a:solidFill>
                  <a:srgbClr val="17273C"/>
                </a:solidFill>
                <a:latin typeface="Arial"/>
                <a:ea typeface="Arial"/>
                <a:cs typeface="Arial"/>
              </a:defRPr>
            </a:lvl6pPr>
            <a:lvl7pPr algn="l">
              <a:defRPr sz="2475" b="0">
                <a:solidFill>
                  <a:srgbClr val="17273C"/>
                </a:solidFill>
                <a:latin typeface="Arial"/>
                <a:ea typeface="Arial"/>
                <a:cs typeface="Arial"/>
              </a:defRPr>
            </a:lvl7pPr>
            <a:lvl8pPr algn="l">
              <a:defRPr sz="2475" b="0">
                <a:solidFill>
                  <a:srgbClr val="17273C"/>
                </a:solidFill>
                <a:latin typeface="Arial"/>
                <a:ea typeface="Arial"/>
                <a:cs typeface="Arial"/>
              </a:defRPr>
            </a:lvl8pPr>
            <a:lvl9pPr algn="l">
              <a:defRPr sz="2475" b="0">
                <a:solidFill>
                  <a:srgbClr val="17273C"/>
                </a:solidFill>
                <a:latin typeface="Arial"/>
                <a:ea typeface="Arial"/>
                <a:cs typeface="Arial"/>
              </a:defRPr>
            </a:lvl9pPr>
          </a:lstStyle>
          <a:p xmlns:a="http://schemas.openxmlformats.org/drawingml/2006/main">
            <a:pPr algn="l">
              <a:defRPr sz="2475" b="0">
                <a:solidFill>
                  <a:srgbClr val="17273C"/>
                </a:solidFill>
                <a:latin typeface="Arial"/>
                <a:ea typeface="Arial"/>
                <a:cs typeface="Arial"/>
              </a:defRPr>
            </a:pPr>
            <a:r>
              <a:rPr sz="2475" b="0">
                <a:solidFill>
                  <a:srgbClr val="17273C"/>
                </a:solidFill>
                <a:latin typeface="Arial"/>
                <a:ea typeface="Arial"/>
                <a:cs typeface="Arial"/>
              </a:rPr>
              <a:t>Name resolution and type checking annotate the AST before IR generation.</a:t>
            </a:r>
          </a:p>
        </p:txBody>
      </p:sp>
      <p:graphicFrame>
        <p:nvGraphicFramePr>
          <p:cNvPr id="5" name="">
            <a:extLst xmlns:a="http://schemas.openxmlformats.org/drawingml/2006/main">
              <a:ext uri="{FF2B5EF4-FFF2-40B4-BE49-F238E27FC236}">
                <a16:creationId xmlns:a16="http://schemas.microsoft.com/office/drawing/2014/main" id="{3B96B487-0448-4001-817D-3955CA28C2C2}"/>
              </a:ext>
            </a:extLst>
          </p:cNvPr>
          <p:cNvGraphicFramePr/>
          <p:nvPr/>
        </p:nvGraphicFramePr>
        <p:xfrm>
          <a:off xmlns:a="http://schemas.openxmlformats.org/drawingml/2006/main" x="781050" y="3714750"/>
          <a:ext xmlns:a="http://schemas.openxmlformats.org/drawingml/2006/main" cx="13620750" cy="3333750"/>
        </p:xfrm>
        <a:graphic xmlns:a="http://schemas.openxmlformats.org/drawingml/2006/main">
          <a:graphicData uri="http://schemas.openxmlformats.org/drawingml/2006/table">
            <a:tbl>
              <a:tblPr/>
              <a:tblGrid>
                <a:gridCol w="3238500"/>
                <a:gridCol w="3524250"/>
                <a:gridCol w="3619500"/>
                <a:gridCol w="3238500"/>
              </a:tblGrid>
              <a:tr h="555625">
                <a:tc>
                  <a:txBody>
                    <a:bodyPr lIns="142875" tIns="142875" rIns="142875" bIns="142875"/>
                    <a:lstStyle/>
                    <a:p>
                      <a:r>
                        <a:rPr sz="2250" b="1">
                          <a:solidFill>
                            <a:srgbClr val="17273C"/>
                          </a:solidFill>
                          <a:latin typeface="Arial"/>
                          <a:ea typeface="Arial"/>
                          <a:cs typeface="Arial"/>
                        </a:rPr>
                        <a:t>Binding</a:t>
                      </a:r>
                    </a:p>
                  </a:txBody>
                  <a:tcPr marL="91440" marR="91440" marT="45720" marB="45720" anchor="ctr">
                    <a:lnL w="7620">
                      <a:solidFill>
                        <a:srgbClr val="CDD3D9"/>
                      </a:solidFill>
                      <a:prstDash val="solid"/>
                    </a:lnL>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250" b="1">
                          <a:solidFill>
                            <a:srgbClr val="17273C"/>
                          </a:solidFill>
                          <a:latin typeface="Arial"/>
                          <a:ea typeface="Arial"/>
                          <a:cs typeface="Arial"/>
                        </a:rPr>
                        <a:t>Checked type</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250" b="1">
                          <a:solidFill>
                            <a:srgbClr val="17273C"/>
                          </a:solidFill>
                          <a:latin typeface="Arial"/>
                          <a:ea typeface="Arial"/>
                          <a:cs typeface="Arial"/>
                        </a:rPr>
                        <a:t>Role</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250" b="1">
                          <a:solidFill>
                            <a:srgbClr val="17273C"/>
                          </a:solidFill>
                          <a:latin typeface="Arial"/>
                          <a:ea typeface="Arial"/>
                          <a:cs typeface="Arial"/>
                        </a:rPr>
                        <a:t>Storage</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r>
              <a:tr h="555625">
                <a:tc>
                  <a:txBody>
                    <a:bodyPr lIns="142875" tIns="142875" rIns="142875" bIns="142875"/>
                    <a:lstStyle/>
                    <a:p>
                      <a:r>
                        <a:rPr sz="2250" b="0">
                          <a:solidFill>
                            <a:srgbClr val="17273C"/>
                          </a:solidFill>
                          <a:latin typeface="Arial"/>
                          <a:ea typeface="Arial"/>
                          <a:cs typeface="Arial"/>
                        </a:rPr>
                        <a:t>bonus</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int</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Immutable binding</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global slot 0</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555625">
                <a:tc>
                  <a:txBody>
                    <a:bodyPr lIns="142875" tIns="142875" rIns="142875" bIns="142875"/>
                    <a:lstStyle/>
                    <a:p>
                      <a:r>
                        <a:rPr sz="2250" b="0">
                          <a:solidFill>
                            <a:srgbClr val="17273C"/>
                          </a:solidFill>
                          <a:latin typeface="Arial"/>
                          <a:ea typeface="Arial"/>
                          <a:cs typeface="Arial"/>
                        </a:rPr>
                        <a:t>values</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int[]</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Array variable</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global slot 1</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555625">
                <a:tc>
                  <a:txBody>
                    <a:bodyPr lIns="142875" tIns="142875" rIns="142875" bIns="142875"/>
                    <a:lstStyle/>
                    <a:p>
                      <a:r>
                        <a:rPr sz="2250" b="0">
                          <a:solidFill>
                            <a:srgbClr val="17273C"/>
                          </a:solidFill>
                          <a:latin typeface="Arial"/>
                          <a:ea typeface="Arial"/>
                          <a:cs typeface="Arial"/>
                        </a:rPr>
                        <a:t>sum_values</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(int[]) to int</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Function</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function ID 1</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555625">
                <a:tc>
                  <a:txBody>
                    <a:bodyPr lIns="142875" tIns="142875" rIns="142875" bIns="142875"/>
                    <a:lstStyle/>
                    <a:p>
                      <a:r>
                        <a:rPr sz="2250" b="0">
                          <a:solidFill>
                            <a:srgbClr val="17273C"/>
                          </a:solidFill>
                          <a:latin typeface="Arial"/>
                          <a:ea typeface="Arial"/>
                          <a:cs typeface="Arial"/>
                        </a:rPr>
                        <a:t>items</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int[]</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Parameter</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local slot 0</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555625">
                <a:tc>
                  <a:txBody>
                    <a:bodyPr lIns="142875" tIns="142875" rIns="142875" bIns="142875"/>
                    <a:lstStyle/>
                    <a:p>
                      <a:r>
                        <a:rPr sz="2250" b="0">
                          <a:solidFill>
                            <a:srgbClr val="17273C"/>
                          </a:solidFill>
                          <a:latin typeface="Arial"/>
                          <a:ea typeface="Arial"/>
                          <a:cs typeface="Arial"/>
                        </a:rPr>
                        <a:t>total</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int</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Local variable</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local slot 1</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bl>
          </a:graphicData>
        </a:graphic>
      </p:graphicFrame>
      <p:sp>
        <p:nvSpPr>
          <p:cNvPr id="6" name="Selected actual symbols from p1_mixed.poly. The analyze">
            <a:extLst xmlns:a="http://schemas.openxmlformats.org/drawingml/2006/main">
              <a:ext uri="{FF2B5EF4-FFF2-40B4-BE49-F238E27FC236}">
                <a16:creationId xmlns:a16="http://schemas.microsoft.com/office/drawing/2014/main" id="{3FEF1A1E-9C1D-4DE8-8F21-78C7A60D8A15}"/>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Selected actual symbols from p1_mixed.poly. The analyzer collects function signatures first.</a:t>
            </a:r>
          </a:p>
        </p:txBody>
      </p:sp>
    </p:spTree>
    <p:extLst>
      <p:ext uri="{BB962C8B-B14F-4D97-AF65-F5344CB8AC3E}">
        <p14:creationId xmlns:p14="http://schemas.microsoft.com/office/powerpoint/2010/main" val="1854714359"/>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Errors stop at the failing phase">
            <a:extLst xmlns:a="http://schemas.openxmlformats.org/drawingml/2006/main">
              <a:ext uri="{FF2B5EF4-FFF2-40B4-BE49-F238E27FC236}">
                <a16:creationId xmlns:a16="http://schemas.microsoft.com/office/drawing/2014/main" id="{96AF9A38-D7B6-460A-91DE-DE05E458B9DB}"/>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Errors stop at the failing phase</a:t>
            </a:r>
          </a:p>
        </p:txBody>
      </p:sp>
      <p:sp>
        <p:nvSpPr>
          <p:cNvPr id="2" name="Earlier stage data remains available for inspection">
            <a:extLst xmlns:a="http://schemas.openxmlformats.org/drawingml/2006/main">
              <a:ext uri="{FF2B5EF4-FFF2-40B4-BE49-F238E27FC236}">
                <a16:creationId xmlns:a16="http://schemas.microsoft.com/office/drawing/2014/main" id="{46D07A08-7F29-4D07-B045-BE3F4B2263B0}"/>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Earlier stage data remains available for inspection</a:t>
            </a:r>
          </a:p>
        </p:txBody>
      </p:sp>
      <p:sp>
        <p:nvSpPr>
          <p:cNvPr id="3" name="13">
            <a:extLst xmlns:a="http://schemas.openxmlformats.org/drawingml/2006/main">
              <a:ext uri="{FF2B5EF4-FFF2-40B4-BE49-F238E27FC236}">
                <a16:creationId xmlns:a16="http://schemas.microsoft.com/office/drawing/2014/main" id="{CEA3DD15-9D34-4C5B-AADB-3151092F65A0}"/>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E4DD0713-C038-485E-939D-BB00FEAA8127}"/>
              </a:ext>
            </a:extLst>
          </p:cNvPr>
          <p:cNvGraphicFramePr/>
          <p:nvPr/>
        </p:nvGraphicFramePr>
        <p:xfrm>
          <a:off xmlns:a="http://schemas.openxmlformats.org/drawingml/2006/main" x="781050" y="2714625"/>
          <a:ext xmlns:a="http://schemas.openxmlformats.org/drawingml/2006/main" cx="13620750" cy="3810000"/>
        </p:xfrm>
        <a:graphic xmlns:a="http://schemas.openxmlformats.org/drawingml/2006/main">
          <a:graphicData uri="http://schemas.openxmlformats.org/drawingml/2006/table">
            <a:tbl>
              <a:tblPr/>
              <a:tblGrid>
                <a:gridCol w="4381500"/>
                <a:gridCol w="5048250"/>
                <a:gridCol w="4191000"/>
              </a:tblGrid>
              <a:tr h="952500">
                <a:tc>
                  <a:txBody>
                    <a:bodyPr lIns="142875" tIns="142875" rIns="142875" bIns="142875"/>
                    <a:lstStyle/>
                    <a:p>
                      <a:r>
                        <a:rPr sz="2175" b="1">
                          <a:solidFill>
                            <a:srgbClr val="17273C"/>
                          </a:solidFill>
                          <a:latin typeface="Arial"/>
                          <a:ea typeface="Arial"/>
                          <a:cs typeface="Arial"/>
                        </a:rPr>
                        <a:t>Source example</a:t>
                      </a:r>
                    </a:p>
                  </a:txBody>
                  <a:tcPr marL="91440" marR="91440" marT="45720" marB="45720" anchor="ctr">
                    <a:lnL w="7620">
                      <a:solidFill>
                        <a:srgbClr val="CDD3D9"/>
                      </a:solidFill>
                      <a:prstDash val="solid"/>
                    </a:lnL>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175" b="1">
                          <a:solidFill>
                            <a:srgbClr val="17273C"/>
                          </a:solidFill>
                          <a:latin typeface="Arial"/>
                          <a:ea typeface="Arial"/>
                          <a:cs typeface="Arial"/>
                        </a:rPr>
                        <a:t>Diagnostic</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175" b="1">
                          <a:solidFill>
                            <a:srgbClr val="17273C"/>
                          </a:solidFill>
                          <a:latin typeface="Arial"/>
                          <a:ea typeface="Arial"/>
                          <a:cs typeface="Arial"/>
                        </a:rPr>
                        <a:t>Compilation result</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r>
              <a:tr h="952500">
                <a:tc>
                  <a:txBody>
                    <a:bodyPr lIns="142875" tIns="142875" rIns="142875" bIns="142875"/>
                    <a:lstStyle/>
                    <a:p>
                      <a:r>
                        <a:rPr sz="2175" b="0">
                          <a:solidFill>
                            <a:srgbClr val="17273C"/>
                          </a:solidFill>
                          <a:latin typeface="Arial"/>
                          <a:ea typeface="Arial"/>
                          <a:cs typeface="Arial"/>
                        </a:rPr>
                        <a:t>print(2 + )</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P010: Expected an expression.</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Parser stops. No completed AST.</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952500">
                <a:tc>
                  <a:txBody>
                    <a:bodyPr lIns="142875" tIns="142875" rIns="142875" bIns="142875"/>
                    <a:lstStyle/>
                    <a:p>
                      <a:r>
                        <a:rPr sz="2175" b="0">
                          <a:solidFill>
                            <a:srgbClr val="17273C"/>
                          </a:solidFill>
                          <a:latin typeface="Arial"/>
                          <a:ea typeface="Arial"/>
                          <a:cs typeface="Arial"/>
                        </a:rPr>
                        <a:t>count = 3</a:t>
                      </a:r>
                    </a:p>
                    <a:p>
                      <a:r>
                        <a:rPr sz="2175" b="0">
                          <a:solidFill>
                            <a:srgbClr val="17273C"/>
                          </a:solidFill>
                          <a:latin typeface="Arial"/>
                          <a:ea typeface="Arial"/>
                          <a:cs typeface="Arial"/>
                        </a:rPr>
                        <a:t>count = "three"</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S004: Cannot use string</a:t>
                      </a:r>
                    </a:p>
                    <a:p>
                      <a:r>
                        <a:rPr sz="2175" b="0">
                          <a:solidFill>
                            <a:srgbClr val="17273C"/>
                          </a:solidFill>
                          <a:latin typeface="Arial"/>
                          <a:ea typeface="Arial"/>
                          <a:cs typeface="Arial"/>
                        </a:rPr>
                        <a:t>where int is required.</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Semantic analysis stops.</a:t>
                      </a:r>
                    </a:p>
                    <a:p>
                      <a:r>
                        <a:rPr sz="2175" b="0">
                          <a:solidFill>
                            <a:srgbClr val="17273C"/>
                          </a:solidFill>
                          <a:latin typeface="Arial"/>
                          <a:ea typeface="Arial"/>
                          <a:cs typeface="Arial"/>
                        </a:rPr>
                        <a:t>No IR or bytecode.</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952500">
                <a:tc>
                  <a:txBody>
                    <a:bodyPr lIns="142875" tIns="142875" rIns="142875" bIns="142875"/>
                    <a:lstStyle/>
                    <a:p>
                      <a:r>
                        <a:rPr sz="2175" b="0">
                          <a:solidFill>
                            <a:srgbClr val="17273C"/>
                          </a:solidFill>
                          <a:latin typeface="Arial"/>
                          <a:ea typeface="Arial"/>
                          <a:cs typeface="Arial"/>
                        </a:rPr>
                        <a:t>print(1 / 0)</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R004: Division or</a:t>
                      </a:r>
                    </a:p>
                    <a:p>
                      <a:r>
                        <a:rPr sz="2175" b="0">
                          <a:solidFill>
                            <a:srgbClr val="17273C"/>
                          </a:solidFill>
                          <a:latin typeface="Arial"/>
                          <a:ea typeface="Arial"/>
                          <a:cs typeface="Arial"/>
                        </a:rPr>
                        <a:t>remainder by zero.</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Compilation succeeds.</a:t>
                      </a:r>
                    </a:p>
                    <a:p>
                      <a:r>
                        <a:rPr sz="2175" b="0">
                          <a:solidFill>
                            <a:srgbClr val="17273C"/>
                          </a:solidFill>
                          <a:latin typeface="Arial"/>
                          <a:ea typeface="Arial"/>
                          <a:cs typeface="Arial"/>
                        </a:rPr>
                        <a:t>The VM reports a runtime error.</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bl>
          </a:graphicData>
        </a:graphic>
      </p:graphicFrame>
      <p:sp>
        <p:nvSpPr>
          <p:cNvPr id="5" name="Diagnostics include filename, line, column and a source">
            <a:extLst xmlns:a="http://schemas.openxmlformats.org/drawingml/2006/main">
              <a:ext uri="{FF2B5EF4-FFF2-40B4-BE49-F238E27FC236}">
                <a16:creationId xmlns:a16="http://schemas.microsoft.com/office/drawing/2014/main" id="{46424D0E-5627-4324-96E5-58B23697BBCC}"/>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Diagnostics include filename, line, column and a source excerpt.</a:t>
            </a:r>
          </a:p>
        </p:txBody>
      </p:sp>
    </p:spTree>
    <p:extLst>
      <p:ext uri="{BB962C8B-B14F-4D97-AF65-F5344CB8AC3E}">
        <p14:creationId xmlns:p14="http://schemas.microsoft.com/office/powerpoint/2010/main" val="431981286"/>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Typed three-address intermediate code">
            <a:extLst xmlns:a="http://schemas.openxmlformats.org/drawingml/2006/main">
              <a:ext uri="{FF2B5EF4-FFF2-40B4-BE49-F238E27FC236}">
                <a16:creationId xmlns:a16="http://schemas.microsoft.com/office/drawing/2014/main" id="{682ED1E2-083B-472C-8EE0-B107E3258BF9}"/>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Typed three-address intermediate code</a:t>
            </a:r>
          </a:p>
        </p:txBody>
      </p:sp>
      <p:sp>
        <p:nvSpPr>
          <p:cNvPr id="2" name="A common IR removes dependence on the original syntax">
            <a:extLst xmlns:a="http://schemas.openxmlformats.org/drawingml/2006/main">
              <a:ext uri="{FF2B5EF4-FFF2-40B4-BE49-F238E27FC236}">
                <a16:creationId xmlns:a16="http://schemas.microsoft.com/office/drawing/2014/main" id="{F3912034-C660-4033-9D61-5D9BAC8875A5}"/>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A common IR removes dependence on the original syntax</a:t>
            </a:r>
          </a:p>
        </p:txBody>
      </p:sp>
      <p:sp>
        <p:nvSpPr>
          <p:cNvPr id="3" name="14">
            <a:extLst xmlns:a="http://schemas.openxmlformats.org/drawingml/2006/main">
              <a:ext uri="{FF2B5EF4-FFF2-40B4-BE49-F238E27FC236}">
                <a16:creationId xmlns:a16="http://schemas.microsoft.com/office/drawing/2014/main" id="{7CDCFBF0-7362-40CD-9152-FFBF5D6C1D42}"/>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14</a:t>
            </a:r>
          </a:p>
        </p:txBody>
      </p:sp>
      <p:sp>
        <p:nvSpPr>
          <p:cNvPr id="4" name="print((2 + 3) * 4)">
            <a:extLst xmlns:a="http://schemas.openxmlformats.org/drawingml/2006/main">
              <a:ext uri="{FF2B5EF4-FFF2-40B4-BE49-F238E27FC236}">
                <a16:creationId xmlns:a16="http://schemas.microsoft.com/office/drawing/2014/main" id="{48D170D8-FE34-4288-8EE7-A2B3334E9FD3}"/>
              </a:ext>
            </a:extLst>
          </p:cNvPr>
          <p:cNvSpPr>
            <a:spLocks xmlns:a="http://schemas.openxmlformats.org/drawingml/2006/main" noGrp="1"/>
          </p:cNvSpPr>
          <p:nvPr/>
        </p:nvSpPr>
        <p:spPr>
          <a:xfrm xmlns:a="http://schemas.openxmlformats.org/drawingml/2006/main">
            <a:off x="781050" y="266700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62237"/>
                </a:solidFill>
                <a:latin typeface="Courier New"/>
                <a:ea typeface="Courier New"/>
                <a:cs typeface="Courier New"/>
              </a:defRPr>
            </a:defPPr>
            <a:lvl1pPr algn="l">
              <a:defRPr sz="3225" b="0">
                <a:solidFill>
                  <a:srgbClr val="162237"/>
                </a:solidFill>
                <a:latin typeface="Courier New"/>
                <a:ea typeface="Courier New"/>
                <a:cs typeface="Courier New"/>
              </a:defRPr>
            </a:lvl1pPr>
            <a:lvl2pPr algn="l">
              <a:defRPr sz="3225" b="0">
                <a:solidFill>
                  <a:srgbClr val="162237"/>
                </a:solidFill>
                <a:latin typeface="Courier New"/>
                <a:ea typeface="Courier New"/>
                <a:cs typeface="Courier New"/>
              </a:defRPr>
            </a:lvl2pPr>
            <a:lvl3pPr algn="l">
              <a:defRPr sz="3225" b="0">
                <a:solidFill>
                  <a:srgbClr val="162237"/>
                </a:solidFill>
                <a:latin typeface="Courier New"/>
                <a:ea typeface="Courier New"/>
                <a:cs typeface="Courier New"/>
              </a:defRPr>
            </a:lvl3pPr>
            <a:lvl4pPr algn="l">
              <a:defRPr sz="3225" b="0">
                <a:solidFill>
                  <a:srgbClr val="162237"/>
                </a:solidFill>
                <a:latin typeface="Courier New"/>
                <a:ea typeface="Courier New"/>
                <a:cs typeface="Courier New"/>
              </a:defRPr>
            </a:lvl4pPr>
            <a:lvl5pPr algn="l">
              <a:defRPr sz="3225" b="0">
                <a:solidFill>
                  <a:srgbClr val="162237"/>
                </a:solidFill>
                <a:latin typeface="Courier New"/>
                <a:ea typeface="Courier New"/>
                <a:cs typeface="Courier New"/>
              </a:defRPr>
            </a:lvl5pPr>
            <a:lvl6pPr algn="l">
              <a:defRPr sz="3225" b="0">
                <a:solidFill>
                  <a:srgbClr val="162237"/>
                </a:solidFill>
                <a:latin typeface="Courier New"/>
                <a:ea typeface="Courier New"/>
                <a:cs typeface="Courier New"/>
              </a:defRPr>
            </a:lvl6pPr>
            <a:lvl7pPr algn="l">
              <a:defRPr sz="3225" b="0">
                <a:solidFill>
                  <a:srgbClr val="162237"/>
                </a:solidFill>
                <a:latin typeface="Courier New"/>
                <a:ea typeface="Courier New"/>
                <a:cs typeface="Courier New"/>
              </a:defRPr>
            </a:lvl7pPr>
            <a:lvl8pPr algn="l">
              <a:defRPr sz="3225" b="0">
                <a:solidFill>
                  <a:srgbClr val="162237"/>
                </a:solidFill>
                <a:latin typeface="Courier New"/>
                <a:ea typeface="Courier New"/>
                <a:cs typeface="Courier New"/>
              </a:defRPr>
            </a:lvl8pPr>
            <a:lvl9pPr algn="l">
              <a:defRPr sz="3225" b="0">
                <a:solidFill>
                  <a:srgbClr val="162237"/>
                </a:solidFill>
                <a:latin typeface="Courier New"/>
                <a:ea typeface="Courier New"/>
                <a:cs typeface="Courier New"/>
              </a:defRPr>
            </a:lvl9pPr>
          </a:lstStyle>
          <a:p xmlns:a="http://schemas.openxmlformats.org/drawingml/2006/main">
            <a:pPr algn="l">
              <a:defRPr sz="3225" b="0">
                <a:solidFill>
                  <a:srgbClr val="162237"/>
                </a:solidFill>
                <a:latin typeface="Courier New"/>
                <a:ea typeface="Courier New"/>
                <a:cs typeface="Courier New"/>
              </a:defRPr>
            </a:pPr>
            <a:r>
              <a:rPr sz="3225" b="0">
                <a:solidFill>
                  <a:srgbClr val="162237"/>
                </a:solidFill>
                <a:latin typeface="Courier New"/>
                <a:ea typeface="Courier New"/>
                <a:cs typeface="Courier New"/>
              </a:rPr>
              <a:t>print((2 + 3) * 4)</a:t>
            </a:r>
          </a:p>
        </p:txBody>
      </p:sp>
      <p:sp>
        <p:nvSpPr>
          <p:cNvPr id="5" name="t0 = 2        : int&#10;t1 = 3        : int&#10;t2 = t0 + t1  :">
            <a:extLst xmlns:a="http://schemas.openxmlformats.org/drawingml/2006/main">
              <a:ext uri="{FF2B5EF4-FFF2-40B4-BE49-F238E27FC236}">
                <a16:creationId xmlns:a16="http://schemas.microsoft.com/office/drawing/2014/main" id="{D817CBBF-E06D-4BCA-8276-A6CE012465B1}"/>
              </a:ext>
            </a:extLst>
          </p:cNvPr>
          <p:cNvSpPr>
            <a:spLocks xmlns:a="http://schemas.openxmlformats.org/drawingml/2006/main" noGrp="1"/>
          </p:cNvSpPr>
          <p:nvPr/>
        </p:nvSpPr>
        <p:spPr>
          <a:xfrm xmlns:a="http://schemas.openxmlformats.org/drawingml/2006/main">
            <a:off x="8096250" y="2524125"/>
            <a:ext cx="6286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162237"/>
                </a:solidFill>
                <a:latin typeface="Courier New"/>
                <a:ea typeface="Courier New"/>
                <a:cs typeface="Courier New"/>
              </a:defRPr>
            </a:defPPr>
            <a:lvl1pPr algn="l">
              <a:defRPr sz="2775" b="0">
                <a:solidFill>
                  <a:srgbClr val="162237"/>
                </a:solidFill>
                <a:latin typeface="Courier New"/>
                <a:ea typeface="Courier New"/>
                <a:cs typeface="Courier New"/>
              </a:defRPr>
            </a:lvl1pPr>
            <a:lvl2pPr algn="l">
              <a:defRPr sz="2775" b="0">
                <a:solidFill>
                  <a:srgbClr val="162237"/>
                </a:solidFill>
                <a:latin typeface="Courier New"/>
                <a:ea typeface="Courier New"/>
                <a:cs typeface="Courier New"/>
              </a:defRPr>
            </a:lvl2pPr>
            <a:lvl3pPr algn="l">
              <a:defRPr sz="2775" b="0">
                <a:solidFill>
                  <a:srgbClr val="162237"/>
                </a:solidFill>
                <a:latin typeface="Courier New"/>
                <a:ea typeface="Courier New"/>
                <a:cs typeface="Courier New"/>
              </a:defRPr>
            </a:lvl3pPr>
            <a:lvl4pPr algn="l">
              <a:defRPr sz="2775" b="0">
                <a:solidFill>
                  <a:srgbClr val="162237"/>
                </a:solidFill>
                <a:latin typeface="Courier New"/>
                <a:ea typeface="Courier New"/>
                <a:cs typeface="Courier New"/>
              </a:defRPr>
            </a:lvl4pPr>
            <a:lvl5pPr algn="l">
              <a:defRPr sz="2775" b="0">
                <a:solidFill>
                  <a:srgbClr val="162237"/>
                </a:solidFill>
                <a:latin typeface="Courier New"/>
                <a:ea typeface="Courier New"/>
                <a:cs typeface="Courier New"/>
              </a:defRPr>
            </a:lvl5pPr>
            <a:lvl6pPr algn="l">
              <a:defRPr sz="2775" b="0">
                <a:solidFill>
                  <a:srgbClr val="162237"/>
                </a:solidFill>
                <a:latin typeface="Courier New"/>
                <a:ea typeface="Courier New"/>
                <a:cs typeface="Courier New"/>
              </a:defRPr>
            </a:lvl6pPr>
            <a:lvl7pPr algn="l">
              <a:defRPr sz="2775" b="0">
                <a:solidFill>
                  <a:srgbClr val="162237"/>
                </a:solidFill>
                <a:latin typeface="Courier New"/>
                <a:ea typeface="Courier New"/>
                <a:cs typeface="Courier New"/>
              </a:defRPr>
            </a:lvl7pPr>
            <a:lvl8pPr algn="l">
              <a:defRPr sz="2775" b="0">
                <a:solidFill>
                  <a:srgbClr val="162237"/>
                </a:solidFill>
                <a:latin typeface="Courier New"/>
                <a:ea typeface="Courier New"/>
                <a:cs typeface="Courier New"/>
              </a:defRPr>
            </a:lvl8pPr>
            <a:lvl9pPr algn="l">
              <a:defRPr sz="2775" b="0">
                <a:solidFill>
                  <a:srgbClr val="162237"/>
                </a:solidFill>
                <a:latin typeface="Courier New"/>
                <a:ea typeface="Courier New"/>
                <a:cs typeface="Courier New"/>
              </a:defRPr>
            </a:lvl9pPr>
          </a:lstStyle>
          <a:p xmlns:a="http://schemas.openxmlformats.org/drawingml/2006/main">
            <a:pPr algn="l">
              <a:defRPr sz="2775" b="0">
                <a:solidFill>
                  <a:srgbClr val="162237"/>
                </a:solidFill>
                <a:latin typeface="Courier New"/>
                <a:ea typeface="Courier New"/>
                <a:cs typeface="Courier New"/>
              </a:defRPr>
            </a:pPr>
            <a:r>
              <a:rPr sz="2775" b="0">
                <a:solidFill>
                  <a:srgbClr val="162237"/>
                </a:solidFill>
                <a:latin typeface="Courier New"/>
                <a:ea typeface="Courier New"/>
                <a:cs typeface="Courier New"/>
              </a:rPr>
              <a:t>t0 = 2        : int</a:t>
            </a:r>
          </a:p>
          <a:p xmlns:a="http://schemas.openxmlformats.org/drawingml/2006/main">
            <a:pPr algn="l">
              <a:defRPr sz="2775" b="0">
                <a:solidFill>
                  <a:srgbClr val="162237"/>
                </a:solidFill>
                <a:latin typeface="Courier New"/>
                <a:ea typeface="Courier New"/>
                <a:cs typeface="Courier New"/>
              </a:defRPr>
            </a:pPr>
            <a:r>
              <a:rPr sz="2775" b="0">
                <a:solidFill>
                  <a:srgbClr val="162237"/>
                </a:solidFill>
                <a:latin typeface="Courier New"/>
                <a:ea typeface="Courier New"/>
                <a:cs typeface="Courier New"/>
              </a:rPr>
              <a:t>t1 = 3        : int</a:t>
            </a:r>
          </a:p>
          <a:p xmlns:a="http://schemas.openxmlformats.org/drawingml/2006/main">
            <a:pPr algn="l">
              <a:defRPr sz="2775" b="0">
                <a:solidFill>
                  <a:srgbClr val="162237"/>
                </a:solidFill>
                <a:latin typeface="Courier New"/>
                <a:ea typeface="Courier New"/>
                <a:cs typeface="Courier New"/>
              </a:defRPr>
            </a:pPr>
            <a:r>
              <a:rPr sz="2775" b="0">
                <a:solidFill>
                  <a:srgbClr val="162237"/>
                </a:solidFill>
                <a:latin typeface="Courier New"/>
                <a:ea typeface="Courier New"/>
                <a:cs typeface="Courier New"/>
              </a:rPr>
              <a:t>t2 = t0 + t1  : int</a:t>
            </a:r>
          </a:p>
          <a:p xmlns:a="http://schemas.openxmlformats.org/drawingml/2006/main">
            <a:pPr algn="l">
              <a:defRPr sz="2775" b="0">
                <a:solidFill>
                  <a:srgbClr val="162237"/>
                </a:solidFill>
                <a:latin typeface="Courier New"/>
                <a:ea typeface="Courier New"/>
                <a:cs typeface="Courier New"/>
              </a:defRPr>
            </a:pPr>
            <a:r>
              <a:rPr sz="2775" b="0">
                <a:solidFill>
                  <a:srgbClr val="162237"/>
                </a:solidFill>
                <a:latin typeface="Courier New"/>
                <a:ea typeface="Courier New"/>
                <a:cs typeface="Courier New"/>
              </a:rPr>
              <a:t>t3 = 4        : int</a:t>
            </a:r>
          </a:p>
          <a:p xmlns:a="http://schemas.openxmlformats.org/drawingml/2006/main">
            <a:pPr algn="l">
              <a:defRPr sz="2775" b="0">
                <a:solidFill>
                  <a:srgbClr val="162237"/>
                </a:solidFill>
                <a:latin typeface="Courier New"/>
                <a:ea typeface="Courier New"/>
                <a:cs typeface="Courier New"/>
              </a:defRPr>
            </a:pPr>
            <a:r>
              <a:rPr sz="2775" b="0">
                <a:solidFill>
                  <a:srgbClr val="162237"/>
                </a:solidFill>
                <a:latin typeface="Courier New"/>
                <a:ea typeface="Courier New"/>
                <a:cs typeface="Courier New"/>
              </a:rPr>
              <a:t>t4 = t2 * t3  : int</a:t>
            </a:r>
          </a:p>
          <a:p xmlns:a="http://schemas.openxmlformats.org/drawingml/2006/main">
            <a:pPr algn="l">
              <a:defRPr sz="2775" b="0">
                <a:solidFill>
                  <a:srgbClr val="162237"/>
                </a:solidFill>
                <a:latin typeface="Courier New"/>
                <a:ea typeface="Courier New"/>
                <a:cs typeface="Courier New"/>
              </a:defRPr>
            </a:pPr>
            <a:r>
              <a:rPr sz="2775" b="0">
                <a:solidFill>
                  <a:srgbClr val="162237"/>
                </a:solidFill>
                <a:latin typeface="Courier New"/>
                <a:ea typeface="Courier New"/>
                <a:cs typeface="Courier New"/>
              </a:rPr>
              <a:t>output(t4)</a:t>
            </a:r>
          </a:p>
          <a:p xmlns:a="http://schemas.openxmlformats.org/drawingml/2006/main">
            <a:pPr algn="l">
              <a:defRPr sz="2775" b="0">
                <a:solidFill>
                  <a:srgbClr val="162237"/>
                </a:solidFill>
                <a:latin typeface="Courier New"/>
                <a:ea typeface="Courier New"/>
                <a:cs typeface="Courier New"/>
              </a:defRPr>
            </a:pPr>
            <a:r>
              <a:rPr sz="2775" b="0">
                <a:solidFill>
                  <a:srgbClr val="162237"/>
                </a:solidFill>
                <a:latin typeface="Courier New"/>
                <a:ea typeface="Courier New"/>
                <a:cs typeface="Courier New"/>
              </a:rPr>
              <a:t>return</a:t>
            </a:r>
          </a:p>
        </p:txBody>
      </p:sp>
      <p:sp>
        <p:nvSpPr>
          <p:cNvPr id="6" name="Explicit computation">
            <a:extLst xmlns:a="http://schemas.openxmlformats.org/drawingml/2006/main">
              <a:ext uri="{FF2B5EF4-FFF2-40B4-BE49-F238E27FC236}">
                <a16:creationId xmlns:a16="http://schemas.microsoft.com/office/drawing/2014/main" id="{CEC389D7-AF01-4686-8C76-AA3D713C88E7}"/>
              </a:ext>
            </a:extLst>
          </p:cNvPr>
          <p:cNvSpPr>
            <a:spLocks xmlns:a="http://schemas.openxmlformats.org/drawingml/2006/main" noGrp="1"/>
          </p:cNvSpPr>
          <p:nvPr/>
        </p:nvSpPr>
        <p:spPr>
          <a:xfrm xmlns:a="http://schemas.openxmlformats.org/drawingml/2006/main">
            <a:off x="781050" y="423862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Explicit computation</a:t>
            </a:r>
          </a:p>
        </p:txBody>
      </p:sp>
      <p:sp>
        <p:nvSpPr>
          <p:cNvPr id="7" name="Each arithmetic operation defines&#10;a typed temporary.">
            <a:extLst xmlns:a="http://schemas.openxmlformats.org/drawingml/2006/main">
              <a:ext uri="{FF2B5EF4-FFF2-40B4-BE49-F238E27FC236}">
                <a16:creationId xmlns:a16="http://schemas.microsoft.com/office/drawing/2014/main" id="{EDEF90A2-8505-420F-96A7-3F2936D07431}"/>
              </a:ext>
            </a:extLst>
          </p:cNvPr>
          <p:cNvSpPr>
            <a:spLocks xmlns:a="http://schemas.openxmlformats.org/drawingml/2006/main" noGrp="1"/>
          </p:cNvSpPr>
          <p:nvPr/>
        </p:nvSpPr>
        <p:spPr>
          <a:xfrm xmlns:a="http://schemas.openxmlformats.org/drawingml/2006/main">
            <a:off x="781050" y="4857750"/>
            <a:ext cx="619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Each arithmetic operation defines</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a typed temporary.</a:t>
            </a:r>
          </a:p>
        </p:txBody>
      </p:sp>
      <p:sp>
        <p:nvSpPr>
          <p:cNvPr id="8" name="Readable rendering of the original IR. Every instructio">
            <a:extLst xmlns:a="http://schemas.openxmlformats.org/drawingml/2006/main">
              <a:ext uri="{FF2B5EF4-FFF2-40B4-BE49-F238E27FC236}">
                <a16:creationId xmlns:a16="http://schemas.microsoft.com/office/drawing/2014/main" id="{C74B0B8E-56DA-4013-9996-B844CCBEAA5F}"/>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Readable rendering of the original IR. Every instruction also retains source metadata.</a:t>
            </a:r>
          </a:p>
        </p:txBody>
      </p:sp>
    </p:spTree>
    <p:extLst>
      <p:ext uri="{BB962C8B-B14F-4D97-AF65-F5344CB8AC3E}">
        <p14:creationId xmlns:p14="http://schemas.microsoft.com/office/powerpoint/2010/main" val="1697156899"/>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32B5C0DE-56D3-4451-8B8D-47F0B1DA6B1D}"/>
              </a:ext>
            </a:extLst>
          </p:cNvPr>
          <p:cNvCxnSpPr>
            <a:stCxn xmlns:a="http://schemas.openxmlformats.org/drawingml/2006/main" id="13" idx="2"/>
            <a:endCxn xmlns:a="http://schemas.openxmlformats.org/drawingml/2006/main" id="16" idx="0"/>
          </p:cNvCxnSpPr>
          <p:nvPr/>
        </p:nvCxnSpPr>
        <p:spPr>
          <a:xfrm xmlns:a="http://schemas.openxmlformats.org/drawingml/2006/main" flipH="1">
            <a:off x="10668000" y="5715000"/>
            <a:ext cx="2333625" cy="714375"/>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3621896-AB8E-4EED-B3F0-D1EF5EB44926}"/>
              </a:ext>
            </a:extLst>
          </p:cNvPr>
          <p:cNvCxnSpPr>
            <a:stCxn xmlns:a="http://schemas.openxmlformats.org/drawingml/2006/main" id="10" idx="2"/>
            <a:endCxn xmlns:a="http://schemas.openxmlformats.org/drawingml/2006/main" id="16" idx="0"/>
          </p:cNvCxnSpPr>
          <p:nvPr/>
        </p:nvCxnSpPr>
        <p:spPr>
          <a:xfrm xmlns:a="http://schemas.openxmlformats.org/drawingml/2006/main">
            <a:off x="8334375" y="5715000"/>
            <a:ext cx="2333625" cy="714375"/>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8E6859E2-55B6-49CF-B714-20BCD197D4CA}"/>
              </a:ext>
            </a:extLst>
          </p:cNvPr>
          <p:cNvCxnSpPr>
            <a:stCxn xmlns:a="http://schemas.openxmlformats.org/drawingml/2006/main" id="7" idx="2"/>
            <a:endCxn xmlns:a="http://schemas.openxmlformats.org/drawingml/2006/main" id="13" idx="0"/>
          </p:cNvCxnSpPr>
          <p:nvPr/>
        </p:nvCxnSpPr>
        <p:spPr>
          <a:xfrm xmlns:a="http://schemas.openxmlformats.org/drawingml/2006/main">
            <a:off x="10668000" y="3810000"/>
            <a:ext cx="2333625" cy="666750"/>
          </a:xfrm>
          <a:prstGeom xmlns:a="http://schemas.openxmlformats.org/drawingml/2006/main" prst="straightConnector1">
            <a:avLst/>
          </a:prstGeom>
          <a:ln xmlns:a="http://schemas.openxmlformats.org/drawingml/2006/main" w="22860">
            <a:solidFill>
              <a:srgbClr val="C44632"/>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E39CE070-43BA-4390-BF84-71866C6B15D4}"/>
              </a:ext>
            </a:extLst>
          </p:cNvPr>
          <p:cNvCxnSpPr>
            <a:stCxn xmlns:a="http://schemas.openxmlformats.org/drawingml/2006/main" id="7" idx="2"/>
            <a:endCxn xmlns:a="http://schemas.openxmlformats.org/drawingml/2006/main" id="10" idx="0"/>
          </p:cNvCxnSpPr>
          <p:nvPr/>
        </p:nvCxnSpPr>
        <p:spPr>
          <a:xfrm xmlns:a="http://schemas.openxmlformats.org/drawingml/2006/main" flipH="1">
            <a:off x="8334375" y="3810000"/>
            <a:ext cx="2333625" cy="666750"/>
          </a:xfrm>
          <a:prstGeom xmlns:a="http://schemas.openxmlformats.org/drawingml/2006/main" prst="straightConnector1">
            <a:avLst/>
          </a:prstGeom>
          <a:ln xmlns:a="http://schemas.openxmlformats.org/drawingml/2006/main" w="22860">
            <a:solidFill>
              <a:srgbClr val="147B70"/>
            </a:solidFill>
            <a:prstDash val="solid"/>
            <a:tailEnd type="triangle" w="sm" len="sm"/>
          </a:ln>
        </p:spPr>
      </p:cxnSp>
      <p:sp>
        <p:nvSpPr>
          <p:cNvPr id="23" name="Basic blocks and the control-flow graph">
            <a:extLst xmlns:a="http://schemas.openxmlformats.org/drawingml/2006/main">
              <a:ext uri="{FF2B5EF4-FFF2-40B4-BE49-F238E27FC236}">
                <a16:creationId xmlns:a16="http://schemas.microsoft.com/office/drawing/2014/main" id="{BFF2F3A8-708F-444D-AD55-973E332C632E}"/>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Basic blocks and the control-flow graph</a:t>
            </a:r>
          </a:p>
        </p:txBody>
      </p:sp>
      <p:sp>
        <p:nvSpPr>
          <p:cNvPr id="2" name="A known branch exposes an unreachable path after simpli">
            <a:extLst xmlns:a="http://schemas.openxmlformats.org/drawingml/2006/main">
              <a:ext uri="{FF2B5EF4-FFF2-40B4-BE49-F238E27FC236}">
                <a16:creationId xmlns:a16="http://schemas.microsoft.com/office/drawing/2014/main" id="{1DA97EBD-99B2-4F1D-8FFC-C0B93877F0D7}"/>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A known branch exposes an unreachable path after simplification</a:t>
            </a:r>
          </a:p>
        </p:txBody>
      </p:sp>
      <p:sp>
        <p:nvSpPr>
          <p:cNvPr id="3" name="15">
            <a:extLst xmlns:a="http://schemas.openxmlformats.org/drawingml/2006/main">
              <a:ext uri="{FF2B5EF4-FFF2-40B4-BE49-F238E27FC236}">
                <a16:creationId xmlns:a16="http://schemas.microsoft.com/office/drawing/2014/main" id="{8095E28E-80EF-41A0-9AF0-E767F541E1D6}"/>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15</a:t>
            </a:r>
          </a:p>
        </p:txBody>
      </p:sp>
      <p:sp>
        <p:nvSpPr>
          <p:cNvPr id="4" name="if True:&#10;    print(1)&#10;else:&#10;    print(2)">
            <a:extLst xmlns:a="http://schemas.openxmlformats.org/drawingml/2006/main">
              <a:ext uri="{FF2B5EF4-FFF2-40B4-BE49-F238E27FC236}">
                <a16:creationId xmlns:a16="http://schemas.microsoft.com/office/drawing/2014/main" id="{E3D4471A-DD6A-491A-8204-003AC7ED05E1}"/>
              </a:ext>
            </a:extLst>
          </p:cNvPr>
          <p:cNvSpPr>
            <a:spLocks xmlns:a="http://schemas.openxmlformats.org/drawingml/2006/main" noGrp="1"/>
          </p:cNvSpPr>
          <p:nvPr/>
        </p:nvSpPr>
        <p:spPr>
          <a:xfrm xmlns:a="http://schemas.openxmlformats.org/drawingml/2006/main">
            <a:off x="781050" y="2876550"/>
            <a:ext cx="5143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62237"/>
                </a:solidFill>
                <a:latin typeface="Courier New"/>
                <a:ea typeface="Courier New"/>
                <a:cs typeface="Courier New"/>
              </a:defRPr>
            </a:defPPr>
            <a:lvl1pPr algn="l">
              <a:defRPr sz="2625" b="0">
                <a:solidFill>
                  <a:srgbClr val="162237"/>
                </a:solidFill>
                <a:latin typeface="Courier New"/>
                <a:ea typeface="Courier New"/>
                <a:cs typeface="Courier New"/>
              </a:defRPr>
            </a:lvl1pPr>
            <a:lvl2pPr algn="l">
              <a:defRPr sz="2625" b="0">
                <a:solidFill>
                  <a:srgbClr val="162237"/>
                </a:solidFill>
                <a:latin typeface="Courier New"/>
                <a:ea typeface="Courier New"/>
                <a:cs typeface="Courier New"/>
              </a:defRPr>
            </a:lvl2pPr>
            <a:lvl3pPr algn="l">
              <a:defRPr sz="2625" b="0">
                <a:solidFill>
                  <a:srgbClr val="162237"/>
                </a:solidFill>
                <a:latin typeface="Courier New"/>
                <a:ea typeface="Courier New"/>
                <a:cs typeface="Courier New"/>
              </a:defRPr>
            </a:lvl3pPr>
            <a:lvl4pPr algn="l">
              <a:defRPr sz="2625" b="0">
                <a:solidFill>
                  <a:srgbClr val="162237"/>
                </a:solidFill>
                <a:latin typeface="Courier New"/>
                <a:ea typeface="Courier New"/>
                <a:cs typeface="Courier New"/>
              </a:defRPr>
            </a:lvl4pPr>
            <a:lvl5pPr algn="l">
              <a:defRPr sz="2625" b="0">
                <a:solidFill>
                  <a:srgbClr val="162237"/>
                </a:solidFill>
                <a:latin typeface="Courier New"/>
                <a:ea typeface="Courier New"/>
                <a:cs typeface="Courier New"/>
              </a:defRPr>
            </a:lvl5pPr>
            <a:lvl6pPr algn="l">
              <a:defRPr sz="2625" b="0">
                <a:solidFill>
                  <a:srgbClr val="162237"/>
                </a:solidFill>
                <a:latin typeface="Courier New"/>
                <a:ea typeface="Courier New"/>
                <a:cs typeface="Courier New"/>
              </a:defRPr>
            </a:lvl6pPr>
            <a:lvl7pPr algn="l">
              <a:defRPr sz="2625" b="0">
                <a:solidFill>
                  <a:srgbClr val="162237"/>
                </a:solidFill>
                <a:latin typeface="Courier New"/>
                <a:ea typeface="Courier New"/>
                <a:cs typeface="Courier New"/>
              </a:defRPr>
            </a:lvl7pPr>
            <a:lvl8pPr algn="l">
              <a:defRPr sz="2625" b="0">
                <a:solidFill>
                  <a:srgbClr val="162237"/>
                </a:solidFill>
                <a:latin typeface="Courier New"/>
                <a:ea typeface="Courier New"/>
                <a:cs typeface="Courier New"/>
              </a:defRPr>
            </a:lvl8pPr>
            <a:lvl9pPr algn="l">
              <a:defRPr sz="2625" b="0">
                <a:solidFill>
                  <a:srgbClr val="162237"/>
                </a:solidFill>
                <a:latin typeface="Courier New"/>
                <a:ea typeface="Courier New"/>
                <a:cs typeface="Courier New"/>
              </a:defRPr>
            </a:lvl9pPr>
          </a:lstStyle>
          <a:p xmlns:a="http://schemas.openxmlformats.org/drawingml/2006/main">
            <a:pPr algn="l">
              <a:defRPr sz="2625" b="0">
                <a:solidFill>
                  <a:srgbClr val="162237"/>
                </a:solidFill>
                <a:latin typeface="Courier New"/>
                <a:ea typeface="Courier New"/>
                <a:cs typeface="Courier New"/>
              </a:defRPr>
            </a:pPr>
            <a:r>
              <a:rPr sz="2625" b="0">
                <a:solidFill>
                  <a:srgbClr val="162237"/>
                </a:solidFill>
                <a:latin typeface="Courier New"/>
                <a:ea typeface="Courier New"/>
                <a:cs typeface="Courier New"/>
              </a:rPr>
              <a:t>if True:</a:t>
            </a:r>
          </a:p>
          <a:p xmlns:a="http://schemas.openxmlformats.org/drawingml/2006/main">
            <a:pPr algn="l">
              <a:defRPr sz="2625" b="0">
                <a:solidFill>
                  <a:srgbClr val="162237"/>
                </a:solidFill>
                <a:latin typeface="Courier New"/>
                <a:ea typeface="Courier New"/>
                <a:cs typeface="Courier New"/>
              </a:defRPr>
            </a:pPr>
            <a:r>
              <a:rPr sz="2625" b="0">
                <a:solidFill>
                  <a:srgbClr val="162237"/>
                </a:solidFill>
                <a:latin typeface="Courier New"/>
                <a:ea typeface="Courier New"/>
                <a:cs typeface="Courier New"/>
              </a:rPr>
              <a:t>    print(1)</a:t>
            </a:r>
          </a:p>
          <a:p xmlns:a="http://schemas.openxmlformats.org/drawingml/2006/main">
            <a:pPr algn="l">
              <a:defRPr sz="2625" b="0">
                <a:solidFill>
                  <a:srgbClr val="162237"/>
                </a:solidFill>
                <a:latin typeface="Courier New"/>
                <a:ea typeface="Courier New"/>
                <a:cs typeface="Courier New"/>
              </a:defRPr>
            </a:pPr>
            <a:r>
              <a:rPr sz="2625" b="0">
                <a:solidFill>
                  <a:srgbClr val="162237"/>
                </a:solidFill>
                <a:latin typeface="Courier New"/>
                <a:ea typeface="Courier New"/>
                <a:cs typeface="Courier New"/>
              </a:rPr>
              <a:t>else:</a:t>
            </a:r>
          </a:p>
          <a:p xmlns:a="http://schemas.openxmlformats.org/drawingml/2006/main">
            <a:pPr algn="l">
              <a:defRPr sz="2625" b="0">
                <a:solidFill>
                  <a:srgbClr val="162237"/>
                </a:solidFill>
                <a:latin typeface="Courier New"/>
                <a:ea typeface="Courier New"/>
                <a:cs typeface="Courier New"/>
              </a:defRPr>
            </a:pPr>
            <a:r>
              <a:rPr sz="2625" b="0">
                <a:solidFill>
                  <a:srgbClr val="162237"/>
                </a:solidFill>
                <a:latin typeface="Courier New"/>
                <a:ea typeface="Courier New"/>
                <a:cs typeface="Courier New"/>
              </a:rPr>
              <a:t>    print(2)</a:t>
            </a:r>
          </a:p>
        </p:txBody>
      </p:sp>
      <p:sp>
        <p:nvSpPr>
          <p:cNvPr id="5" name="Before optimization">
            <a:extLst xmlns:a="http://schemas.openxmlformats.org/drawingml/2006/main">
              <a:ext uri="{FF2B5EF4-FFF2-40B4-BE49-F238E27FC236}">
                <a16:creationId xmlns:a16="http://schemas.microsoft.com/office/drawing/2014/main" id="{A7B061CD-CCFF-4A5C-836D-E6AF91EBC141}"/>
              </a:ext>
            </a:extLst>
          </p:cNvPr>
          <p:cNvSpPr>
            <a:spLocks xmlns:a="http://schemas.openxmlformats.org/drawingml/2006/main" noGrp="1"/>
          </p:cNvSpPr>
          <p:nvPr/>
        </p:nvSpPr>
        <p:spPr>
          <a:xfrm xmlns:a="http://schemas.openxmlformats.org/drawingml/2006/main">
            <a:off x="781050" y="5857875"/>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956D7"/>
                </a:solidFill>
                <a:latin typeface="Arial"/>
                <a:ea typeface="Arial"/>
                <a:cs typeface="Arial"/>
              </a:defRPr>
            </a:defPPr>
            <a:lvl1pPr algn="l">
              <a:defRPr sz="2550" b="1">
                <a:solidFill>
                  <a:srgbClr val="2956D7"/>
                </a:solidFill>
                <a:latin typeface="Arial"/>
                <a:ea typeface="Arial"/>
                <a:cs typeface="Arial"/>
              </a:defRPr>
            </a:lvl1pPr>
            <a:lvl2pPr algn="l">
              <a:defRPr sz="2550" b="1">
                <a:solidFill>
                  <a:srgbClr val="2956D7"/>
                </a:solidFill>
                <a:latin typeface="Arial"/>
                <a:ea typeface="Arial"/>
                <a:cs typeface="Arial"/>
              </a:defRPr>
            </a:lvl2pPr>
            <a:lvl3pPr algn="l">
              <a:defRPr sz="2550" b="1">
                <a:solidFill>
                  <a:srgbClr val="2956D7"/>
                </a:solidFill>
                <a:latin typeface="Arial"/>
                <a:ea typeface="Arial"/>
                <a:cs typeface="Arial"/>
              </a:defRPr>
            </a:lvl3pPr>
            <a:lvl4pPr algn="l">
              <a:defRPr sz="2550" b="1">
                <a:solidFill>
                  <a:srgbClr val="2956D7"/>
                </a:solidFill>
                <a:latin typeface="Arial"/>
                <a:ea typeface="Arial"/>
                <a:cs typeface="Arial"/>
              </a:defRPr>
            </a:lvl4pPr>
            <a:lvl5pPr algn="l">
              <a:defRPr sz="2550" b="1">
                <a:solidFill>
                  <a:srgbClr val="2956D7"/>
                </a:solidFill>
                <a:latin typeface="Arial"/>
                <a:ea typeface="Arial"/>
                <a:cs typeface="Arial"/>
              </a:defRPr>
            </a:lvl5pPr>
            <a:lvl6pPr algn="l">
              <a:defRPr sz="2550" b="1">
                <a:solidFill>
                  <a:srgbClr val="2956D7"/>
                </a:solidFill>
                <a:latin typeface="Arial"/>
                <a:ea typeface="Arial"/>
                <a:cs typeface="Arial"/>
              </a:defRPr>
            </a:lvl6pPr>
            <a:lvl7pPr algn="l">
              <a:defRPr sz="2550" b="1">
                <a:solidFill>
                  <a:srgbClr val="2956D7"/>
                </a:solidFill>
                <a:latin typeface="Arial"/>
                <a:ea typeface="Arial"/>
                <a:cs typeface="Arial"/>
              </a:defRPr>
            </a:lvl7pPr>
            <a:lvl8pPr algn="l">
              <a:defRPr sz="2550" b="1">
                <a:solidFill>
                  <a:srgbClr val="2956D7"/>
                </a:solidFill>
                <a:latin typeface="Arial"/>
                <a:ea typeface="Arial"/>
                <a:cs typeface="Arial"/>
              </a:defRPr>
            </a:lvl8pPr>
            <a:lvl9pPr algn="l">
              <a:defRPr sz="2550" b="1">
                <a:solidFill>
                  <a:srgbClr val="2956D7"/>
                </a:solidFill>
                <a:latin typeface="Arial"/>
                <a:ea typeface="Arial"/>
                <a:cs typeface="Arial"/>
              </a:defRPr>
            </a:lvl9pPr>
          </a:lstStyle>
          <a:p xmlns:a="http://schemas.openxmlformats.org/drawingml/2006/main">
            <a:pPr algn="l">
              <a:defRPr sz="2550" b="1">
                <a:solidFill>
                  <a:srgbClr val="2956D7"/>
                </a:solidFill>
                <a:latin typeface="Arial"/>
                <a:ea typeface="Arial"/>
                <a:cs typeface="Arial"/>
              </a:defRPr>
            </a:pPr>
            <a:r>
              <a:rPr sz="2550" b="1">
                <a:solidFill>
                  <a:srgbClr val="2956D7"/>
                </a:solidFill>
                <a:latin typeface="Arial"/>
                <a:ea typeface="Arial"/>
                <a:cs typeface="Arial"/>
              </a:rPr>
              <a:t>Before optimization</a:t>
            </a:r>
          </a:p>
        </p:txBody>
      </p:sp>
      <p:sp>
        <p:nvSpPr>
          <p:cNvPr id="6" name="Both branch targets exist in the&#10;original control-flow ">
            <a:extLst xmlns:a="http://schemas.openxmlformats.org/drawingml/2006/main">
              <a:ext uri="{FF2B5EF4-FFF2-40B4-BE49-F238E27FC236}">
                <a16:creationId xmlns:a16="http://schemas.microsoft.com/office/drawing/2014/main" id="{D8571E5B-04E3-4B76-A198-5DA41CDC6160}"/>
              </a:ext>
            </a:extLst>
          </p:cNvPr>
          <p:cNvSpPr>
            <a:spLocks xmlns:a="http://schemas.openxmlformats.org/drawingml/2006/main" noGrp="1"/>
          </p:cNvSpPr>
          <p:nvPr/>
        </p:nvSpPr>
        <p:spPr>
          <a:xfrm xmlns:a="http://schemas.openxmlformats.org/drawingml/2006/main">
            <a:off x="781050" y="6457950"/>
            <a:ext cx="5619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Both branch targets exist in the</a:t>
            </a:r>
          </a:p>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original control-flow graph.</a:t>
            </a:r>
          </a:p>
        </p:txBody>
      </p:sp>
      <p:sp>
        <p:nvSpPr>
          <p:cNvPr id="7" name="B0: condition">
            <a:extLst xmlns:a="http://schemas.openxmlformats.org/drawingml/2006/main">
              <a:ext uri="{FF2B5EF4-FFF2-40B4-BE49-F238E27FC236}">
                <a16:creationId xmlns:a16="http://schemas.microsoft.com/office/drawing/2014/main" id="{5BD5E024-5975-4488-B163-62898A344F39}"/>
              </a:ext>
            </a:extLst>
          </p:cNvPr>
          <p:cNvSpPr>
            <a:spLocks xmlns:a="http://schemas.openxmlformats.org/drawingml/2006/main" noGrp="1"/>
          </p:cNvSpPr>
          <p:nvPr/>
        </p:nvSpPr>
        <p:spPr>
          <a:xfrm xmlns:a="http://schemas.openxmlformats.org/drawingml/2006/main">
            <a:off x="9048750" y="2381250"/>
            <a:ext cx="3238500" cy="1428750"/>
          </a:xfrm>
          <a:prstGeom xmlns:a="http://schemas.openxmlformats.org/drawingml/2006/main" prst="rect">
            <a:avLst/>
          </a:prstGeom>
          <a:solidFill xmlns:a="http://schemas.openxmlformats.org/drawingml/2006/main">
            <a:srgbClr val="DDF2EC"/>
          </a:solidFill>
          <a:ln xmlns:a="http://schemas.openxmlformats.org/drawingml/2006/main" w="16193">
            <a:solidFill>
              <a:srgbClr val="147B70"/>
            </a:solidFill>
          </a:ln>
        </p:spPr>
      </p:sp>
      <p:sp>
        <p:nvSpPr>
          <p:cNvPr id="8" name="B0: condition">
            <a:extLst xmlns:a="http://schemas.openxmlformats.org/drawingml/2006/main">
              <a:ext uri="{FF2B5EF4-FFF2-40B4-BE49-F238E27FC236}">
                <a16:creationId xmlns:a16="http://schemas.microsoft.com/office/drawing/2014/main" id="{4602149E-BA2B-483E-A929-B4031A51946E}"/>
              </a:ext>
            </a:extLst>
          </p:cNvPr>
          <p:cNvSpPr>
            <a:spLocks xmlns:a="http://schemas.openxmlformats.org/drawingml/2006/main" noGrp="1"/>
          </p:cNvSpPr>
          <p:nvPr/>
        </p:nvSpPr>
        <p:spPr>
          <a:xfrm xmlns:a="http://schemas.openxmlformats.org/drawingml/2006/main">
            <a:off x="9239250" y="2552700"/>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B0: condition</a:t>
            </a:r>
          </a:p>
        </p:txBody>
      </p:sp>
      <p:sp>
        <p:nvSpPr>
          <p:cNvPr id="9" name="t0 = True&#10;branch t0">
            <a:extLst xmlns:a="http://schemas.openxmlformats.org/drawingml/2006/main">
              <a:ext uri="{FF2B5EF4-FFF2-40B4-BE49-F238E27FC236}">
                <a16:creationId xmlns:a16="http://schemas.microsoft.com/office/drawing/2014/main" id="{F89CAF4E-5BFB-4A2C-A18E-10C140038FFF}"/>
              </a:ext>
            </a:extLst>
          </p:cNvPr>
          <p:cNvSpPr>
            <a:spLocks xmlns:a="http://schemas.openxmlformats.org/drawingml/2006/main" noGrp="1"/>
          </p:cNvSpPr>
          <p:nvPr/>
        </p:nvSpPr>
        <p:spPr>
          <a:xfrm xmlns:a="http://schemas.openxmlformats.org/drawingml/2006/main">
            <a:off x="9239250" y="31051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t0 = True</a:t>
            </a:r>
          </a:p>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branch t0</a:t>
            </a:r>
          </a:p>
        </p:txBody>
      </p:sp>
      <p:sp>
        <p:nvSpPr>
          <p:cNvPr id="10" name="B1: true path">
            <a:extLst xmlns:a="http://schemas.openxmlformats.org/drawingml/2006/main">
              <a:ext uri="{FF2B5EF4-FFF2-40B4-BE49-F238E27FC236}">
                <a16:creationId xmlns:a16="http://schemas.microsoft.com/office/drawing/2014/main" id="{54B607BA-F907-40F8-BA17-0514C5C57C27}"/>
              </a:ext>
            </a:extLst>
          </p:cNvPr>
          <p:cNvSpPr>
            <a:spLocks xmlns:a="http://schemas.openxmlformats.org/drawingml/2006/main" noGrp="1"/>
          </p:cNvSpPr>
          <p:nvPr/>
        </p:nvSpPr>
        <p:spPr>
          <a:xfrm xmlns:a="http://schemas.openxmlformats.org/drawingml/2006/main">
            <a:off x="6762750" y="4476750"/>
            <a:ext cx="3143250" cy="123825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1" name="B1: true path">
            <a:extLst xmlns:a="http://schemas.openxmlformats.org/drawingml/2006/main">
              <a:ext uri="{FF2B5EF4-FFF2-40B4-BE49-F238E27FC236}">
                <a16:creationId xmlns:a16="http://schemas.microsoft.com/office/drawing/2014/main" id="{EE56AB2B-B1C3-42D8-B112-095EEED36ED5}"/>
              </a:ext>
            </a:extLst>
          </p:cNvPr>
          <p:cNvSpPr>
            <a:spLocks xmlns:a="http://schemas.openxmlformats.org/drawingml/2006/main" noGrp="1"/>
          </p:cNvSpPr>
          <p:nvPr/>
        </p:nvSpPr>
        <p:spPr>
          <a:xfrm xmlns:a="http://schemas.openxmlformats.org/drawingml/2006/main">
            <a:off x="6953250" y="4648200"/>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73C"/>
                </a:solidFill>
                <a:latin typeface="Arial"/>
                <a:ea typeface="Arial"/>
                <a:cs typeface="Arial"/>
              </a:defRPr>
            </a:defPPr>
            <a:lvl1pPr algn="l">
              <a:defRPr sz="2250" b="1">
                <a:solidFill>
                  <a:srgbClr val="17273C"/>
                </a:solidFill>
                <a:latin typeface="Arial"/>
                <a:ea typeface="Arial"/>
                <a:cs typeface="Arial"/>
              </a:defRPr>
            </a:lvl1pPr>
            <a:lvl2pPr algn="l">
              <a:defRPr sz="2250" b="1">
                <a:solidFill>
                  <a:srgbClr val="17273C"/>
                </a:solidFill>
                <a:latin typeface="Arial"/>
                <a:ea typeface="Arial"/>
                <a:cs typeface="Arial"/>
              </a:defRPr>
            </a:lvl2pPr>
            <a:lvl3pPr algn="l">
              <a:defRPr sz="2250" b="1">
                <a:solidFill>
                  <a:srgbClr val="17273C"/>
                </a:solidFill>
                <a:latin typeface="Arial"/>
                <a:ea typeface="Arial"/>
                <a:cs typeface="Arial"/>
              </a:defRPr>
            </a:lvl3pPr>
            <a:lvl4pPr algn="l">
              <a:defRPr sz="2250" b="1">
                <a:solidFill>
                  <a:srgbClr val="17273C"/>
                </a:solidFill>
                <a:latin typeface="Arial"/>
                <a:ea typeface="Arial"/>
                <a:cs typeface="Arial"/>
              </a:defRPr>
            </a:lvl4pPr>
            <a:lvl5pPr algn="l">
              <a:defRPr sz="2250" b="1">
                <a:solidFill>
                  <a:srgbClr val="17273C"/>
                </a:solidFill>
                <a:latin typeface="Arial"/>
                <a:ea typeface="Arial"/>
                <a:cs typeface="Arial"/>
              </a:defRPr>
            </a:lvl5pPr>
            <a:lvl6pPr algn="l">
              <a:defRPr sz="2250" b="1">
                <a:solidFill>
                  <a:srgbClr val="17273C"/>
                </a:solidFill>
                <a:latin typeface="Arial"/>
                <a:ea typeface="Arial"/>
                <a:cs typeface="Arial"/>
              </a:defRPr>
            </a:lvl6pPr>
            <a:lvl7pPr algn="l">
              <a:defRPr sz="2250" b="1">
                <a:solidFill>
                  <a:srgbClr val="17273C"/>
                </a:solidFill>
                <a:latin typeface="Arial"/>
                <a:ea typeface="Arial"/>
                <a:cs typeface="Arial"/>
              </a:defRPr>
            </a:lvl7pPr>
            <a:lvl8pPr algn="l">
              <a:defRPr sz="2250" b="1">
                <a:solidFill>
                  <a:srgbClr val="17273C"/>
                </a:solidFill>
                <a:latin typeface="Arial"/>
                <a:ea typeface="Arial"/>
                <a:cs typeface="Arial"/>
              </a:defRPr>
            </a:lvl8pPr>
            <a:lvl9pPr algn="l">
              <a:defRPr sz="2250" b="1">
                <a:solidFill>
                  <a:srgbClr val="17273C"/>
                </a:solidFill>
                <a:latin typeface="Arial"/>
                <a:ea typeface="Arial"/>
                <a:cs typeface="Arial"/>
              </a:defRPr>
            </a:lvl9pPr>
          </a:lstStyle>
          <a:p xmlns:a="http://schemas.openxmlformats.org/drawingml/2006/main">
            <a:pPr algn="l">
              <a:defRPr sz="2250" b="1">
                <a:solidFill>
                  <a:srgbClr val="17273C"/>
                </a:solidFill>
                <a:latin typeface="Arial"/>
                <a:ea typeface="Arial"/>
                <a:cs typeface="Arial"/>
              </a:defRPr>
            </a:pPr>
            <a:r>
              <a:rPr sz="2250" b="1">
                <a:solidFill>
                  <a:srgbClr val="17273C"/>
                </a:solidFill>
                <a:latin typeface="Arial"/>
                <a:ea typeface="Arial"/>
                <a:cs typeface="Arial"/>
              </a:rPr>
              <a:t>B1: true path</a:t>
            </a:r>
          </a:p>
        </p:txBody>
      </p:sp>
      <p:sp>
        <p:nvSpPr>
          <p:cNvPr id="12" name="output(1)">
            <a:extLst xmlns:a="http://schemas.openxmlformats.org/drawingml/2006/main">
              <a:ext uri="{FF2B5EF4-FFF2-40B4-BE49-F238E27FC236}">
                <a16:creationId xmlns:a16="http://schemas.microsoft.com/office/drawing/2014/main" id="{96830722-0BF6-46FC-AEC8-5DFD386A3ABA}"/>
              </a:ext>
            </a:extLst>
          </p:cNvPr>
          <p:cNvSpPr>
            <a:spLocks xmlns:a="http://schemas.openxmlformats.org/drawingml/2006/main" noGrp="1"/>
          </p:cNvSpPr>
          <p:nvPr/>
        </p:nvSpPr>
        <p:spPr>
          <a:xfrm xmlns:a="http://schemas.openxmlformats.org/drawingml/2006/main">
            <a:off x="6953250" y="52006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output(1)</a:t>
            </a:r>
          </a:p>
        </p:txBody>
      </p:sp>
      <p:sp>
        <p:nvSpPr>
          <p:cNvPr id="13" name="B2: false path">
            <a:extLst xmlns:a="http://schemas.openxmlformats.org/drawingml/2006/main">
              <a:ext uri="{FF2B5EF4-FFF2-40B4-BE49-F238E27FC236}">
                <a16:creationId xmlns:a16="http://schemas.microsoft.com/office/drawing/2014/main" id="{D508BF3A-F1F4-48B1-AB59-7F57F1961169}"/>
              </a:ext>
            </a:extLst>
          </p:cNvPr>
          <p:cNvSpPr>
            <a:spLocks xmlns:a="http://schemas.openxmlformats.org/drawingml/2006/main" noGrp="1"/>
          </p:cNvSpPr>
          <p:nvPr/>
        </p:nvSpPr>
        <p:spPr>
          <a:xfrm xmlns:a="http://schemas.openxmlformats.org/drawingml/2006/main">
            <a:off x="11430000" y="4476750"/>
            <a:ext cx="3143250" cy="123825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4" name="B2: false path">
            <a:extLst xmlns:a="http://schemas.openxmlformats.org/drawingml/2006/main">
              <a:ext uri="{FF2B5EF4-FFF2-40B4-BE49-F238E27FC236}">
                <a16:creationId xmlns:a16="http://schemas.microsoft.com/office/drawing/2014/main" id="{810BCC03-52C7-4B4B-8329-960471AB94D4}"/>
              </a:ext>
            </a:extLst>
          </p:cNvPr>
          <p:cNvSpPr>
            <a:spLocks xmlns:a="http://schemas.openxmlformats.org/drawingml/2006/main" noGrp="1"/>
          </p:cNvSpPr>
          <p:nvPr/>
        </p:nvSpPr>
        <p:spPr>
          <a:xfrm xmlns:a="http://schemas.openxmlformats.org/drawingml/2006/main">
            <a:off x="11620500" y="4648200"/>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73C"/>
                </a:solidFill>
                <a:latin typeface="Arial"/>
                <a:ea typeface="Arial"/>
                <a:cs typeface="Arial"/>
              </a:defRPr>
            </a:defPPr>
            <a:lvl1pPr algn="l">
              <a:defRPr sz="2250" b="1">
                <a:solidFill>
                  <a:srgbClr val="17273C"/>
                </a:solidFill>
                <a:latin typeface="Arial"/>
                <a:ea typeface="Arial"/>
                <a:cs typeface="Arial"/>
              </a:defRPr>
            </a:lvl1pPr>
            <a:lvl2pPr algn="l">
              <a:defRPr sz="2250" b="1">
                <a:solidFill>
                  <a:srgbClr val="17273C"/>
                </a:solidFill>
                <a:latin typeface="Arial"/>
                <a:ea typeface="Arial"/>
                <a:cs typeface="Arial"/>
              </a:defRPr>
            </a:lvl2pPr>
            <a:lvl3pPr algn="l">
              <a:defRPr sz="2250" b="1">
                <a:solidFill>
                  <a:srgbClr val="17273C"/>
                </a:solidFill>
                <a:latin typeface="Arial"/>
                <a:ea typeface="Arial"/>
                <a:cs typeface="Arial"/>
              </a:defRPr>
            </a:lvl3pPr>
            <a:lvl4pPr algn="l">
              <a:defRPr sz="2250" b="1">
                <a:solidFill>
                  <a:srgbClr val="17273C"/>
                </a:solidFill>
                <a:latin typeface="Arial"/>
                <a:ea typeface="Arial"/>
                <a:cs typeface="Arial"/>
              </a:defRPr>
            </a:lvl4pPr>
            <a:lvl5pPr algn="l">
              <a:defRPr sz="2250" b="1">
                <a:solidFill>
                  <a:srgbClr val="17273C"/>
                </a:solidFill>
                <a:latin typeface="Arial"/>
                <a:ea typeface="Arial"/>
                <a:cs typeface="Arial"/>
              </a:defRPr>
            </a:lvl5pPr>
            <a:lvl6pPr algn="l">
              <a:defRPr sz="2250" b="1">
                <a:solidFill>
                  <a:srgbClr val="17273C"/>
                </a:solidFill>
                <a:latin typeface="Arial"/>
                <a:ea typeface="Arial"/>
                <a:cs typeface="Arial"/>
              </a:defRPr>
            </a:lvl6pPr>
            <a:lvl7pPr algn="l">
              <a:defRPr sz="2250" b="1">
                <a:solidFill>
                  <a:srgbClr val="17273C"/>
                </a:solidFill>
                <a:latin typeface="Arial"/>
                <a:ea typeface="Arial"/>
                <a:cs typeface="Arial"/>
              </a:defRPr>
            </a:lvl7pPr>
            <a:lvl8pPr algn="l">
              <a:defRPr sz="2250" b="1">
                <a:solidFill>
                  <a:srgbClr val="17273C"/>
                </a:solidFill>
                <a:latin typeface="Arial"/>
                <a:ea typeface="Arial"/>
                <a:cs typeface="Arial"/>
              </a:defRPr>
            </a:lvl8pPr>
            <a:lvl9pPr algn="l">
              <a:defRPr sz="2250" b="1">
                <a:solidFill>
                  <a:srgbClr val="17273C"/>
                </a:solidFill>
                <a:latin typeface="Arial"/>
                <a:ea typeface="Arial"/>
                <a:cs typeface="Arial"/>
              </a:defRPr>
            </a:lvl9pPr>
          </a:lstStyle>
          <a:p xmlns:a="http://schemas.openxmlformats.org/drawingml/2006/main">
            <a:pPr algn="l">
              <a:defRPr sz="2250" b="1">
                <a:solidFill>
                  <a:srgbClr val="17273C"/>
                </a:solidFill>
                <a:latin typeface="Arial"/>
                <a:ea typeface="Arial"/>
                <a:cs typeface="Arial"/>
              </a:defRPr>
            </a:pPr>
            <a:r>
              <a:rPr sz="2250" b="1">
                <a:solidFill>
                  <a:srgbClr val="17273C"/>
                </a:solidFill>
                <a:latin typeface="Arial"/>
                <a:ea typeface="Arial"/>
                <a:cs typeface="Arial"/>
              </a:rPr>
              <a:t>B2: false path</a:t>
            </a:r>
          </a:p>
        </p:txBody>
      </p:sp>
      <p:sp>
        <p:nvSpPr>
          <p:cNvPr id="15" name="output(2)">
            <a:extLst xmlns:a="http://schemas.openxmlformats.org/drawingml/2006/main">
              <a:ext uri="{FF2B5EF4-FFF2-40B4-BE49-F238E27FC236}">
                <a16:creationId xmlns:a16="http://schemas.microsoft.com/office/drawing/2014/main" id="{573B2DF3-1E81-46B9-8D4B-2AF78E44A572}"/>
              </a:ext>
            </a:extLst>
          </p:cNvPr>
          <p:cNvSpPr>
            <a:spLocks xmlns:a="http://schemas.openxmlformats.org/drawingml/2006/main" noGrp="1"/>
          </p:cNvSpPr>
          <p:nvPr/>
        </p:nvSpPr>
        <p:spPr>
          <a:xfrm xmlns:a="http://schemas.openxmlformats.org/drawingml/2006/main">
            <a:off x="11620500" y="52006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output(2)</a:t>
            </a:r>
          </a:p>
        </p:txBody>
      </p:sp>
      <p:sp>
        <p:nvSpPr>
          <p:cNvPr id="16" name="B3: exit">
            <a:extLst xmlns:a="http://schemas.openxmlformats.org/drawingml/2006/main">
              <a:ext uri="{FF2B5EF4-FFF2-40B4-BE49-F238E27FC236}">
                <a16:creationId xmlns:a16="http://schemas.microsoft.com/office/drawing/2014/main" id="{B032833A-16BB-4AA3-B2FB-E608CDCF9C6D}"/>
              </a:ext>
            </a:extLst>
          </p:cNvPr>
          <p:cNvSpPr>
            <a:spLocks xmlns:a="http://schemas.openxmlformats.org/drawingml/2006/main" noGrp="1"/>
          </p:cNvSpPr>
          <p:nvPr/>
        </p:nvSpPr>
        <p:spPr>
          <a:xfrm xmlns:a="http://schemas.openxmlformats.org/drawingml/2006/main">
            <a:off x="9048750" y="6429375"/>
            <a:ext cx="3238500" cy="1143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7" name="B3: exit">
            <a:extLst xmlns:a="http://schemas.openxmlformats.org/drawingml/2006/main">
              <a:ext uri="{FF2B5EF4-FFF2-40B4-BE49-F238E27FC236}">
                <a16:creationId xmlns:a16="http://schemas.microsoft.com/office/drawing/2014/main" id="{6A614BC1-CF62-457A-A0B7-CEE3367E5089}"/>
              </a:ext>
            </a:extLst>
          </p:cNvPr>
          <p:cNvSpPr>
            <a:spLocks xmlns:a="http://schemas.openxmlformats.org/drawingml/2006/main" noGrp="1"/>
          </p:cNvSpPr>
          <p:nvPr/>
        </p:nvSpPr>
        <p:spPr>
          <a:xfrm xmlns:a="http://schemas.openxmlformats.org/drawingml/2006/main">
            <a:off x="9239250" y="6600825"/>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73C"/>
                </a:solidFill>
                <a:latin typeface="Arial"/>
                <a:ea typeface="Arial"/>
                <a:cs typeface="Arial"/>
              </a:defRPr>
            </a:defPPr>
            <a:lvl1pPr algn="l">
              <a:defRPr sz="2250" b="1">
                <a:solidFill>
                  <a:srgbClr val="17273C"/>
                </a:solidFill>
                <a:latin typeface="Arial"/>
                <a:ea typeface="Arial"/>
                <a:cs typeface="Arial"/>
              </a:defRPr>
            </a:lvl1pPr>
            <a:lvl2pPr algn="l">
              <a:defRPr sz="2250" b="1">
                <a:solidFill>
                  <a:srgbClr val="17273C"/>
                </a:solidFill>
                <a:latin typeface="Arial"/>
                <a:ea typeface="Arial"/>
                <a:cs typeface="Arial"/>
              </a:defRPr>
            </a:lvl2pPr>
            <a:lvl3pPr algn="l">
              <a:defRPr sz="2250" b="1">
                <a:solidFill>
                  <a:srgbClr val="17273C"/>
                </a:solidFill>
                <a:latin typeface="Arial"/>
                <a:ea typeface="Arial"/>
                <a:cs typeface="Arial"/>
              </a:defRPr>
            </a:lvl3pPr>
            <a:lvl4pPr algn="l">
              <a:defRPr sz="2250" b="1">
                <a:solidFill>
                  <a:srgbClr val="17273C"/>
                </a:solidFill>
                <a:latin typeface="Arial"/>
                <a:ea typeface="Arial"/>
                <a:cs typeface="Arial"/>
              </a:defRPr>
            </a:lvl4pPr>
            <a:lvl5pPr algn="l">
              <a:defRPr sz="2250" b="1">
                <a:solidFill>
                  <a:srgbClr val="17273C"/>
                </a:solidFill>
                <a:latin typeface="Arial"/>
                <a:ea typeface="Arial"/>
                <a:cs typeface="Arial"/>
              </a:defRPr>
            </a:lvl5pPr>
            <a:lvl6pPr algn="l">
              <a:defRPr sz="2250" b="1">
                <a:solidFill>
                  <a:srgbClr val="17273C"/>
                </a:solidFill>
                <a:latin typeface="Arial"/>
                <a:ea typeface="Arial"/>
                <a:cs typeface="Arial"/>
              </a:defRPr>
            </a:lvl6pPr>
            <a:lvl7pPr algn="l">
              <a:defRPr sz="2250" b="1">
                <a:solidFill>
                  <a:srgbClr val="17273C"/>
                </a:solidFill>
                <a:latin typeface="Arial"/>
                <a:ea typeface="Arial"/>
                <a:cs typeface="Arial"/>
              </a:defRPr>
            </a:lvl7pPr>
            <a:lvl8pPr algn="l">
              <a:defRPr sz="2250" b="1">
                <a:solidFill>
                  <a:srgbClr val="17273C"/>
                </a:solidFill>
                <a:latin typeface="Arial"/>
                <a:ea typeface="Arial"/>
                <a:cs typeface="Arial"/>
              </a:defRPr>
            </a:lvl8pPr>
            <a:lvl9pPr algn="l">
              <a:defRPr sz="2250" b="1">
                <a:solidFill>
                  <a:srgbClr val="17273C"/>
                </a:solidFill>
                <a:latin typeface="Arial"/>
                <a:ea typeface="Arial"/>
                <a:cs typeface="Arial"/>
              </a:defRPr>
            </a:lvl9pPr>
          </a:lstStyle>
          <a:p xmlns:a="http://schemas.openxmlformats.org/drawingml/2006/main">
            <a:pPr algn="l">
              <a:defRPr sz="2250" b="1">
                <a:solidFill>
                  <a:srgbClr val="17273C"/>
                </a:solidFill>
                <a:latin typeface="Arial"/>
                <a:ea typeface="Arial"/>
                <a:cs typeface="Arial"/>
              </a:defRPr>
            </a:pPr>
            <a:r>
              <a:rPr sz="2250" b="1">
                <a:solidFill>
                  <a:srgbClr val="17273C"/>
                </a:solidFill>
                <a:latin typeface="Arial"/>
                <a:ea typeface="Arial"/>
                <a:cs typeface="Arial"/>
              </a:rPr>
              <a:t>B3: exit</a:t>
            </a:r>
          </a:p>
        </p:txBody>
      </p:sp>
      <p:sp>
        <p:nvSpPr>
          <p:cNvPr id="18" name="return">
            <a:extLst xmlns:a="http://schemas.openxmlformats.org/drawingml/2006/main">
              <a:ext uri="{FF2B5EF4-FFF2-40B4-BE49-F238E27FC236}">
                <a16:creationId xmlns:a16="http://schemas.microsoft.com/office/drawing/2014/main" id="{5347210A-F864-46AB-9621-01B66E61A564}"/>
              </a:ext>
            </a:extLst>
          </p:cNvPr>
          <p:cNvSpPr>
            <a:spLocks xmlns:a="http://schemas.openxmlformats.org/drawingml/2006/main" noGrp="1"/>
          </p:cNvSpPr>
          <p:nvPr/>
        </p:nvSpPr>
        <p:spPr>
          <a:xfrm xmlns:a="http://schemas.openxmlformats.org/drawingml/2006/main">
            <a:off x="9239250" y="71532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return</a:t>
            </a:r>
          </a:p>
        </p:txBody>
      </p:sp>
    </p:spTree>
    <p:extLst>
      <p:ext uri="{BB962C8B-B14F-4D97-AF65-F5344CB8AC3E}">
        <p14:creationId xmlns:p14="http://schemas.microsoft.com/office/powerpoint/2010/main" val="1841371425"/>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Liveness and next-use analysis">
            <a:extLst xmlns:a="http://schemas.openxmlformats.org/drawingml/2006/main">
              <a:ext uri="{FF2B5EF4-FFF2-40B4-BE49-F238E27FC236}">
                <a16:creationId xmlns:a16="http://schemas.microsoft.com/office/drawing/2014/main" id="{78E3705B-4E48-4388-ABF2-925333029776}"/>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Liveness and next-use analysis</a:t>
            </a:r>
          </a:p>
        </p:txBody>
      </p:sp>
      <p:sp>
        <p:nvSpPr>
          <p:cNvPr id="2" name="The optimizer needs evidence before deleting a temporar">
            <a:extLst xmlns:a="http://schemas.openxmlformats.org/drawingml/2006/main">
              <a:ext uri="{FF2B5EF4-FFF2-40B4-BE49-F238E27FC236}">
                <a16:creationId xmlns:a16="http://schemas.microsoft.com/office/drawing/2014/main" id="{7C46F441-FB99-4C75-A9B4-0D7198EA1798}"/>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The optimizer needs evidence before deleting a temporary definition</a:t>
            </a:r>
          </a:p>
        </p:txBody>
      </p:sp>
      <p:sp>
        <p:nvSpPr>
          <p:cNvPr id="3" name="16">
            <a:extLst xmlns:a="http://schemas.openxmlformats.org/drawingml/2006/main">
              <a:ext uri="{FF2B5EF4-FFF2-40B4-BE49-F238E27FC236}">
                <a16:creationId xmlns:a16="http://schemas.microsoft.com/office/drawing/2014/main" id="{3B7F2F09-6879-4408-AC1B-A9511F7838F4}"/>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16</a:t>
            </a:r>
          </a:p>
        </p:txBody>
      </p:sp>
      <p:sp>
        <p:nvSpPr>
          <p:cNvPr id="4" name="OUT[B] = union of IN[S]&#10;         for each successor S&#10;&#10;">
            <a:extLst xmlns:a="http://schemas.openxmlformats.org/drawingml/2006/main">
              <a:ext uri="{FF2B5EF4-FFF2-40B4-BE49-F238E27FC236}">
                <a16:creationId xmlns:a16="http://schemas.microsoft.com/office/drawing/2014/main" id="{6DD8C3A2-8B5E-4DDB-9955-7AC3F981CE45}"/>
              </a:ext>
            </a:extLst>
          </p:cNvPr>
          <p:cNvSpPr>
            <a:spLocks xmlns:a="http://schemas.openxmlformats.org/drawingml/2006/main" noGrp="1"/>
          </p:cNvSpPr>
          <p:nvPr/>
        </p:nvSpPr>
        <p:spPr>
          <a:xfrm xmlns:a="http://schemas.openxmlformats.org/drawingml/2006/main">
            <a:off x="781050" y="2714625"/>
            <a:ext cx="8286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62237"/>
                </a:solidFill>
                <a:latin typeface="Courier New"/>
                <a:ea typeface="Courier New"/>
                <a:cs typeface="Courier New"/>
              </a:defRPr>
            </a:defPPr>
            <a:lvl1pPr algn="l">
              <a:defRPr sz="2850" b="0">
                <a:solidFill>
                  <a:srgbClr val="162237"/>
                </a:solidFill>
                <a:latin typeface="Courier New"/>
                <a:ea typeface="Courier New"/>
                <a:cs typeface="Courier New"/>
              </a:defRPr>
            </a:lvl1pPr>
            <a:lvl2pPr algn="l">
              <a:defRPr sz="2850" b="0">
                <a:solidFill>
                  <a:srgbClr val="162237"/>
                </a:solidFill>
                <a:latin typeface="Courier New"/>
                <a:ea typeface="Courier New"/>
                <a:cs typeface="Courier New"/>
              </a:defRPr>
            </a:lvl2pPr>
            <a:lvl3pPr algn="l">
              <a:defRPr sz="2850" b="0">
                <a:solidFill>
                  <a:srgbClr val="162237"/>
                </a:solidFill>
                <a:latin typeface="Courier New"/>
                <a:ea typeface="Courier New"/>
                <a:cs typeface="Courier New"/>
              </a:defRPr>
            </a:lvl3pPr>
            <a:lvl4pPr algn="l">
              <a:defRPr sz="2850" b="0">
                <a:solidFill>
                  <a:srgbClr val="162237"/>
                </a:solidFill>
                <a:latin typeface="Courier New"/>
                <a:ea typeface="Courier New"/>
                <a:cs typeface="Courier New"/>
              </a:defRPr>
            </a:lvl4pPr>
            <a:lvl5pPr algn="l">
              <a:defRPr sz="2850" b="0">
                <a:solidFill>
                  <a:srgbClr val="162237"/>
                </a:solidFill>
                <a:latin typeface="Courier New"/>
                <a:ea typeface="Courier New"/>
                <a:cs typeface="Courier New"/>
              </a:defRPr>
            </a:lvl5pPr>
            <a:lvl6pPr algn="l">
              <a:defRPr sz="2850" b="0">
                <a:solidFill>
                  <a:srgbClr val="162237"/>
                </a:solidFill>
                <a:latin typeface="Courier New"/>
                <a:ea typeface="Courier New"/>
                <a:cs typeface="Courier New"/>
              </a:defRPr>
            </a:lvl6pPr>
            <a:lvl7pPr algn="l">
              <a:defRPr sz="2850" b="0">
                <a:solidFill>
                  <a:srgbClr val="162237"/>
                </a:solidFill>
                <a:latin typeface="Courier New"/>
                <a:ea typeface="Courier New"/>
                <a:cs typeface="Courier New"/>
              </a:defRPr>
            </a:lvl7pPr>
            <a:lvl8pPr algn="l">
              <a:defRPr sz="2850" b="0">
                <a:solidFill>
                  <a:srgbClr val="162237"/>
                </a:solidFill>
                <a:latin typeface="Courier New"/>
                <a:ea typeface="Courier New"/>
                <a:cs typeface="Courier New"/>
              </a:defRPr>
            </a:lvl8pPr>
            <a:lvl9pPr algn="l">
              <a:defRPr sz="2850" b="0">
                <a:solidFill>
                  <a:srgbClr val="162237"/>
                </a:solidFill>
                <a:latin typeface="Courier New"/>
                <a:ea typeface="Courier New"/>
                <a:cs typeface="Courier New"/>
              </a:defRPr>
            </a:lvl9pPr>
          </a:lstStyle>
          <a:p xmlns:a="http://schemas.openxmlformats.org/drawingml/2006/main">
            <a:pPr algn="l">
              <a:defRPr sz="2850" b="0">
                <a:solidFill>
                  <a:srgbClr val="162237"/>
                </a:solidFill>
                <a:latin typeface="Courier New"/>
                <a:ea typeface="Courier New"/>
                <a:cs typeface="Courier New"/>
              </a:defRPr>
            </a:pPr>
            <a:r>
              <a:rPr sz="2850" b="0">
                <a:solidFill>
                  <a:srgbClr val="162237"/>
                </a:solidFill>
                <a:latin typeface="Courier New"/>
                <a:ea typeface="Courier New"/>
                <a:cs typeface="Courier New"/>
              </a:rPr>
              <a:t>OUT[B] = union of IN[S]</a:t>
            </a:r>
          </a:p>
          <a:p xmlns:a="http://schemas.openxmlformats.org/drawingml/2006/main">
            <a:pPr algn="l">
              <a:defRPr sz="2850" b="0">
                <a:solidFill>
                  <a:srgbClr val="162237"/>
                </a:solidFill>
                <a:latin typeface="Courier New"/>
                <a:ea typeface="Courier New"/>
                <a:cs typeface="Courier New"/>
              </a:defRPr>
            </a:pPr>
            <a:r>
              <a:rPr sz="2850" b="0">
                <a:solidFill>
                  <a:srgbClr val="162237"/>
                </a:solidFill>
                <a:latin typeface="Courier New"/>
                <a:ea typeface="Courier New"/>
                <a:cs typeface="Courier New"/>
              </a:rPr>
              <a:t>         for each successor S</a:t>
            </a:r>
          </a:p>
          <a:p xmlns:a="http://schemas.openxmlformats.org/drawingml/2006/main">
            <a:r>
              <a:t/>
            </a:r>
          </a:p>
          <a:p xmlns:a="http://schemas.openxmlformats.org/drawingml/2006/main">
            <a:pPr algn="l">
              <a:defRPr sz="2850" b="0">
                <a:solidFill>
                  <a:srgbClr val="162237"/>
                </a:solidFill>
                <a:latin typeface="Courier New"/>
                <a:ea typeface="Courier New"/>
                <a:cs typeface="Courier New"/>
              </a:defRPr>
            </a:pPr>
            <a:r>
              <a:rPr sz="2850" b="0">
                <a:solidFill>
                  <a:srgbClr val="162237"/>
                </a:solidFill>
                <a:latin typeface="Courier New"/>
                <a:ea typeface="Courier New"/>
                <a:cs typeface="Courier New"/>
              </a:rPr>
              <a:t>IN[B]  = USE[B] union</a:t>
            </a:r>
          </a:p>
          <a:p xmlns:a="http://schemas.openxmlformats.org/drawingml/2006/main">
            <a:pPr algn="l">
              <a:defRPr sz="2850" b="0">
                <a:solidFill>
                  <a:srgbClr val="162237"/>
                </a:solidFill>
                <a:latin typeface="Courier New"/>
                <a:ea typeface="Courier New"/>
                <a:cs typeface="Courier New"/>
              </a:defRPr>
            </a:pPr>
            <a:r>
              <a:rPr sz="2850" b="0">
                <a:solidFill>
                  <a:srgbClr val="162237"/>
                </a:solidFill>
                <a:latin typeface="Courier New"/>
                <a:ea typeface="Courier New"/>
                <a:cs typeface="Courier New"/>
              </a:rPr>
              <a:t>         (OUT[B] - DEF[B])</a:t>
            </a:r>
          </a:p>
        </p:txBody>
      </p:sp>
      <p:sp>
        <p:nvSpPr>
          <p:cNvPr id="5" name="Backward fixed point">
            <a:extLst xmlns:a="http://schemas.openxmlformats.org/drawingml/2006/main">
              <a:ext uri="{FF2B5EF4-FFF2-40B4-BE49-F238E27FC236}">
                <a16:creationId xmlns:a16="http://schemas.microsoft.com/office/drawing/2014/main" id="{165EEACA-C62A-4E52-90C5-435E913C5B54}"/>
              </a:ext>
            </a:extLst>
          </p:cNvPr>
          <p:cNvSpPr>
            <a:spLocks xmlns:a="http://schemas.openxmlformats.org/drawingml/2006/main" noGrp="1"/>
          </p:cNvSpPr>
          <p:nvPr/>
        </p:nvSpPr>
        <p:spPr>
          <a:xfrm xmlns:a="http://schemas.openxmlformats.org/drawingml/2006/main">
            <a:off x="10001250" y="276225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Backward fixed point</a:t>
            </a:r>
          </a:p>
        </p:txBody>
      </p:sp>
      <p:sp>
        <p:nvSpPr>
          <p:cNvPr id="6" name="A worklist revisits affected&#10;predecessor blocks.">
            <a:extLst xmlns:a="http://schemas.openxmlformats.org/drawingml/2006/main">
              <a:ext uri="{FF2B5EF4-FFF2-40B4-BE49-F238E27FC236}">
                <a16:creationId xmlns:a16="http://schemas.microsoft.com/office/drawing/2014/main" id="{EEF3EF54-B42B-4E6F-9CB3-FF6D298568E9}"/>
              </a:ext>
            </a:extLst>
          </p:cNvPr>
          <p:cNvSpPr>
            <a:spLocks xmlns:a="http://schemas.openxmlformats.org/drawingml/2006/main" noGrp="1"/>
          </p:cNvSpPr>
          <p:nvPr/>
        </p:nvSpPr>
        <p:spPr>
          <a:xfrm xmlns:a="http://schemas.openxmlformats.org/drawingml/2006/main">
            <a:off x="10001250" y="3381375"/>
            <a:ext cx="4381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A worklist revisits affected</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predecessor blocks.</a:t>
            </a:r>
          </a:p>
        </p:txBody>
      </p:sp>
      <p:sp>
        <p:nvSpPr>
          <p:cNvPr id="7" name="Next-use analysis">
            <a:extLst xmlns:a="http://schemas.openxmlformats.org/drawingml/2006/main">
              <a:ext uri="{FF2B5EF4-FFF2-40B4-BE49-F238E27FC236}">
                <a16:creationId xmlns:a16="http://schemas.microsoft.com/office/drawing/2014/main" id="{7B7199A6-EC4A-4385-ADF5-FCCED14D5A69}"/>
              </a:ext>
            </a:extLst>
          </p:cNvPr>
          <p:cNvSpPr>
            <a:spLocks xmlns:a="http://schemas.openxmlformats.org/drawingml/2006/main" noGrp="1"/>
          </p:cNvSpPr>
          <p:nvPr/>
        </p:nvSpPr>
        <p:spPr>
          <a:xfrm xmlns:a="http://schemas.openxmlformats.org/drawingml/2006/main">
            <a:off x="10001250" y="5143500"/>
            <a:ext cx="438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Next-use analysis</a:t>
            </a:r>
          </a:p>
        </p:txBody>
      </p:sp>
      <p:sp>
        <p:nvSpPr>
          <p:cNvPr id="8" name="A reverse scan distinguishes&#10;overwritten temporary defi">
            <a:extLst xmlns:a="http://schemas.openxmlformats.org/drawingml/2006/main">
              <a:ext uri="{FF2B5EF4-FFF2-40B4-BE49-F238E27FC236}">
                <a16:creationId xmlns:a16="http://schemas.microsoft.com/office/drawing/2014/main" id="{E4A79468-764F-4D51-932B-803F3F723E18}"/>
              </a:ext>
            </a:extLst>
          </p:cNvPr>
          <p:cNvSpPr>
            <a:spLocks xmlns:a="http://schemas.openxmlformats.org/drawingml/2006/main" noGrp="1"/>
          </p:cNvSpPr>
          <p:nvPr/>
        </p:nvSpPr>
        <p:spPr>
          <a:xfrm xmlns:a="http://schemas.openxmlformats.org/drawingml/2006/main">
            <a:off x="10001250" y="5762625"/>
            <a:ext cx="4381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A reverse scan distinguishes</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overwritten temporary definitions.</a:t>
            </a:r>
          </a:p>
        </p:txBody>
      </p:sp>
      <p:sp>
        <p:nvSpPr>
          <p:cNvPr id="9" name="The current optimizer uses these facts to remove safe u">
            <a:extLst xmlns:a="http://schemas.openxmlformats.org/drawingml/2006/main">
              <a:ext uri="{FF2B5EF4-FFF2-40B4-BE49-F238E27FC236}">
                <a16:creationId xmlns:a16="http://schemas.microsoft.com/office/drawing/2014/main" id="{69D00541-077A-4762-9BDF-8D551173200D}"/>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The current optimizer uses these facts to remove safe unused CONST definitions.</a:t>
            </a:r>
          </a:p>
        </p:txBody>
      </p:sp>
    </p:spTree>
    <p:extLst>
      <p:ext uri="{BB962C8B-B14F-4D97-AF65-F5344CB8AC3E}">
        <p14:creationId xmlns:p14="http://schemas.microsoft.com/office/powerpoint/2010/main" val="26158610"/>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Implemented IR optimizations">
            <a:extLst xmlns:a="http://schemas.openxmlformats.org/drawingml/2006/main">
              <a:ext uri="{FF2B5EF4-FFF2-40B4-BE49-F238E27FC236}">
                <a16:creationId xmlns:a16="http://schemas.microsoft.com/office/drawing/2014/main" id="{846EF2A6-D50D-4D8A-B8E4-8F1044D3F842}"/>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Implemented IR optimizations</a:t>
            </a:r>
          </a:p>
        </p:txBody>
      </p:sp>
      <p:sp>
        <p:nvSpPr>
          <p:cNvPr id="2" name="Conservative transformations preserve observable behavi">
            <a:extLst xmlns:a="http://schemas.openxmlformats.org/drawingml/2006/main">
              <a:ext uri="{FF2B5EF4-FFF2-40B4-BE49-F238E27FC236}">
                <a16:creationId xmlns:a16="http://schemas.microsoft.com/office/drawing/2014/main" id="{DC6FAD3B-3EEE-470F-9C71-4026BB0E7A6C}"/>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Conservative transformations preserve observable behavior</a:t>
            </a:r>
          </a:p>
        </p:txBody>
      </p:sp>
      <p:sp>
        <p:nvSpPr>
          <p:cNvPr id="3" name="17">
            <a:extLst xmlns:a="http://schemas.openxmlformats.org/drawingml/2006/main">
              <a:ext uri="{FF2B5EF4-FFF2-40B4-BE49-F238E27FC236}">
                <a16:creationId xmlns:a16="http://schemas.microsoft.com/office/drawing/2014/main" id="{D27C8CE0-F9D7-4684-935C-5C4B378723CB}"/>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17</a:t>
            </a:r>
          </a:p>
        </p:txBody>
      </p:sp>
      <p:sp>
        <p:nvSpPr>
          <p:cNvPr id="4" name="01">
            <a:extLst xmlns:a="http://schemas.openxmlformats.org/drawingml/2006/main">
              <a:ext uri="{FF2B5EF4-FFF2-40B4-BE49-F238E27FC236}">
                <a16:creationId xmlns:a16="http://schemas.microsoft.com/office/drawing/2014/main" id="{F1443AD0-ECCD-4B5B-B7D9-9C8F14C69DDC}"/>
              </a:ext>
            </a:extLst>
          </p:cNvPr>
          <p:cNvSpPr>
            <a:spLocks xmlns:a="http://schemas.openxmlformats.org/drawingml/2006/main" noGrp="1"/>
          </p:cNvSpPr>
          <p:nvPr/>
        </p:nvSpPr>
        <p:spPr>
          <a:xfrm xmlns:a="http://schemas.openxmlformats.org/drawingml/2006/main">
            <a:off x="781050" y="262890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2956D7"/>
                </a:solidFill>
                <a:latin typeface="Arial"/>
                <a:ea typeface="Arial"/>
                <a:cs typeface="Arial"/>
              </a:defRPr>
            </a:defPPr>
            <a:lvl1pPr algn="l">
              <a:defRPr sz="3375" b="1">
                <a:solidFill>
                  <a:srgbClr val="2956D7"/>
                </a:solidFill>
                <a:latin typeface="Arial"/>
                <a:ea typeface="Arial"/>
                <a:cs typeface="Arial"/>
              </a:defRPr>
            </a:lvl1pPr>
            <a:lvl2pPr algn="l">
              <a:defRPr sz="3375" b="1">
                <a:solidFill>
                  <a:srgbClr val="2956D7"/>
                </a:solidFill>
                <a:latin typeface="Arial"/>
                <a:ea typeface="Arial"/>
                <a:cs typeface="Arial"/>
              </a:defRPr>
            </a:lvl2pPr>
            <a:lvl3pPr algn="l">
              <a:defRPr sz="3375" b="1">
                <a:solidFill>
                  <a:srgbClr val="2956D7"/>
                </a:solidFill>
                <a:latin typeface="Arial"/>
                <a:ea typeface="Arial"/>
                <a:cs typeface="Arial"/>
              </a:defRPr>
            </a:lvl3pPr>
            <a:lvl4pPr algn="l">
              <a:defRPr sz="3375" b="1">
                <a:solidFill>
                  <a:srgbClr val="2956D7"/>
                </a:solidFill>
                <a:latin typeface="Arial"/>
                <a:ea typeface="Arial"/>
                <a:cs typeface="Arial"/>
              </a:defRPr>
            </a:lvl4pPr>
            <a:lvl5pPr algn="l">
              <a:defRPr sz="3375" b="1">
                <a:solidFill>
                  <a:srgbClr val="2956D7"/>
                </a:solidFill>
                <a:latin typeface="Arial"/>
                <a:ea typeface="Arial"/>
                <a:cs typeface="Arial"/>
              </a:defRPr>
            </a:lvl5pPr>
            <a:lvl6pPr algn="l">
              <a:defRPr sz="3375" b="1">
                <a:solidFill>
                  <a:srgbClr val="2956D7"/>
                </a:solidFill>
                <a:latin typeface="Arial"/>
                <a:ea typeface="Arial"/>
                <a:cs typeface="Arial"/>
              </a:defRPr>
            </a:lvl6pPr>
            <a:lvl7pPr algn="l">
              <a:defRPr sz="3375" b="1">
                <a:solidFill>
                  <a:srgbClr val="2956D7"/>
                </a:solidFill>
                <a:latin typeface="Arial"/>
                <a:ea typeface="Arial"/>
                <a:cs typeface="Arial"/>
              </a:defRPr>
            </a:lvl7pPr>
            <a:lvl8pPr algn="l">
              <a:defRPr sz="3375" b="1">
                <a:solidFill>
                  <a:srgbClr val="2956D7"/>
                </a:solidFill>
                <a:latin typeface="Arial"/>
                <a:ea typeface="Arial"/>
                <a:cs typeface="Arial"/>
              </a:defRPr>
            </a:lvl8pPr>
            <a:lvl9pPr algn="l">
              <a:defRPr sz="3375" b="1">
                <a:solidFill>
                  <a:srgbClr val="2956D7"/>
                </a:solidFill>
                <a:latin typeface="Arial"/>
                <a:ea typeface="Arial"/>
                <a:cs typeface="Arial"/>
              </a:defRPr>
            </a:lvl9pPr>
          </a:lstStyle>
          <a:p xmlns:a="http://schemas.openxmlformats.org/drawingml/2006/main">
            <a:pPr algn="l">
              <a:defRPr sz="3375" b="1">
                <a:solidFill>
                  <a:srgbClr val="2956D7"/>
                </a:solidFill>
                <a:latin typeface="Arial"/>
                <a:ea typeface="Arial"/>
                <a:cs typeface="Arial"/>
              </a:defRPr>
            </a:pPr>
            <a:r>
              <a:rPr sz="3375" b="1">
                <a:solidFill>
                  <a:srgbClr val="2956D7"/>
                </a:solidFill>
                <a:latin typeface="Arial"/>
                <a:ea typeface="Arial"/>
                <a:cs typeface="Arial"/>
              </a:rPr>
              <a:t>01</a:t>
            </a:r>
          </a:p>
        </p:txBody>
      </p:sp>
      <p:sp>
        <p:nvSpPr>
          <p:cNvPr id="5" name="Local constant folding">
            <a:extLst xmlns:a="http://schemas.openxmlformats.org/drawingml/2006/main">
              <a:ext uri="{FF2B5EF4-FFF2-40B4-BE49-F238E27FC236}">
                <a16:creationId xmlns:a16="http://schemas.microsoft.com/office/drawing/2014/main" id="{A9F2FFE2-E603-403A-96FF-9421755E492C}"/>
              </a:ext>
            </a:extLst>
          </p:cNvPr>
          <p:cNvSpPr>
            <a:spLocks xmlns:a="http://schemas.openxmlformats.org/drawingml/2006/main" noGrp="1"/>
          </p:cNvSpPr>
          <p:nvPr/>
        </p:nvSpPr>
        <p:spPr>
          <a:xfrm xmlns:a="http://schemas.openxmlformats.org/drawingml/2006/main">
            <a:off x="2095500" y="2628900"/>
            <a:ext cx="1190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73C"/>
                </a:solidFill>
                <a:latin typeface="Arial"/>
                <a:ea typeface="Arial"/>
                <a:cs typeface="Arial"/>
              </a:defRPr>
            </a:defPPr>
            <a:lvl1pPr algn="l">
              <a:defRPr sz="2700" b="1">
                <a:solidFill>
                  <a:srgbClr val="17273C"/>
                </a:solidFill>
                <a:latin typeface="Arial"/>
                <a:ea typeface="Arial"/>
                <a:cs typeface="Arial"/>
              </a:defRPr>
            </a:lvl1pPr>
            <a:lvl2pPr algn="l">
              <a:defRPr sz="2700" b="1">
                <a:solidFill>
                  <a:srgbClr val="17273C"/>
                </a:solidFill>
                <a:latin typeface="Arial"/>
                <a:ea typeface="Arial"/>
                <a:cs typeface="Arial"/>
              </a:defRPr>
            </a:lvl2pPr>
            <a:lvl3pPr algn="l">
              <a:defRPr sz="2700" b="1">
                <a:solidFill>
                  <a:srgbClr val="17273C"/>
                </a:solidFill>
                <a:latin typeface="Arial"/>
                <a:ea typeface="Arial"/>
                <a:cs typeface="Arial"/>
              </a:defRPr>
            </a:lvl3pPr>
            <a:lvl4pPr algn="l">
              <a:defRPr sz="2700" b="1">
                <a:solidFill>
                  <a:srgbClr val="17273C"/>
                </a:solidFill>
                <a:latin typeface="Arial"/>
                <a:ea typeface="Arial"/>
                <a:cs typeface="Arial"/>
              </a:defRPr>
            </a:lvl4pPr>
            <a:lvl5pPr algn="l">
              <a:defRPr sz="2700" b="1">
                <a:solidFill>
                  <a:srgbClr val="17273C"/>
                </a:solidFill>
                <a:latin typeface="Arial"/>
                <a:ea typeface="Arial"/>
                <a:cs typeface="Arial"/>
              </a:defRPr>
            </a:lvl5pPr>
            <a:lvl6pPr algn="l">
              <a:defRPr sz="2700" b="1">
                <a:solidFill>
                  <a:srgbClr val="17273C"/>
                </a:solidFill>
                <a:latin typeface="Arial"/>
                <a:ea typeface="Arial"/>
                <a:cs typeface="Arial"/>
              </a:defRPr>
            </a:lvl6pPr>
            <a:lvl7pPr algn="l">
              <a:defRPr sz="2700" b="1">
                <a:solidFill>
                  <a:srgbClr val="17273C"/>
                </a:solidFill>
                <a:latin typeface="Arial"/>
                <a:ea typeface="Arial"/>
                <a:cs typeface="Arial"/>
              </a:defRPr>
            </a:lvl7pPr>
            <a:lvl8pPr algn="l">
              <a:defRPr sz="2700" b="1">
                <a:solidFill>
                  <a:srgbClr val="17273C"/>
                </a:solidFill>
                <a:latin typeface="Arial"/>
                <a:ea typeface="Arial"/>
                <a:cs typeface="Arial"/>
              </a:defRPr>
            </a:lvl8pPr>
            <a:lvl9pPr algn="l">
              <a:defRPr sz="2700" b="1">
                <a:solidFill>
                  <a:srgbClr val="17273C"/>
                </a:solidFill>
                <a:latin typeface="Arial"/>
                <a:ea typeface="Arial"/>
                <a:cs typeface="Arial"/>
              </a:defRPr>
            </a:lvl9pPr>
          </a:lstStyle>
          <a:p xmlns:a="http://schemas.openxmlformats.org/drawingml/2006/main">
            <a:pPr algn="l">
              <a:defRPr sz="2700" b="1">
                <a:solidFill>
                  <a:srgbClr val="17273C"/>
                </a:solidFill>
                <a:latin typeface="Arial"/>
                <a:ea typeface="Arial"/>
                <a:cs typeface="Arial"/>
              </a:defRPr>
            </a:pPr>
            <a:r>
              <a:rPr sz="2700" b="1">
                <a:solidFill>
                  <a:srgbClr val="17273C"/>
                </a:solidFill>
                <a:latin typeface="Arial"/>
                <a:ea typeface="Arial"/>
                <a:cs typeface="Arial"/>
              </a:rPr>
              <a:t>Local constant folding</a:t>
            </a:r>
          </a:p>
        </p:txBody>
      </p:sp>
      <p:sp>
        <p:nvSpPr>
          <p:cNvPr id="6" name="Compute proven primitive operations during compilation.">
            <a:extLst xmlns:a="http://schemas.openxmlformats.org/drawingml/2006/main">
              <a:ext uri="{FF2B5EF4-FFF2-40B4-BE49-F238E27FC236}">
                <a16:creationId xmlns:a16="http://schemas.microsoft.com/office/drawing/2014/main" id="{88D92089-A4C0-4FBB-8CAF-E5F20A6EFC0B}"/>
              </a:ext>
            </a:extLst>
          </p:cNvPr>
          <p:cNvSpPr>
            <a:spLocks xmlns:a="http://schemas.openxmlformats.org/drawingml/2006/main" noGrp="1"/>
          </p:cNvSpPr>
          <p:nvPr/>
        </p:nvSpPr>
        <p:spPr>
          <a:xfrm xmlns:a="http://schemas.openxmlformats.org/drawingml/2006/main">
            <a:off x="2095500" y="3152775"/>
            <a:ext cx="1190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96577"/>
                </a:solidFill>
                <a:latin typeface="Arial"/>
                <a:ea typeface="Arial"/>
                <a:cs typeface="Arial"/>
              </a:defRPr>
            </a:defPPr>
            <a:lvl1pPr algn="l">
              <a:defRPr sz="2175" b="0">
                <a:solidFill>
                  <a:srgbClr val="596577"/>
                </a:solidFill>
                <a:latin typeface="Arial"/>
                <a:ea typeface="Arial"/>
                <a:cs typeface="Arial"/>
              </a:defRPr>
            </a:lvl1pPr>
            <a:lvl2pPr algn="l">
              <a:defRPr sz="2175" b="0">
                <a:solidFill>
                  <a:srgbClr val="596577"/>
                </a:solidFill>
                <a:latin typeface="Arial"/>
                <a:ea typeface="Arial"/>
                <a:cs typeface="Arial"/>
              </a:defRPr>
            </a:lvl2pPr>
            <a:lvl3pPr algn="l">
              <a:defRPr sz="2175" b="0">
                <a:solidFill>
                  <a:srgbClr val="596577"/>
                </a:solidFill>
                <a:latin typeface="Arial"/>
                <a:ea typeface="Arial"/>
                <a:cs typeface="Arial"/>
              </a:defRPr>
            </a:lvl3pPr>
            <a:lvl4pPr algn="l">
              <a:defRPr sz="2175" b="0">
                <a:solidFill>
                  <a:srgbClr val="596577"/>
                </a:solidFill>
                <a:latin typeface="Arial"/>
                <a:ea typeface="Arial"/>
                <a:cs typeface="Arial"/>
              </a:defRPr>
            </a:lvl4pPr>
            <a:lvl5pPr algn="l">
              <a:defRPr sz="2175" b="0">
                <a:solidFill>
                  <a:srgbClr val="596577"/>
                </a:solidFill>
                <a:latin typeface="Arial"/>
                <a:ea typeface="Arial"/>
                <a:cs typeface="Arial"/>
              </a:defRPr>
            </a:lvl5pPr>
            <a:lvl6pPr algn="l">
              <a:defRPr sz="2175" b="0">
                <a:solidFill>
                  <a:srgbClr val="596577"/>
                </a:solidFill>
                <a:latin typeface="Arial"/>
                <a:ea typeface="Arial"/>
                <a:cs typeface="Arial"/>
              </a:defRPr>
            </a:lvl6pPr>
            <a:lvl7pPr algn="l">
              <a:defRPr sz="2175" b="0">
                <a:solidFill>
                  <a:srgbClr val="596577"/>
                </a:solidFill>
                <a:latin typeface="Arial"/>
                <a:ea typeface="Arial"/>
                <a:cs typeface="Arial"/>
              </a:defRPr>
            </a:lvl7pPr>
            <a:lvl8pPr algn="l">
              <a:defRPr sz="2175" b="0">
                <a:solidFill>
                  <a:srgbClr val="596577"/>
                </a:solidFill>
                <a:latin typeface="Arial"/>
                <a:ea typeface="Arial"/>
                <a:cs typeface="Arial"/>
              </a:defRPr>
            </a:lvl8pPr>
            <a:lvl9pPr algn="l">
              <a:defRPr sz="2175" b="0">
                <a:solidFill>
                  <a:srgbClr val="596577"/>
                </a:solidFill>
                <a:latin typeface="Arial"/>
                <a:ea typeface="Arial"/>
                <a:cs typeface="Arial"/>
              </a:defRPr>
            </a:lvl9pPr>
          </a:lstStyle>
          <a:p xmlns:a="http://schemas.openxmlformats.org/drawingml/2006/main">
            <a:pPr algn="l">
              <a:defRPr sz="2175" b="0">
                <a:solidFill>
                  <a:srgbClr val="596577"/>
                </a:solidFill>
                <a:latin typeface="Arial"/>
                <a:ea typeface="Arial"/>
                <a:cs typeface="Arial"/>
              </a:defRPr>
            </a:pPr>
            <a:r>
              <a:rPr sz="2175" b="0">
                <a:solidFill>
                  <a:srgbClr val="596577"/>
                </a:solidFill>
                <a:latin typeface="Arial"/>
                <a:ea typeface="Arial"/>
                <a:cs typeface="Arial"/>
              </a:rPr>
              <a:t>Compute proven primitive operations during compilation.</a:t>
            </a:r>
          </a:p>
        </p:txBody>
      </p:sp>
      <p:sp>
        <p:nvSpPr>
          <p:cNvPr id="7" name="02">
            <a:extLst xmlns:a="http://schemas.openxmlformats.org/drawingml/2006/main">
              <a:ext uri="{FF2B5EF4-FFF2-40B4-BE49-F238E27FC236}">
                <a16:creationId xmlns:a16="http://schemas.microsoft.com/office/drawing/2014/main" id="{6EED7877-633A-4ED3-95D3-30466697F97B}"/>
              </a:ext>
            </a:extLst>
          </p:cNvPr>
          <p:cNvSpPr>
            <a:spLocks xmlns:a="http://schemas.openxmlformats.org/drawingml/2006/main" noGrp="1"/>
          </p:cNvSpPr>
          <p:nvPr/>
        </p:nvSpPr>
        <p:spPr>
          <a:xfrm xmlns:a="http://schemas.openxmlformats.org/drawingml/2006/main">
            <a:off x="781050" y="38290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2956D7"/>
                </a:solidFill>
                <a:latin typeface="Arial"/>
                <a:ea typeface="Arial"/>
                <a:cs typeface="Arial"/>
              </a:defRPr>
            </a:defPPr>
            <a:lvl1pPr algn="l">
              <a:defRPr sz="3375" b="1">
                <a:solidFill>
                  <a:srgbClr val="2956D7"/>
                </a:solidFill>
                <a:latin typeface="Arial"/>
                <a:ea typeface="Arial"/>
                <a:cs typeface="Arial"/>
              </a:defRPr>
            </a:lvl1pPr>
            <a:lvl2pPr algn="l">
              <a:defRPr sz="3375" b="1">
                <a:solidFill>
                  <a:srgbClr val="2956D7"/>
                </a:solidFill>
                <a:latin typeface="Arial"/>
                <a:ea typeface="Arial"/>
                <a:cs typeface="Arial"/>
              </a:defRPr>
            </a:lvl2pPr>
            <a:lvl3pPr algn="l">
              <a:defRPr sz="3375" b="1">
                <a:solidFill>
                  <a:srgbClr val="2956D7"/>
                </a:solidFill>
                <a:latin typeface="Arial"/>
                <a:ea typeface="Arial"/>
                <a:cs typeface="Arial"/>
              </a:defRPr>
            </a:lvl3pPr>
            <a:lvl4pPr algn="l">
              <a:defRPr sz="3375" b="1">
                <a:solidFill>
                  <a:srgbClr val="2956D7"/>
                </a:solidFill>
                <a:latin typeface="Arial"/>
                <a:ea typeface="Arial"/>
                <a:cs typeface="Arial"/>
              </a:defRPr>
            </a:lvl4pPr>
            <a:lvl5pPr algn="l">
              <a:defRPr sz="3375" b="1">
                <a:solidFill>
                  <a:srgbClr val="2956D7"/>
                </a:solidFill>
                <a:latin typeface="Arial"/>
                <a:ea typeface="Arial"/>
                <a:cs typeface="Arial"/>
              </a:defRPr>
            </a:lvl5pPr>
            <a:lvl6pPr algn="l">
              <a:defRPr sz="3375" b="1">
                <a:solidFill>
                  <a:srgbClr val="2956D7"/>
                </a:solidFill>
                <a:latin typeface="Arial"/>
                <a:ea typeface="Arial"/>
                <a:cs typeface="Arial"/>
              </a:defRPr>
            </a:lvl6pPr>
            <a:lvl7pPr algn="l">
              <a:defRPr sz="3375" b="1">
                <a:solidFill>
                  <a:srgbClr val="2956D7"/>
                </a:solidFill>
                <a:latin typeface="Arial"/>
                <a:ea typeface="Arial"/>
                <a:cs typeface="Arial"/>
              </a:defRPr>
            </a:lvl7pPr>
            <a:lvl8pPr algn="l">
              <a:defRPr sz="3375" b="1">
                <a:solidFill>
                  <a:srgbClr val="2956D7"/>
                </a:solidFill>
                <a:latin typeface="Arial"/>
                <a:ea typeface="Arial"/>
                <a:cs typeface="Arial"/>
              </a:defRPr>
            </a:lvl8pPr>
            <a:lvl9pPr algn="l">
              <a:defRPr sz="3375" b="1">
                <a:solidFill>
                  <a:srgbClr val="2956D7"/>
                </a:solidFill>
                <a:latin typeface="Arial"/>
                <a:ea typeface="Arial"/>
                <a:cs typeface="Arial"/>
              </a:defRPr>
            </a:lvl9pPr>
          </a:lstStyle>
          <a:p xmlns:a="http://schemas.openxmlformats.org/drawingml/2006/main">
            <a:pPr algn="l">
              <a:defRPr sz="3375" b="1">
                <a:solidFill>
                  <a:srgbClr val="2956D7"/>
                </a:solidFill>
                <a:latin typeface="Arial"/>
                <a:ea typeface="Arial"/>
                <a:cs typeface="Arial"/>
              </a:defRPr>
            </a:pPr>
            <a:r>
              <a:rPr sz="3375" b="1">
                <a:solidFill>
                  <a:srgbClr val="2956D7"/>
                </a:solidFill>
                <a:latin typeface="Arial"/>
                <a:ea typeface="Arial"/>
                <a:cs typeface="Arial"/>
              </a:rPr>
              <a:t>02</a:t>
            </a:r>
          </a:p>
        </p:txBody>
      </p:sp>
      <p:sp>
        <p:nvSpPr>
          <p:cNvPr id="8" name="Constant branch simplification">
            <a:extLst xmlns:a="http://schemas.openxmlformats.org/drawingml/2006/main">
              <a:ext uri="{FF2B5EF4-FFF2-40B4-BE49-F238E27FC236}">
                <a16:creationId xmlns:a16="http://schemas.microsoft.com/office/drawing/2014/main" id="{0A2C9154-91CA-44C5-AAF8-DA571D926955}"/>
              </a:ext>
            </a:extLst>
          </p:cNvPr>
          <p:cNvSpPr>
            <a:spLocks xmlns:a="http://schemas.openxmlformats.org/drawingml/2006/main" noGrp="1"/>
          </p:cNvSpPr>
          <p:nvPr/>
        </p:nvSpPr>
        <p:spPr>
          <a:xfrm xmlns:a="http://schemas.openxmlformats.org/drawingml/2006/main">
            <a:off x="2095500" y="3829050"/>
            <a:ext cx="1190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73C"/>
                </a:solidFill>
                <a:latin typeface="Arial"/>
                <a:ea typeface="Arial"/>
                <a:cs typeface="Arial"/>
              </a:defRPr>
            </a:defPPr>
            <a:lvl1pPr algn="l">
              <a:defRPr sz="2700" b="1">
                <a:solidFill>
                  <a:srgbClr val="17273C"/>
                </a:solidFill>
                <a:latin typeface="Arial"/>
                <a:ea typeface="Arial"/>
                <a:cs typeface="Arial"/>
              </a:defRPr>
            </a:lvl1pPr>
            <a:lvl2pPr algn="l">
              <a:defRPr sz="2700" b="1">
                <a:solidFill>
                  <a:srgbClr val="17273C"/>
                </a:solidFill>
                <a:latin typeface="Arial"/>
                <a:ea typeface="Arial"/>
                <a:cs typeface="Arial"/>
              </a:defRPr>
            </a:lvl2pPr>
            <a:lvl3pPr algn="l">
              <a:defRPr sz="2700" b="1">
                <a:solidFill>
                  <a:srgbClr val="17273C"/>
                </a:solidFill>
                <a:latin typeface="Arial"/>
                <a:ea typeface="Arial"/>
                <a:cs typeface="Arial"/>
              </a:defRPr>
            </a:lvl3pPr>
            <a:lvl4pPr algn="l">
              <a:defRPr sz="2700" b="1">
                <a:solidFill>
                  <a:srgbClr val="17273C"/>
                </a:solidFill>
                <a:latin typeface="Arial"/>
                <a:ea typeface="Arial"/>
                <a:cs typeface="Arial"/>
              </a:defRPr>
            </a:lvl4pPr>
            <a:lvl5pPr algn="l">
              <a:defRPr sz="2700" b="1">
                <a:solidFill>
                  <a:srgbClr val="17273C"/>
                </a:solidFill>
                <a:latin typeface="Arial"/>
                <a:ea typeface="Arial"/>
                <a:cs typeface="Arial"/>
              </a:defRPr>
            </a:lvl5pPr>
            <a:lvl6pPr algn="l">
              <a:defRPr sz="2700" b="1">
                <a:solidFill>
                  <a:srgbClr val="17273C"/>
                </a:solidFill>
                <a:latin typeface="Arial"/>
                <a:ea typeface="Arial"/>
                <a:cs typeface="Arial"/>
              </a:defRPr>
            </a:lvl6pPr>
            <a:lvl7pPr algn="l">
              <a:defRPr sz="2700" b="1">
                <a:solidFill>
                  <a:srgbClr val="17273C"/>
                </a:solidFill>
                <a:latin typeface="Arial"/>
                <a:ea typeface="Arial"/>
                <a:cs typeface="Arial"/>
              </a:defRPr>
            </a:lvl7pPr>
            <a:lvl8pPr algn="l">
              <a:defRPr sz="2700" b="1">
                <a:solidFill>
                  <a:srgbClr val="17273C"/>
                </a:solidFill>
                <a:latin typeface="Arial"/>
                <a:ea typeface="Arial"/>
                <a:cs typeface="Arial"/>
              </a:defRPr>
            </a:lvl8pPr>
            <a:lvl9pPr algn="l">
              <a:defRPr sz="2700" b="1">
                <a:solidFill>
                  <a:srgbClr val="17273C"/>
                </a:solidFill>
                <a:latin typeface="Arial"/>
                <a:ea typeface="Arial"/>
                <a:cs typeface="Arial"/>
              </a:defRPr>
            </a:lvl9pPr>
          </a:lstStyle>
          <a:p xmlns:a="http://schemas.openxmlformats.org/drawingml/2006/main">
            <a:pPr algn="l">
              <a:defRPr sz="2700" b="1">
                <a:solidFill>
                  <a:srgbClr val="17273C"/>
                </a:solidFill>
                <a:latin typeface="Arial"/>
                <a:ea typeface="Arial"/>
                <a:cs typeface="Arial"/>
              </a:defRPr>
            </a:pPr>
            <a:r>
              <a:rPr sz="2700" b="1">
                <a:solidFill>
                  <a:srgbClr val="17273C"/>
                </a:solidFill>
                <a:latin typeface="Arial"/>
                <a:ea typeface="Arial"/>
                <a:cs typeface="Arial"/>
              </a:rPr>
              <a:t>Constant branch simplification</a:t>
            </a:r>
          </a:p>
        </p:txBody>
      </p:sp>
      <p:sp>
        <p:nvSpPr>
          <p:cNvPr id="9" name="Replace a known Boolean branch with a direct jump.">
            <a:extLst xmlns:a="http://schemas.openxmlformats.org/drawingml/2006/main">
              <a:ext uri="{FF2B5EF4-FFF2-40B4-BE49-F238E27FC236}">
                <a16:creationId xmlns:a16="http://schemas.microsoft.com/office/drawing/2014/main" id="{43816C2E-8774-49D4-B8AD-278B0C1612E2}"/>
              </a:ext>
            </a:extLst>
          </p:cNvPr>
          <p:cNvSpPr>
            <a:spLocks xmlns:a="http://schemas.openxmlformats.org/drawingml/2006/main" noGrp="1"/>
          </p:cNvSpPr>
          <p:nvPr/>
        </p:nvSpPr>
        <p:spPr>
          <a:xfrm xmlns:a="http://schemas.openxmlformats.org/drawingml/2006/main">
            <a:off x="2095500" y="4352925"/>
            <a:ext cx="1190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96577"/>
                </a:solidFill>
                <a:latin typeface="Arial"/>
                <a:ea typeface="Arial"/>
                <a:cs typeface="Arial"/>
              </a:defRPr>
            </a:defPPr>
            <a:lvl1pPr algn="l">
              <a:defRPr sz="2175" b="0">
                <a:solidFill>
                  <a:srgbClr val="596577"/>
                </a:solidFill>
                <a:latin typeface="Arial"/>
                <a:ea typeface="Arial"/>
                <a:cs typeface="Arial"/>
              </a:defRPr>
            </a:lvl1pPr>
            <a:lvl2pPr algn="l">
              <a:defRPr sz="2175" b="0">
                <a:solidFill>
                  <a:srgbClr val="596577"/>
                </a:solidFill>
                <a:latin typeface="Arial"/>
                <a:ea typeface="Arial"/>
                <a:cs typeface="Arial"/>
              </a:defRPr>
            </a:lvl2pPr>
            <a:lvl3pPr algn="l">
              <a:defRPr sz="2175" b="0">
                <a:solidFill>
                  <a:srgbClr val="596577"/>
                </a:solidFill>
                <a:latin typeface="Arial"/>
                <a:ea typeface="Arial"/>
                <a:cs typeface="Arial"/>
              </a:defRPr>
            </a:lvl3pPr>
            <a:lvl4pPr algn="l">
              <a:defRPr sz="2175" b="0">
                <a:solidFill>
                  <a:srgbClr val="596577"/>
                </a:solidFill>
                <a:latin typeface="Arial"/>
                <a:ea typeface="Arial"/>
                <a:cs typeface="Arial"/>
              </a:defRPr>
            </a:lvl4pPr>
            <a:lvl5pPr algn="l">
              <a:defRPr sz="2175" b="0">
                <a:solidFill>
                  <a:srgbClr val="596577"/>
                </a:solidFill>
                <a:latin typeface="Arial"/>
                <a:ea typeface="Arial"/>
                <a:cs typeface="Arial"/>
              </a:defRPr>
            </a:lvl5pPr>
            <a:lvl6pPr algn="l">
              <a:defRPr sz="2175" b="0">
                <a:solidFill>
                  <a:srgbClr val="596577"/>
                </a:solidFill>
                <a:latin typeface="Arial"/>
                <a:ea typeface="Arial"/>
                <a:cs typeface="Arial"/>
              </a:defRPr>
            </a:lvl6pPr>
            <a:lvl7pPr algn="l">
              <a:defRPr sz="2175" b="0">
                <a:solidFill>
                  <a:srgbClr val="596577"/>
                </a:solidFill>
                <a:latin typeface="Arial"/>
                <a:ea typeface="Arial"/>
                <a:cs typeface="Arial"/>
              </a:defRPr>
            </a:lvl7pPr>
            <a:lvl8pPr algn="l">
              <a:defRPr sz="2175" b="0">
                <a:solidFill>
                  <a:srgbClr val="596577"/>
                </a:solidFill>
                <a:latin typeface="Arial"/>
                <a:ea typeface="Arial"/>
                <a:cs typeface="Arial"/>
              </a:defRPr>
            </a:lvl8pPr>
            <a:lvl9pPr algn="l">
              <a:defRPr sz="2175" b="0">
                <a:solidFill>
                  <a:srgbClr val="596577"/>
                </a:solidFill>
                <a:latin typeface="Arial"/>
                <a:ea typeface="Arial"/>
                <a:cs typeface="Arial"/>
              </a:defRPr>
            </a:lvl9pPr>
          </a:lstStyle>
          <a:p xmlns:a="http://schemas.openxmlformats.org/drawingml/2006/main">
            <a:pPr algn="l">
              <a:defRPr sz="2175" b="0">
                <a:solidFill>
                  <a:srgbClr val="596577"/>
                </a:solidFill>
                <a:latin typeface="Arial"/>
                <a:ea typeface="Arial"/>
                <a:cs typeface="Arial"/>
              </a:defRPr>
            </a:pPr>
            <a:r>
              <a:rPr sz="2175" b="0">
                <a:solidFill>
                  <a:srgbClr val="596577"/>
                </a:solidFill>
                <a:latin typeface="Arial"/>
                <a:ea typeface="Arial"/>
                <a:cs typeface="Arial"/>
              </a:rPr>
              <a:t>Replace a known Boolean branch with a direct jump.</a:t>
            </a:r>
          </a:p>
        </p:txBody>
      </p:sp>
      <p:sp>
        <p:nvSpPr>
          <p:cNvPr id="10" name="03">
            <a:extLst xmlns:a="http://schemas.openxmlformats.org/drawingml/2006/main">
              <a:ext uri="{FF2B5EF4-FFF2-40B4-BE49-F238E27FC236}">
                <a16:creationId xmlns:a16="http://schemas.microsoft.com/office/drawing/2014/main" id="{6A94AC02-7116-4281-BEB7-A840E2B8A153}"/>
              </a:ext>
            </a:extLst>
          </p:cNvPr>
          <p:cNvSpPr>
            <a:spLocks xmlns:a="http://schemas.openxmlformats.org/drawingml/2006/main" noGrp="1"/>
          </p:cNvSpPr>
          <p:nvPr/>
        </p:nvSpPr>
        <p:spPr>
          <a:xfrm xmlns:a="http://schemas.openxmlformats.org/drawingml/2006/main">
            <a:off x="781050" y="502920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2956D7"/>
                </a:solidFill>
                <a:latin typeface="Arial"/>
                <a:ea typeface="Arial"/>
                <a:cs typeface="Arial"/>
              </a:defRPr>
            </a:defPPr>
            <a:lvl1pPr algn="l">
              <a:defRPr sz="3375" b="1">
                <a:solidFill>
                  <a:srgbClr val="2956D7"/>
                </a:solidFill>
                <a:latin typeface="Arial"/>
                <a:ea typeface="Arial"/>
                <a:cs typeface="Arial"/>
              </a:defRPr>
            </a:lvl1pPr>
            <a:lvl2pPr algn="l">
              <a:defRPr sz="3375" b="1">
                <a:solidFill>
                  <a:srgbClr val="2956D7"/>
                </a:solidFill>
                <a:latin typeface="Arial"/>
                <a:ea typeface="Arial"/>
                <a:cs typeface="Arial"/>
              </a:defRPr>
            </a:lvl2pPr>
            <a:lvl3pPr algn="l">
              <a:defRPr sz="3375" b="1">
                <a:solidFill>
                  <a:srgbClr val="2956D7"/>
                </a:solidFill>
                <a:latin typeface="Arial"/>
                <a:ea typeface="Arial"/>
                <a:cs typeface="Arial"/>
              </a:defRPr>
            </a:lvl3pPr>
            <a:lvl4pPr algn="l">
              <a:defRPr sz="3375" b="1">
                <a:solidFill>
                  <a:srgbClr val="2956D7"/>
                </a:solidFill>
                <a:latin typeface="Arial"/>
                <a:ea typeface="Arial"/>
                <a:cs typeface="Arial"/>
              </a:defRPr>
            </a:lvl4pPr>
            <a:lvl5pPr algn="l">
              <a:defRPr sz="3375" b="1">
                <a:solidFill>
                  <a:srgbClr val="2956D7"/>
                </a:solidFill>
                <a:latin typeface="Arial"/>
                <a:ea typeface="Arial"/>
                <a:cs typeface="Arial"/>
              </a:defRPr>
            </a:lvl5pPr>
            <a:lvl6pPr algn="l">
              <a:defRPr sz="3375" b="1">
                <a:solidFill>
                  <a:srgbClr val="2956D7"/>
                </a:solidFill>
                <a:latin typeface="Arial"/>
                <a:ea typeface="Arial"/>
                <a:cs typeface="Arial"/>
              </a:defRPr>
            </a:lvl6pPr>
            <a:lvl7pPr algn="l">
              <a:defRPr sz="3375" b="1">
                <a:solidFill>
                  <a:srgbClr val="2956D7"/>
                </a:solidFill>
                <a:latin typeface="Arial"/>
                <a:ea typeface="Arial"/>
                <a:cs typeface="Arial"/>
              </a:defRPr>
            </a:lvl7pPr>
            <a:lvl8pPr algn="l">
              <a:defRPr sz="3375" b="1">
                <a:solidFill>
                  <a:srgbClr val="2956D7"/>
                </a:solidFill>
                <a:latin typeface="Arial"/>
                <a:ea typeface="Arial"/>
                <a:cs typeface="Arial"/>
              </a:defRPr>
            </a:lvl8pPr>
            <a:lvl9pPr algn="l">
              <a:defRPr sz="3375" b="1">
                <a:solidFill>
                  <a:srgbClr val="2956D7"/>
                </a:solidFill>
                <a:latin typeface="Arial"/>
                <a:ea typeface="Arial"/>
                <a:cs typeface="Arial"/>
              </a:defRPr>
            </a:lvl9pPr>
          </a:lstStyle>
          <a:p xmlns:a="http://schemas.openxmlformats.org/drawingml/2006/main">
            <a:pPr algn="l">
              <a:defRPr sz="3375" b="1">
                <a:solidFill>
                  <a:srgbClr val="2956D7"/>
                </a:solidFill>
                <a:latin typeface="Arial"/>
                <a:ea typeface="Arial"/>
                <a:cs typeface="Arial"/>
              </a:defRPr>
            </a:pPr>
            <a:r>
              <a:rPr sz="3375" b="1">
                <a:solidFill>
                  <a:srgbClr val="2956D7"/>
                </a:solidFill>
                <a:latin typeface="Arial"/>
                <a:ea typeface="Arial"/>
                <a:cs typeface="Arial"/>
              </a:rPr>
              <a:t>03</a:t>
            </a:r>
          </a:p>
        </p:txBody>
      </p:sp>
      <p:sp>
        <p:nvSpPr>
          <p:cNvPr id="11" name="Unreachable block removal">
            <a:extLst xmlns:a="http://schemas.openxmlformats.org/drawingml/2006/main">
              <a:ext uri="{FF2B5EF4-FFF2-40B4-BE49-F238E27FC236}">
                <a16:creationId xmlns:a16="http://schemas.microsoft.com/office/drawing/2014/main" id="{2345377C-654D-40F9-9E13-0260803D1668}"/>
              </a:ext>
            </a:extLst>
          </p:cNvPr>
          <p:cNvSpPr>
            <a:spLocks xmlns:a="http://schemas.openxmlformats.org/drawingml/2006/main" noGrp="1"/>
          </p:cNvSpPr>
          <p:nvPr/>
        </p:nvSpPr>
        <p:spPr>
          <a:xfrm xmlns:a="http://schemas.openxmlformats.org/drawingml/2006/main">
            <a:off x="2095500" y="5029200"/>
            <a:ext cx="1190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73C"/>
                </a:solidFill>
                <a:latin typeface="Arial"/>
                <a:ea typeface="Arial"/>
                <a:cs typeface="Arial"/>
              </a:defRPr>
            </a:defPPr>
            <a:lvl1pPr algn="l">
              <a:defRPr sz="2700" b="1">
                <a:solidFill>
                  <a:srgbClr val="17273C"/>
                </a:solidFill>
                <a:latin typeface="Arial"/>
                <a:ea typeface="Arial"/>
                <a:cs typeface="Arial"/>
              </a:defRPr>
            </a:lvl1pPr>
            <a:lvl2pPr algn="l">
              <a:defRPr sz="2700" b="1">
                <a:solidFill>
                  <a:srgbClr val="17273C"/>
                </a:solidFill>
                <a:latin typeface="Arial"/>
                <a:ea typeface="Arial"/>
                <a:cs typeface="Arial"/>
              </a:defRPr>
            </a:lvl2pPr>
            <a:lvl3pPr algn="l">
              <a:defRPr sz="2700" b="1">
                <a:solidFill>
                  <a:srgbClr val="17273C"/>
                </a:solidFill>
                <a:latin typeface="Arial"/>
                <a:ea typeface="Arial"/>
                <a:cs typeface="Arial"/>
              </a:defRPr>
            </a:lvl3pPr>
            <a:lvl4pPr algn="l">
              <a:defRPr sz="2700" b="1">
                <a:solidFill>
                  <a:srgbClr val="17273C"/>
                </a:solidFill>
                <a:latin typeface="Arial"/>
                <a:ea typeface="Arial"/>
                <a:cs typeface="Arial"/>
              </a:defRPr>
            </a:lvl4pPr>
            <a:lvl5pPr algn="l">
              <a:defRPr sz="2700" b="1">
                <a:solidFill>
                  <a:srgbClr val="17273C"/>
                </a:solidFill>
                <a:latin typeface="Arial"/>
                <a:ea typeface="Arial"/>
                <a:cs typeface="Arial"/>
              </a:defRPr>
            </a:lvl5pPr>
            <a:lvl6pPr algn="l">
              <a:defRPr sz="2700" b="1">
                <a:solidFill>
                  <a:srgbClr val="17273C"/>
                </a:solidFill>
                <a:latin typeface="Arial"/>
                <a:ea typeface="Arial"/>
                <a:cs typeface="Arial"/>
              </a:defRPr>
            </a:lvl6pPr>
            <a:lvl7pPr algn="l">
              <a:defRPr sz="2700" b="1">
                <a:solidFill>
                  <a:srgbClr val="17273C"/>
                </a:solidFill>
                <a:latin typeface="Arial"/>
                <a:ea typeface="Arial"/>
                <a:cs typeface="Arial"/>
              </a:defRPr>
            </a:lvl7pPr>
            <a:lvl8pPr algn="l">
              <a:defRPr sz="2700" b="1">
                <a:solidFill>
                  <a:srgbClr val="17273C"/>
                </a:solidFill>
                <a:latin typeface="Arial"/>
                <a:ea typeface="Arial"/>
                <a:cs typeface="Arial"/>
              </a:defRPr>
            </a:lvl8pPr>
            <a:lvl9pPr algn="l">
              <a:defRPr sz="2700" b="1">
                <a:solidFill>
                  <a:srgbClr val="17273C"/>
                </a:solidFill>
                <a:latin typeface="Arial"/>
                <a:ea typeface="Arial"/>
                <a:cs typeface="Arial"/>
              </a:defRPr>
            </a:lvl9pPr>
          </a:lstStyle>
          <a:p xmlns:a="http://schemas.openxmlformats.org/drawingml/2006/main">
            <a:pPr algn="l">
              <a:defRPr sz="2700" b="1">
                <a:solidFill>
                  <a:srgbClr val="17273C"/>
                </a:solidFill>
                <a:latin typeface="Arial"/>
                <a:ea typeface="Arial"/>
                <a:cs typeface="Arial"/>
              </a:defRPr>
            </a:pPr>
            <a:r>
              <a:rPr sz="2700" b="1">
                <a:solidFill>
                  <a:srgbClr val="17273C"/>
                </a:solidFill>
                <a:latin typeface="Arial"/>
                <a:ea typeface="Arial"/>
                <a:cs typeface="Arial"/>
              </a:rPr>
              <a:t>Unreachable block removal</a:t>
            </a:r>
          </a:p>
        </p:txBody>
      </p:sp>
      <p:sp>
        <p:nvSpPr>
          <p:cNvPr id="12" name="Discard blocks that have no path from function entry.">
            <a:extLst xmlns:a="http://schemas.openxmlformats.org/drawingml/2006/main">
              <a:ext uri="{FF2B5EF4-FFF2-40B4-BE49-F238E27FC236}">
                <a16:creationId xmlns:a16="http://schemas.microsoft.com/office/drawing/2014/main" id="{D25DA9C4-5A7F-4574-B356-34FE5A23CFFD}"/>
              </a:ext>
            </a:extLst>
          </p:cNvPr>
          <p:cNvSpPr>
            <a:spLocks xmlns:a="http://schemas.openxmlformats.org/drawingml/2006/main" noGrp="1"/>
          </p:cNvSpPr>
          <p:nvPr/>
        </p:nvSpPr>
        <p:spPr>
          <a:xfrm xmlns:a="http://schemas.openxmlformats.org/drawingml/2006/main">
            <a:off x="2095500" y="5553075"/>
            <a:ext cx="1190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96577"/>
                </a:solidFill>
                <a:latin typeface="Arial"/>
                <a:ea typeface="Arial"/>
                <a:cs typeface="Arial"/>
              </a:defRPr>
            </a:defPPr>
            <a:lvl1pPr algn="l">
              <a:defRPr sz="2175" b="0">
                <a:solidFill>
                  <a:srgbClr val="596577"/>
                </a:solidFill>
                <a:latin typeface="Arial"/>
                <a:ea typeface="Arial"/>
                <a:cs typeface="Arial"/>
              </a:defRPr>
            </a:lvl1pPr>
            <a:lvl2pPr algn="l">
              <a:defRPr sz="2175" b="0">
                <a:solidFill>
                  <a:srgbClr val="596577"/>
                </a:solidFill>
                <a:latin typeface="Arial"/>
                <a:ea typeface="Arial"/>
                <a:cs typeface="Arial"/>
              </a:defRPr>
            </a:lvl2pPr>
            <a:lvl3pPr algn="l">
              <a:defRPr sz="2175" b="0">
                <a:solidFill>
                  <a:srgbClr val="596577"/>
                </a:solidFill>
                <a:latin typeface="Arial"/>
                <a:ea typeface="Arial"/>
                <a:cs typeface="Arial"/>
              </a:defRPr>
            </a:lvl3pPr>
            <a:lvl4pPr algn="l">
              <a:defRPr sz="2175" b="0">
                <a:solidFill>
                  <a:srgbClr val="596577"/>
                </a:solidFill>
                <a:latin typeface="Arial"/>
                <a:ea typeface="Arial"/>
                <a:cs typeface="Arial"/>
              </a:defRPr>
            </a:lvl4pPr>
            <a:lvl5pPr algn="l">
              <a:defRPr sz="2175" b="0">
                <a:solidFill>
                  <a:srgbClr val="596577"/>
                </a:solidFill>
                <a:latin typeface="Arial"/>
                <a:ea typeface="Arial"/>
                <a:cs typeface="Arial"/>
              </a:defRPr>
            </a:lvl5pPr>
            <a:lvl6pPr algn="l">
              <a:defRPr sz="2175" b="0">
                <a:solidFill>
                  <a:srgbClr val="596577"/>
                </a:solidFill>
                <a:latin typeface="Arial"/>
                <a:ea typeface="Arial"/>
                <a:cs typeface="Arial"/>
              </a:defRPr>
            </a:lvl6pPr>
            <a:lvl7pPr algn="l">
              <a:defRPr sz="2175" b="0">
                <a:solidFill>
                  <a:srgbClr val="596577"/>
                </a:solidFill>
                <a:latin typeface="Arial"/>
                <a:ea typeface="Arial"/>
                <a:cs typeface="Arial"/>
              </a:defRPr>
            </a:lvl7pPr>
            <a:lvl8pPr algn="l">
              <a:defRPr sz="2175" b="0">
                <a:solidFill>
                  <a:srgbClr val="596577"/>
                </a:solidFill>
                <a:latin typeface="Arial"/>
                <a:ea typeface="Arial"/>
                <a:cs typeface="Arial"/>
              </a:defRPr>
            </a:lvl8pPr>
            <a:lvl9pPr algn="l">
              <a:defRPr sz="2175" b="0">
                <a:solidFill>
                  <a:srgbClr val="596577"/>
                </a:solidFill>
                <a:latin typeface="Arial"/>
                <a:ea typeface="Arial"/>
                <a:cs typeface="Arial"/>
              </a:defRPr>
            </a:lvl9pPr>
          </a:lstStyle>
          <a:p xmlns:a="http://schemas.openxmlformats.org/drawingml/2006/main">
            <a:pPr algn="l">
              <a:defRPr sz="2175" b="0">
                <a:solidFill>
                  <a:srgbClr val="596577"/>
                </a:solidFill>
                <a:latin typeface="Arial"/>
                <a:ea typeface="Arial"/>
                <a:cs typeface="Arial"/>
              </a:defRPr>
            </a:pPr>
            <a:r>
              <a:rPr sz="2175" b="0">
                <a:solidFill>
                  <a:srgbClr val="596577"/>
                </a:solidFill>
                <a:latin typeface="Arial"/>
                <a:ea typeface="Arial"/>
                <a:cs typeface="Arial"/>
              </a:rPr>
              <a:t>Discard blocks that have no path from function entry.</a:t>
            </a:r>
          </a:p>
        </p:txBody>
      </p:sp>
      <p:sp>
        <p:nvSpPr>
          <p:cNvPr id="13" name="04">
            <a:extLst xmlns:a="http://schemas.openxmlformats.org/drawingml/2006/main">
              <a:ext uri="{FF2B5EF4-FFF2-40B4-BE49-F238E27FC236}">
                <a16:creationId xmlns:a16="http://schemas.microsoft.com/office/drawing/2014/main" id="{1EA4AEF7-9BAA-469F-8D32-67CFF1E2B6D4}"/>
              </a:ext>
            </a:extLst>
          </p:cNvPr>
          <p:cNvSpPr>
            <a:spLocks xmlns:a="http://schemas.openxmlformats.org/drawingml/2006/main" noGrp="1"/>
          </p:cNvSpPr>
          <p:nvPr/>
        </p:nvSpPr>
        <p:spPr>
          <a:xfrm xmlns:a="http://schemas.openxmlformats.org/drawingml/2006/main">
            <a:off x="781050" y="62293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2956D7"/>
                </a:solidFill>
                <a:latin typeface="Arial"/>
                <a:ea typeface="Arial"/>
                <a:cs typeface="Arial"/>
              </a:defRPr>
            </a:defPPr>
            <a:lvl1pPr algn="l">
              <a:defRPr sz="3375" b="1">
                <a:solidFill>
                  <a:srgbClr val="2956D7"/>
                </a:solidFill>
                <a:latin typeface="Arial"/>
                <a:ea typeface="Arial"/>
                <a:cs typeface="Arial"/>
              </a:defRPr>
            </a:lvl1pPr>
            <a:lvl2pPr algn="l">
              <a:defRPr sz="3375" b="1">
                <a:solidFill>
                  <a:srgbClr val="2956D7"/>
                </a:solidFill>
                <a:latin typeface="Arial"/>
                <a:ea typeface="Arial"/>
                <a:cs typeface="Arial"/>
              </a:defRPr>
            </a:lvl2pPr>
            <a:lvl3pPr algn="l">
              <a:defRPr sz="3375" b="1">
                <a:solidFill>
                  <a:srgbClr val="2956D7"/>
                </a:solidFill>
                <a:latin typeface="Arial"/>
                <a:ea typeface="Arial"/>
                <a:cs typeface="Arial"/>
              </a:defRPr>
            </a:lvl3pPr>
            <a:lvl4pPr algn="l">
              <a:defRPr sz="3375" b="1">
                <a:solidFill>
                  <a:srgbClr val="2956D7"/>
                </a:solidFill>
                <a:latin typeface="Arial"/>
                <a:ea typeface="Arial"/>
                <a:cs typeface="Arial"/>
              </a:defRPr>
            </a:lvl4pPr>
            <a:lvl5pPr algn="l">
              <a:defRPr sz="3375" b="1">
                <a:solidFill>
                  <a:srgbClr val="2956D7"/>
                </a:solidFill>
                <a:latin typeface="Arial"/>
                <a:ea typeface="Arial"/>
                <a:cs typeface="Arial"/>
              </a:defRPr>
            </a:lvl5pPr>
            <a:lvl6pPr algn="l">
              <a:defRPr sz="3375" b="1">
                <a:solidFill>
                  <a:srgbClr val="2956D7"/>
                </a:solidFill>
                <a:latin typeface="Arial"/>
                <a:ea typeface="Arial"/>
                <a:cs typeface="Arial"/>
              </a:defRPr>
            </a:lvl6pPr>
            <a:lvl7pPr algn="l">
              <a:defRPr sz="3375" b="1">
                <a:solidFill>
                  <a:srgbClr val="2956D7"/>
                </a:solidFill>
                <a:latin typeface="Arial"/>
                <a:ea typeface="Arial"/>
                <a:cs typeface="Arial"/>
              </a:defRPr>
            </a:lvl7pPr>
            <a:lvl8pPr algn="l">
              <a:defRPr sz="3375" b="1">
                <a:solidFill>
                  <a:srgbClr val="2956D7"/>
                </a:solidFill>
                <a:latin typeface="Arial"/>
                <a:ea typeface="Arial"/>
                <a:cs typeface="Arial"/>
              </a:defRPr>
            </a:lvl8pPr>
            <a:lvl9pPr algn="l">
              <a:defRPr sz="3375" b="1">
                <a:solidFill>
                  <a:srgbClr val="2956D7"/>
                </a:solidFill>
                <a:latin typeface="Arial"/>
                <a:ea typeface="Arial"/>
                <a:cs typeface="Arial"/>
              </a:defRPr>
            </a:lvl9pPr>
          </a:lstStyle>
          <a:p xmlns:a="http://schemas.openxmlformats.org/drawingml/2006/main">
            <a:pPr algn="l">
              <a:defRPr sz="3375" b="1">
                <a:solidFill>
                  <a:srgbClr val="2956D7"/>
                </a:solidFill>
                <a:latin typeface="Arial"/>
                <a:ea typeface="Arial"/>
                <a:cs typeface="Arial"/>
              </a:defRPr>
            </a:pPr>
            <a:r>
              <a:rPr sz="3375" b="1">
                <a:solidFill>
                  <a:srgbClr val="2956D7"/>
                </a:solidFill>
                <a:latin typeface="Arial"/>
                <a:ea typeface="Arial"/>
                <a:cs typeface="Arial"/>
              </a:rPr>
              <a:t>04</a:t>
            </a:r>
          </a:p>
        </p:txBody>
      </p:sp>
      <p:sp>
        <p:nvSpPr>
          <p:cNvPr id="14" name="Dead constant removal">
            <a:extLst xmlns:a="http://schemas.openxmlformats.org/drawingml/2006/main">
              <a:ext uri="{FF2B5EF4-FFF2-40B4-BE49-F238E27FC236}">
                <a16:creationId xmlns:a16="http://schemas.microsoft.com/office/drawing/2014/main" id="{4F2DA147-2180-46DC-B9E3-47466A266B16}"/>
              </a:ext>
            </a:extLst>
          </p:cNvPr>
          <p:cNvSpPr>
            <a:spLocks xmlns:a="http://schemas.openxmlformats.org/drawingml/2006/main" noGrp="1"/>
          </p:cNvSpPr>
          <p:nvPr/>
        </p:nvSpPr>
        <p:spPr>
          <a:xfrm xmlns:a="http://schemas.openxmlformats.org/drawingml/2006/main">
            <a:off x="2095500" y="6229350"/>
            <a:ext cx="11906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73C"/>
                </a:solidFill>
                <a:latin typeface="Arial"/>
                <a:ea typeface="Arial"/>
                <a:cs typeface="Arial"/>
              </a:defRPr>
            </a:defPPr>
            <a:lvl1pPr algn="l">
              <a:defRPr sz="2700" b="1">
                <a:solidFill>
                  <a:srgbClr val="17273C"/>
                </a:solidFill>
                <a:latin typeface="Arial"/>
                <a:ea typeface="Arial"/>
                <a:cs typeface="Arial"/>
              </a:defRPr>
            </a:lvl1pPr>
            <a:lvl2pPr algn="l">
              <a:defRPr sz="2700" b="1">
                <a:solidFill>
                  <a:srgbClr val="17273C"/>
                </a:solidFill>
                <a:latin typeface="Arial"/>
                <a:ea typeface="Arial"/>
                <a:cs typeface="Arial"/>
              </a:defRPr>
            </a:lvl2pPr>
            <a:lvl3pPr algn="l">
              <a:defRPr sz="2700" b="1">
                <a:solidFill>
                  <a:srgbClr val="17273C"/>
                </a:solidFill>
                <a:latin typeface="Arial"/>
                <a:ea typeface="Arial"/>
                <a:cs typeface="Arial"/>
              </a:defRPr>
            </a:lvl3pPr>
            <a:lvl4pPr algn="l">
              <a:defRPr sz="2700" b="1">
                <a:solidFill>
                  <a:srgbClr val="17273C"/>
                </a:solidFill>
                <a:latin typeface="Arial"/>
                <a:ea typeface="Arial"/>
                <a:cs typeface="Arial"/>
              </a:defRPr>
            </a:lvl4pPr>
            <a:lvl5pPr algn="l">
              <a:defRPr sz="2700" b="1">
                <a:solidFill>
                  <a:srgbClr val="17273C"/>
                </a:solidFill>
                <a:latin typeface="Arial"/>
                <a:ea typeface="Arial"/>
                <a:cs typeface="Arial"/>
              </a:defRPr>
            </a:lvl5pPr>
            <a:lvl6pPr algn="l">
              <a:defRPr sz="2700" b="1">
                <a:solidFill>
                  <a:srgbClr val="17273C"/>
                </a:solidFill>
                <a:latin typeface="Arial"/>
                <a:ea typeface="Arial"/>
                <a:cs typeface="Arial"/>
              </a:defRPr>
            </a:lvl6pPr>
            <a:lvl7pPr algn="l">
              <a:defRPr sz="2700" b="1">
                <a:solidFill>
                  <a:srgbClr val="17273C"/>
                </a:solidFill>
                <a:latin typeface="Arial"/>
                <a:ea typeface="Arial"/>
                <a:cs typeface="Arial"/>
              </a:defRPr>
            </a:lvl7pPr>
            <a:lvl8pPr algn="l">
              <a:defRPr sz="2700" b="1">
                <a:solidFill>
                  <a:srgbClr val="17273C"/>
                </a:solidFill>
                <a:latin typeface="Arial"/>
                <a:ea typeface="Arial"/>
                <a:cs typeface="Arial"/>
              </a:defRPr>
            </a:lvl8pPr>
            <a:lvl9pPr algn="l">
              <a:defRPr sz="2700" b="1">
                <a:solidFill>
                  <a:srgbClr val="17273C"/>
                </a:solidFill>
                <a:latin typeface="Arial"/>
                <a:ea typeface="Arial"/>
                <a:cs typeface="Arial"/>
              </a:defRPr>
            </a:lvl9pPr>
          </a:lstStyle>
          <a:p xmlns:a="http://schemas.openxmlformats.org/drawingml/2006/main">
            <a:pPr algn="l">
              <a:defRPr sz="2700" b="1">
                <a:solidFill>
                  <a:srgbClr val="17273C"/>
                </a:solidFill>
                <a:latin typeface="Arial"/>
                <a:ea typeface="Arial"/>
                <a:cs typeface="Arial"/>
              </a:defRPr>
            </a:pPr>
            <a:r>
              <a:rPr sz="2700" b="1">
                <a:solidFill>
                  <a:srgbClr val="17273C"/>
                </a:solidFill>
                <a:latin typeface="Arial"/>
                <a:ea typeface="Arial"/>
                <a:cs typeface="Arial"/>
              </a:rPr>
              <a:t>Dead constant removal</a:t>
            </a:r>
          </a:p>
        </p:txBody>
      </p:sp>
      <p:sp>
        <p:nvSpPr>
          <p:cNvPr id="15" name="Remove unused CONST definitions using liveness and next">
            <a:extLst xmlns:a="http://schemas.openxmlformats.org/drawingml/2006/main">
              <a:ext uri="{FF2B5EF4-FFF2-40B4-BE49-F238E27FC236}">
                <a16:creationId xmlns:a16="http://schemas.microsoft.com/office/drawing/2014/main" id="{EAD4E184-E0A1-4605-BC64-9B602CD2CDAE}"/>
              </a:ext>
            </a:extLst>
          </p:cNvPr>
          <p:cNvSpPr>
            <a:spLocks xmlns:a="http://schemas.openxmlformats.org/drawingml/2006/main" noGrp="1"/>
          </p:cNvSpPr>
          <p:nvPr/>
        </p:nvSpPr>
        <p:spPr>
          <a:xfrm xmlns:a="http://schemas.openxmlformats.org/drawingml/2006/main">
            <a:off x="2095500" y="6753225"/>
            <a:ext cx="1190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96577"/>
                </a:solidFill>
                <a:latin typeface="Arial"/>
                <a:ea typeface="Arial"/>
                <a:cs typeface="Arial"/>
              </a:defRPr>
            </a:defPPr>
            <a:lvl1pPr algn="l">
              <a:defRPr sz="2175" b="0">
                <a:solidFill>
                  <a:srgbClr val="596577"/>
                </a:solidFill>
                <a:latin typeface="Arial"/>
                <a:ea typeface="Arial"/>
                <a:cs typeface="Arial"/>
              </a:defRPr>
            </a:lvl1pPr>
            <a:lvl2pPr algn="l">
              <a:defRPr sz="2175" b="0">
                <a:solidFill>
                  <a:srgbClr val="596577"/>
                </a:solidFill>
                <a:latin typeface="Arial"/>
                <a:ea typeface="Arial"/>
                <a:cs typeface="Arial"/>
              </a:defRPr>
            </a:lvl2pPr>
            <a:lvl3pPr algn="l">
              <a:defRPr sz="2175" b="0">
                <a:solidFill>
                  <a:srgbClr val="596577"/>
                </a:solidFill>
                <a:latin typeface="Arial"/>
                <a:ea typeface="Arial"/>
                <a:cs typeface="Arial"/>
              </a:defRPr>
            </a:lvl3pPr>
            <a:lvl4pPr algn="l">
              <a:defRPr sz="2175" b="0">
                <a:solidFill>
                  <a:srgbClr val="596577"/>
                </a:solidFill>
                <a:latin typeface="Arial"/>
                <a:ea typeface="Arial"/>
                <a:cs typeface="Arial"/>
              </a:defRPr>
            </a:lvl4pPr>
            <a:lvl5pPr algn="l">
              <a:defRPr sz="2175" b="0">
                <a:solidFill>
                  <a:srgbClr val="596577"/>
                </a:solidFill>
                <a:latin typeface="Arial"/>
                <a:ea typeface="Arial"/>
                <a:cs typeface="Arial"/>
              </a:defRPr>
            </a:lvl5pPr>
            <a:lvl6pPr algn="l">
              <a:defRPr sz="2175" b="0">
                <a:solidFill>
                  <a:srgbClr val="596577"/>
                </a:solidFill>
                <a:latin typeface="Arial"/>
                <a:ea typeface="Arial"/>
                <a:cs typeface="Arial"/>
              </a:defRPr>
            </a:lvl6pPr>
            <a:lvl7pPr algn="l">
              <a:defRPr sz="2175" b="0">
                <a:solidFill>
                  <a:srgbClr val="596577"/>
                </a:solidFill>
                <a:latin typeface="Arial"/>
                <a:ea typeface="Arial"/>
                <a:cs typeface="Arial"/>
              </a:defRPr>
            </a:lvl7pPr>
            <a:lvl8pPr algn="l">
              <a:defRPr sz="2175" b="0">
                <a:solidFill>
                  <a:srgbClr val="596577"/>
                </a:solidFill>
                <a:latin typeface="Arial"/>
                <a:ea typeface="Arial"/>
                <a:cs typeface="Arial"/>
              </a:defRPr>
            </a:lvl8pPr>
            <a:lvl9pPr algn="l">
              <a:defRPr sz="2175" b="0">
                <a:solidFill>
                  <a:srgbClr val="596577"/>
                </a:solidFill>
                <a:latin typeface="Arial"/>
                <a:ea typeface="Arial"/>
                <a:cs typeface="Arial"/>
              </a:defRPr>
            </a:lvl9pPr>
          </a:lstStyle>
          <a:p xmlns:a="http://schemas.openxmlformats.org/drawingml/2006/main">
            <a:pPr algn="l">
              <a:defRPr sz="2175" b="0">
                <a:solidFill>
                  <a:srgbClr val="596577"/>
                </a:solidFill>
                <a:latin typeface="Arial"/>
                <a:ea typeface="Arial"/>
                <a:cs typeface="Arial"/>
              </a:defRPr>
            </a:pPr>
            <a:r>
              <a:rPr sz="2175" b="0">
                <a:solidFill>
                  <a:srgbClr val="596577"/>
                </a:solidFill>
                <a:latin typeface="Arial"/>
                <a:ea typeface="Arial"/>
                <a:cs typeface="Arial"/>
              </a:rPr>
              <a:t>Remove unused CONST definitions using liveness and next use.</a:t>
            </a:r>
          </a:p>
        </p:txBody>
      </p:sp>
      <p:sp>
        <p:nvSpPr>
          <p:cNvPr id="16" name="Reachable calls, stores, output and potentially failing">
            <a:extLst xmlns:a="http://schemas.openxmlformats.org/drawingml/2006/main">
              <a:ext uri="{FF2B5EF4-FFF2-40B4-BE49-F238E27FC236}">
                <a16:creationId xmlns:a16="http://schemas.microsoft.com/office/drawing/2014/main" id="{6EF715DA-E881-46D8-9000-E06596CB1606}"/>
              </a:ext>
            </a:extLst>
          </p:cNvPr>
          <p:cNvSpPr>
            <a:spLocks xmlns:a="http://schemas.openxmlformats.org/drawingml/2006/main" noGrp="1"/>
          </p:cNvSpPr>
          <p:nvPr/>
        </p:nvSpPr>
        <p:spPr>
          <a:xfrm xmlns:a="http://schemas.openxmlformats.org/drawingml/2006/main">
            <a:off x="781050" y="76104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Reachable calls, stores, output and potentially failing operations remain.</a:t>
            </a:r>
          </a:p>
        </p:txBody>
      </p:sp>
    </p:spTree>
    <p:extLst>
      <p:ext uri="{BB962C8B-B14F-4D97-AF65-F5344CB8AC3E}">
        <p14:creationId xmlns:p14="http://schemas.microsoft.com/office/powerpoint/2010/main" val="41629404"/>
      </p:ext>
    </p:extLst>
  </p:cSld>
</p:sld>
</file>

<file path=ppt/slides/slide18.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sp>
        <p:nvSpPr>
          <p:cNvPr id="8" name="Optimization result: 17 instructions become 5">
            <a:extLst xmlns:a="http://schemas.openxmlformats.org/drawingml/2006/main">
              <a:ext uri="{FF2B5EF4-FFF2-40B4-BE49-F238E27FC236}">
                <a16:creationId xmlns:a16="http://schemas.microsoft.com/office/drawing/2014/main" id="{F98958E7-09F8-4B32-AA22-DE5EEAD4D0A2}"/>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Optimization result: 17 instructions become 5</a:t>
            </a:r>
          </a:p>
        </p:txBody>
      </p:sp>
      <p:sp>
        <p:nvSpPr>
          <p:cNvPr id="2" name="print((2 + 3) * 4) produces 20 in both runs">
            <a:extLst xmlns:a="http://schemas.openxmlformats.org/drawingml/2006/main">
              <a:ext uri="{FF2B5EF4-FFF2-40B4-BE49-F238E27FC236}">
                <a16:creationId xmlns:a16="http://schemas.microsoft.com/office/drawing/2014/main" id="{2A67CC93-988A-431D-9429-35048BA5BE2F}"/>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5C7DE"/>
                </a:solidFill>
                <a:latin typeface="Arial"/>
                <a:ea typeface="Arial"/>
                <a:cs typeface="Arial"/>
              </a:defRPr>
            </a:defPPr>
            <a:lvl1pPr algn="l">
              <a:defRPr sz="2250" b="0">
                <a:solidFill>
                  <a:srgbClr val="B5C7DE"/>
                </a:solidFill>
                <a:latin typeface="Arial"/>
                <a:ea typeface="Arial"/>
                <a:cs typeface="Arial"/>
              </a:defRPr>
            </a:lvl1pPr>
            <a:lvl2pPr algn="l">
              <a:defRPr sz="2250" b="0">
                <a:solidFill>
                  <a:srgbClr val="B5C7DE"/>
                </a:solidFill>
                <a:latin typeface="Arial"/>
                <a:ea typeface="Arial"/>
                <a:cs typeface="Arial"/>
              </a:defRPr>
            </a:lvl2pPr>
            <a:lvl3pPr algn="l">
              <a:defRPr sz="2250" b="0">
                <a:solidFill>
                  <a:srgbClr val="B5C7DE"/>
                </a:solidFill>
                <a:latin typeface="Arial"/>
                <a:ea typeface="Arial"/>
                <a:cs typeface="Arial"/>
              </a:defRPr>
            </a:lvl3pPr>
            <a:lvl4pPr algn="l">
              <a:defRPr sz="2250" b="0">
                <a:solidFill>
                  <a:srgbClr val="B5C7DE"/>
                </a:solidFill>
                <a:latin typeface="Arial"/>
                <a:ea typeface="Arial"/>
                <a:cs typeface="Arial"/>
              </a:defRPr>
            </a:lvl4pPr>
            <a:lvl5pPr algn="l">
              <a:defRPr sz="2250" b="0">
                <a:solidFill>
                  <a:srgbClr val="B5C7DE"/>
                </a:solidFill>
                <a:latin typeface="Arial"/>
                <a:ea typeface="Arial"/>
                <a:cs typeface="Arial"/>
              </a:defRPr>
            </a:lvl5pPr>
            <a:lvl6pPr algn="l">
              <a:defRPr sz="2250" b="0">
                <a:solidFill>
                  <a:srgbClr val="B5C7DE"/>
                </a:solidFill>
                <a:latin typeface="Arial"/>
                <a:ea typeface="Arial"/>
                <a:cs typeface="Arial"/>
              </a:defRPr>
            </a:lvl6pPr>
            <a:lvl7pPr algn="l">
              <a:defRPr sz="2250" b="0">
                <a:solidFill>
                  <a:srgbClr val="B5C7DE"/>
                </a:solidFill>
                <a:latin typeface="Arial"/>
                <a:ea typeface="Arial"/>
                <a:cs typeface="Arial"/>
              </a:defRPr>
            </a:lvl7pPr>
            <a:lvl8pPr algn="l">
              <a:defRPr sz="2250" b="0">
                <a:solidFill>
                  <a:srgbClr val="B5C7DE"/>
                </a:solidFill>
                <a:latin typeface="Arial"/>
                <a:ea typeface="Arial"/>
                <a:cs typeface="Arial"/>
              </a:defRPr>
            </a:lvl8pPr>
            <a:lvl9pPr algn="l">
              <a:defRPr sz="2250" b="0">
                <a:solidFill>
                  <a:srgbClr val="B5C7DE"/>
                </a:solidFill>
                <a:latin typeface="Arial"/>
                <a:ea typeface="Arial"/>
                <a:cs typeface="Arial"/>
              </a:defRPr>
            </a:lvl9pPr>
          </a:lstStyle>
          <a:p xmlns:a="http://schemas.openxmlformats.org/drawingml/2006/main">
            <a:pPr algn="l">
              <a:defRPr sz="2250" b="0">
                <a:solidFill>
                  <a:srgbClr val="B5C7DE"/>
                </a:solidFill>
                <a:latin typeface="Arial"/>
                <a:ea typeface="Arial"/>
                <a:cs typeface="Arial"/>
              </a:defRPr>
            </a:pPr>
            <a:r>
              <a:rPr sz="2250" b="0">
                <a:solidFill>
                  <a:srgbClr val="B5C7DE"/>
                </a:solidFill>
                <a:latin typeface="Arial"/>
                <a:ea typeface="Arial"/>
                <a:cs typeface="Arial"/>
              </a:rPr>
              <a:t>print((2 + 3) * 4) produces 20 in both runs</a:t>
            </a:r>
          </a:p>
        </p:txBody>
      </p:sp>
      <p:sp>
        <p:nvSpPr>
          <p:cNvPr id="3" name="18">
            <a:extLst xmlns:a="http://schemas.openxmlformats.org/drawingml/2006/main">
              <a:ext uri="{FF2B5EF4-FFF2-40B4-BE49-F238E27FC236}">
                <a16:creationId xmlns:a16="http://schemas.microsoft.com/office/drawing/2014/main" id="{1918D3A4-0BE9-4848-8E0C-348657E7D9E3}"/>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5C7DE"/>
                </a:solidFill>
                <a:latin typeface="Arial"/>
                <a:ea typeface="Arial"/>
                <a:cs typeface="Arial"/>
              </a:defRPr>
            </a:defPPr>
            <a:lvl1pPr algn="r">
              <a:defRPr sz="1500" b="0">
                <a:solidFill>
                  <a:srgbClr val="B5C7DE"/>
                </a:solidFill>
                <a:latin typeface="Arial"/>
                <a:ea typeface="Arial"/>
                <a:cs typeface="Arial"/>
              </a:defRPr>
            </a:lvl1pPr>
            <a:lvl2pPr algn="r">
              <a:defRPr sz="1500" b="0">
                <a:solidFill>
                  <a:srgbClr val="B5C7DE"/>
                </a:solidFill>
                <a:latin typeface="Arial"/>
                <a:ea typeface="Arial"/>
                <a:cs typeface="Arial"/>
              </a:defRPr>
            </a:lvl2pPr>
            <a:lvl3pPr algn="r">
              <a:defRPr sz="1500" b="0">
                <a:solidFill>
                  <a:srgbClr val="B5C7DE"/>
                </a:solidFill>
                <a:latin typeface="Arial"/>
                <a:ea typeface="Arial"/>
                <a:cs typeface="Arial"/>
              </a:defRPr>
            </a:lvl3pPr>
            <a:lvl4pPr algn="r">
              <a:defRPr sz="1500" b="0">
                <a:solidFill>
                  <a:srgbClr val="B5C7DE"/>
                </a:solidFill>
                <a:latin typeface="Arial"/>
                <a:ea typeface="Arial"/>
                <a:cs typeface="Arial"/>
              </a:defRPr>
            </a:lvl4pPr>
            <a:lvl5pPr algn="r">
              <a:defRPr sz="1500" b="0">
                <a:solidFill>
                  <a:srgbClr val="B5C7DE"/>
                </a:solidFill>
                <a:latin typeface="Arial"/>
                <a:ea typeface="Arial"/>
                <a:cs typeface="Arial"/>
              </a:defRPr>
            </a:lvl5pPr>
            <a:lvl6pPr algn="r">
              <a:defRPr sz="1500" b="0">
                <a:solidFill>
                  <a:srgbClr val="B5C7DE"/>
                </a:solidFill>
                <a:latin typeface="Arial"/>
                <a:ea typeface="Arial"/>
                <a:cs typeface="Arial"/>
              </a:defRPr>
            </a:lvl6pPr>
            <a:lvl7pPr algn="r">
              <a:defRPr sz="1500" b="0">
                <a:solidFill>
                  <a:srgbClr val="B5C7DE"/>
                </a:solidFill>
                <a:latin typeface="Arial"/>
                <a:ea typeface="Arial"/>
                <a:cs typeface="Arial"/>
              </a:defRPr>
            </a:lvl7pPr>
            <a:lvl8pPr algn="r">
              <a:defRPr sz="1500" b="0">
                <a:solidFill>
                  <a:srgbClr val="B5C7DE"/>
                </a:solidFill>
                <a:latin typeface="Arial"/>
                <a:ea typeface="Arial"/>
                <a:cs typeface="Arial"/>
              </a:defRPr>
            </a:lvl8pPr>
            <a:lvl9pPr algn="r">
              <a:defRPr sz="1500" b="0">
                <a:solidFill>
                  <a:srgbClr val="B5C7DE"/>
                </a:solidFill>
                <a:latin typeface="Arial"/>
                <a:ea typeface="Arial"/>
                <a:cs typeface="Arial"/>
              </a:defRPr>
            </a:lvl9pPr>
          </a:lstStyle>
          <a:p xmlns:a="http://schemas.openxmlformats.org/drawingml/2006/main">
            <a:pPr algn="r">
              <a:defRPr sz="1500" b="0">
                <a:solidFill>
                  <a:srgbClr val="B5C7DE"/>
                </a:solidFill>
                <a:latin typeface="Arial"/>
                <a:ea typeface="Arial"/>
                <a:cs typeface="Arial"/>
              </a:defRPr>
            </a:pPr>
            <a:r>
              <a:rPr sz="1500" b="0">
                <a:solidFill>
                  <a:srgbClr val="B5C7DE"/>
                </a:solidFill>
                <a:latin typeface="Arial"/>
                <a:ea typeface="Arial"/>
                <a:cs typeface="Arial"/>
              </a:rPr>
              <a:t>18</a:t>
            </a:r>
          </a:p>
        </p:txBody>
      </p:sp>
      <p:graphicFrame>
        <p:nvGraphicFramePr>
          <p:cNvPr id="4" name="Chart">
            <a:extLst xmlns:a="http://schemas.openxmlformats.org/drawingml/2006/main">
              <a:ext uri="{FF2B5EF4-FFF2-40B4-BE49-F238E27FC236}">
                <a16:creationId xmlns:a16="http://schemas.microsoft.com/office/drawing/2014/main" id="{744C7611-FA09-4E6B-BCF2-B7F26AAA1AA8}"/>
              </a:ext>
            </a:extLst>
          </p:cNvPr>
          <p:cNvGraphicFramePr/>
          <p:nvPr/>
        </p:nvGraphicFramePr>
        <p:xfrm>
          <a:off xmlns:a="http://schemas.openxmlformats.org/drawingml/2006/main" x="666750" y="2762250"/>
          <a:ext xmlns:a="http://schemas.openxmlformats.org/drawingml/2006/main" cx="9906000" cy="4191000"/>
        </p:xfrm>
        <a:graphic xmlns:a="http://schemas.openxmlformats.org/drawingml/2006/main">
          <a:graphicData uri="http://schemas.openxmlformats.org/drawingml/2006/chart">
            <c:chart xmlns:r="http://schemas.openxmlformats.org/officeDocument/2006/relationships" xmlns:c="http://schemas.openxmlformats.org/drawingml/2006/chart" r:id="Rb8e444464ede44ce"/>
          </a:graphicData>
        </a:graphic>
      </p:graphicFrame>
      <p:sp>
        <p:nvSpPr>
          <p:cNvPr id="5" name="70.6%">
            <a:extLst xmlns:a="http://schemas.openxmlformats.org/drawingml/2006/main">
              <a:ext uri="{FF2B5EF4-FFF2-40B4-BE49-F238E27FC236}">
                <a16:creationId xmlns:a16="http://schemas.microsoft.com/office/drawing/2014/main" id="{7DF6AEF6-0C47-4B80-B111-A7E3AB5EC94D}"/>
              </a:ext>
            </a:extLst>
          </p:cNvPr>
          <p:cNvSpPr>
            <a:spLocks xmlns:a="http://schemas.openxmlformats.org/drawingml/2006/main" noGrp="1"/>
          </p:cNvSpPr>
          <p:nvPr/>
        </p:nvSpPr>
        <p:spPr>
          <a:xfrm xmlns:a="http://schemas.openxmlformats.org/drawingml/2006/main">
            <a:off x="11334750" y="3238500"/>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1">
                <a:solidFill>
                  <a:srgbClr val="76D9C3"/>
                </a:solidFill>
                <a:latin typeface="Arial"/>
                <a:ea typeface="Arial"/>
                <a:cs typeface="Arial"/>
              </a:defRPr>
            </a:defPPr>
            <a:lvl1pPr algn="l">
              <a:defRPr sz="5775" b="1">
                <a:solidFill>
                  <a:srgbClr val="76D9C3"/>
                </a:solidFill>
                <a:latin typeface="Arial"/>
                <a:ea typeface="Arial"/>
                <a:cs typeface="Arial"/>
              </a:defRPr>
            </a:lvl1pPr>
            <a:lvl2pPr algn="l">
              <a:defRPr sz="5775" b="1">
                <a:solidFill>
                  <a:srgbClr val="76D9C3"/>
                </a:solidFill>
                <a:latin typeface="Arial"/>
                <a:ea typeface="Arial"/>
                <a:cs typeface="Arial"/>
              </a:defRPr>
            </a:lvl2pPr>
            <a:lvl3pPr algn="l">
              <a:defRPr sz="5775" b="1">
                <a:solidFill>
                  <a:srgbClr val="76D9C3"/>
                </a:solidFill>
                <a:latin typeface="Arial"/>
                <a:ea typeface="Arial"/>
                <a:cs typeface="Arial"/>
              </a:defRPr>
            </a:lvl3pPr>
            <a:lvl4pPr algn="l">
              <a:defRPr sz="5775" b="1">
                <a:solidFill>
                  <a:srgbClr val="76D9C3"/>
                </a:solidFill>
                <a:latin typeface="Arial"/>
                <a:ea typeface="Arial"/>
                <a:cs typeface="Arial"/>
              </a:defRPr>
            </a:lvl4pPr>
            <a:lvl5pPr algn="l">
              <a:defRPr sz="5775" b="1">
                <a:solidFill>
                  <a:srgbClr val="76D9C3"/>
                </a:solidFill>
                <a:latin typeface="Arial"/>
                <a:ea typeface="Arial"/>
                <a:cs typeface="Arial"/>
              </a:defRPr>
            </a:lvl5pPr>
            <a:lvl6pPr algn="l">
              <a:defRPr sz="5775" b="1">
                <a:solidFill>
                  <a:srgbClr val="76D9C3"/>
                </a:solidFill>
                <a:latin typeface="Arial"/>
                <a:ea typeface="Arial"/>
                <a:cs typeface="Arial"/>
              </a:defRPr>
            </a:lvl6pPr>
            <a:lvl7pPr algn="l">
              <a:defRPr sz="5775" b="1">
                <a:solidFill>
                  <a:srgbClr val="76D9C3"/>
                </a:solidFill>
                <a:latin typeface="Arial"/>
                <a:ea typeface="Arial"/>
                <a:cs typeface="Arial"/>
              </a:defRPr>
            </a:lvl7pPr>
            <a:lvl8pPr algn="l">
              <a:defRPr sz="5775" b="1">
                <a:solidFill>
                  <a:srgbClr val="76D9C3"/>
                </a:solidFill>
                <a:latin typeface="Arial"/>
                <a:ea typeface="Arial"/>
                <a:cs typeface="Arial"/>
              </a:defRPr>
            </a:lvl8pPr>
            <a:lvl9pPr algn="l">
              <a:defRPr sz="5775" b="1">
                <a:solidFill>
                  <a:srgbClr val="76D9C3"/>
                </a:solidFill>
                <a:latin typeface="Arial"/>
                <a:ea typeface="Arial"/>
                <a:cs typeface="Arial"/>
              </a:defRPr>
            </a:lvl9pPr>
          </a:lstStyle>
          <a:p xmlns:a="http://schemas.openxmlformats.org/drawingml/2006/main">
            <a:pPr algn="l">
              <a:defRPr sz="5775" b="1">
                <a:solidFill>
                  <a:srgbClr val="76D9C3"/>
                </a:solidFill>
                <a:latin typeface="Arial"/>
                <a:ea typeface="Arial"/>
                <a:cs typeface="Arial"/>
              </a:defRPr>
            </a:pPr>
            <a:r>
              <a:rPr sz="5775" b="1">
                <a:solidFill>
                  <a:srgbClr val="76D9C3"/>
                </a:solidFill>
                <a:latin typeface="Arial"/>
                <a:ea typeface="Arial"/>
                <a:cs typeface="Arial"/>
              </a:rPr>
              <a:t>70.6%</a:t>
            </a:r>
          </a:p>
        </p:txBody>
      </p:sp>
      <p:sp>
        <p:nvSpPr>
          <p:cNvPr id="6" name="fewer executed&#10;instructions in&#10;this example">
            <a:extLst xmlns:a="http://schemas.openxmlformats.org/drawingml/2006/main">
              <a:ext uri="{FF2B5EF4-FFF2-40B4-BE49-F238E27FC236}">
                <a16:creationId xmlns:a16="http://schemas.microsoft.com/office/drawing/2014/main" id="{22FC2A1B-BB7D-4742-87B7-58B2A044128B}"/>
              </a:ext>
            </a:extLst>
          </p:cNvPr>
          <p:cNvSpPr>
            <a:spLocks xmlns:a="http://schemas.openxmlformats.org/drawingml/2006/main" noGrp="1"/>
          </p:cNvSpPr>
          <p:nvPr/>
        </p:nvSpPr>
        <p:spPr>
          <a:xfrm xmlns:a="http://schemas.openxmlformats.org/drawingml/2006/main">
            <a:off x="11382375" y="4667250"/>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FFFFFF"/>
                </a:solidFill>
                <a:latin typeface="Arial"/>
                <a:ea typeface="Arial"/>
                <a:cs typeface="Arial"/>
              </a:defRPr>
            </a:defPPr>
            <a:lvl1pPr algn="l">
              <a:defRPr sz="2475" b="0">
                <a:solidFill>
                  <a:srgbClr val="FFFFFF"/>
                </a:solidFill>
                <a:latin typeface="Arial"/>
                <a:ea typeface="Arial"/>
                <a:cs typeface="Arial"/>
              </a:defRPr>
            </a:lvl1pPr>
            <a:lvl2pPr algn="l">
              <a:defRPr sz="2475" b="0">
                <a:solidFill>
                  <a:srgbClr val="FFFFFF"/>
                </a:solidFill>
                <a:latin typeface="Arial"/>
                <a:ea typeface="Arial"/>
                <a:cs typeface="Arial"/>
              </a:defRPr>
            </a:lvl2pPr>
            <a:lvl3pPr algn="l">
              <a:defRPr sz="2475" b="0">
                <a:solidFill>
                  <a:srgbClr val="FFFFFF"/>
                </a:solidFill>
                <a:latin typeface="Arial"/>
                <a:ea typeface="Arial"/>
                <a:cs typeface="Arial"/>
              </a:defRPr>
            </a:lvl3pPr>
            <a:lvl4pPr algn="l">
              <a:defRPr sz="2475" b="0">
                <a:solidFill>
                  <a:srgbClr val="FFFFFF"/>
                </a:solidFill>
                <a:latin typeface="Arial"/>
                <a:ea typeface="Arial"/>
                <a:cs typeface="Arial"/>
              </a:defRPr>
            </a:lvl4pPr>
            <a:lvl5pPr algn="l">
              <a:defRPr sz="2475" b="0">
                <a:solidFill>
                  <a:srgbClr val="FFFFFF"/>
                </a:solidFill>
                <a:latin typeface="Arial"/>
                <a:ea typeface="Arial"/>
                <a:cs typeface="Arial"/>
              </a:defRPr>
            </a:lvl5pPr>
            <a:lvl6pPr algn="l">
              <a:defRPr sz="2475" b="0">
                <a:solidFill>
                  <a:srgbClr val="FFFFFF"/>
                </a:solidFill>
                <a:latin typeface="Arial"/>
                <a:ea typeface="Arial"/>
                <a:cs typeface="Arial"/>
              </a:defRPr>
            </a:lvl6pPr>
            <a:lvl7pPr algn="l">
              <a:defRPr sz="2475" b="0">
                <a:solidFill>
                  <a:srgbClr val="FFFFFF"/>
                </a:solidFill>
                <a:latin typeface="Arial"/>
                <a:ea typeface="Arial"/>
                <a:cs typeface="Arial"/>
              </a:defRPr>
            </a:lvl7pPr>
            <a:lvl8pPr algn="l">
              <a:defRPr sz="2475" b="0">
                <a:solidFill>
                  <a:srgbClr val="FFFFFF"/>
                </a:solidFill>
                <a:latin typeface="Arial"/>
                <a:ea typeface="Arial"/>
                <a:cs typeface="Arial"/>
              </a:defRPr>
            </a:lvl8pPr>
            <a:lvl9pPr algn="l">
              <a:defRPr sz="2475" b="0">
                <a:solidFill>
                  <a:srgbClr val="FFFFFF"/>
                </a:solidFill>
                <a:latin typeface="Arial"/>
                <a:ea typeface="Arial"/>
                <a:cs typeface="Arial"/>
              </a:defRPr>
            </a:lvl9pPr>
          </a:lstStyle>
          <a:p xmlns:a="http://schemas.openxmlformats.org/drawingml/2006/main">
            <a:pPr algn="l">
              <a:defRPr sz="2475" b="0">
                <a:solidFill>
                  <a:srgbClr val="FFFFFF"/>
                </a:solidFill>
                <a:latin typeface="Arial"/>
                <a:ea typeface="Arial"/>
                <a:cs typeface="Arial"/>
              </a:defRPr>
            </a:pPr>
            <a:r>
              <a:rPr sz="2475" b="0">
                <a:solidFill>
                  <a:srgbClr val="FFFFFF"/>
                </a:solidFill>
                <a:latin typeface="Arial"/>
                <a:ea typeface="Arial"/>
                <a:cs typeface="Arial"/>
              </a:rPr>
              <a:t>fewer executed</a:t>
            </a:r>
          </a:p>
          <a:p xmlns:a="http://schemas.openxmlformats.org/drawingml/2006/main">
            <a:pPr algn="l">
              <a:defRPr sz="2475" b="0">
                <a:solidFill>
                  <a:srgbClr val="FFFFFF"/>
                </a:solidFill>
                <a:latin typeface="Arial"/>
                <a:ea typeface="Arial"/>
                <a:cs typeface="Arial"/>
              </a:defRPr>
            </a:pPr>
            <a:r>
              <a:rPr sz="2475" b="0">
                <a:solidFill>
                  <a:srgbClr val="FFFFFF"/>
                </a:solidFill>
                <a:latin typeface="Arial"/>
                <a:ea typeface="Arial"/>
                <a:cs typeface="Arial"/>
              </a:rPr>
              <a:t>instructions in</a:t>
            </a:r>
          </a:p>
          <a:p xmlns:a="http://schemas.openxmlformats.org/drawingml/2006/main">
            <a:pPr algn="l">
              <a:defRPr sz="2475" b="0">
                <a:solidFill>
                  <a:srgbClr val="FFFFFF"/>
                </a:solidFill>
                <a:latin typeface="Arial"/>
                <a:ea typeface="Arial"/>
                <a:cs typeface="Arial"/>
              </a:defRPr>
            </a:pPr>
            <a:r>
              <a:rPr sz="2475" b="0">
                <a:solidFill>
                  <a:srgbClr val="FFFFFF"/>
                </a:solidFill>
                <a:latin typeface="Arial"/>
                <a:ea typeface="Arial"/>
                <a:cs typeface="Arial"/>
              </a:rPr>
              <a:t>this example</a:t>
            </a:r>
          </a:p>
        </p:txBody>
      </p:sp>
      <p:sp>
        <p:nvSpPr>
          <p:cNvPr id="7" name="Instruction counts measure this example. They do not es">
            <a:extLst xmlns:a="http://schemas.openxmlformats.org/drawingml/2006/main">
              <a:ext uri="{FF2B5EF4-FFF2-40B4-BE49-F238E27FC236}">
                <a16:creationId xmlns:a16="http://schemas.microsoft.com/office/drawing/2014/main" id="{9E7D6562-06E5-4B30-8839-03B022D6F1DE}"/>
              </a:ext>
            </a:extLst>
          </p:cNvPr>
          <p:cNvSpPr>
            <a:spLocks xmlns:a="http://schemas.openxmlformats.org/drawingml/2006/main" noGrp="1"/>
          </p:cNvSpPr>
          <p:nvPr/>
        </p:nvSpPr>
        <p:spPr>
          <a:xfrm xmlns:a="http://schemas.openxmlformats.org/drawingml/2006/main">
            <a:off x="781050" y="750570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B5C7DE"/>
                </a:solidFill>
                <a:latin typeface="Arial"/>
                <a:ea typeface="Arial"/>
                <a:cs typeface="Arial"/>
              </a:defRPr>
            </a:defPPr>
            <a:lvl1pPr algn="l">
              <a:defRPr sz="2025" b="0">
                <a:solidFill>
                  <a:srgbClr val="B5C7DE"/>
                </a:solidFill>
                <a:latin typeface="Arial"/>
                <a:ea typeface="Arial"/>
                <a:cs typeface="Arial"/>
              </a:defRPr>
            </a:lvl1pPr>
            <a:lvl2pPr algn="l">
              <a:defRPr sz="2025" b="0">
                <a:solidFill>
                  <a:srgbClr val="B5C7DE"/>
                </a:solidFill>
                <a:latin typeface="Arial"/>
                <a:ea typeface="Arial"/>
                <a:cs typeface="Arial"/>
              </a:defRPr>
            </a:lvl2pPr>
            <a:lvl3pPr algn="l">
              <a:defRPr sz="2025" b="0">
                <a:solidFill>
                  <a:srgbClr val="B5C7DE"/>
                </a:solidFill>
                <a:latin typeface="Arial"/>
                <a:ea typeface="Arial"/>
                <a:cs typeface="Arial"/>
              </a:defRPr>
            </a:lvl3pPr>
            <a:lvl4pPr algn="l">
              <a:defRPr sz="2025" b="0">
                <a:solidFill>
                  <a:srgbClr val="B5C7DE"/>
                </a:solidFill>
                <a:latin typeface="Arial"/>
                <a:ea typeface="Arial"/>
                <a:cs typeface="Arial"/>
              </a:defRPr>
            </a:lvl4pPr>
            <a:lvl5pPr algn="l">
              <a:defRPr sz="2025" b="0">
                <a:solidFill>
                  <a:srgbClr val="B5C7DE"/>
                </a:solidFill>
                <a:latin typeface="Arial"/>
                <a:ea typeface="Arial"/>
                <a:cs typeface="Arial"/>
              </a:defRPr>
            </a:lvl5pPr>
            <a:lvl6pPr algn="l">
              <a:defRPr sz="2025" b="0">
                <a:solidFill>
                  <a:srgbClr val="B5C7DE"/>
                </a:solidFill>
                <a:latin typeface="Arial"/>
                <a:ea typeface="Arial"/>
                <a:cs typeface="Arial"/>
              </a:defRPr>
            </a:lvl6pPr>
            <a:lvl7pPr algn="l">
              <a:defRPr sz="2025" b="0">
                <a:solidFill>
                  <a:srgbClr val="B5C7DE"/>
                </a:solidFill>
                <a:latin typeface="Arial"/>
                <a:ea typeface="Arial"/>
                <a:cs typeface="Arial"/>
              </a:defRPr>
            </a:lvl7pPr>
            <a:lvl8pPr algn="l">
              <a:defRPr sz="2025" b="0">
                <a:solidFill>
                  <a:srgbClr val="B5C7DE"/>
                </a:solidFill>
                <a:latin typeface="Arial"/>
                <a:ea typeface="Arial"/>
                <a:cs typeface="Arial"/>
              </a:defRPr>
            </a:lvl8pPr>
            <a:lvl9pPr algn="l">
              <a:defRPr sz="2025" b="0">
                <a:solidFill>
                  <a:srgbClr val="B5C7DE"/>
                </a:solidFill>
                <a:latin typeface="Arial"/>
                <a:ea typeface="Arial"/>
                <a:cs typeface="Arial"/>
              </a:defRPr>
            </a:lvl9pPr>
          </a:lstStyle>
          <a:p xmlns:a="http://schemas.openxmlformats.org/drawingml/2006/main">
            <a:pPr algn="l">
              <a:defRPr sz="2025" b="0">
                <a:solidFill>
                  <a:srgbClr val="B5C7DE"/>
                </a:solidFill>
                <a:latin typeface="Arial"/>
                <a:ea typeface="Arial"/>
                <a:cs typeface="Arial"/>
              </a:defRPr>
            </a:pPr>
            <a:r>
              <a:rPr sz="2025" b="0">
                <a:solidFill>
                  <a:srgbClr val="B5C7DE"/>
                </a:solidFill>
                <a:latin typeface="Arial"/>
                <a:ea typeface="Arial"/>
                <a:cs typeface="Arial"/>
              </a:rPr>
              <a:t>Instruction counts measure this example. They do not establish a general timing speedup.</a:t>
            </a:r>
          </a:p>
        </p:txBody>
      </p:sp>
    </p:spTree>
    <p:extLst>
      <p:ext uri="{BB962C8B-B14F-4D97-AF65-F5344CB8AC3E}">
        <p14:creationId xmlns:p14="http://schemas.microsoft.com/office/powerpoint/2010/main" val="709079379"/>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Bytecode generation">
            <a:extLst xmlns:a="http://schemas.openxmlformats.org/drawingml/2006/main">
              <a:ext uri="{FF2B5EF4-FFF2-40B4-BE49-F238E27FC236}">
                <a16:creationId xmlns:a16="http://schemas.microsoft.com/office/drawing/2014/main" id="{EF98F7E0-25F5-47AF-9631-2FC7205E08C3}"/>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Bytecode generation</a:t>
            </a:r>
          </a:p>
        </p:txBody>
      </p:sp>
      <p:sp>
        <p:nvSpPr>
          <p:cNvPr id="2" name="The code generator lowers IR into stack-machine instruc">
            <a:extLst xmlns:a="http://schemas.openxmlformats.org/drawingml/2006/main">
              <a:ext uri="{FF2B5EF4-FFF2-40B4-BE49-F238E27FC236}">
                <a16:creationId xmlns:a16="http://schemas.microsoft.com/office/drawing/2014/main" id="{FCE07640-1CAD-4016-B237-E6250C2BC996}"/>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The code generator lowers IR into stack-machine instructions</a:t>
            </a:r>
          </a:p>
        </p:txBody>
      </p:sp>
      <p:sp>
        <p:nvSpPr>
          <p:cNvPr id="3" name="19">
            <a:extLst xmlns:a="http://schemas.openxmlformats.org/drawingml/2006/main">
              <a:ext uri="{FF2B5EF4-FFF2-40B4-BE49-F238E27FC236}">
                <a16:creationId xmlns:a16="http://schemas.microsoft.com/office/drawing/2014/main" id="{0008CB9B-1CDD-44BE-AF7F-3EA51432703B}"/>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19</a:t>
            </a:r>
          </a:p>
        </p:txBody>
      </p:sp>
      <p:sp>
        <p:nvSpPr>
          <p:cNvPr id="4" name="t2 = t0 + t1">
            <a:extLst xmlns:a="http://schemas.openxmlformats.org/drawingml/2006/main">
              <a:ext uri="{FF2B5EF4-FFF2-40B4-BE49-F238E27FC236}">
                <a16:creationId xmlns:a16="http://schemas.microsoft.com/office/drawing/2014/main" id="{A61EB169-D0B3-4B74-AB8D-044547FD9794}"/>
              </a:ext>
            </a:extLst>
          </p:cNvPr>
          <p:cNvSpPr>
            <a:spLocks xmlns:a="http://schemas.openxmlformats.org/drawingml/2006/main" noGrp="1"/>
          </p:cNvSpPr>
          <p:nvPr/>
        </p:nvSpPr>
        <p:spPr>
          <a:xfrm xmlns:a="http://schemas.openxmlformats.org/drawingml/2006/main">
            <a:off x="781050" y="2809875"/>
            <a:ext cx="657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0">
                <a:solidFill>
                  <a:srgbClr val="162237"/>
                </a:solidFill>
                <a:latin typeface="Courier New"/>
                <a:ea typeface="Courier New"/>
                <a:cs typeface="Courier New"/>
              </a:defRPr>
            </a:defPPr>
            <a:lvl1pPr algn="l">
              <a:defRPr sz="3675" b="0">
                <a:solidFill>
                  <a:srgbClr val="162237"/>
                </a:solidFill>
                <a:latin typeface="Courier New"/>
                <a:ea typeface="Courier New"/>
                <a:cs typeface="Courier New"/>
              </a:defRPr>
            </a:lvl1pPr>
            <a:lvl2pPr algn="l">
              <a:defRPr sz="3675" b="0">
                <a:solidFill>
                  <a:srgbClr val="162237"/>
                </a:solidFill>
                <a:latin typeface="Courier New"/>
                <a:ea typeface="Courier New"/>
                <a:cs typeface="Courier New"/>
              </a:defRPr>
            </a:lvl2pPr>
            <a:lvl3pPr algn="l">
              <a:defRPr sz="3675" b="0">
                <a:solidFill>
                  <a:srgbClr val="162237"/>
                </a:solidFill>
                <a:latin typeface="Courier New"/>
                <a:ea typeface="Courier New"/>
                <a:cs typeface="Courier New"/>
              </a:defRPr>
            </a:lvl3pPr>
            <a:lvl4pPr algn="l">
              <a:defRPr sz="3675" b="0">
                <a:solidFill>
                  <a:srgbClr val="162237"/>
                </a:solidFill>
                <a:latin typeface="Courier New"/>
                <a:ea typeface="Courier New"/>
                <a:cs typeface="Courier New"/>
              </a:defRPr>
            </a:lvl4pPr>
            <a:lvl5pPr algn="l">
              <a:defRPr sz="3675" b="0">
                <a:solidFill>
                  <a:srgbClr val="162237"/>
                </a:solidFill>
                <a:latin typeface="Courier New"/>
                <a:ea typeface="Courier New"/>
                <a:cs typeface="Courier New"/>
              </a:defRPr>
            </a:lvl5pPr>
            <a:lvl6pPr algn="l">
              <a:defRPr sz="3675" b="0">
                <a:solidFill>
                  <a:srgbClr val="162237"/>
                </a:solidFill>
                <a:latin typeface="Courier New"/>
                <a:ea typeface="Courier New"/>
                <a:cs typeface="Courier New"/>
              </a:defRPr>
            </a:lvl6pPr>
            <a:lvl7pPr algn="l">
              <a:defRPr sz="3675" b="0">
                <a:solidFill>
                  <a:srgbClr val="162237"/>
                </a:solidFill>
                <a:latin typeface="Courier New"/>
                <a:ea typeface="Courier New"/>
                <a:cs typeface="Courier New"/>
              </a:defRPr>
            </a:lvl7pPr>
            <a:lvl8pPr algn="l">
              <a:defRPr sz="3675" b="0">
                <a:solidFill>
                  <a:srgbClr val="162237"/>
                </a:solidFill>
                <a:latin typeface="Courier New"/>
                <a:ea typeface="Courier New"/>
                <a:cs typeface="Courier New"/>
              </a:defRPr>
            </a:lvl8pPr>
            <a:lvl9pPr algn="l">
              <a:defRPr sz="3675" b="0">
                <a:solidFill>
                  <a:srgbClr val="162237"/>
                </a:solidFill>
                <a:latin typeface="Courier New"/>
                <a:ea typeface="Courier New"/>
                <a:cs typeface="Courier New"/>
              </a:defRPr>
            </a:lvl9pPr>
          </a:lstStyle>
          <a:p xmlns:a="http://schemas.openxmlformats.org/drawingml/2006/main">
            <a:pPr algn="l">
              <a:defRPr sz="3675" b="0">
                <a:solidFill>
                  <a:srgbClr val="162237"/>
                </a:solidFill>
                <a:latin typeface="Courier New"/>
                <a:ea typeface="Courier New"/>
                <a:cs typeface="Courier New"/>
              </a:defRPr>
            </a:pPr>
            <a:r>
              <a:rPr sz="3675" b="0">
                <a:solidFill>
                  <a:srgbClr val="162237"/>
                </a:solidFill>
                <a:latin typeface="Courier New"/>
                <a:ea typeface="Courier New"/>
                <a:cs typeface="Courier New"/>
              </a:rPr>
              <a:t>t2 = t0 + t1</a:t>
            </a:r>
          </a:p>
        </p:txBody>
      </p:sp>
      <p:sp>
        <p:nvSpPr>
          <p:cNvPr id="5" name="Typed three-address IR">
            <a:extLst xmlns:a="http://schemas.openxmlformats.org/drawingml/2006/main">
              <a:ext uri="{FF2B5EF4-FFF2-40B4-BE49-F238E27FC236}">
                <a16:creationId xmlns:a16="http://schemas.microsoft.com/office/drawing/2014/main" id="{195E576E-049C-4BB1-871F-DFAE8034719A}"/>
              </a:ext>
            </a:extLst>
          </p:cNvPr>
          <p:cNvSpPr>
            <a:spLocks xmlns:a="http://schemas.openxmlformats.org/drawingml/2006/main" noGrp="1"/>
          </p:cNvSpPr>
          <p:nvPr/>
        </p:nvSpPr>
        <p:spPr>
          <a:xfrm xmlns:a="http://schemas.openxmlformats.org/drawingml/2006/main">
            <a:off x="781050" y="38100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96577"/>
                </a:solidFill>
                <a:latin typeface="Arial"/>
                <a:ea typeface="Arial"/>
                <a:cs typeface="Arial"/>
              </a:defRPr>
            </a:defPPr>
            <a:lvl1pPr algn="l">
              <a:defRPr sz="2325" b="0">
                <a:solidFill>
                  <a:srgbClr val="596577"/>
                </a:solidFill>
                <a:latin typeface="Arial"/>
                <a:ea typeface="Arial"/>
                <a:cs typeface="Arial"/>
              </a:defRPr>
            </a:lvl1pPr>
            <a:lvl2pPr algn="l">
              <a:defRPr sz="2325" b="0">
                <a:solidFill>
                  <a:srgbClr val="596577"/>
                </a:solidFill>
                <a:latin typeface="Arial"/>
                <a:ea typeface="Arial"/>
                <a:cs typeface="Arial"/>
              </a:defRPr>
            </a:lvl2pPr>
            <a:lvl3pPr algn="l">
              <a:defRPr sz="2325" b="0">
                <a:solidFill>
                  <a:srgbClr val="596577"/>
                </a:solidFill>
                <a:latin typeface="Arial"/>
                <a:ea typeface="Arial"/>
                <a:cs typeface="Arial"/>
              </a:defRPr>
            </a:lvl3pPr>
            <a:lvl4pPr algn="l">
              <a:defRPr sz="2325" b="0">
                <a:solidFill>
                  <a:srgbClr val="596577"/>
                </a:solidFill>
                <a:latin typeface="Arial"/>
                <a:ea typeface="Arial"/>
                <a:cs typeface="Arial"/>
              </a:defRPr>
            </a:lvl4pPr>
            <a:lvl5pPr algn="l">
              <a:defRPr sz="2325" b="0">
                <a:solidFill>
                  <a:srgbClr val="596577"/>
                </a:solidFill>
                <a:latin typeface="Arial"/>
                <a:ea typeface="Arial"/>
                <a:cs typeface="Arial"/>
              </a:defRPr>
            </a:lvl5pPr>
            <a:lvl6pPr algn="l">
              <a:defRPr sz="2325" b="0">
                <a:solidFill>
                  <a:srgbClr val="596577"/>
                </a:solidFill>
                <a:latin typeface="Arial"/>
                <a:ea typeface="Arial"/>
                <a:cs typeface="Arial"/>
              </a:defRPr>
            </a:lvl6pPr>
            <a:lvl7pPr algn="l">
              <a:defRPr sz="2325" b="0">
                <a:solidFill>
                  <a:srgbClr val="596577"/>
                </a:solidFill>
                <a:latin typeface="Arial"/>
                <a:ea typeface="Arial"/>
                <a:cs typeface="Arial"/>
              </a:defRPr>
            </a:lvl7pPr>
            <a:lvl8pPr algn="l">
              <a:defRPr sz="2325" b="0">
                <a:solidFill>
                  <a:srgbClr val="596577"/>
                </a:solidFill>
                <a:latin typeface="Arial"/>
                <a:ea typeface="Arial"/>
                <a:cs typeface="Arial"/>
              </a:defRPr>
            </a:lvl8pPr>
            <a:lvl9pPr algn="l">
              <a:defRPr sz="2325" b="0">
                <a:solidFill>
                  <a:srgbClr val="596577"/>
                </a:solidFill>
                <a:latin typeface="Arial"/>
                <a:ea typeface="Arial"/>
                <a:cs typeface="Arial"/>
              </a:defRPr>
            </a:lvl9pPr>
          </a:lstStyle>
          <a:p xmlns:a="http://schemas.openxmlformats.org/drawingml/2006/main">
            <a:pPr algn="l">
              <a:defRPr sz="2325" b="0">
                <a:solidFill>
                  <a:srgbClr val="596577"/>
                </a:solidFill>
                <a:latin typeface="Arial"/>
                <a:ea typeface="Arial"/>
                <a:cs typeface="Arial"/>
              </a:defRPr>
            </a:pPr>
            <a:r>
              <a:rPr sz="2325" b="0">
                <a:solidFill>
                  <a:srgbClr val="596577"/>
                </a:solidFill>
                <a:latin typeface="Arial"/>
                <a:ea typeface="Arial"/>
                <a:cs typeface="Arial"/>
              </a:rPr>
              <a:t>Typed three-address IR</a:t>
            </a:r>
          </a:p>
        </p:txBody>
      </p:sp>
      <p:sp>
        <p:nvSpPr>
          <p:cNvPr id="6" name="LOAD_LOCAL  &lt;slot of t0&gt;&#10;LOAD_LOCAL  &lt;slot of t1&gt;&#10;BINAR">
            <a:extLst xmlns:a="http://schemas.openxmlformats.org/drawingml/2006/main">
              <a:ext uri="{FF2B5EF4-FFF2-40B4-BE49-F238E27FC236}">
                <a16:creationId xmlns:a16="http://schemas.microsoft.com/office/drawing/2014/main" id="{52D3BB62-1F0B-45DA-A3C3-9147E0FA0694}"/>
              </a:ext>
            </a:extLst>
          </p:cNvPr>
          <p:cNvSpPr>
            <a:spLocks xmlns:a="http://schemas.openxmlformats.org/drawingml/2006/main" noGrp="1"/>
          </p:cNvSpPr>
          <p:nvPr/>
        </p:nvSpPr>
        <p:spPr>
          <a:xfrm xmlns:a="http://schemas.openxmlformats.org/drawingml/2006/main">
            <a:off x="8096250" y="2762250"/>
            <a:ext cx="6381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62237"/>
                </a:solidFill>
                <a:latin typeface="Courier New"/>
                <a:ea typeface="Courier New"/>
                <a:cs typeface="Courier New"/>
              </a:defRPr>
            </a:defPPr>
            <a:lvl1pPr algn="l">
              <a:defRPr sz="2475" b="0">
                <a:solidFill>
                  <a:srgbClr val="162237"/>
                </a:solidFill>
                <a:latin typeface="Courier New"/>
                <a:ea typeface="Courier New"/>
                <a:cs typeface="Courier New"/>
              </a:defRPr>
            </a:lvl1pPr>
            <a:lvl2pPr algn="l">
              <a:defRPr sz="2475" b="0">
                <a:solidFill>
                  <a:srgbClr val="162237"/>
                </a:solidFill>
                <a:latin typeface="Courier New"/>
                <a:ea typeface="Courier New"/>
                <a:cs typeface="Courier New"/>
              </a:defRPr>
            </a:lvl2pPr>
            <a:lvl3pPr algn="l">
              <a:defRPr sz="2475" b="0">
                <a:solidFill>
                  <a:srgbClr val="162237"/>
                </a:solidFill>
                <a:latin typeface="Courier New"/>
                <a:ea typeface="Courier New"/>
                <a:cs typeface="Courier New"/>
              </a:defRPr>
            </a:lvl3pPr>
            <a:lvl4pPr algn="l">
              <a:defRPr sz="2475" b="0">
                <a:solidFill>
                  <a:srgbClr val="162237"/>
                </a:solidFill>
                <a:latin typeface="Courier New"/>
                <a:ea typeface="Courier New"/>
                <a:cs typeface="Courier New"/>
              </a:defRPr>
            </a:lvl4pPr>
            <a:lvl5pPr algn="l">
              <a:defRPr sz="2475" b="0">
                <a:solidFill>
                  <a:srgbClr val="162237"/>
                </a:solidFill>
                <a:latin typeface="Courier New"/>
                <a:ea typeface="Courier New"/>
                <a:cs typeface="Courier New"/>
              </a:defRPr>
            </a:lvl5pPr>
            <a:lvl6pPr algn="l">
              <a:defRPr sz="2475" b="0">
                <a:solidFill>
                  <a:srgbClr val="162237"/>
                </a:solidFill>
                <a:latin typeface="Courier New"/>
                <a:ea typeface="Courier New"/>
                <a:cs typeface="Courier New"/>
              </a:defRPr>
            </a:lvl6pPr>
            <a:lvl7pPr algn="l">
              <a:defRPr sz="2475" b="0">
                <a:solidFill>
                  <a:srgbClr val="162237"/>
                </a:solidFill>
                <a:latin typeface="Courier New"/>
                <a:ea typeface="Courier New"/>
                <a:cs typeface="Courier New"/>
              </a:defRPr>
            </a:lvl7pPr>
            <a:lvl8pPr algn="l">
              <a:defRPr sz="2475" b="0">
                <a:solidFill>
                  <a:srgbClr val="162237"/>
                </a:solidFill>
                <a:latin typeface="Courier New"/>
                <a:ea typeface="Courier New"/>
                <a:cs typeface="Courier New"/>
              </a:defRPr>
            </a:lvl8pPr>
            <a:lvl9pPr algn="l">
              <a:defRPr sz="2475" b="0">
                <a:solidFill>
                  <a:srgbClr val="162237"/>
                </a:solidFill>
                <a:latin typeface="Courier New"/>
                <a:ea typeface="Courier New"/>
                <a:cs typeface="Courier New"/>
              </a:defRPr>
            </a:lvl9pPr>
          </a:lstStyle>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LOAD_LOCAL  &lt;slot of t0&gt;</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LOAD_LOCAL  &lt;slot of t1&gt;</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BINARY      "+"</a:t>
            </a:r>
          </a:p>
          <a:p xmlns:a="http://schemas.openxmlformats.org/drawingml/2006/main">
            <a:pPr algn="l">
              <a:defRPr sz="2475" b="0">
                <a:solidFill>
                  <a:srgbClr val="162237"/>
                </a:solidFill>
                <a:latin typeface="Courier New"/>
                <a:ea typeface="Courier New"/>
                <a:cs typeface="Courier New"/>
              </a:defRPr>
            </a:pPr>
            <a:r>
              <a:rPr sz="2475" b="0">
                <a:solidFill>
                  <a:srgbClr val="162237"/>
                </a:solidFill>
                <a:latin typeface="Courier New"/>
                <a:ea typeface="Courier New"/>
                <a:cs typeface="Courier New"/>
              </a:rPr>
              <a:t>STORE_LOCAL &lt;slot of t2&gt;</a:t>
            </a:r>
          </a:p>
        </p:txBody>
      </p:sp>
      <p:sp>
        <p:nvSpPr>
          <p:cNvPr id="7" name="Storage allocation">
            <a:extLst xmlns:a="http://schemas.openxmlformats.org/drawingml/2006/main">
              <a:ext uri="{FF2B5EF4-FFF2-40B4-BE49-F238E27FC236}">
                <a16:creationId xmlns:a16="http://schemas.microsoft.com/office/drawing/2014/main" id="{87A5E165-4904-4E62-9E1E-A61D8F6819CD}"/>
              </a:ext>
            </a:extLst>
          </p:cNvPr>
          <p:cNvSpPr>
            <a:spLocks xmlns:a="http://schemas.openxmlformats.org/drawingml/2006/main" noGrp="1"/>
          </p:cNvSpPr>
          <p:nvPr/>
        </p:nvSpPr>
        <p:spPr>
          <a:xfrm xmlns:a="http://schemas.openxmlformats.org/drawingml/2006/main">
            <a:off x="781050" y="547687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Storage allocation</a:t>
            </a:r>
          </a:p>
        </p:txBody>
      </p:sp>
      <p:sp>
        <p:nvSpPr>
          <p:cNvPr id="8" name="Declared local slots come first.&#10;IR temporaries use add">
            <a:extLst xmlns:a="http://schemas.openxmlformats.org/drawingml/2006/main">
              <a:ext uri="{FF2B5EF4-FFF2-40B4-BE49-F238E27FC236}">
                <a16:creationId xmlns:a16="http://schemas.microsoft.com/office/drawing/2014/main" id="{5375086D-AFB2-4BEB-95D8-1031533ECB75}"/>
              </a:ext>
            </a:extLst>
          </p:cNvPr>
          <p:cNvSpPr>
            <a:spLocks xmlns:a="http://schemas.openxmlformats.org/drawingml/2006/main" noGrp="1"/>
          </p:cNvSpPr>
          <p:nvPr/>
        </p:nvSpPr>
        <p:spPr>
          <a:xfrm xmlns:a="http://schemas.openxmlformats.org/drawingml/2006/main">
            <a:off x="781050" y="6096000"/>
            <a:ext cx="619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Declared local slots come first.</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IR temporaries use additional slots.</a:t>
            </a:r>
          </a:p>
        </p:txBody>
      </p:sp>
      <p:sp>
        <p:nvSpPr>
          <p:cNvPr id="9" name="Instruction emission">
            <a:extLst xmlns:a="http://schemas.openxmlformats.org/drawingml/2006/main">
              <a:ext uri="{FF2B5EF4-FFF2-40B4-BE49-F238E27FC236}">
                <a16:creationId xmlns:a16="http://schemas.microsoft.com/office/drawing/2014/main" id="{6139E2F2-B5AE-459A-BB51-7C9A41336A9A}"/>
              </a:ext>
            </a:extLst>
          </p:cNvPr>
          <p:cNvSpPr>
            <a:spLocks xmlns:a="http://schemas.openxmlformats.org/drawingml/2006/main" noGrp="1"/>
          </p:cNvSpPr>
          <p:nvPr/>
        </p:nvSpPr>
        <p:spPr>
          <a:xfrm xmlns:a="http://schemas.openxmlformats.org/drawingml/2006/main">
            <a:off x="8096250" y="547687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Instruction emission</a:t>
            </a:r>
          </a:p>
        </p:txBody>
      </p:sp>
      <p:sp>
        <p:nvSpPr>
          <p:cNvPr id="10" name="Constants, calls, output and array&#10;operations have expl">
            <a:extLst xmlns:a="http://schemas.openxmlformats.org/drawingml/2006/main">
              <a:ext uri="{FF2B5EF4-FFF2-40B4-BE49-F238E27FC236}">
                <a16:creationId xmlns:a16="http://schemas.microsoft.com/office/drawing/2014/main" id="{504A48DE-C6BA-4D9B-BF6A-196F95ACD605}"/>
              </a:ext>
            </a:extLst>
          </p:cNvPr>
          <p:cNvSpPr>
            <a:spLocks xmlns:a="http://schemas.openxmlformats.org/drawingml/2006/main" noGrp="1"/>
          </p:cNvSpPr>
          <p:nvPr/>
        </p:nvSpPr>
        <p:spPr>
          <a:xfrm xmlns:a="http://schemas.openxmlformats.org/drawingml/2006/main">
            <a:off x="8096250" y="6096000"/>
            <a:ext cx="619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Constants, calls, output and array</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operations have explicit lowering rules.</a:t>
            </a:r>
          </a:p>
        </p:txBody>
      </p:sp>
    </p:spTree>
    <p:extLst>
      <p:ext uri="{BB962C8B-B14F-4D97-AF65-F5344CB8AC3E}">
        <p14:creationId xmlns:p14="http://schemas.microsoft.com/office/powerpoint/2010/main" val="477797480"/>
      </p:ext>
    </p:extLst>
  </p:cSld>
</p:sld>
</file>

<file path=ppt/slides/slide2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Backpatching jump targets">
            <a:extLst xmlns:a="http://schemas.openxmlformats.org/drawingml/2006/main">
              <a:ext uri="{FF2B5EF4-FFF2-40B4-BE49-F238E27FC236}">
                <a16:creationId xmlns:a16="http://schemas.microsoft.com/office/drawing/2014/main" id="{F907C319-EC97-44A8-A591-8220C89AF2F9}"/>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Backpatching jump targets</a:t>
            </a:r>
          </a:p>
        </p:txBody>
      </p:sp>
      <p:sp>
        <p:nvSpPr>
          <p:cNvPr id="2" name="Symbolic labels become absolute instruction indexes">
            <a:extLst xmlns:a="http://schemas.openxmlformats.org/drawingml/2006/main">
              <a:ext uri="{FF2B5EF4-FFF2-40B4-BE49-F238E27FC236}">
                <a16:creationId xmlns:a16="http://schemas.microsoft.com/office/drawing/2014/main" id="{3CEBEE7D-F42F-4850-B889-A7174FA0E96E}"/>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Symbolic labels become absolute instruction indexes</a:t>
            </a:r>
          </a:p>
        </p:txBody>
      </p:sp>
      <p:sp>
        <p:nvSpPr>
          <p:cNvPr id="3" name="20">
            <a:extLst xmlns:a="http://schemas.openxmlformats.org/drawingml/2006/main">
              <a:ext uri="{FF2B5EF4-FFF2-40B4-BE49-F238E27FC236}">
                <a16:creationId xmlns:a16="http://schemas.microsoft.com/office/drawing/2014/main" id="{3A01DB40-98F6-4CA8-835C-4B1ED503075E}"/>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20</a:t>
            </a:r>
          </a:p>
        </p:txBody>
      </p:sp>
      <p:sp>
        <p:nvSpPr>
          <p:cNvPr id="4" name="BRANCH condition, L_true, L_false&#10;&#10;LABEL L_true&#10;    ...">
            <a:extLst xmlns:a="http://schemas.openxmlformats.org/drawingml/2006/main">
              <a:ext uri="{FF2B5EF4-FFF2-40B4-BE49-F238E27FC236}">
                <a16:creationId xmlns:a16="http://schemas.microsoft.com/office/drawing/2014/main" id="{412D02C0-C48C-48C9-9CFC-504E09E84CE2}"/>
              </a:ext>
            </a:extLst>
          </p:cNvPr>
          <p:cNvSpPr>
            <a:spLocks xmlns:a="http://schemas.openxmlformats.org/drawingml/2006/main" noGrp="1"/>
          </p:cNvSpPr>
          <p:nvPr/>
        </p:nvSpPr>
        <p:spPr>
          <a:xfrm xmlns:a="http://schemas.openxmlformats.org/drawingml/2006/main">
            <a:off x="781050" y="2857500"/>
            <a:ext cx="7810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62237"/>
                </a:solidFill>
                <a:latin typeface="Courier New"/>
                <a:ea typeface="Courier New"/>
                <a:cs typeface="Courier New"/>
              </a:defRPr>
            </a:defPPr>
            <a:lvl1pPr algn="l">
              <a:defRPr sz="2400" b="0">
                <a:solidFill>
                  <a:srgbClr val="162237"/>
                </a:solidFill>
                <a:latin typeface="Courier New"/>
                <a:ea typeface="Courier New"/>
                <a:cs typeface="Courier New"/>
              </a:defRPr>
            </a:lvl1pPr>
            <a:lvl2pPr algn="l">
              <a:defRPr sz="2400" b="0">
                <a:solidFill>
                  <a:srgbClr val="162237"/>
                </a:solidFill>
                <a:latin typeface="Courier New"/>
                <a:ea typeface="Courier New"/>
                <a:cs typeface="Courier New"/>
              </a:defRPr>
            </a:lvl2pPr>
            <a:lvl3pPr algn="l">
              <a:defRPr sz="2400" b="0">
                <a:solidFill>
                  <a:srgbClr val="162237"/>
                </a:solidFill>
                <a:latin typeface="Courier New"/>
                <a:ea typeface="Courier New"/>
                <a:cs typeface="Courier New"/>
              </a:defRPr>
            </a:lvl3pPr>
            <a:lvl4pPr algn="l">
              <a:defRPr sz="2400" b="0">
                <a:solidFill>
                  <a:srgbClr val="162237"/>
                </a:solidFill>
                <a:latin typeface="Courier New"/>
                <a:ea typeface="Courier New"/>
                <a:cs typeface="Courier New"/>
              </a:defRPr>
            </a:lvl4pPr>
            <a:lvl5pPr algn="l">
              <a:defRPr sz="2400" b="0">
                <a:solidFill>
                  <a:srgbClr val="162237"/>
                </a:solidFill>
                <a:latin typeface="Courier New"/>
                <a:ea typeface="Courier New"/>
                <a:cs typeface="Courier New"/>
              </a:defRPr>
            </a:lvl5pPr>
            <a:lvl6pPr algn="l">
              <a:defRPr sz="2400" b="0">
                <a:solidFill>
                  <a:srgbClr val="162237"/>
                </a:solidFill>
                <a:latin typeface="Courier New"/>
                <a:ea typeface="Courier New"/>
                <a:cs typeface="Courier New"/>
              </a:defRPr>
            </a:lvl6pPr>
            <a:lvl7pPr algn="l">
              <a:defRPr sz="2400" b="0">
                <a:solidFill>
                  <a:srgbClr val="162237"/>
                </a:solidFill>
                <a:latin typeface="Courier New"/>
                <a:ea typeface="Courier New"/>
                <a:cs typeface="Courier New"/>
              </a:defRPr>
            </a:lvl7pPr>
            <a:lvl8pPr algn="l">
              <a:defRPr sz="2400" b="0">
                <a:solidFill>
                  <a:srgbClr val="162237"/>
                </a:solidFill>
                <a:latin typeface="Courier New"/>
                <a:ea typeface="Courier New"/>
                <a:cs typeface="Courier New"/>
              </a:defRPr>
            </a:lvl8pPr>
            <a:lvl9pPr algn="l">
              <a:defRPr sz="2400" b="0">
                <a:solidFill>
                  <a:srgbClr val="162237"/>
                </a:solidFill>
                <a:latin typeface="Courier New"/>
                <a:ea typeface="Courier New"/>
                <a:cs typeface="Courier New"/>
              </a:defRPr>
            </a:lvl9pPr>
          </a:lstStyle>
          <a:p xmlns:a="http://schemas.openxmlformats.org/drawingml/2006/main">
            <a:pPr algn="l">
              <a:defRPr sz="2400" b="0">
                <a:solidFill>
                  <a:srgbClr val="162237"/>
                </a:solidFill>
                <a:latin typeface="Courier New"/>
                <a:ea typeface="Courier New"/>
                <a:cs typeface="Courier New"/>
              </a:defRPr>
            </a:pPr>
            <a:r>
              <a:rPr sz="2400" b="0">
                <a:solidFill>
                  <a:srgbClr val="162237"/>
                </a:solidFill>
                <a:latin typeface="Courier New"/>
                <a:ea typeface="Courier New"/>
                <a:cs typeface="Courier New"/>
              </a:rPr>
              <a:t>BRANCH condition, L_true, L_false</a:t>
            </a:r>
          </a:p>
          <a:p xmlns:a="http://schemas.openxmlformats.org/drawingml/2006/main">
            <a:r>
              <a:t/>
            </a:r>
          </a:p>
          <a:p xmlns:a="http://schemas.openxmlformats.org/drawingml/2006/main">
            <a:pPr algn="l">
              <a:defRPr sz="2400" b="0">
                <a:solidFill>
                  <a:srgbClr val="162237"/>
                </a:solidFill>
                <a:latin typeface="Courier New"/>
                <a:ea typeface="Courier New"/>
                <a:cs typeface="Courier New"/>
              </a:defRPr>
            </a:pPr>
            <a:r>
              <a:rPr sz="2400" b="0">
                <a:solidFill>
                  <a:srgbClr val="162237"/>
                </a:solidFill>
                <a:latin typeface="Courier New"/>
                <a:ea typeface="Courier New"/>
                <a:cs typeface="Courier New"/>
              </a:rPr>
              <a:t>LABEL L_true</a:t>
            </a:r>
          </a:p>
          <a:p xmlns:a="http://schemas.openxmlformats.org/drawingml/2006/main">
            <a:pPr algn="l">
              <a:defRPr sz="2400" b="0">
                <a:solidFill>
                  <a:srgbClr val="162237"/>
                </a:solidFill>
                <a:latin typeface="Courier New"/>
                <a:ea typeface="Courier New"/>
                <a:cs typeface="Courier New"/>
              </a:defRPr>
            </a:pPr>
            <a:r>
              <a:rPr sz="2400" b="0">
                <a:solidFill>
                  <a:srgbClr val="162237"/>
                </a:solidFill>
                <a:latin typeface="Courier New"/>
                <a:ea typeface="Courier New"/>
                <a:cs typeface="Courier New"/>
              </a:rPr>
              <a:t>    ...</a:t>
            </a:r>
          </a:p>
          <a:p xmlns:a="http://schemas.openxmlformats.org/drawingml/2006/main">
            <a:r>
              <a:t/>
            </a:r>
          </a:p>
          <a:p xmlns:a="http://schemas.openxmlformats.org/drawingml/2006/main">
            <a:pPr algn="l">
              <a:defRPr sz="2400" b="0">
                <a:solidFill>
                  <a:srgbClr val="162237"/>
                </a:solidFill>
                <a:latin typeface="Courier New"/>
                <a:ea typeface="Courier New"/>
                <a:cs typeface="Courier New"/>
              </a:defRPr>
            </a:pPr>
            <a:r>
              <a:rPr sz="2400" b="0">
                <a:solidFill>
                  <a:srgbClr val="162237"/>
                </a:solidFill>
                <a:latin typeface="Courier New"/>
                <a:ea typeface="Courier New"/>
                <a:cs typeface="Courier New"/>
              </a:rPr>
              <a:t>LABEL L_false</a:t>
            </a:r>
          </a:p>
          <a:p xmlns:a="http://schemas.openxmlformats.org/drawingml/2006/main">
            <a:pPr algn="l">
              <a:defRPr sz="2400" b="0">
                <a:solidFill>
                  <a:srgbClr val="162237"/>
                </a:solidFill>
                <a:latin typeface="Courier New"/>
                <a:ea typeface="Courier New"/>
                <a:cs typeface="Courier New"/>
              </a:defRPr>
            </a:pPr>
            <a:r>
              <a:rPr sz="2400" b="0">
                <a:solidFill>
                  <a:srgbClr val="162237"/>
                </a:solidFill>
                <a:latin typeface="Courier New"/>
                <a:ea typeface="Courier New"/>
                <a:cs typeface="Courier New"/>
              </a:rPr>
              <a:t>    ...</a:t>
            </a:r>
          </a:p>
        </p:txBody>
      </p:sp>
      <p:sp>
        <p:nvSpPr>
          <p:cNvPr id="5" name="First pass">
            <a:extLst xmlns:a="http://schemas.openxmlformats.org/drawingml/2006/main">
              <a:ext uri="{FF2B5EF4-FFF2-40B4-BE49-F238E27FC236}">
                <a16:creationId xmlns:a16="http://schemas.microsoft.com/office/drawing/2014/main" id="{CAAC0F0C-5F52-4107-B986-1556CBCD1FAC}"/>
              </a:ext>
            </a:extLst>
          </p:cNvPr>
          <p:cNvSpPr>
            <a:spLocks xmlns:a="http://schemas.openxmlformats.org/drawingml/2006/main" noGrp="1"/>
          </p:cNvSpPr>
          <p:nvPr/>
        </p:nvSpPr>
        <p:spPr>
          <a:xfrm xmlns:a="http://schemas.openxmlformats.org/drawingml/2006/main">
            <a:off x="9906000" y="2667000"/>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First pass</a:t>
            </a:r>
          </a:p>
        </p:txBody>
      </p:sp>
      <p:sp>
        <p:nvSpPr>
          <p:cNvPr id="6" name="Emit instructions and record&#10;unresolved jump positions.">
            <a:extLst xmlns:a="http://schemas.openxmlformats.org/drawingml/2006/main">
              <a:ext uri="{FF2B5EF4-FFF2-40B4-BE49-F238E27FC236}">
                <a16:creationId xmlns:a16="http://schemas.microsoft.com/office/drawing/2014/main" id="{23CB2AC2-C68D-40F6-B70C-AC9882C0F3F1}"/>
              </a:ext>
            </a:extLst>
          </p:cNvPr>
          <p:cNvSpPr>
            <a:spLocks xmlns:a="http://schemas.openxmlformats.org/drawingml/2006/main" noGrp="1"/>
          </p:cNvSpPr>
          <p:nvPr/>
        </p:nvSpPr>
        <p:spPr>
          <a:xfrm xmlns:a="http://schemas.openxmlformats.org/drawingml/2006/main">
            <a:off x="9906000" y="3286125"/>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Emit instructions and record</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unresolved jump positions.</a:t>
            </a:r>
          </a:p>
        </p:txBody>
      </p:sp>
      <p:sp>
        <p:nvSpPr>
          <p:cNvPr id="7" name="Label map">
            <a:extLst xmlns:a="http://schemas.openxmlformats.org/drawingml/2006/main">
              <a:ext uri="{FF2B5EF4-FFF2-40B4-BE49-F238E27FC236}">
                <a16:creationId xmlns:a16="http://schemas.microsoft.com/office/drawing/2014/main" id="{F1FCDF38-4F75-45C9-BCEF-A732C474DCFE}"/>
              </a:ext>
            </a:extLst>
          </p:cNvPr>
          <p:cNvSpPr>
            <a:spLocks xmlns:a="http://schemas.openxmlformats.org/drawingml/2006/main" noGrp="1"/>
          </p:cNvSpPr>
          <p:nvPr/>
        </p:nvSpPr>
        <p:spPr>
          <a:xfrm xmlns:a="http://schemas.openxmlformats.org/drawingml/2006/main">
            <a:off x="9906000" y="442912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Label map</a:t>
            </a:r>
          </a:p>
        </p:txBody>
      </p:sp>
      <p:sp>
        <p:nvSpPr>
          <p:cNvPr id="8" name="Record the instruction index&#10;associated with each label">
            <a:extLst xmlns:a="http://schemas.openxmlformats.org/drawingml/2006/main">
              <a:ext uri="{FF2B5EF4-FFF2-40B4-BE49-F238E27FC236}">
                <a16:creationId xmlns:a16="http://schemas.microsoft.com/office/drawing/2014/main" id="{FCC761D0-02AC-418F-A3F3-3345A0A63B6F}"/>
              </a:ext>
            </a:extLst>
          </p:cNvPr>
          <p:cNvSpPr>
            <a:spLocks xmlns:a="http://schemas.openxmlformats.org/drawingml/2006/main" noGrp="1"/>
          </p:cNvSpPr>
          <p:nvPr/>
        </p:nvSpPr>
        <p:spPr>
          <a:xfrm xmlns:a="http://schemas.openxmlformats.org/drawingml/2006/main">
            <a:off x="9906000" y="5048250"/>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Record the instruction index</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associated with each label.</a:t>
            </a:r>
          </a:p>
        </p:txBody>
      </p:sp>
      <p:sp>
        <p:nvSpPr>
          <p:cNvPr id="9" name="Patch pass">
            <a:extLst xmlns:a="http://schemas.openxmlformats.org/drawingml/2006/main">
              <a:ext uri="{FF2B5EF4-FFF2-40B4-BE49-F238E27FC236}">
                <a16:creationId xmlns:a16="http://schemas.microsoft.com/office/drawing/2014/main" id="{CA55304C-9319-4281-98C9-25CB3554B2A0}"/>
              </a:ext>
            </a:extLst>
          </p:cNvPr>
          <p:cNvSpPr>
            <a:spLocks xmlns:a="http://schemas.openxmlformats.org/drawingml/2006/main" noGrp="1"/>
          </p:cNvSpPr>
          <p:nvPr/>
        </p:nvSpPr>
        <p:spPr>
          <a:xfrm xmlns:a="http://schemas.openxmlformats.org/drawingml/2006/main">
            <a:off x="9906000" y="6191250"/>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Patch pass</a:t>
            </a:r>
          </a:p>
        </p:txBody>
      </p:sp>
      <p:sp>
        <p:nvSpPr>
          <p:cNvPr id="10" name="Replace each placeholder target&#10;with its resolved numer">
            <a:extLst xmlns:a="http://schemas.openxmlformats.org/drawingml/2006/main">
              <a:ext uri="{FF2B5EF4-FFF2-40B4-BE49-F238E27FC236}">
                <a16:creationId xmlns:a16="http://schemas.microsoft.com/office/drawing/2014/main" id="{86B647D4-365F-4471-85DE-7847C5C11D79}"/>
              </a:ext>
            </a:extLst>
          </p:cNvPr>
          <p:cNvSpPr>
            <a:spLocks xmlns:a="http://schemas.openxmlformats.org/drawingml/2006/main" noGrp="1"/>
          </p:cNvSpPr>
          <p:nvPr/>
        </p:nvSpPr>
        <p:spPr>
          <a:xfrm xmlns:a="http://schemas.openxmlformats.org/drawingml/2006/main">
            <a:off x="9906000" y="6810375"/>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Replace each placeholder target</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with its resolved numeric index.</a:t>
            </a:r>
          </a:p>
        </p:txBody>
      </p:sp>
      <p:sp>
        <p:nvSpPr>
          <p:cNvPr id="11" name="Code generation handles both conditional and unconditio">
            <a:extLst xmlns:a="http://schemas.openxmlformats.org/drawingml/2006/main">
              <a:ext uri="{FF2B5EF4-FFF2-40B4-BE49-F238E27FC236}">
                <a16:creationId xmlns:a16="http://schemas.microsoft.com/office/drawing/2014/main" id="{ED9CD182-5FEA-4E84-B63A-E3541A9C452C}"/>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Code generation handles both conditional and unconditional jumps.</a:t>
            </a:r>
          </a:p>
        </p:txBody>
      </p:sp>
    </p:spTree>
    <p:extLst>
      <p:ext uri="{BB962C8B-B14F-4D97-AF65-F5344CB8AC3E}">
        <p14:creationId xmlns:p14="http://schemas.microsoft.com/office/powerpoint/2010/main" val="643301920"/>
      </p:ext>
    </p:extLst>
  </p:cSld>
</p:sld>
</file>

<file path=ppt/slides/slide2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A reusable bytecode artifact">
            <a:extLst xmlns:a="http://schemas.openxmlformats.org/drawingml/2006/main">
              <a:ext uri="{FF2B5EF4-FFF2-40B4-BE49-F238E27FC236}">
                <a16:creationId xmlns:a16="http://schemas.microsoft.com/office/drawing/2014/main" id="{91EFD8AF-0A90-4CAC-BE16-2B079764194A}"/>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A reusable bytecode artifact</a:t>
            </a:r>
          </a:p>
        </p:txBody>
      </p:sp>
      <p:sp>
        <p:nvSpPr>
          <p:cNvPr id="2" name="The .pbc file separates compilation from execution">
            <a:extLst xmlns:a="http://schemas.openxmlformats.org/drawingml/2006/main">
              <a:ext uri="{FF2B5EF4-FFF2-40B4-BE49-F238E27FC236}">
                <a16:creationId xmlns:a16="http://schemas.microsoft.com/office/drawing/2014/main" id="{BC670A6A-CDB8-426C-B426-41062E1EB8A5}"/>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The .pbc file separates compilation from execution</a:t>
            </a:r>
          </a:p>
        </p:txBody>
      </p:sp>
      <p:sp>
        <p:nvSpPr>
          <p:cNvPr id="3" name="21">
            <a:extLst xmlns:a="http://schemas.openxmlformats.org/drawingml/2006/main">
              <a:ext uri="{FF2B5EF4-FFF2-40B4-BE49-F238E27FC236}">
                <a16:creationId xmlns:a16="http://schemas.microsoft.com/office/drawing/2014/main" id="{1456D7F4-99B4-4A2A-AA28-9C0F5087DCFB}"/>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21</a:t>
            </a:r>
          </a:p>
        </p:txBody>
      </p:sp>
      <p:sp>
        <p:nvSpPr>
          <p:cNvPr id="4" name="format: &quot;polyglot-bytecode&quot;&#10;version: 3&#10;entry: 0&#10;constan">
            <a:extLst xmlns:a="http://schemas.openxmlformats.org/drawingml/2006/main">
              <a:ext uri="{FF2B5EF4-FFF2-40B4-BE49-F238E27FC236}">
                <a16:creationId xmlns:a16="http://schemas.microsoft.com/office/drawing/2014/main" id="{FB26AF48-AB71-4A15-A943-BDE926F03894}"/>
              </a:ext>
            </a:extLst>
          </p:cNvPr>
          <p:cNvSpPr>
            <a:spLocks xmlns:a="http://schemas.openxmlformats.org/drawingml/2006/main" noGrp="1"/>
          </p:cNvSpPr>
          <p:nvPr/>
        </p:nvSpPr>
        <p:spPr>
          <a:xfrm xmlns:a="http://schemas.openxmlformats.org/drawingml/2006/main">
            <a:off x="781050" y="2714625"/>
            <a:ext cx="7524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62237"/>
                </a:solidFill>
                <a:latin typeface="Courier New"/>
                <a:ea typeface="Courier New"/>
                <a:cs typeface="Courier New"/>
              </a:defRPr>
            </a:defPPr>
            <a:lvl1pPr algn="l">
              <a:defRPr sz="2550" b="0">
                <a:solidFill>
                  <a:srgbClr val="162237"/>
                </a:solidFill>
                <a:latin typeface="Courier New"/>
                <a:ea typeface="Courier New"/>
                <a:cs typeface="Courier New"/>
              </a:defRPr>
            </a:lvl1pPr>
            <a:lvl2pPr algn="l">
              <a:defRPr sz="2550" b="0">
                <a:solidFill>
                  <a:srgbClr val="162237"/>
                </a:solidFill>
                <a:latin typeface="Courier New"/>
                <a:ea typeface="Courier New"/>
                <a:cs typeface="Courier New"/>
              </a:defRPr>
            </a:lvl2pPr>
            <a:lvl3pPr algn="l">
              <a:defRPr sz="2550" b="0">
                <a:solidFill>
                  <a:srgbClr val="162237"/>
                </a:solidFill>
                <a:latin typeface="Courier New"/>
                <a:ea typeface="Courier New"/>
                <a:cs typeface="Courier New"/>
              </a:defRPr>
            </a:lvl3pPr>
            <a:lvl4pPr algn="l">
              <a:defRPr sz="2550" b="0">
                <a:solidFill>
                  <a:srgbClr val="162237"/>
                </a:solidFill>
                <a:latin typeface="Courier New"/>
                <a:ea typeface="Courier New"/>
                <a:cs typeface="Courier New"/>
              </a:defRPr>
            </a:lvl4pPr>
            <a:lvl5pPr algn="l">
              <a:defRPr sz="2550" b="0">
                <a:solidFill>
                  <a:srgbClr val="162237"/>
                </a:solidFill>
                <a:latin typeface="Courier New"/>
                <a:ea typeface="Courier New"/>
                <a:cs typeface="Courier New"/>
              </a:defRPr>
            </a:lvl5pPr>
            <a:lvl6pPr algn="l">
              <a:defRPr sz="2550" b="0">
                <a:solidFill>
                  <a:srgbClr val="162237"/>
                </a:solidFill>
                <a:latin typeface="Courier New"/>
                <a:ea typeface="Courier New"/>
                <a:cs typeface="Courier New"/>
              </a:defRPr>
            </a:lvl6pPr>
            <a:lvl7pPr algn="l">
              <a:defRPr sz="2550" b="0">
                <a:solidFill>
                  <a:srgbClr val="162237"/>
                </a:solidFill>
                <a:latin typeface="Courier New"/>
                <a:ea typeface="Courier New"/>
                <a:cs typeface="Courier New"/>
              </a:defRPr>
            </a:lvl7pPr>
            <a:lvl8pPr algn="l">
              <a:defRPr sz="2550" b="0">
                <a:solidFill>
                  <a:srgbClr val="162237"/>
                </a:solidFill>
                <a:latin typeface="Courier New"/>
                <a:ea typeface="Courier New"/>
                <a:cs typeface="Courier New"/>
              </a:defRPr>
            </a:lvl8pPr>
            <a:lvl9pPr algn="l">
              <a:defRPr sz="2550" b="0">
                <a:solidFill>
                  <a:srgbClr val="162237"/>
                </a:solidFill>
                <a:latin typeface="Courier New"/>
                <a:ea typeface="Courier New"/>
                <a:cs typeface="Courier New"/>
              </a:defRPr>
            </a:lvl9pPr>
          </a:lstStyle>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format: "polyglot-bytecode"</a:t>
            </a:r>
          </a:p>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version: 3</a:t>
            </a:r>
          </a:p>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entry: 0</a:t>
            </a:r>
          </a:p>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constants: [...]</a:t>
            </a:r>
          </a:p>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global_count: ...</a:t>
            </a:r>
          </a:p>
          <a:p xmlns:a="http://schemas.openxmlformats.org/drawingml/2006/main">
            <a:pPr algn="l">
              <a:defRPr sz="2550" b="0">
                <a:solidFill>
                  <a:srgbClr val="162237"/>
                </a:solidFill>
                <a:latin typeface="Courier New"/>
                <a:ea typeface="Courier New"/>
                <a:cs typeface="Courier New"/>
              </a:defRPr>
            </a:pPr>
            <a:r>
              <a:rPr sz="2550" b="0">
                <a:solidFill>
                  <a:srgbClr val="162237"/>
                </a:solidFill>
                <a:latin typeface="Courier New"/>
                <a:ea typeface="Courier New"/>
                <a:cs typeface="Courier New"/>
              </a:rPr>
              <a:t>functions: [...]</a:t>
            </a:r>
          </a:p>
        </p:txBody>
      </p:sp>
      <p:sp>
        <p:nvSpPr>
          <p:cNvPr id="5" name="Portable representation">
            <a:extLst xmlns:a="http://schemas.openxmlformats.org/drawingml/2006/main">
              <a:ext uri="{FF2B5EF4-FFF2-40B4-BE49-F238E27FC236}">
                <a16:creationId xmlns:a16="http://schemas.microsoft.com/office/drawing/2014/main" id="{1D66163B-4A87-4A62-A259-3C428FF5EBD4}"/>
              </a:ext>
            </a:extLst>
          </p:cNvPr>
          <p:cNvSpPr>
            <a:spLocks xmlns:a="http://schemas.openxmlformats.org/drawingml/2006/main" noGrp="1"/>
          </p:cNvSpPr>
          <p:nvPr/>
        </p:nvSpPr>
        <p:spPr>
          <a:xfrm xmlns:a="http://schemas.openxmlformats.org/drawingml/2006/main">
            <a:off x="9144000" y="2667000"/>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Portable representation</a:t>
            </a:r>
          </a:p>
        </p:txBody>
      </p:sp>
      <p:sp>
        <p:nvSpPr>
          <p:cNvPr id="6" name="UTF-8 JSON stores opcodes, operands,&#10;function signature">
            <a:extLst xmlns:a="http://schemas.openxmlformats.org/drawingml/2006/main">
              <a:ext uri="{FF2B5EF4-FFF2-40B4-BE49-F238E27FC236}">
                <a16:creationId xmlns:a16="http://schemas.microsoft.com/office/drawing/2014/main" id="{4593DC17-11F0-4222-BE67-4AFF9A07AAF9}"/>
              </a:ext>
            </a:extLst>
          </p:cNvPr>
          <p:cNvSpPr>
            <a:spLocks xmlns:a="http://schemas.openxmlformats.org/drawingml/2006/main" noGrp="1"/>
          </p:cNvSpPr>
          <p:nvPr/>
        </p:nvSpPr>
        <p:spPr>
          <a:xfrm xmlns:a="http://schemas.openxmlformats.org/drawingml/2006/main">
            <a:off x="9144000" y="3286125"/>
            <a:ext cx="5334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UTF-8 JSON stores opcodes, operands,</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function signatures and source maps.</a:t>
            </a:r>
          </a:p>
        </p:txBody>
      </p:sp>
      <p:sp>
        <p:nvSpPr>
          <p:cNvPr id="7" name="Validated input">
            <a:extLst xmlns:a="http://schemas.openxmlformats.org/drawingml/2006/main">
              <a:ext uri="{FF2B5EF4-FFF2-40B4-BE49-F238E27FC236}">
                <a16:creationId xmlns:a16="http://schemas.microsoft.com/office/drawing/2014/main" id="{6B83DBA7-9A7E-4ACD-913B-BF1290D6AF51}"/>
              </a:ext>
            </a:extLst>
          </p:cNvPr>
          <p:cNvSpPr>
            <a:spLocks xmlns:a="http://schemas.openxmlformats.org/drawingml/2006/main" noGrp="1"/>
          </p:cNvSpPr>
          <p:nvPr/>
        </p:nvSpPr>
        <p:spPr>
          <a:xfrm xmlns:a="http://schemas.openxmlformats.org/drawingml/2006/main">
            <a:off x="9144000" y="5191125"/>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Validated input</a:t>
            </a:r>
          </a:p>
        </p:txBody>
      </p:sp>
      <p:sp>
        <p:nvSpPr>
          <p:cNvPr id="8" name="The loader checks structure, targets,&#10;slots and operand">
            <a:extLst xmlns:a="http://schemas.openxmlformats.org/drawingml/2006/main">
              <a:ext uri="{FF2B5EF4-FFF2-40B4-BE49-F238E27FC236}">
                <a16:creationId xmlns:a16="http://schemas.microsoft.com/office/drawing/2014/main" id="{3917583E-C070-4E7E-A152-484FD8450C4A}"/>
              </a:ext>
            </a:extLst>
          </p:cNvPr>
          <p:cNvSpPr>
            <a:spLocks xmlns:a="http://schemas.openxmlformats.org/drawingml/2006/main" noGrp="1"/>
          </p:cNvSpPr>
          <p:nvPr/>
        </p:nvSpPr>
        <p:spPr>
          <a:xfrm xmlns:a="http://schemas.openxmlformats.org/drawingml/2006/main">
            <a:off x="9144000" y="5810250"/>
            <a:ext cx="5334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The loader checks structure, targets,</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slots and operand-stack consistency.</a:t>
            </a:r>
          </a:p>
        </p:txBody>
      </p:sp>
      <p:sp>
        <p:nvSpPr>
          <p:cNvPr id="9" name="The VM can execute a valid artifact without reading the">
            <a:extLst xmlns:a="http://schemas.openxmlformats.org/drawingml/2006/main">
              <a:ext uri="{FF2B5EF4-FFF2-40B4-BE49-F238E27FC236}">
                <a16:creationId xmlns:a16="http://schemas.microsoft.com/office/drawing/2014/main" id="{3A186674-D443-49D0-92A1-3C47070926A2}"/>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The VM can execute a valid artifact without reading the original source file.</a:t>
            </a:r>
          </a:p>
        </p:txBody>
      </p:sp>
    </p:spTree>
    <p:extLst>
      <p:ext uri="{BB962C8B-B14F-4D97-AF65-F5344CB8AC3E}">
        <p14:creationId xmlns:p14="http://schemas.microsoft.com/office/powerpoint/2010/main" val="1520954560"/>
      </p:ext>
    </p:extLst>
  </p:cSld>
</p:sld>
</file>

<file path=ppt/slides/slide2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Execution on the stack VM">
            <a:extLst xmlns:a="http://schemas.openxmlformats.org/drawingml/2006/main">
              <a:ext uri="{FF2B5EF4-FFF2-40B4-BE49-F238E27FC236}">
                <a16:creationId xmlns:a16="http://schemas.microsoft.com/office/drawing/2014/main" id="{57E51B57-5469-4BA1-9DA1-A734406304B1}"/>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Execution on the stack VM</a:t>
            </a:r>
          </a:p>
        </p:txBody>
      </p:sp>
      <p:sp>
        <p:nvSpPr>
          <p:cNvPr id="2" name="The optimized expression uses one constant and five ins">
            <a:extLst xmlns:a="http://schemas.openxmlformats.org/drawingml/2006/main">
              <a:ext uri="{FF2B5EF4-FFF2-40B4-BE49-F238E27FC236}">
                <a16:creationId xmlns:a16="http://schemas.microsoft.com/office/drawing/2014/main" id="{387B62FC-5E8A-4428-97A6-E90CBCAC848E}"/>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The optimized expression uses one constant and five instructions</a:t>
            </a:r>
          </a:p>
        </p:txBody>
      </p:sp>
      <p:sp>
        <p:nvSpPr>
          <p:cNvPr id="3" name="22">
            <a:extLst xmlns:a="http://schemas.openxmlformats.org/drawingml/2006/main">
              <a:ext uri="{FF2B5EF4-FFF2-40B4-BE49-F238E27FC236}">
                <a16:creationId xmlns:a16="http://schemas.microsoft.com/office/drawing/2014/main" id="{1BC57B80-5F26-427D-AA72-5D937C903E1F}"/>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22</a:t>
            </a:r>
          </a:p>
        </p:txBody>
      </p:sp>
      <p:graphicFrame>
        <p:nvGraphicFramePr>
          <p:cNvPr id="4" name="">
            <a:extLst xmlns:a="http://schemas.openxmlformats.org/drawingml/2006/main">
              <a:ext uri="{FF2B5EF4-FFF2-40B4-BE49-F238E27FC236}">
                <a16:creationId xmlns:a16="http://schemas.microsoft.com/office/drawing/2014/main" id="{74F3FEDB-1CF9-4DD0-A3C2-1087788FB8D6}"/>
              </a:ext>
            </a:extLst>
          </p:cNvPr>
          <p:cNvGraphicFramePr/>
          <p:nvPr/>
        </p:nvGraphicFramePr>
        <p:xfrm>
          <a:off xmlns:a="http://schemas.openxmlformats.org/drawingml/2006/main" x="781050" y="2667000"/>
          <a:ext xmlns:a="http://schemas.openxmlformats.org/drawingml/2006/main" cx="13620750" cy="4095750"/>
        </p:xfrm>
        <a:graphic xmlns:a="http://schemas.openxmlformats.org/drawingml/2006/main">
          <a:graphicData uri="http://schemas.openxmlformats.org/drawingml/2006/table">
            <a:tbl>
              <a:tblPr/>
              <a:tblGrid>
                <a:gridCol w="4476750"/>
                <a:gridCol w="4762500"/>
                <a:gridCol w="4381500"/>
              </a:tblGrid>
              <a:tr h="682625">
                <a:tc>
                  <a:txBody>
                    <a:bodyPr lIns="142875" tIns="142875" rIns="142875" bIns="142875"/>
                    <a:lstStyle/>
                    <a:p>
                      <a:r>
                        <a:rPr sz="2250" b="1">
                          <a:solidFill>
                            <a:srgbClr val="17273C"/>
                          </a:solidFill>
                          <a:latin typeface="Arial"/>
                          <a:ea typeface="Arial"/>
                          <a:cs typeface="Arial"/>
                        </a:rPr>
                        <a:t>Instruction</a:t>
                      </a:r>
                    </a:p>
                  </a:txBody>
                  <a:tcPr marL="91440" marR="91440" marT="45720" marB="45720" anchor="ctr">
                    <a:lnL w="7620">
                      <a:solidFill>
                        <a:srgbClr val="CDD3D9"/>
                      </a:solidFill>
                      <a:prstDash val="solid"/>
                    </a:lnL>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250" b="1">
                          <a:solidFill>
                            <a:srgbClr val="17273C"/>
                          </a:solidFill>
                          <a:latin typeface="Arial"/>
                          <a:ea typeface="Arial"/>
                          <a:cs typeface="Arial"/>
                        </a:rPr>
                        <a:t>Operand stack after execution</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250" b="1">
                          <a:solidFill>
                            <a:srgbClr val="17273C"/>
                          </a:solidFill>
                          <a:latin typeface="Arial"/>
                          <a:ea typeface="Arial"/>
                          <a:cs typeface="Arial"/>
                        </a:rPr>
                        <a:t>Effect</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r>
              <a:tr h="682625">
                <a:tc>
                  <a:txBody>
                    <a:bodyPr lIns="142875" tIns="142875" rIns="142875" bIns="142875"/>
                    <a:lstStyle/>
                    <a:p>
                      <a:r>
                        <a:rPr sz="2250" b="0">
                          <a:solidFill>
                            <a:srgbClr val="17273C"/>
                          </a:solidFill>
                          <a:latin typeface="Arial"/>
                          <a:ea typeface="Arial"/>
                          <a:cs typeface="Arial"/>
                        </a:rPr>
                        <a:t>CONST 0</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[20]</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Push constant pool entry 0</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82625">
                <a:tc>
                  <a:txBody>
                    <a:bodyPr lIns="142875" tIns="142875" rIns="142875" bIns="142875"/>
                    <a:lstStyle/>
                    <a:p>
                      <a:r>
                        <a:rPr sz="2250" b="0">
                          <a:solidFill>
                            <a:srgbClr val="17273C"/>
                          </a:solidFill>
                          <a:latin typeface="Arial"/>
                          <a:ea typeface="Arial"/>
                          <a:cs typeface="Arial"/>
                        </a:rPr>
                        <a:t>STORE_LOCAL 4</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Save 20 in temporary slot 4</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82625">
                <a:tc>
                  <a:txBody>
                    <a:bodyPr lIns="142875" tIns="142875" rIns="142875" bIns="142875"/>
                    <a:lstStyle/>
                    <a:p>
                      <a:r>
                        <a:rPr sz="2250" b="0">
                          <a:solidFill>
                            <a:srgbClr val="17273C"/>
                          </a:solidFill>
                          <a:latin typeface="Arial"/>
                          <a:ea typeface="Arial"/>
                          <a:cs typeface="Arial"/>
                        </a:rPr>
                        <a:t>LOAD_LOCAL 4</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[20]</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Load the saved value</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82625">
                <a:tc>
                  <a:txBody>
                    <a:bodyPr lIns="142875" tIns="142875" rIns="142875" bIns="142875"/>
                    <a:lstStyle/>
                    <a:p>
                      <a:r>
                        <a:rPr sz="2250" b="0">
                          <a:solidFill>
                            <a:srgbClr val="17273C"/>
                          </a:solidFill>
                          <a:latin typeface="Arial"/>
                          <a:ea typeface="Arial"/>
                          <a:cs typeface="Arial"/>
                        </a:rPr>
                        <a:t>OUTPUT 1, "", "\n"</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Print 20 and a newline</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82625">
                <a:tc>
                  <a:txBody>
                    <a:bodyPr lIns="142875" tIns="142875" rIns="142875" bIns="142875"/>
                    <a:lstStyle/>
                    <a:p>
                      <a:r>
                        <a:rPr sz="2250" b="0">
                          <a:solidFill>
                            <a:srgbClr val="17273C"/>
                          </a:solidFill>
                          <a:latin typeface="Arial"/>
                          <a:ea typeface="Arial"/>
                          <a:cs typeface="Arial"/>
                        </a:rPr>
                        <a:t>RETURN_VOID</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250" b="0">
                          <a:solidFill>
                            <a:srgbClr val="17273C"/>
                          </a:solidFill>
                          <a:latin typeface="Arial"/>
                          <a:ea typeface="Arial"/>
                          <a:cs typeface="Arial"/>
                        </a:rPr>
                        <a:t>Finish the main function</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bl>
          </a:graphicData>
        </a:graphic>
      </p:graphicFrame>
      <p:sp>
        <p:nvSpPr>
          <p:cNvPr id="5" name="The VM executes our instruction set and maintains its o">
            <a:extLst xmlns:a="http://schemas.openxmlformats.org/drawingml/2006/main">
              <a:ext uri="{FF2B5EF4-FFF2-40B4-BE49-F238E27FC236}">
                <a16:creationId xmlns:a16="http://schemas.microsoft.com/office/drawing/2014/main" id="{CB6629F5-15D7-40EE-8060-0526588AF945}"/>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The VM executes our instruction set and maintains its own instruction pointer.</a:t>
            </a:r>
          </a:p>
        </p:txBody>
      </p:sp>
    </p:spTree>
    <p:extLst>
      <p:ext uri="{BB962C8B-B14F-4D97-AF65-F5344CB8AC3E}">
        <p14:creationId xmlns:p14="http://schemas.microsoft.com/office/powerpoint/2010/main" val="756102307"/>
      </p:ext>
    </p:extLst>
  </p:cSld>
</p:sld>
</file>

<file path=ppt/slides/slide2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1447158A-96A1-4431-AFDC-DF66207BFFB1}"/>
              </a:ext>
            </a:extLst>
          </p:cNvPr>
          <p:cNvCxnSpPr>
            <a:stCxn xmlns:a="http://schemas.openxmlformats.org/drawingml/2006/main" id="7" idx="3"/>
            <a:endCxn xmlns:a="http://schemas.openxmlformats.org/drawingml/2006/main" id="10" idx="1"/>
          </p:cNvCxnSpPr>
          <p:nvPr/>
        </p:nvCxnSpPr>
        <p:spPr>
          <a:xfrm xmlns:a="http://schemas.openxmlformats.org/drawingml/2006/main">
            <a:off x="10191750" y="3905250"/>
            <a:ext cx="571500" cy="0"/>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52A469DF-4581-4951-9B51-9356A0D48D24}"/>
              </a:ext>
            </a:extLst>
          </p:cNvPr>
          <p:cNvCxnSpPr>
            <a:stCxn xmlns:a="http://schemas.openxmlformats.org/drawingml/2006/main" id="4" idx="3"/>
            <a:endCxn xmlns:a="http://schemas.openxmlformats.org/drawingml/2006/main" id="7" idx="1"/>
          </p:cNvCxnSpPr>
          <p:nvPr/>
        </p:nvCxnSpPr>
        <p:spPr>
          <a:xfrm xmlns:a="http://schemas.openxmlformats.org/drawingml/2006/main">
            <a:off x="5334000" y="3905250"/>
            <a:ext cx="571500" cy="0"/>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sp>
        <p:nvSpPr>
          <p:cNvPr id="20" name="Function calls and activation records">
            <a:extLst xmlns:a="http://schemas.openxmlformats.org/drawingml/2006/main">
              <a:ext uri="{FF2B5EF4-FFF2-40B4-BE49-F238E27FC236}">
                <a16:creationId xmlns:a16="http://schemas.microsoft.com/office/drawing/2014/main" id="{8C2B050B-AE8F-47CC-8A2B-232326A521CD}"/>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Function calls and activation records</a:t>
            </a:r>
          </a:p>
        </p:txBody>
      </p:sp>
      <p:sp>
        <p:nvSpPr>
          <p:cNvPr id="2" name="Each call owns a separate frame">
            <a:extLst xmlns:a="http://schemas.openxmlformats.org/drawingml/2006/main">
              <a:ext uri="{FF2B5EF4-FFF2-40B4-BE49-F238E27FC236}">
                <a16:creationId xmlns:a16="http://schemas.microsoft.com/office/drawing/2014/main" id="{B71AECB1-0A05-43C8-AECE-02BC8D9F0524}"/>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Each call owns a separate frame</a:t>
            </a:r>
          </a:p>
        </p:txBody>
      </p:sp>
      <p:sp>
        <p:nvSpPr>
          <p:cNvPr id="3" name="23">
            <a:extLst xmlns:a="http://schemas.openxmlformats.org/drawingml/2006/main">
              <a:ext uri="{FF2B5EF4-FFF2-40B4-BE49-F238E27FC236}">
                <a16:creationId xmlns:a16="http://schemas.microsoft.com/office/drawing/2014/main" id="{5CBD4EBC-3EB2-407C-B4B2-ADFDC6B7E30B}"/>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23</a:t>
            </a:r>
          </a:p>
        </p:txBody>
      </p:sp>
      <p:sp>
        <p:nvSpPr>
          <p:cNvPr id="4" name="Frame: &lt;main&gt;">
            <a:extLst xmlns:a="http://schemas.openxmlformats.org/drawingml/2006/main">
              <a:ext uri="{FF2B5EF4-FFF2-40B4-BE49-F238E27FC236}">
                <a16:creationId xmlns:a16="http://schemas.microsoft.com/office/drawing/2014/main" id="{C9C00A12-80F1-481C-8178-475627D3F7D8}"/>
              </a:ext>
            </a:extLst>
          </p:cNvPr>
          <p:cNvSpPr>
            <a:spLocks xmlns:a="http://schemas.openxmlformats.org/drawingml/2006/main" noGrp="1"/>
          </p:cNvSpPr>
          <p:nvPr/>
        </p:nvSpPr>
        <p:spPr>
          <a:xfrm xmlns:a="http://schemas.openxmlformats.org/drawingml/2006/main">
            <a:off x="762000" y="3048000"/>
            <a:ext cx="4572000" cy="171450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5" name="Frame: &lt;main&gt;">
            <a:extLst xmlns:a="http://schemas.openxmlformats.org/drawingml/2006/main">
              <a:ext uri="{FF2B5EF4-FFF2-40B4-BE49-F238E27FC236}">
                <a16:creationId xmlns:a16="http://schemas.microsoft.com/office/drawing/2014/main" id="{3C9F041A-9FDD-4E69-8332-59C98A97505A}"/>
              </a:ext>
            </a:extLst>
          </p:cNvPr>
          <p:cNvSpPr>
            <a:spLocks xmlns:a="http://schemas.openxmlformats.org/drawingml/2006/main" noGrp="1"/>
          </p:cNvSpPr>
          <p:nvPr/>
        </p:nvSpPr>
        <p:spPr>
          <a:xfrm xmlns:a="http://schemas.openxmlformats.org/drawingml/2006/main">
            <a:off x="952500" y="3219450"/>
            <a:ext cx="419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Frame: &lt;main&gt;</a:t>
            </a:r>
          </a:p>
        </p:txBody>
      </p:sp>
      <p:sp>
        <p:nvSpPr>
          <p:cNvPr id="6" name="locals, ip, operand stack, callsite">
            <a:extLst xmlns:a="http://schemas.openxmlformats.org/drawingml/2006/main">
              <a:ext uri="{FF2B5EF4-FFF2-40B4-BE49-F238E27FC236}">
                <a16:creationId xmlns:a16="http://schemas.microsoft.com/office/drawing/2014/main" id="{7C3119B6-708B-4632-AD6F-39C6FCEB3E43}"/>
              </a:ext>
            </a:extLst>
          </p:cNvPr>
          <p:cNvSpPr>
            <a:spLocks xmlns:a="http://schemas.openxmlformats.org/drawingml/2006/main" noGrp="1"/>
          </p:cNvSpPr>
          <p:nvPr/>
        </p:nvSpPr>
        <p:spPr>
          <a:xfrm xmlns:a="http://schemas.openxmlformats.org/drawingml/2006/main">
            <a:off x="952500" y="3771900"/>
            <a:ext cx="4191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locals, ip, operand stack, callsite</a:t>
            </a:r>
          </a:p>
        </p:txBody>
      </p:sp>
      <p:sp>
        <p:nvSpPr>
          <p:cNvPr id="7" name="Frame: twice(3)">
            <a:extLst xmlns:a="http://schemas.openxmlformats.org/drawingml/2006/main">
              <a:ext uri="{FF2B5EF4-FFF2-40B4-BE49-F238E27FC236}">
                <a16:creationId xmlns:a16="http://schemas.microsoft.com/office/drawing/2014/main" id="{18B3B358-E598-4EE9-A08B-3A984DCD1AEE}"/>
              </a:ext>
            </a:extLst>
          </p:cNvPr>
          <p:cNvSpPr>
            <a:spLocks xmlns:a="http://schemas.openxmlformats.org/drawingml/2006/main" noGrp="1"/>
          </p:cNvSpPr>
          <p:nvPr/>
        </p:nvSpPr>
        <p:spPr>
          <a:xfrm xmlns:a="http://schemas.openxmlformats.org/drawingml/2006/main">
            <a:off x="5905500" y="3048000"/>
            <a:ext cx="4286250" cy="1714500"/>
          </a:xfrm>
          <a:prstGeom xmlns:a="http://schemas.openxmlformats.org/drawingml/2006/main" prst="rect">
            <a:avLst/>
          </a:prstGeom>
          <a:solidFill xmlns:a="http://schemas.openxmlformats.org/drawingml/2006/main">
            <a:srgbClr val="DDF2EC"/>
          </a:solidFill>
          <a:ln xmlns:a="http://schemas.openxmlformats.org/drawingml/2006/main" w="16193">
            <a:solidFill>
              <a:srgbClr val="147B70"/>
            </a:solidFill>
          </a:ln>
        </p:spPr>
      </p:sp>
      <p:sp>
        <p:nvSpPr>
          <p:cNvPr id="8" name="Frame: twice(3)">
            <a:extLst xmlns:a="http://schemas.openxmlformats.org/drawingml/2006/main">
              <a:ext uri="{FF2B5EF4-FFF2-40B4-BE49-F238E27FC236}">
                <a16:creationId xmlns:a16="http://schemas.microsoft.com/office/drawing/2014/main" id="{E82F884F-E4E7-4852-8EDD-A6E820AD0168}"/>
              </a:ext>
            </a:extLst>
          </p:cNvPr>
          <p:cNvSpPr>
            <a:spLocks xmlns:a="http://schemas.openxmlformats.org/drawingml/2006/main" noGrp="1"/>
          </p:cNvSpPr>
          <p:nvPr/>
        </p:nvSpPr>
        <p:spPr>
          <a:xfrm xmlns:a="http://schemas.openxmlformats.org/drawingml/2006/main">
            <a:off x="6096000" y="3219450"/>
            <a:ext cx="3905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Frame: twice(3)</a:t>
            </a:r>
          </a:p>
        </p:txBody>
      </p:sp>
      <p:sp>
        <p:nvSpPr>
          <p:cNvPr id="9" name="parameter value = 3&#10;local and temporary slots">
            <a:extLst xmlns:a="http://schemas.openxmlformats.org/drawingml/2006/main">
              <a:ext uri="{FF2B5EF4-FFF2-40B4-BE49-F238E27FC236}">
                <a16:creationId xmlns:a16="http://schemas.microsoft.com/office/drawing/2014/main" id="{EB5FAFD9-4268-45ED-82F5-AA12FD8BA7AC}"/>
              </a:ext>
            </a:extLst>
          </p:cNvPr>
          <p:cNvSpPr>
            <a:spLocks xmlns:a="http://schemas.openxmlformats.org/drawingml/2006/main" noGrp="1"/>
          </p:cNvSpPr>
          <p:nvPr/>
        </p:nvSpPr>
        <p:spPr>
          <a:xfrm xmlns:a="http://schemas.openxmlformats.org/drawingml/2006/main">
            <a:off x="6096000" y="3771900"/>
            <a:ext cx="3905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parameter value = 3</a:t>
            </a:r>
          </a:p>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local and temporary slots</a:t>
            </a:r>
          </a:p>
        </p:txBody>
      </p:sp>
      <p:sp>
        <p:nvSpPr>
          <p:cNvPr id="10" name="Frame: add(3, 3)">
            <a:extLst xmlns:a="http://schemas.openxmlformats.org/drawingml/2006/main">
              <a:ext uri="{FF2B5EF4-FFF2-40B4-BE49-F238E27FC236}">
                <a16:creationId xmlns:a16="http://schemas.microsoft.com/office/drawing/2014/main" id="{C2762E9B-D225-4651-B8AB-413440F5A10C}"/>
              </a:ext>
            </a:extLst>
          </p:cNvPr>
          <p:cNvSpPr>
            <a:spLocks xmlns:a="http://schemas.openxmlformats.org/drawingml/2006/main" noGrp="1"/>
          </p:cNvSpPr>
          <p:nvPr/>
        </p:nvSpPr>
        <p:spPr>
          <a:xfrm xmlns:a="http://schemas.openxmlformats.org/drawingml/2006/main">
            <a:off x="10763250" y="3048000"/>
            <a:ext cx="3714750" cy="171450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1" name="Frame: add(3, 3)">
            <a:extLst xmlns:a="http://schemas.openxmlformats.org/drawingml/2006/main">
              <a:ext uri="{FF2B5EF4-FFF2-40B4-BE49-F238E27FC236}">
                <a16:creationId xmlns:a16="http://schemas.microsoft.com/office/drawing/2014/main" id="{56ED52E6-5B56-453B-9B31-6C50F069995B}"/>
              </a:ext>
            </a:extLst>
          </p:cNvPr>
          <p:cNvSpPr>
            <a:spLocks xmlns:a="http://schemas.openxmlformats.org/drawingml/2006/main" noGrp="1"/>
          </p:cNvSpPr>
          <p:nvPr/>
        </p:nvSpPr>
        <p:spPr>
          <a:xfrm xmlns:a="http://schemas.openxmlformats.org/drawingml/2006/main">
            <a:off x="10953750" y="321945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Frame: add(3, 3)</a:t>
            </a:r>
          </a:p>
        </p:txBody>
      </p:sp>
      <p:sp>
        <p:nvSpPr>
          <p:cNvPr id="12" name="parameters a = 3, b = 3&#10;returns 6">
            <a:extLst xmlns:a="http://schemas.openxmlformats.org/drawingml/2006/main">
              <a:ext uri="{FF2B5EF4-FFF2-40B4-BE49-F238E27FC236}">
                <a16:creationId xmlns:a16="http://schemas.microsoft.com/office/drawing/2014/main" id="{C4771D63-1CCF-4058-8ED7-552FB4846C1C}"/>
              </a:ext>
            </a:extLst>
          </p:cNvPr>
          <p:cNvSpPr>
            <a:spLocks xmlns:a="http://schemas.openxmlformats.org/drawingml/2006/main" noGrp="1"/>
          </p:cNvSpPr>
          <p:nvPr/>
        </p:nvSpPr>
        <p:spPr>
          <a:xfrm xmlns:a="http://schemas.openxmlformats.org/drawingml/2006/main">
            <a:off x="10953750" y="377190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parameters a = 3, b = 3</a:t>
            </a:r>
          </a:p>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returns 6</a:t>
            </a:r>
          </a:p>
        </p:txBody>
      </p:sp>
      <p:sp>
        <p:nvSpPr>
          <p:cNvPr id="15" name="Call sequence">
            <a:extLst xmlns:a="http://schemas.openxmlformats.org/drawingml/2006/main">
              <a:ext uri="{FF2B5EF4-FFF2-40B4-BE49-F238E27FC236}">
                <a16:creationId xmlns:a16="http://schemas.microsoft.com/office/drawing/2014/main" id="{6E09B0B6-EF62-4FD7-B6B3-61B1E9318670}"/>
              </a:ext>
            </a:extLst>
          </p:cNvPr>
          <p:cNvSpPr>
            <a:spLocks xmlns:a="http://schemas.openxmlformats.org/drawingml/2006/main" noGrp="1"/>
          </p:cNvSpPr>
          <p:nvPr/>
        </p:nvSpPr>
        <p:spPr>
          <a:xfrm xmlns:a="http://schemas.openxmlformats.org/drawingml/2006/main">
            <a:off x="781050" y="5715000"/>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Call sequence</a:t>
            </a:r>
          </a:p>
        </p:txBody>
      </p:sp>
      <p:sp>
        <p:nvSpPr>
          <p:cNvPr id="16" name="Evaluate arguments, create a frame,&#10;then execute the ca">
            <a:extLst xmlns:a="http://schemas.openxmlformats.org/drawingml/2006/main">
              <a:ext uri="{FF2B5EF4-FFF2-40B4-BE49-F238E27FC236}">
                <a16:creationId xmlns:a16="http://schemas.microsoft.com/office/drawing/2014/main" id="{4BB3A023-E03E-44BE-9A09-45145F6B310C}"/>
              </a:ext>
            </a:extLst>
          </p:cNvPr>
          <p:cNvSpPr>
            <a:spLocks xmlns:a="http://schemas.openxmlformats.org/drawingml/2006/main" noGrp="1"/>
          </p:cNvSpPr>
          <p:nvPr/>
        </p:nvSpPr>
        <p:spPr>
          <a:xfrm xmlns:a="http://schemas.openxmlformats.org/drawingml/2006/main">
            <a:off x="781050" y="6334125"/>
            <a:ext cx="619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Evaluate arguments, create a frame,</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then execute the callee.</a:t>
            </a:r>
          </a:p>
        </p:txBody>
      </p:sp>
      <p:sp>
        <p:nvSpPr>
          <p:cNvPr id="17" name="Return sequence">
            <a:extLst xmlns:a="http://schemas.openxmlformats.org/drawingml/2006/main">
              <a:ext uri="{FF2B5EF4-FFF2-40B4-BE49-F238E27FC236}">
                <a16:creationId xmlns:a16="http://schemas.microsoft.com/office/drawing/2014/main" id="{DA327C72-F9CB-430B-819E-8EB6DC095CE6}"/>
              </a:ext>
            </a:extLst>
          </p:cNvPr>
          <p:cNvSpPr>
            <a:spLocks xmlns:a="http://schemas.openxmlformats.org/drawingml/2006/main" noGrp="1"/>
          </p:cNvSpPr>
          <p:nvPr/>
        </p:nvSpPr>
        <p:spPr>
          <a:xfrm xmlns:a="http://schemas.openxmlformats.org/drawingml/2006/main">
            <a:off x="8096250" y="5715000"/>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Return sequence</a:t>
            </a:r>
          </a:p>
        </p:txBody>
      </p:sp>
      <p:sp>
        <p:nvSpPr>
          <p:cNvPr id="18" name="Restore the caller and push&#10;the returned value onto its">
            <a:extLst xmlns:a="http://schemas.openxmlformats.org/drawingml/2006/main">
              <a:ext uri="{FF2B5EF4-FFF2-40B4-BE49-F238E27FC236}">
                <a16:creationId xmlns:a16="http://schemas.microsoft.com/office/drawing/2014/main" id="{2EEC6A6D-2A2A-4BCC-96DD-2E8FDC1768AE}"/>
              </a:ext>
            </a:extLst>
          </p:cNvPr>
          <p:cNvSpPr>
            <a:spLocks xmlns:a="http://schemas.openxmlformats.org/drawingml/2006/main" noGrp="1"/>
          </p:cNvSpPr>
          <p:nvPr/>
        </p:nvSpPr>
        <p:spPr>
          <a:xfrm xmlns:a="http://schemas.openxmlformats.org/drawingml/2006/main">
            <a:off x="8096250" y="6334125"/>
            <a:ext cx="619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Restore the caller and push</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the returned value onto its stack.</a:t>
            </a:r>
          </a:p>
        </p:txBody>
      </p:sp>
      <p:sp>
        <p:nvSpPr>
          <p:cNvPr id="19" name="Default VM limits: 1,000,000 steps, recursion 64, 64 Ki">
            <a:extLst xmlns:a="http://schemas.openxmlformats.org/drawingml/2006/main">
              <a:ext uri="{FF2B5EF4-FFF2-40B4-BE49-F238E27FC236}">
                <a16:creationId xmlns:a16="http://schemas.microsoft.com/office/drawing/2014/main" id="{F457A247-B2C0-4024-8CE0-96D4130771D1}"/>
              </a:ext>
            </a:extLst>
          </p:cNvPr>
          <p:cNvSpPr>
            <a:spLocks xmlns:a="http://schemas.openxmlformats.org/drawingml/2006/main" noGrp="1"/>
          </p:cNvSpPr>
          <p:nvPr/>
        </p:nvSpPr>
        <p:spPr>
          <a:xfrm xmlns:a="http://schemas.openxmlformats.org/drawingml/2006/main">
            <a:off x="781050" y="762000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Default VM limits: 1,000,000 steps, recursion 64, 64 KiB output and 5 seconds.</a:t>
            </a:r>
          </a:p>
        </p:txBody>
      </p:sp>
    </p:spTree>
    <p:extLst>
      <p:ext uri="{BB962C8B-B14F-4D97-AF65-F5344CB8AC3E}">
        <p14:creationId xmlns:p14="http://schemas.microsoft.com/office/powerpoint/2010/main" val="1707991588"/>
      </p:ext>
    </p:extLst>
  </p:cSld>
</p:sld>
</file>

<file path=ppt/slides/slide2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Arrays and iteration lowering">
            <a:extLst xmlns:a="http://schemas.openxmlformats.org/drawingml/2006/main">
              <a:ext uri="{FF2B5EF4-FFF2-40B4-BE49-F238E27FC236}">
                <a16:creationId xmlns:a16="http://schemas.microsoft.com/office/drawing/2014/main" id="{D3F6E111-3F34-442D-B13E-FB3AF9C0C4B6}"/>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Arrays and iteration lowering</a:t>
            </a:r>
          </a:p>
        </p:txBody>
      </p:sp>
      <p:sp>
        <p:nvSpPr>
          <p:cNvPr id="2" name="A Java-style declaration can feed a Python-style loop">
            <a:extLst xmlns:a="http://schemas.openxmlformats.org/drawingml/2006/main">
              <a:ext uri="{FF2B5EF4-FFF2-40B4-BE49-F238E27FC236}">
                <a16:creationId xmlns:a16="http://schemas.microsoft.com/office/drawing/2014/main" id="{B69416F0-FE20-4E64-B8AE-CC3F3E13254C}"/>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A Java-style declaration can feed a Python-style loop</a:t>
            </a:r>
          </a:p>
        </p:txBody>
      </p:sp>
      <p:sp>
        <p:nvSpPr>
          <p:cNvPr id="3" name="24">
            <a:extLst xmlns:a="http://schemas.openxmlformats.org/drawingml/2006/main">
              <a:ext uri="{FF2B5EF4-FFF2-40B4-BE49-F238E27FC236}">
                <a16:creationId xmlns:a16="http://schemas.microsoft.com/office/drawing/2014/main" id="{47B22D16-D1A3-4EF9-8BAC-E537317836D1}"/>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24</a:t>
            </a:r>
          </a:p>
        </p:txBody>
      </p:sp>
      <p:sp>
        <p:nvSpPr>
          <p:cNvPr id="4" name="int[] arr = {1, 2, 3};&#10;&#10;for num in arr:&#10;    print(num)">
            <a:extLst xmlns:a="http://schemas.openxmlformats.org/drawingml/2006/main">
              <a:ext uri="{FF2B5EF4-FFF2-40B4-BE49-F238E27FC236}">
                <a16:creationId xmlns:a16="http://schemas.microsoft.com/office/drawing/2014/main" id="{4CA99725-55BC-490D-9013-9E9C96520A4A}"/>
              </a:ext>
            </a:extLst>
          </p:cNvPr>
          <p:cNvSpPr>
            <a:spLocks xmlns:a="http://schemas.openxmlformats.org/drawingml/2006/main" noGrp="1"/>
          </p:cNvSpPr>
          <p:nvPr/>
        </p:nvSpPr>
        <p:spPr>
          <a:xfrm xmlns:a="http://schemas.openxmlformats.org/drawingml/2006/main">
            <a:off x="781050" y="2762250"/>
            <a:ext cx="7715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62237"/>
                </a:solidFill>
                <a:latin typeface="Courier New"/>
                <a:ea typeface="Courier New"/>
                <a:cs typeface="Courier New"/>
              </a:defRPr>
            </a:defPPr>
            <a:lvl1pPr algn="l">
              <a:defRPr sz="2850" b="0">
                <a:solidFill>
                  <a:srgbClr val="162237"/>
                </a:solidFill>
                <a:latin typeface="Courier New"/>
                <a:ea typeface="Courier New"/>
                <a:cs typeface="Courier New"/>
              </a:defRPr>
            </a:lvl1pPr>
            <a:lvl2pPr algn="l">
              <a:defRPr sz="2850" b="0">
                <a:solidFill>
                  <a:srgbClr val="162237"/>
                </a:solidFill>
                <a:latin typeface="Courier New"/>
                <a:ea typeface="Courier New"/>
                <a:cs typeface="Courier New"/>
              </a:defRPr>
            </a:lvl2pPr>
            <a:lvl3pPr algn="l">
              <a:defRPr sz="2850" b="0">
                <a:solidFill>
                  <a:srgbClr val="162237"/>
                </a:solidFill>
                <a:latin typeface="Courier New"/>
                <a:ea typeface="Courier New"/>
                <a:cs typeface="Courier New"/>
              </a:defRPr>
            </a:lvl3pPr>
            <a:lvl4pPr algn="l">
              <a:defRPr sz="2850" b="0">
                <a:solidFill>
                  <a:srgbClr val="162237"/>
                </a:solidFill>
                <a:latin typeface="Courier New"/>
                <a:ea typeface="Courier New"/>
                <a:cs typeface="Courier New"/>
              </a:defRPr>
            </a:lvl4pPr>
            <a:lvl5pPr algn="l">
              <a:defRPr sz="2850" b="0">
                <a:solidFill>
                  <a:srgbClr val="162237"/>
                </a:solidFill>
                <a:latin typeface="Courier New"/>
                <a:ea typeface="Courier New"/>
                <a:cs typeface="Courier New"/>
              </a:defRPr>
            </a:lvl5pPr>
            <a:lvl6pPr algn="l">
              <a:defRPr sz="2850" b="0">
                <a:solidFill>
                  <a:srgbClr val="162237"/>
                </a:solidFill>
                <a:latin typeface="Courier New"/>
                <a:ea typeface="Courier New"/>
                <a:cs typeface="Courier New"/>
              </a:defRPr>
            </a:lvl6pPr>
            <a:lvl7pPr algn="l">
              <a:defRPr sz="2850" b="0">
                <a:solidFill>
                  <a:srgbClr val="162237"/>
                </a:solidFill>
                <a:latin typeface="Courier New"/>
                <a:ea typeface="Courier New"/>
                <a:cs typeface="Courier New"/>
              </a:defRPr>
            </a:lvl7pPr>
            <a:lvl8pPr algn="l">
              <a:defRPr sz="2850" b="0">
                <a:solidFill>
                  <a:srgbClr val="162237"/>
                </a:solidFill>
                <a:latin typeface="Courier New"/>
                <a:ea typeface="Courier New"/>
                <a:cs typeface="Courier New"/>
              </a:defRPr>
            </a:lvl8pPr>
            <a:lvl9pPr algn="l">
              <a:defRPr sz="2850" b="0">
                <a:solidFill>
                  <a:srgbClr val="162237"/>
                </a:solidFill>
                <a:latin typeface="Courier New"/>
                <a:ea typeface="Courier New"/>
                <a:cs typeface="Courier New"/>
              </a:defRPr>
            </a:lvl9pPr>
          </a:lstStyle>
          <a:p xmlns:a="http://schemas.openxmlformats.org/drawingml/2006/main">
            <a:pPr algn="l">
              <a:defRPr sz="2850" b="0">
                <a:solidFill>
                  <a:srgbClr val="162237"/>
                </a:solidFill>
                <a:latin typeface="Courier New"/>
                <a:ea typeface="Courier New"/>
                <a:cs typeface="Courier New"/>
              </a:defRPr>
            </a:pPr>
            <a:r>
              <a:rPr sz="2850" b="0">
                <a:solidFill>
                  <a:srgbClr val="162237"/>
                </a:solidFill>
                <a:latin typeface="Courier New"/>
                <a:ea typeface="Courier New"/>
                <a:cs typeface="Courier New"/>
              </a:rPr>
              <a:t>int[] arr = {1, 2, 3};</a:t>
            </a:r>
          </a:p>
          <a:p xmlns:a="http://schemas.openxmlformats.org/drawingml/2006/main">
            <a:r>
              <a:t/>
            </a:r>
          </a:p>
          <a:p xmlns:a="http://schemas.openxmlformats.org/drawingml/2006/main">
            <a:pPr algn="l">
              <a:defRPr sz="2850" b="0">
                <a:solidFill>
                  <a:srgbClr val="162237"/>
                </a:solidFill>
                <a:latin typeface="Courier New"/>
                <a:ea typeface="Courier New"/>
                <a:cs typeface="Courier New"/>
              </a:defRPr>
            </a:pPr>
            <a:r>
              <a:rPr sz="2850" b="0">
                <a:solidFill>
                  <a:srgbClr val="162237"/>
                </a:solidFill>
                <a:latin typeface="Courier New"/>
                <a:ea typeface="Courier New"/>
                <a:cs typeface="Courier New"/>
              </a:rPr>
              <a:t>for num in arr:</a:t>
            </a:r>
          </a:p>
          <a:p xmlns:a="http://schemas.openxmlformats.org/drawingml/2006/main">
            <a:pPr algn="l">
              <a:defRPr sz="2850" b="0">
                <a:solidFill>
                  <a:srgbClr val="162237"/>
                </a:solidFill>
                <a:latin typeface="Courier New"/>
                <a:ea typeface="Courier New"/>
                <a:cs typeface="Courier New"/>
              </a:defRPr>
            </a:pPr>
            <a:r>
              <a:rPr sz="2850" b="0">
                <a:solidFill>
                  <a:srgbClr val="162237"/>
                </a:solidFill>
                <a:latin typeface="Courier New"/>
                <a:ea typeface="Courier New"/>
                <a:cs typeface="Courier New"/>
              </a:rPr>
              <a:t>    print(num)</a:t>
            </a:r>
          </a:p>
        </p:txBody>
      </p:sp>
      <p:sp>
        <p:nvSpPr>
          <p:cNvPr id="5" name="Shared representation">
            <a:extLst xmlns:a="http://schemas.openxmlformats.org/drawingml/2006/main">
              <a:ext uri="{FF2B5EF4-FFF2-40B4-BE49-F238E27FC236}">
                <a16:creationId xmlns:a16="http://schemas.microsoft.com/office/drawing/2014/main" id="{C436DE0F-805A-4820-AC59-B42B78A95114}"/>
              </a:ext>
            </a:extLst>
          </p:cNvPr>
          <p:cNvSpPr>
            <a:spLocks xmlns:a="http://schemas.openxmlformats.org/drawingml/2006/main" noGrp="1"/>
          </p:cNvSpPr>
          <p:nvPr/>
        </p:nvSpPr>
        <p:spPr>
          <a:xfrm xmlns:a="http://schemas.openxmlformats.org/drawingml/2006/main">
            <a:off x="9334500" y="26670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Shared representation</a:t>
            </a:r>
          </a:p>
        </p:txBody>
      </p:sp>
      <p:sp>
        <p:nvSpPr>
          <p:cNvPr id="6" name="int[] has one fixed element type.&#10;Array references cros">
            <a:extLst xmlns:a="http://schemas.openxmlformats.org/drawingml/2006/main">
              <a:ext uri="{FF2B5EF4-FFF2-40B4-BE49-F238E27FC236}">
                <a16:creationId xmlns:a16="http://schemas.microsoft.com/office/drawing/2014/main" id="{F3FA698A-BEC1-4427-A7A9-E3DB186D4562}"/>
              </a:ext>
            </a:extLst>
          </p:cNvPr>
          <p:cNvSpPr>
            <a:spLocks xmlns:a="http://schemas.openxmlformats.org/drawingml/2006/main" noGrp="1"/>
          </p:cNvSpPr>
          <p:nvPr/>
        </p:nvSpPr>
        <p:spPr>
          <a:xfrm xmlns:a="http://schemas.openxmlformats.org/drawingml/2006/main">
            <a:off x="9334500" y="328612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int[] has one fixed element type.</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Array references cross function calls.</a:t>
            </a:r>
          </a:p>
        </p:txBody>
      </p:sp>
      <p:sp>
        <p:nvSpPr>
          <p:cNvPr id="7" name="Loop lowering">
            <a:extLst xmlns:a="http://schemas.openxmlformats.org/drawingml/2006/main">
              <a:ext uri="{FF2B5EF4-FFF2-40B4-BE49-F238E27FC236}">
                <a16:creationId xmlns:a16="http://schemas.microsoft.com/office/drawing/2014/main" id="{7476F8C4-9E10-42C4-B675-F43DE562F5F3}"/>
              </a:ext>
            </a:extLst>
          </p:cNvPr>
          <p:cNvSpPr>
            <a:spLocks xmlns:a="http://schemas.openxmlformats.org/drawingml/2006/main" noGrp="1"/>
          </p:cNvSpPr>
          <p:nvPr/>
        </p:nvSpPr>
        <p:spPr>
          <a:xfrm xmlns:a="http://schemas.openxmlformats.org/drawingml/2006/main">
            <a:off x="9334500" y="509587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Loop lowering</a:t>
            </a:r>
          </a:p>
        </p:txBody>
      </p:sp>
      <p:sp>
        <p:nvSpPr>
          <p:cNvPr id="8" name="Capture the array once, compute length,&#10;and iterate usi">
            <a:extLst xmlns:a="http://schemas.openxmlformats.org/drawingml/2006/main">
              <a:ext uri="{FF2B5EF4-FFF2-40B4-BE49-F238E27FC236}">
                <a16:creationId xmlns:a16="http://schemas.microsoft.com/office/drawing/2014/main" id="{C4D297D5-7A2E-4160-A9A9-2CB3C4158495}"/>
              </a:ext>
            </a:extLst>
          </p:cNvPr>
          <p:cNvSpPr>
            <a:spLocks xmlns:a="http://schemas.openxmlformats.org/drawingml/2006/main" noGrp="1"/>
          </p:cNvSpPr>
          <p:nvPr/>
        </p:nvSpPr>
        <p:spPr>
          <a:xfrm xmlns:a="http://schemas.openxmlformats.org/drawingml/2006/main">
            <a:off x="9334500" y="57150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Capture the array once, compute length,</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and iterate using an internal index.</a:t>
            </a:r>
          </a:p>
        </p:txBody>
      </p:sp>
      <p:sp>
        <p:nvSpPr>
          <p:cNvPr id="9" name="ARRAY_GET and ARRAY_SET enforce index types, bounds and">
            <a:extLst xmlns:a="http://schemas.openxmlformats.org/drawingml/2006/main">
              <a:ext uri="{FF2B5EF4-FFF2-40B4-BE49-F238E27FC236}">
                <a16:creationId xmlns:a16="http://schemas.microsoft.com/office/drawing/2014/main" id="{802871F9-BFDF-40F4-8556-4393EB2A177A}"/>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ARRAY_GET and ARRAY_SET enforce index types, bounds and element types at runtime.</a:t>
            </a:r>
          </a:p>
        </p:txBody>
      </p:sp>
    </p:spTree>
    <p:extLst>
      <p:ext uri="{BB962C8B-B14F-4D97-AF65-F5344CB8AC3E}">
        <p14:creationId xmlns:p14="http://schemas.microsoft.com/office/powerpoint/2010/main" val="1209677568"/>
      </p:ext>
    </p:extLst>
  </p:cSld>
</p:sld>
</file>

<file path=ppt/slides/slide2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The working compiler workspace">
            <a:extLst xmlns:a="http://schemas.openxmlformats.org/drawingml/2006/main">
              <a:ext uri="{FF2B5EF4-FFF2-40B4-BE49-F238E27FC236}">
                <a16:creationId xmlns:a16="http://schemas.microsoft.com/office/drawing/2014/main" id="{1E4DE019-3FFD-4350-BE4F-447AD134E764}"/>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The working compiler workspace</a:t>
            </a:r>
          </a:p>
        </p:txBody>
      </p:sp>
      <p:sp>
        <p:nvSpPr>
          <p:cNvPr id="2" name="25">
            <a:extLst xmlns:a="http://schemas.openxmlformats.org/drawingml/2006/main">
              <a:ext uri="{FF2B5EF4-FFF2-40B4-BE49-F238E27FC236}">
                <a16:creationId xmlns:a16="http://schemas.microsoft.com/office/drawing/2014/main" id="{870F5F2B-4B4F-4113-8B39-6CC5384ACAB5}"/>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25</a:t>
            </a:r>
          </a:p>
        </p:txBody>
      </p:sp>
      <p:pic>
        <p:nvPicPr>
          <p:cNvPr id="3" name="">
            <a:extLst xmlns:a="http://schemas.openxmlformats.org/drawingml/2006/main">
              <a:ext uri="{FF2B5EF4-FFF2-40B4-BE49-F238E27FC236}">
                <a16:creationId xmlns:a16="http://schemas.microsoft.com/office/drawing/2014/main" id="{27A419F2-EDD0-4063-B344-E1DDBEF6DCBC}"/>
              </a:ext>
            </a:extLst>
          </p:cNvPr>
          <p:cNvPicPr>
            <a:picLocks xmlns:a="http://schemas.openxmlformats.org/drawingml/2006/main" noChangeAspect="1"/>
          </p:cNvPicPr>
          <p:nvPr/>
        </p:nvPicPr>
        <p:blipFill>
          <a:blip xmlns:r="http://schemas.openxmlformats.org/officeDocument/2006/relationships" xmlns:a="http://schemas.openxmlformats.org/drawingml/2006/main" r:embed="R96929c5204f04abb"/>
          <a:stretch xmlns:a="http://schemas.openxmlformats.org/drawingml/2006/main"/>
        </p:blipFill>
        <p:spPr>
          <a:xfrm xmlns:a="http://schemas.openxmlformats.org/drawingml/2006/main">
            <a:off x="2512817" y="1685925"/>
            <a:ext cx="10214365" cy="5743575"/>
          </a:xfrm>
          <a:prstGeom xmlns:a="http://schemas.openxmlformats.org/drawingml/2006/main" prst="rect">
            <a:avLst/>
          </a:prstGeom>
        </p:spPr>
      </p:pic>
      <p:sp>
        <p:nvSpPr>
          <p:cNvPr id="4" name="Actual stage representations, mixed source and program ">
            <a:extLst xmlns:a="http://schemas.openxmlformats.org/drawingml/2006/main">
              <a:ext uri="{FF2B5EF4-FFF2-40B4-BE49-F238E27FC236}">
                <a16:creationId xmlns:a16="http://schemas.microsoft.com/office/drawing/2014/main" id="{45C27230-B8BE-4500-AC33-4FEEB82E7111}"/>
              </a:ext>
            </a:extLst>
          </p:cNvPr>
          <p:cNvSpPr>
            <a:spLocks xmlns:a="http://schemas.openxmlformats.org/drawingml/2006/main" noGrp="1"/>
          </p:cNvSpPr>
          <p:nvPr/>
        </p:nvSpPr>
        <p:spPr>
          <a:xfrm xmlns:a="http://schemas.openxmlformats.org/drawingml/2006/main">
            <a:off x="781050" y="75723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Actual stage representations, mixed source and program output in one workspace.</a:t>
            </a:r>
          </a:p>
        </p:txBody>
      </p:sp>
    </p:spTree>
    <p:extLst>
      <p:ext uri="{BB962C8B-B14F-4D97-AF65-F5344CB8AC3E}">
        <p14:creationId xmlns:p14="http://schemas.microsoft.com/office/powerpoint/2010/main" val="331380348"/>
      </p:ext>
    </p:extLst>
  </p:cSld>
</p:sld>
</file>

<file path=ppt/slides/slide2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The AST inspector shows semantic structure">
            <a:extLst xmlns:a="http://schemas.openxmlformats.org/drawingml/2006/main">
              <a:ext uri="{FF2B5EF4-FFF2-40B4-BE49-F238E27FC236}">
                <a16:creationId xmlns:a16="http://schemas.microsoft.com/office/drawing/2014/main" id="{B9625FC7-9BD1-49D4-B82D-68933245AA14}"/>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The AST inspector shows semantic structure</a:t>
            </a:r>
          </a:p>
        </p:txBody>
      </p:sp>
      <p:sp>
        <p:nvSpPr>
          <p:cNvPr id="2" name="print((2 + 3) * 4)">
            <a:extLst xmlns:a="http://schemas.openxmlformats.org/drawingml/2006/main">
              <a:ext uri="{FF2B5EF4-FFF2-40B4-BE49-F238E27FC236}">
                <a16:creationId xmlns:a16="http://schemas.microsoft.com/office/drawing/2014/main" id="{2D3751F7-E596-471A-955C-07979E0F7636}"/>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print((2 + 3) * 4)</a:t>
            </a:r>
          </a:p>
        </p:txBody>
      </p:sp>
      <p:sp>
        <p:nvSpPr>
          <p:cNvPr id="3" name="26">
            <a:extLst xmlns:a="http://schemas.openxmlformats.org/drawingml/2006/main">
              <a:ext uri="{FF2B5EF4-FFF2-40B4-BE49-F238E27FC236}">
                <a16:creationId xmlns:a16="http://schemas.microsoft.com/office/drawing/2014/main" id="{63142AAF-21C6-49B0-BE3E-D519A645248D}"/>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26</a:t>
            </a:r>
          </a:p>
        </p:txBody>
      </p:sp>
      <p:pic>
        <p:nvPicPr>
          <p:cNvPr id="4" name="">
            <a:extLst xmlns:a="http://schemas.openxmlformats.org/drawingml/2006/main">
              <a:ext uri="{FF2B5EF4-FFF2-40B4-BE49-F238E27FC236}">
                <a16:creationId xmlns:a16="http://schemas.microsoft.com/office/drawing/2014/main" id="{16280603-ECD9-4FBA-A1ED-8B4B8BD10A8A}"/>
              </a:ext>
            </a:extLst>
          </p:cNvPr>
          <p:cNvPicPr>
            <a:picLocks xmlns:a="http://schemas.openxmlformats.org/drawingml/2006/main" noChangeAspect="1"/>
          </p:cNvPicPr>
          <p:nvPr/>
        </p:nvPicPr>
        <p:blipFill>
          <a:blip xmlns:r="http://schemas.openxmlformats.org/officeDocument/2006/relationships" xmlns:a="http://schemas.openxmlformats.org/drawingml/2006/main" r:embed="R0367367e01dd41f9"/>
          <a:stretch xmlns:a="http://schemas.openxmlformats.org/drawingml/2006/main"/>
        </p:blipFill>
        <p:spPr>
          <a:xfrm xmlns:a="http://schemas.openxmlformats.org/drawingml/2006/main">
            <a:off x="762000" y="2675697"/>
            <a:ext cx="13716000" cy="3697357"/>
          </a:xfrm>
          <a:prstGeom xmlns:a="http://schemas.openxmlformats.org/drawingml/2006/main" prst="rect">
            <a:avLst/>
          </a:prstGeom>
        </p:spPr>
      </p:pic>
      <p:sp>
        <p:nvSpPr>
          <p:cNvPr id="5" name="Parent-child edges follow the compiler AST. Checked typ">
            <a:extLst xmlns:a="http://schemas.openxmlformats.org/drawingml/2006/main">
              <a:ext uri="{FF2B5EF4-FFF2-40B4-BE49-F238E27FC236}">
                <a16:creationId xmlns:a16="http://schemas.microsoft.com/office/drawing/2014/main" id="{CE027E8D-FF4D-4232-86F2-2F1B94E5BFEE}"/>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Parent-child edges follow the compiler AST. Checked types and source links stay attached.</a:t>
            </a:r>
          </a:p>
        </p:txBody>
      </p:sp>
    </p:spTree>
    <p:extLst>
      <p:ext uri="{BB962C8B-B14F-4D97-AF65-F5344CB8AC3E}">
        <p14:creationId xmlns:p14="http://schemas.microsoft.com/office/powerpoint/2010/main" val="1379129107"/>
      </p:ext>
    </p:extLst>
  </p:cSld>
</p:sld>
</file>

<file path=ppt/slides/slide2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Diagnostics in the IDE">
            <a:extLst xmlns:a="http://schemas.openxmlformats.org/drawingml/2006/main">
              <a:ext uri="{FF2B5EF4-FFF2-40B4-BE49-F238E27FC236}">
                <a16:creationId xmlns:a16="http://schemas.microsoft.com/office/drawing/2014/main" id="{70D8BAB3-EA42-4939-898B-891A56921CED}"/>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Diagnostics in the IDE</a:t>
            </a:r>
          </a:p>
        </p:txBody>
      </p:sp>
      <p:sp>
        <p:nvSpPr>
          <p:cNvPr id="2" name="27">
            <a:extLst xmlns:a="http://schemas.openxmlformats.org/drawingml/2006/main">
              <a:ext uri="{FF2B5EF4-FFF2-40B4-BE49-F238E27FC236}">
                <a16:creationId xmlns:a16="http://schemas.microsoft.com/office/drawing/2014/main" id="{95720B07-F85C-4536-9C7A-76488C086389}"/>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27</a:t>
            </a:r>
          </a:p>
        </p:txBody>
      </p:sp>
      <p:pic>
        <p:nvPicPr>
          <p:cNvPr id="3" name="">
            <a:extLst xmlns:a="http://schemas.openxmlformats.org/drawingml/2006/main">
              <a:ext uri="{FF2B5EF4-FFF2-40B4-BE49-F238E27FC236}">
                <a16:creationId xmlns:a16="http://schemas.microsoft.com/office/drawing/2014/main" id="{0F618CDC-D195-4946-BEC3-067880E985AF}"/>
              </a:ext>
            </a:extLst>
          </p:cNvPr>
          <p:cNvPicPr>
            <a:picLocks xmlns:a="http://schemas.openxmlformats.org/drawingml/2006/main" noChangeAspect="1"/>
          </p:cNvPicPr>
          <p:nvPr/>
        </p:nvPicPr>
        <p:blipFill>
          <a:blip xmlns:r="http://schemas.openxmlformats.org/officeDocument/2006/relationships" xmlns:a="http://schemas.openxmlformats.org/drawingml/2006/main" r:embed="Rc68e684ee54f4fa9"/>
          <a:stretch xmlns:a="http://schemas.openxmlformats.org/drawingml/2006/main"/>
        </p:blipFill>
        <p:spPr>
          <a:xfrm xmlns:a="http://schemas.openxmlformats.org/drawingml/2006/main">
            <a:off x="762000" y="2438569"/>
            <a:ext cx="13716000" cy="647363"/>
          </a:xfrm>
          <a:prstGeom xmlns:a="http://schemas.openxmlformats.org/drawingml/2006/main" prst="rect">
            <a:avLst/>
          </a:prstGeom>
        </p:spPr>
      </p:pic>
      <p:sp>
        <p:nvSpPr>
          <p:cNvPr id="4" name="count = 3&#10;count = &quot;three&quot;">
            <a:extLst xmlns:a="http://schemas.openxmlformats.org/drawingml/2006/main">
              <a:ext uri="{FF2B5EF4-FFF2-40B4-BE49-F238E27FC236}">
                <a16:creationId xmlns:a16="http://schemas.microsoft.com/office/drawing/2014/main" id="{F99475AF-3DCF-4399-962F-AE9E5E520521}"/>
              </a:ext>
            </a:extLst>
          </p:cNvPr>
          <p:cNvSpPr>
            <a:spLocks xmlns:a="http://schemas.openxmlformats.org/drawingml/2006/main" noGrp="1"/>
          </p:cNvSpPr>
          <p:nvPr/>
        </p:nvSpPr>
        <p:spPr>
          <a:xfrm xmlns:a="http://schemas.openxmlformats.org/drawingml/2006/main">
            <a:off x="781050" y="3905250"/>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162237"/>
                </a:solidFill>
                <a:latin typeface="Courier New"/>
                <a:ea typeface="Courier New"/>
                <a:cs typeface="Courier New"/>
              </a:defRPr>
            </a:defPPr>
            <a:lvl1pPr algn="l">
              <a:defRPr sz="3225" b="0">
                <a:solidFill>
                  <a:srgbClr val="162237"/>
                </a:solidFill>
                <a:latin typeface="Courier New"/>
                <a:ea typeface="Courier New"/>
                <a:cs typeface="Courier New"/>
              </a:defRPr>
            </a:lvl1pPr>
            <a:lvl2pPr algn="l">
              <a:defRPr sz="3225" b="0">
                <a:solidFill>
                  <a:srgbClr val="162237"/>
                </a:solidFill>
                <a:latin typeface="Courier New"/>
                <a:ea typeface="Courier New"/>
                <a:cs typeface="Courier New"/>
              </a:defRPr>
            </a:lvl2pPr>
            <a:lvl3pPr algn="l">
              <a:defRPr sz="3225" b="0">
                <a:solidFill>
                  <a:srgbClr val="162237"/>
                </a:solidFill>
                <a:latin typeface="Courier New"/>
                <a:ea typeface="Courier New"/>
                <a:cs typeface="Courier New"/>
              </a:defRPr>
            </a:lvl3pPr>
            <a:lvl4pPr algn="l">
              <a:defRPr sz="3225" b="0">
                <a:solidFill>
                  <a:srgbClr val="162237"/>
                </a:solidFill>
                <a:latin typeface="Courier New"/>
                <a:ea typeface="Courier New"/>
                <a:cs typeface="Courier New"/>
              </a:defRPr>
            </a:lvl4pPr>
            <a:lvl5pPr algn="l">
              <a:defRPr sz="3225" b="0">
                <a:solidFill>
                  <a:srgbClr val="162237"/>
                </a:solidFill>
                <a:latin typeface="Courier New"/>
                <a:ea typeface="Courier New"/>
                <a:cs typeface="Courier New"/>
              </a:defRPr>
            </a:lvl5pPr>
            <a:lvl6pPr algn="l">
              <a:defRPr sz="3225" b="0">
                <a:solidFill>
                  <a:srgbClr val="162237"/>
                </a:solidFill>
                <a:latin typeface="Courier New"/>
                <a:ea typeface="Courier New"/>
                <a:cs typeface="Courier New"/>
              </a:defRPr>
            </a:lvl6pPr>
            <a:lvl7pPr algn="l">
              <a:defRPr sz="3225" b="0">
                <a:solidFill>
                  <a:srgbClr val="162237"/>
                </a:solidFill>
                <a:latin typeface="Courier New"/>
                <a:ea typeface="Courier New"/>
                <a:cs typeface="Courier New"/>
              </a:defRPr>
            </a:lvl7pPr>
            <a:lvl8pPr algn="l">
              <a:defRPr sz="3225" b="0">
                <a:solidFill>
                  <a:srgbClr val="162237"/>
                </a:solidFill>
                <a:latin typeface="Courier New"/>
                <a:ea typeface="Courier New"/>
                <a:cs typeface="Courier New"/>
              </a:defRPr>
            </a:lvl8pPr>
            <a:lvl9pPr algn="l">
              <a:defRPr sz="3225" b="0">
                <a:solidFill>
                  <a:srgbClr val="162237"/>
                </a:solidFill>
                <a:latin typeface="Courier New"/>
                <a:ea typeface="Courier New"/>
                <a:cs typeface="Courier New"/>
              </a:defRPr>
            </a:lvl9pPr>
          </a:lstStyle>
          <a:p xmlns:a="http://schemas.openxmlformats.org/drawingml/2006/main">
            <a:pPr algn="l">
              <a:defRPr sz="3225" b="0">
                <a:solidFill>
                  <a:srgbClr val="162237"/>
                </a:solidFill>
                <a:latin typeface="Courier New"/>
                <a:ea typeface="Courier New"/>
                <a:cs typeface="Courier New"/>
              </a:defRPr>
            </a:pPr>
            <a:r>
              <a:rPr sz="3225" b="0">
                <a:solidFill>
                  <a:srgbClr val="162237"/>
                </a:solidFill>
                <a:latin typeface="Courier New"/>
                <a:ea typeface="Courier New"/>
                <a:cs typeface="Courier New"/>
              </a:rPr>
              <a:t>count = 3</a:t>
            </a:r>
          </a:p>
          <a:p xmlns:a="http://schemas.openxmlformats.org/drawingml/2006/main">
            <a:pPr algn="l">
              <a:defRPr sz="3225" b="0">
                <a:solidFill>
                  <a:srgbClr val="162237"/>
                </a:solidFill>
                <a:latin typeface="Courier New"/>
                <a:ea typeface="Courier New"/>
                <a:cs typeface="Courier New"/>
              </a:defRPr>
            </a:pPr>
            <a:r>
              <a:rPr sz="3225" b="0">
                <a:solidFill>
                  <a:srgbClr val="162237"/>
                </a:solidFill>
                <a:latin typeface="Courier New"/>
                <a:ea typeface="Courier New"/>
                <a:cs typeface="Courier New"/>
              </a:rPr>
              <a:t>count = "three"</a:t>
            </a:r>
          </a:p>
        </p:txBody>
      </p:sp>
      <p:sp>
        <p:nvSpPr>
          <p:cNvPr id="5" name="Tokens and AST available&#10;Semantic analysis stopped&#10;IR, ">
            <a:extLst xmlns:a="http://schemas.openxmlformats.org/drawingml/2006/main">
              <a:ext uri="{FF2B5EF4-FFF2-40B4-BE49-F238E27FC236}">
                <a16:creationId xmlns:a16="http://schemas.microsoft.com/office/drawing/2014/main" id="{E84508AD-5F89-4076-A75F-A9A2DBB0ECBC}"/>
              </a:ext>
            </a:extLst>
          </p:cNvPr>
          <p:cNvSpPr>
            <a:spLocks xmlns:a="http://schemas.openxmlformats.org/drawingml/2006/main" noGrp="1"/>
          </p:cNvSpPr>
          <p:nvPr/>
        </p:nvSpPr>
        <p:spPr>
          <a:xfrm xmlns:a="http://schemas.openxmlformats.org/drawingml/2006/main">
            <a:off x="8858250" y="3829050"/>
            <a:ext cx="561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96577"/>
                </a:solidFill>
                <a:latin typeface="Arial"/>
                <a:ea typeface="Arial"/>
                <a:cs typeface="Arial"/>
              </a:defRPr>
            </a:defPPr>
            <a:lvl1pPr algn="l">
              <a:defRPr sz="2400" b="0">
                <a:solidFill>
                  <a:srgbClr val="596577"/>
                </a:solidFill>
                <a:latin typeface="Arial"/>
                <a:ea typeface="Arial"/>
                <a:cs typeface="Arial"/>
              </a:defRPr>
            </a:lvl1pPr>
            <a:lvl2pPr algn="l">
              <a:defRPr sz="2400" b="0">
                <a:solidFill>
                  <a:srgbClr val="596577"/>
                </a:solidFill>
                <a:latin typeface="Arial"/>
                <a:ea typeface="Arial"/>
                <a:cs typeface="Arial"/>
              </a:defRPr>
            </a:lvl2pPr>
            <a:lvl3pPr algn="l">
              <a:defRPr sz="2400" b="0">
                <a:solidFill>
                  <a:srgbClr val="596577"/>
                </a:solidFill>
                <a:latin typeface="Arial"/>
                <a:ea typeface="Arial"/>
                <a:cs typeface="Arial"/>
              </a:defRPr>
            </a:lvl3pPr>
            <a:lvl4pPr algn="l">
              <a:defRPr sz="2400" b="0">
                <a:solidFill>
                  <a:srgbClr val="596577"/>
                </a:solidFill>
                <a:latin typeface="Arial"/>
                <a:ea typeface="Arial"/>
                <a:cs typeface="Arial"/>
              </a:defRPr>
            </a:lvl4pPr>
            <a:lvl5pPr algn="l">
              <a:defRPr sz="2400" b="0">
                <a:solidFill>
                  <a:srgbClr val="596577"/>
                </a:solidFill>
                <a:latin typeface="Arial"/>
                <a:ea typeface="Arial"/>
                <a:cs typeface="Arial"/>
              </a:defRPr>
            </a:lvl5pPr>
            <a:lvl6pPr algn="l">
              <a:defRPr sz="2400" b="0">
                <a:solidFill>
                  <a:srgbClr val="596577"/>
                </a:solidFill>
                <a:latin typeface="Arial"/>
                <a:ea typeface="Arial"/>
                <a:cs typeface="Arial"/>
              </a:defRPr>
            </a:lvl6pPr>
            <a:lvl7pPr algn="l">
              <a:defRPr sz="2400" b="0">
                <a:solidFill>
                  <a:srgbClr val="596577"/>
                </a:solidFill>
                <a:latin typeface="Arial"/>
                <a:ea typeface="Arial"/>
                <a:cs typeface="Arial"/>
              </a:defRPr>
            </a:lvl7pPr>
            <a:lvl8pPr algn="l">
              <a:defRPr sz="2400" b="0">
                <a:solidFill>
                  <a:srgbClr val="596577"/>
                </a:solidFill>
                <a:latin typeface="Arial"/>
                <a:ea typeface="Arial"/>
                <a:cs typeface="Arial"/>
              </a:defRPr>
            </a:lvl8pPr>
            <a:lvl9pPr algn="l">
              <a:defRPr sz="2400" b="0">
                <a:solidFill>
                  <a:srgbClr val="596577"/>
                </a:solidFill>
                <a:latin typeface="Arial"/>
                <a:ea typeface="Arial"/>
                <a:cs typeface="Arial"/>
              </a:defRPr>
            </a:lvl9pPr>
          </a:lstStyle>
          <a:p xmlns:a="http://schemas.openxmlformats.org/drawingml/2006/main">
            <a:pPr algn="l">
              <a:defRPr sz="2400" b="0">
                <a:solidFill>
                  <a:srgbClr val="596577"/>
                </a:solidFill>
                <a:latin typeface="Arial"/>
                <a:ea typeface="Arial"/>
                <a:cs typeface="Arial"/>
              </a:defRPr>
            </a:pPr>
            <a:r>
              <a:rPr sz="2400" b="0">
                <a:solidFill>
                  <a:srgbClr val="596577"/>
                </a:solidFill>
                <a:latin typeface="Arial"/>
                <a:ea typeface="Arial"/>
                <a:cs typeface="Arial"/>
              </a:rPr>
              <a:t>Tokens and AST available</a:t>
            </a:r>
          </a:p>
          <a:p xmlns:a="http://schemas.openxmlformats.org/drawingml/2006/main">
            <a:pPr algn="l">
              <a:defRPr sz="2400" b="0">
                <a:solidFill>
                  <a:srgbClr val="596577"/>
                </a:solidFill>
                <a:latin typeface="Arial"/>
                <a:ea typeface="Arial"/>
                <a:cs typeface="Arial"/>
              </a:defRPr>
            </a:pPr>
            <a:r>
              <a:rPr sz="2400" b="0">
                <a:solidFill>
                  <a:srgbClr val="596577"/>
                </a:solidFill>
                <a:latin typeface="Arial"/>
                <a:ea typeface="Arial"/>
                <a:cs typeface="Arial"/>
              </a:rPr>
              <a:t>Semantic analysis stopped</a:t>
            </a:r>
          </a:p>
          <a:p xmlns:a="http://schemas.openxmlformats.org/drawingml/2006/main">
            <a:pPr algn="l">
              <a:defRPr sz="2400" b="0">
                <a:solidFill>
                  <a:srgbClr val="596577"/>
                </a:solidFill>
                <a:latin typeface="Arial"/>
                <a:ea typeface="Arial"/>
                <a:cs typeface="Arial"/>
              </a:defRPr>
            </a:pPr>
            <a:r>
              <a:rPr sz="2400" b="0">
                <a:solidFill>
                  <a:srgbClr val="596577"/>
                </a:solidFill>
                <a:latin typeface="Arial"/>
                <a:ea typeface="Arial"/>
                <a:cs typeface="Arial"/>
              </a:rPr>
              <a:t>IR, bytecode and VM blocked</a:t>
            </a:r>
          </a:p>
        </p:txBody>
      </p:sp>
      <p:pic>
        <p:nvPicPr>
          <p:cNvPr id="6" name="">
            <a:extLst xmlns:a="http://schemas.openxmlformats.org/drawingml/2006/main">
              <a:ext uri="{FF2B5EF4-FFF2-40B4-BE49-F238E27FC236}">
                <a16:creationId xmlns:a16="http://schemas.microsoft.com/office/drawing/2014/main" id="{F26947D9-F9A4-41B3-90A7-3AC8E21973B1}"/>
              </a:ext>
            </a:extLst>
          </p:cNvPr>
          <p:cNvPicPr>
            <a:picLocks xmlns:a="http://schemas.openxmlformats.org/drawingml/2006/main" noChangeAspect="1"/>
          </p:cNvPicPr>
          <p:nvPr/>
        </p:nvPicPr>
        <p:blipFill>
          <a:blip xmlns:r="http://schemas.openxmlformats.org/officeDocument/2006/relationships" xmlns:a="http://schemas.openxmlformats.org/drawingml/2006/main" r:embed="R9035a6d63d01405a"/>
          <a:stretch xmlns:a="http://schemas.openxmlformats.org/drawingml/2006/main"/>
        </p:blipFill>
        <p:spPr>
          <a:xfrm xmlns:a="http://schemas.openxmlformats.org/drawingml/2006/main">
            <a:off x="1431823" y="5524500"/>
            <a:ext cx="12376355" cy="1809750"/>
          </a:xfrm>
          <a:prstGeom xmlns:a="http://schemas.openxmlformats.org/drawingml/2006/main" prst="rect">
            <a:avLst/>
          </a:prstGeom>
        </p:spPr>
      </p:pic>
      <p:sp>
        <p:nvSpPr>
          <p:cNvPr id="7" name="S004 at line 2: Cannot use string where int is required">
            <a:extLst xmlns:a="http://schemas.openxmlformats.org/drawingml/2006/main">
              <a:ext uri="{FF2B5EF4-FFF2-40B4-BE49-F238E27FC236}">
                <a16:creationId xmlns:a16="http://schemas.microsoft.com/office/drawing/2014/main" id="{06243238-67EC-4A6C-B658-C828151EFC4B}"/>
              </a:ext>
            </a:extLst>
          </p:cNvPr>
          <p:cNvSpPr>
            <a:spLocks xmlns:a="http://schemas.openxmlformats.org/drawingml/2006/main" noGrp="1"/>
          </p:cNvSpPr>
          <p:nvPr/>
        </p:nvSpPr>
        <p:spPr>
          <a:xfrm xmlns:a="http://schemas.openxmlformats.org/drawingml/2006/main">
            <a:off x="781050" y="758190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S004 at line 2: Cannot use string where int is required.</a:t>
            </a:r>
          </a:p>
        </p:txBody>
      </p:sp>
    </p:spTree>
    <p:extLst>
      <p:ext uri="{BB962C8B-B14F-4D97-AF65-F5344CB8AC3E}">
        <p14:creationId xmlns:p14="http://schemas.microsoft.com/office/powerpoint/2010/main" val="873567723"/>
      </p:ext>
    </p:extLst>
  </p:cSld>
</p:sld>
</file>

<file path=ppt/slides/slide2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3C1F23D-80E5-4A02-AAB0-5FA3263DDD71}"/>
              </a:ext>
            </a:extLst>
          </p:cNvPr>
          <p:cNvCxnSpPr>
            <a:stCxn xmlns:a="http://schemas.openxmlformats.org/drawingml/2006/main" id="13" idx="2"/>
            <a:endCxn xmlns:a="http://schemas.openxmlformats.org/drawingml/2006/main" id="16" idx="0"/>
          </p:cNvCxnSpPr>
          <p:nvPr/>
        </p:nvCxnSpPr>
        <p:spPr>
          <a:xfrm xmlns:a="http://schemas.openxmlformats.org/drawingml/2006/main">
            <a:off x="11049000" y="4857750"/>
            <a:ext cx="261938" cy="857250"/>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020494A4-1C0F-47E8-B5C9-343C6E82FC1F}"/>
              </a:ext>
            </a:extLst>
          </p:cNvPr>
          <p:cNvCxnSpPr>
            <a:stCxn xmlns:a="http://schemas.openxmlformats.org/drawingml/2006/main" id="5" idx="2"/>
            <a:endCxn xmlns:a="http://schemas.openxmlformats.org/drawingml/2006/main" id="8" idx="0"/>
          </p:cNvCxnSpPr>
          <p:nvPr/>
        </p:nvCxnSpPr>
        <p:spPr>
          <a:xfrm xmlns:a="http://schemas.openxmlformats.org/drawingml/2006/main">
            <a:off x="2781300" y="4857750"/>
            <a:ext cx="952500" cy="857250"/>
          </a:xfrm>
          <a:prstGeom xmlns:a="http://schemas.openxmlformats.org/drawingml/2006/main" prst="straightConnector1">
            <a:avLst/>
          </a:prstGeom>
          <a:ln xmlns:a="http://schemas.openxmlformats.org/drawingml/2006/main" w="22860">
            <a:solidFill>
              <a:srgbClr val="2956D7"/>
            </a:solidFill>
            <a:prstDash val="solid"/>
            <a:tailEnd type="triangle" w="sm" len="sm"/>
          </a:ln>
        </p:spPr>
      </p:cxnSp>
      <p:sp>
        <p:nvSpPr>
          <p:cNvPr id="21" name="Technology stack and execution modes">
            <a:extLst xmlns:a="http://schemas.openxmlformats.org/drawingml/2006/main">
              <a:ext uri="{FF2B5EF4-FFF2-40B4-BE49-F238E27FC236}">
                <a16:creationId xmlns:a16="http://schemas.microsoft.com/office/drawing/2014/main" id="{AB3C5101-6244-4408-A25A-E3C7F822C0F0}"/>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Technology stack and execution modes</a:t>
            </a:r>
          </a:p>
        </p:txBody>
      </p:sp>
      <p:sp>
        <p:nvSpPr>
          <p:cNvPr id="2" name="The same Python compiler supports two delivery paths">
            <a:extLst xmlns:a="http://schemas.openxmlformats.org/drawingml/2006/main">
              <a:ext uri="{FF2B5EF4-FFF2-40B4-BE49-F238E27FC236}">
                <a16:creationId xmlns:a16="http://schemas.microsoft.com/office/drawing/2014/main" id="{7781B00E-6D33-405E-AFD2-6B721EC5D99D}"/>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The same Python compiler supports two delivery paths</a:t>
            </a:r>
          </a:p>
        </p:txBody>
      </p:sp>
      <p:sp>
        <p:nvSpPr>
          <p:cNvPr id="3" name="28">
            <a:extLst xmlns:a="http://schemas.openxmlformats.org/drawingml/2006/main">
              <a:ext uri="{FF2B5EF4-FFF2-40B4-BE49-F238E27FC236}">
                <a16:creationId xmlns:a16="http://schemas.microsoft.com/office/drawing/2014/main" id="{20F5974A-F224-46BA-8CD8-BBCF3BF9495D}"/>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28</a:t>
            </a:r>
          </a:p>
        </p:txBody>
      </p:sp>
      <p:sp>
        <p:nvSpPr>
          <p:cNvPr id="4" name="Local application">
            <a:extLst xmlns:a="http://schemas.openxmlformats.org/drawingml/2006/main">
              <a:ext uri="{FF2B5EF4-FFF2-40B4-BE49-F238E27FC236}">
                <a16:creationId xmlns:a16="http://schemas.microsoft.com/office/drawing/2014/main" id="{591C6593-8D74-484F-AE47-0B8794E0088B}"/>
              </a:ext>
            </a:extLst>
          </p:cNvPr>
          <p:cNvSpPr>
            <a:spLocks xmlns:a="http://schemas.openxmlformats.org/drawingml/2006/main" noGrp="1"/>
          </p:cNvSpPr>
          <p:nvPr/>
        </p:nvSpPr>
        <p:spPr>
          <a:xfrm xmlns:a="http://schemas.openxmlformats.org/drawingml/2006/main">
            <a:off x="781050" y="2667000"/>
            <a:ext cx="600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56D7"/>
                </a:solidFill>
                <a:latin typeface="Arial"/>
                <a:ea typeface="Arial"/>
                <a:cs typeface="Arial"/>
              </a:defRPr>
            </a:defPPr>
            <a:lvl1pPr algn="l">
              <a:defRPr sz="3000" b="1">
                <a:solidFill>
                  <a:srgbClr val="2956D7"/>
                </a:solidFill>
                <a:latin typeface="Arial"/>
                <a:ea typeface="Arial"/>
                <a:cs typeface="Arial"/>
              </a:defRPr>
            </a:lvl1pPr>
            <a:lvl2pPr algn="l">
              <a:defRPr sz="3000" b="1">
                <a:solidFill>
                  <a:srgbClr val="2956D7"/>
                </a:solidFill>
                <a:latin typeface="Arial"/>
                <a:ea typeface="Arial"/>
                <a:cs typeface="Arial"/>
              </a:defRPr>
            </a:lvl2pPr>
            <a:lvl3pPr algn="l">
              <a:defRPr sz="3000" b="1">
                <a:solidFill>
                  <a:srgbClr val="2956D7"/>
                </a:solidFill>
                <a:latin typeface="Arial"/>
                <a:ea typeface="Arial"/>
                <a:cs typeface="Arial"/>
              </a:defRPr>
            </a:lvl3pPr>
            <a:lvl4pPr algn="l">
              <a:defRPr sz="3000" b="1">
                <a:solidFill>
                  <a:srgbClr val="2956D7"/>
                </a:solidFill>
                <a:latin typeface="Arial"/>
                <a:ea typeface="Arial"/>
                <a:cs typeface="Arial"/>
              </a:defRPr>
            </a:lvl4pPr>
            <a:lvl5pPr algn="l">
              <a:defRPr sz="3000" b="1">
                <a:solidFill>
                  <a:srgbClr val="2956D7"/>
                </a:solidFill>
                <a:latin typeface="Arial"/>
                <a:ea typeface="Arial"/>
                <a:cs typeface="Arial"/>
              </a:defRPr>
            </a:lvl5pPr>
            <a:lvl6pPr algn="l">
              <a:defRPr sz="3000" b="1">
                <a:solidFill>
                  <a:srgbClr val="2956D7"/>
                </a:solidFill>
                <a:latin typeface="Arial"/>
                <a:ea typeface="Arial"/>
                <a:cs typeface="Arial"/>
              </a:defRPr>
            </a:lvl6pPr>
            <a:lvl7pPr algn="l">
              <a:defRPr sz="3000" b="1">
                <a:solidFill>
                  <a:srgbClr val="2956D7"/>
                </a:solidFill>
                <a:latin typeface="Arial"/>
                <a:ea typeface="Arial"/>
                <a:cs typeface="Arial"/>
              </a:defRPr>
            </a:lvl7pPr>
            <a:lvl8pPr algn="l">
              <a:defRPr sz="3000" b="1">
                <a:solidFill>
                  <a:srgbClr val="2956D7"/>
                </a:solidFill>
                <a:latin typeface="Arial"/>
                <a:ea typeface="Arial"/>
                <a:cs typeface="Arial"/>
              </a:defRPr>
            </a:lvl8pPr>
            <a:lvl9pPr algn="l">
              <a:defRPr sz="3000" b="1">
                <a:solidFill>
                  <a:srgbClr val="2956D7"/>
                </a:solidFill>
                <a:latin typeface="Arial"/>
                <a:ea typeface="Arial"/>
                <a:cs typeface="Arial"/>
              </a:defRPr>
            </a:lvl9pPr>
          </a:lstStyle>
          <a:p xmlns:a="http://schemas.openxmlformats.org/drawingml/2006/main">
            <a:pPr algn="l">
              <a:defRPr sz="3000" b="1">
                <a:solidFill>
                  <a:srgbClr val="2956D7"/>
                </a:solidFill>
                <a:latin typeface="Arial"/>
                <a:ea typeface="Arial"/>
                <a:cs typeface="Arial"/>
              </a:defRPr>
            </a:pPr>
            <a:r>
              <a:rPr sz="3000" b="1">
                <a:solidFill>
                  <a:srgbClr val="2956D7"/>
                </a:solidFill>
                <a:latin typeface="Arial"/>
                <a:ea typeface="Arial"/>
                <a:cs typeface="Arial"/>
              </a:rPr>
              <a:t>Local application</a:t>
            </a:r>
          </a:p>
        </p:txBody>
      </p:sp>
      <p:sp>
        <p:nvSpPr>
          <p:cNvPr id="5" name="Browser UI">
            <a:extLst xmlns:a="http://schemas.openxmlformats.org/drawingml/2006/main">
              <a:ext uri="{FF2B5EF4-FFF2-40B4-BE49-F238E27FC236}">
                <a16:creationId xmlns:a16="http://schemas.microsoft.com/office/drawing/2014/main" id="{0862B7E5-0633-4CF6-9EB4-0D47B7F71E17}"/>
              </a:ext>
            </a:extLst>
          </p:cNvPr>
          <p:cNvSpPr>
            <a:spLocks xmlns:a="http://schemas.openxmlformats.org/drawingml/2006/main" noGrp="1"/>
          </p:cNvSpPr>
          <p:nvPr/>
        </p:nvSpPr>
        <p:spPr>
          <a:xfrm xmlns:a="http://schemas.openxmlformats.org/drawingml/2006/main">
            <a:off x="781050" y="3619500"/>
            <a:ext cx="4000500" cy="123825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6" name="Browser UI">
            <a:extLst xmlns:a="http://schemas.openxmlformats.org/drawingml/2006/main">
              <a:ext uri="{FF2B5EF4-FFF2-40B4-BE49-F238E27FC236}">
                <a16:creationId xmlns:a16="http://schemas.microsoft.com/office/drawing/2014/main" id="{E573A2EF-39FE-4832-B6E2-6813BDF4E313}"/>
              </a:ext>
            </a:extLst>
          </p:cNvPr>
          <p:cNvSpPr>
            <a:spLocks xmlns:a="http://schemas.openxmlformats.org/drawingml/2006/main" noGrp="1"/>
          </p:cNvSpPr>
          <p:nvPr/>
        </p:nvSpPr>
        <p:spPr>
          <a:xfrm xmlns:a="http://schemas.openxmlformats.org/drawingml/2006/main">
            <a:off x="971550" y="3790950"/>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Browser UI</a:t>
            </a:r>
          </a:p>
        </p:txBody>
      </p:sp>
      <p:sp>
        <p:nvSpPr>
          <p:cNvPr id="7" name="HTML / CSS / JavaScript">
            <a:extLst xmlns:a="http://schemas.openxmlformats.org/drawingml/2006/main">
              <a:ext uri="{FF2B5EF4-FFF2-40B4-BE49-F238E27FC236}">
                <a16:creationId xmlns:a16="http://schemas.microsoft.com/office/drawing/2014/main" id="{247F6D1B-CFCC-4A5E-B664-AA22DF21EA55}"/>
              </a:ext>
            </a:extLst>
          </p:cNvPr>
          <p:cNvSpPr>
            <a:spLocks xmlns:a="http://schemas.openxmlformats.org/drawingml/2006/main" noGrp="1"/>
          </p:cNvSpPr>
          <p:nvPr/>
        </p:nvSpPr>
        <p:spPr>
          <a:xfrm xmlns:a="http://schemas.openxmlformats.org/drawingml/2006/main">
            <a:off x="971550" y="434340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HTML / CSS / JavaScript</a:t>
            </a:r>
          </a:p>
        </p:txBody>
      </p:sp>
      <p:sp>
        <p:nvSpPr>
          <p:cNvPr id="8" name="Python HTTP worker">
            <a:extLst xmlns:a="http://schemas.openxmlformats.org/drawingml/2006/main">
              <a:ext uri="{FF2B5EF4-FFF2-40B4-BE49-F238E27FC236}">
                <a16:creationId xmlns:a16="http://schemas.microsoft.com/office/drawing/2014/main" id="{40613A50-0ACC-4FC2-8D7B-4762093D7194}"/>
              </a:ext>
            </a:extLst>
          </p:cNvPr>
          <p:cNvSpPr>
            <a:spLocks xmlns:a="http://schemas.openxmlformats.org/drawingml/2006/main" noGrp="1"/>
          </p:cNvSpPr>
          <p:nvPr/>
        </p:nvSpPr>
        <p:spPr>
          <a:xfrm xmlns:a="http://schemas.openxmlformats.org/drawingml/2006/main">
            <a:off x="781050" y="5715000"/>
            <a:ext cx="5905500" cy="1333500"/>
          </a:xfrm>
          <a:prstGeom xmlns:a="http://schemas.openxmlformats.org/drawingml/2006/main" prst="rect">
            <a:avLst/>
          </a:prstGeom>
          <a:solidFill xmlns:a="http://schemas.openxmlformats.org/drawingml/2006/main">
            <a:srgbClr val="DDF2EC"/>
          </a:solidFill>
          <a:ln xmlns:a="http://schemas.openxmlformats.org/drawingml/2006/main" w="16193">
            <a:solidFill>
              <a:srgbClr val="147B70"/>
            </a:solidFill>
          </a:ln>
        </p:spPr>
      </p:sp>
      <p:sp>
        <p:nvSpPr>
          <p:cNvPr id="9" name="Python HTTP worker">
            <a:extLst xmlns:a="http://schemas.openxmlformats.org/drawingml/2006/main">
              <a:ext uri="{FF2B5EF4-FFF2-40B4-BE49-F238E27FC236}">
                <a16:creationId xmlns:a16="http://schemas.microsoft.com/office/drawing/2014/main" id="{F116CDB8-927E-4B45-962F-35F8DD006410}"/>
              </a:ext>
            </a:extLst>
          </p:cNvPr>
          <p:cNvSpPr>
            <a:spLocks xmlns:a="http://schemas.openxmlformats.org/drawingml/2006/main" noGrp="1"/>
          </p:cNvSpPr>
          <p:nvPr/>
        </p:nvSpPr>
        <p:spPr>
          <a:xfrm xmlns:a="http://schemas.openxmlformats.org/drawingml/2006/main">
            <a:off x="971550" y="5886450"/>
            <a:ext cx="552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Python HTTP worker</a:t>
            </a:r>
          </a:p>
        </p:txBody>
      </p:sp>
      <p:sp>
        <p:nvSpPr>
          <p:cNvPr id="10" name="Shared compiler + custom VM">
            <a:extLst xmlns:a="http://schemas.openxmlformats.org/drawingml/2006/main">
              <a:ext uri="{FF2B5EF4-FFF2-40B4-BE49-F238E27FC236}">
                <a16:creationId xmlns:a16="http://schemas.microsoft.com/office/drawing/2014/main" id="{B2C69FCC-5CA0-48D2-8EEB-B4552498ADE2}"/>
              </a:ext>
            </a:extLst>
          </p:cNvPr>
          <p:cNvSpPr>
            <a:spLocks xmlns:a="http://schemas.openxmlformats.org/drawingml/2006/main" noGrp="1"/>
          </p:cNvSpPr>
          <p:nvPr/>
        </p:nvSpPr>
        <p:spPr>
          <a:xfrm xmlns:a="http://schemas.openxmlformats.org/drawingml/2006/main">
            <a:off x="971550" y="6438900"/>
            <a:ext cx="552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Shared compiler + custom VM</a:t>
            </a:r>
          </a:p>
        </p:txBody>
      </p:sp>
      <p:sp>
        <p:nvSpPr>
          <p:cNvPr id="12" name="Static browser build">
            <a:extLst xmlns:a="http://schemas.openxmlformats.org/drawingml/2006/main">
              <a:ext uri="{FF2B5EF4-FFF2-40B4-BE49-F238E27FC236}">
                <a16:creationId xmlns:a16="http://schemas.microsoft.com/office/drawing/2014/main" id="{B21A98FF-E40A-4776-8063-6AF9EBC55402}"/>
              </a:ext>
            </a:extLst>
          </p:cNvPr>
          <p:cNvSpPr>
            <a:spLocks xmlns:a="http://schemas.openxmlformats.org/drawingml/2006/main" noGrp="1"/>
          </p:cNvSpPr>
          <p:nvPr/>
        </p:nvSpPr>
        <p:spPr>
          <a:xfrm xmlns:a="http://schemas.openxmlformats.org/drawingml/2006/main">
            <a:off x="8143875" y="266700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956D7"/>
                </a:solidFill>
                <a:latin typeface="Arial"/>
                <a:ea typeface="Arial"/>
                <a:cs typeface="Arial"/>
              </a:defRPr>
            </a:defPPr>
            <a:lvl1pPr algn="l">
              <a:defRPr sz="3000" b="1">
                <a:solidFill>
                  <a:srgbClr val="2956D7"/>
                </a:solidFill>
                <a:latin typeface="Arial"/>
                <a:ea typeface="Arial"/>
                <a:cs typeface="Arial"/>
              </a:defRPr>
            </a:lvl1pPr>
            <a:lvl2pPr algn="l">
              <a:defRPr sz="3000" b="1">
                <a:solidFill>
                  <a:srgbClr val="2956D7"/>
                </a:solidFill>
                <a:latin typeface="Arial"/>
                <a:ea typeface="Arial"/>
                <a:cs typeface="Arial"/>
              </a:defRPr>
            </a:lvl2pPr>
            <a:lvl3pPr algn="l">
              <a:defRPr sz="3000" b="1">
                <a:solidFill>
                  <a:srgbClr val="2956D7"/>
                </a:solidFill>
                <a:latin typeface="Arial"/>
                <a:ea typeface="Arial"/>
                <a:cs typeface="Arial"/>
              </a:defRPr>
            </a:lvl3pPr>
            <a:lvl4pPr algn="l">
              <a:defRPr sz="3000" b="1">
                <a:solidFill>
                  <a:srgbClr val="2956D7"/>
                </a:solidFill>
                <a:latin typeface="Arial"/>
                <a:ea typeface="Arial"/>
                <a:cs typeface="Arial"/>
              </a:defRPr>
            </a:lvl4pPr>
            <a:lvl5pPr algn="l">
              <a:defRPr sz="3000" b="1">
                <a:solidFill>
                  <a:srgbClr val="2956D7"/>
                </a:solidFill>
                <a:latin typeface="Arial"/>
                <a:ea typeface="Arial"/>
                <a:cs typeface="Arial"/>
              </a:defRPr>
            </a:lvl5pPr>
            <a:lvl6pPr algn="l">
              <a:defRPr sz="3000" b="1">
                <a:solidFill>
                  <a:srgbClr val="2956D7"/>
                </a:solidFill>
                <a:latin typeface="Arial"/>
                <a:ea typeface="Arial"/>
                <a:cs typeface="Arial"/>
              </a:defRPr>
            </a:lvl6pPr>
            <a:lvl7pPr algn="l">
              <a:defRPr sz="3000" b="1">
                <a:solidFill>
                  <a:srgbClr val="2956D7"/>
                </a:solidFill>
                <a:latin typeface="Arial"/>
                <a:ea typeface="Arial"/>
                <a:cs typeface="Arial"/>
              </a:defRPr>
            </a:lvl7pPr>
            <a:lvl8pPr algn="l">
              <a:defRPr sz="3000" b="1">
                <a:solidFill>
                  <a:srgbClr val="2956D7"/>
                </a:solidFill>
                <a:latin typeface="Arial"/>
                <a:ea typeface="Arial"/>
                <a:cs typeface="Arial"/>
              </a:defRPr>
            </a:lvl8pPr>
            <a:lvl9pPr algn="l">
              <a:defRPr sz="3000" b="1">
                <a:solidFill>
                  <a:srgbClr val="2956D7"/>
                </a:solidFill>
                <a:latin typeface="Arial"/>
                <a:ea typeface="Arial"/>
                <a:cs typeface="Arial"/>
              </a:defRPr>
            </a:lvl9pPr>
          </a:lstStyle>
          <a:p xmlns:a="http://schemas.openxmlformats.org/drawingml/2006/main">
            <a:pPr algn="l">
              <a:defRPr sz="3000" b="1">
                <a:solidFill>
                  <a:srgbClr val="2956D7"/>
                </a:solidFill>
                <a:latin typeface="Arial"/>
                <a:ea typeface="Arial"/>
                <a:cs typeface="Arial"/>
              </a:defRPr>
            </a:pPr>
            <a:r>
              <a:rPr sz="3000" b="1">
                <a:solidFill>
                  <a:srgbClr val="2956D7"/>
                </a:solidFill>
                <a:latin typeface="Arial"/>
                <a:ea typeface="Arial"/>
                <a:cs typeface="Arial"/>
              </a:rPr>
              <a:t>Static browser build</a:t>
            </a:r>
          </a:p>
        </p:txBody>
      </p:sp>
      <p:sp>
        <p:nvSpPr>
          <p:cNvPr id="13" name="Static website">
            <a:extLst xmlns:a="http://schemas.openxmlformats.org/drawingml/2006/main">
              <a:ext uri="{FF2B5EF4-FFF2-40B4-BE49-F238E27FC236}">
                <a16:creationId xmlns:a16="http://schemas.microsoft.com/office/drawing/2014/main" id="{FD2E0D52-2AF6-4DE4-BA50-BEE0649BF86B}"/>
              </a:ext>
            </a:extLst>
          </p:cNvPr>
          <p:cNvSpPr>
            <a:spLocks xmlns:a="http://schemas.openxmlformats.org/drawingml/2006/main" noGrp="1"/>
          </p:cNvSpPr>
          <p:nvPr/>
        </p:nvSpPr>
        <p:spPr>
          <a:xfrm xmlns:a="http://schemas.openxmlformats.org/drawingml/2006/main">
            <a:off x="8143875" y="3619500"/>
            <a:ext cx="5810250" cy="1238250"/>
          </a:xfrm>
          <a:prstGeom xmlns:a="http://schemas.openxmlformats.org/drawingml/2006/main" prst="rect">
            <a:avLst/>
          </a:prstGeom>
          <a:solidFill xmlns:a="http://schemas.openxmlformats.org/drawingml/2006/main">
            <a:srgbClr val="FFFFFF"/>
          </a:solidFill>
          <a:ln xmlns:a="http://schemas.openxmlformats.org/drawingml/2006/main" w="16193">
            <a:solidFill>
              <a:srgbClr val="CDD3D9"/>
            </a:solidFill>
          </a:ln>
        </p:spPr>
      </p:sp>
      <p:sp>
        <p:nvSpPr>
          <p:cNvPr id="14" name="Static website">
            <a:extLst xmlns:a="http://schemas.openxmlformats.org/drawingml/2006/main">
              <a:ext uri="{FF2B5EF4-FFF2-40B4-BE49-F238E27FC236}">
                <a16:creationId xmlns:a16="http://schemas.microsoft.com/office/drawing/2014/main" id="{31573A91-B2AA-4D0B-A3BB-0B48A5E3E421}"/>
              </a:ext>
            </a:extLst>
          </p:cNvPr>
          <p:cNvSpPr>
            <a:spLocks xmlns:a="http://schemas.openxmlformats.org/drawingml/2006/main" noGrp="1"/>
          </p:cNvSpPr>
          <p:nvPr/>
        </p:nvSpPr>
        <p:spPr>
          <a:xfrm xmlns:a="http://schemas.openxmlformats.org/drawingml/2006/main">
            <a:off x="8334375" y="3790950"/>
            <a:ext cx="542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Static website</a:t>
            </a:r>
          </a:p>
        </p:txBody>
      </p:sp>
      <p:sp>
        <p:nvSpPr>
          <p:cNvPr id="15" name="JavaScript transport and assets">
            <a:extLst xmlns:a="http://schemas.openxmlformats.org/drawingml/2006/main">
              <a:ext uri="{FF2B5EF4-FFF2-40B4-BE49-F238E27FC236}">
                <a16:creationId xmlns:a16="http://schemas.microsoft.com/office/drawing/2014/main" id="{D2E04C2F-C3C4-4305-8DC0-0D328734CDC1}"/>
              </a:ext>
            </a:extLst>
          </p:cNvPr>
          <p:cNvSpPr>
            <a:spLocks xmlns:a="http://schemas.openxmlformats.org/drawingml/2006/main" noGrp="1"/>
          </p:cNvSpPr>
          <p:nvPr/>
        </p:nvSpPr>
        <p:spPr>
          <a:xfrm xmlns:a="http://schemas.openxmlformats.org/drawingml/2006/main">
            <a:off x="8334375" y="4343400"/>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JavaScript transport and assets</a:t>
            </a:r>
          </a:p>
        </p:txBody>
      </p:sp>
      <p:sp>
        <p:nvSpPr>
          <p:cNvPr id="16" name="Web Worker + Pyodide">
            <a:extLst xmlns:a="http://schemas.openxmlformats.org/drawingml/2006/main">
              <a:ext uri="{FF2B5EF4-FFF2-40B4-BE49-F238E27FC236}">
                <a16:creationId xmlns:a16="http://schemas.microsoft.com/office/drawing/2014/main" id="{5B3A2C68-418B-4C85-B989-3D2572840F06}"/>
              </a:ext>
            </a:extLst>
          </p:cNvPr>
          <p:cNvSpPr>
            <a:spLocks xmlns:a="http://schemas.openxmlformats.org/drawingml/2006/main" noGrp="1"/>
          </p:cNvSpPr>
          <p:nvPr/>
        </p:nvSpPr>
        <p:spPr>
          <a:xfrm xmlns:a="http://schemas.openxmlformats.org/drawingml/2006/main">
            <a:off x="8143875" y="5715000"/>
            <a:ext cx="6334125" cy="1333500"/>
          </a:xfrm>
          <a:prstGeom xmlns:a="http://schemas.openxmlformats.org/drawingml/2006/main" prst="rect">
            <a:avLst/>
          </a:prstGeom>
          <a:solidFill xmlns:a="http://schemas.openxmlformats.org/drawingml/2006/main">
            <a:srgbClr val="DDF2EC"/>
          </a:solidFill>
          <a:ln xmlns:a="http://schemas.openxmlformats.org/drawingml/2006/main" w="16193">
            <a:solidFill>
              <a:srgbClr val="147B70"/>
            </a:solidFill>
          </a:ln>
        </p:spPr>
      </p:sp>
      <p:sp>
        <p:nvSpPr>
          <p:cNvPr id="17" name="Web Worker + Pyodide">
            <a:extLst xmlns:a="http://schemas.openxmlformats.org/drawingml/2006/main">
              <a:ext uri="{FF2B5EF4-FFF2-40B4-BE49-F238E27FC236}">
                <a16:creationId xmlns:a16="http://schemas.microsoft.com/office/drawing/2014/main" id="{D1EFB499-6908-49AE-AF11-19212B99044D}"/>
              </a:ext>
            </a:extLst>
          </p:cNvPr>
          <p:cNvSpPr>
            <a:spLocks xmlns:a="http://schemas.openxmlformats.org/drawingml/2006/main" noGrp="1"/>
          </p:cNvSpPr>
          <p:nvPr/>
        </p:nvSpPr>
        <p:spPr>
          <a:xfrm xmlns:a="http://schemas.openxmlformats.org/drawingml/2006/main">
            <a:off x="8334375" y="5886450"/>
            <a:ext cx="5953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73C"/>
                </a:solidFill>
                <a:latin typeface="Arial"/>
                <a:ea typeface="Arial"/>
                <a:cs typeface="Arial"/>
              </a:defRPr>
            </a:defPPr>
            <a:lvl1pPr algn="l">
              <a:defRPr sz="2325" b="1">
                <a:solidFill>
                  <a:srgbClr val="17273C"/>
                </a:solidFill>
                <a:latin typeface="Arial"/>
                <a:ea typeface="Arial"/>
                <a:cs typeface="Arial"/>
              </a:defRPr>
            </a:lvl1pPr>
            <a:lvl2pPr algn="l">
              <a:defRPr sz="2325" b="1">
                <a:solidFill>
                  <a:srgbClr val="17273C"/>
                </a:solidFill>
                <a:latin typeface="Arial"/>
                <a:ea typeface="Arial"/>
                <a:cs typeface="Arial"/>
              </a:defRPr>
            </a:lvl2pPr>
            <a:lvl3pPr algn="l">
              <a:defRPr sz="2325" b="1">
                <a:solidFill>
                  <a:srgbClr val="17273C"/>
                </a:solidFill>
                <a:latin typeface="Arial"/>
                <a:ea typeface="Arial"/>
                <a:cs typeface="Arial"/>
              </a:defRPr>
            </a:lvl3pPr>
            <a:lvl4pPr algn="l">
              <a:defRPr sz="2325" b="1">
                <a:solidFill>
                  <a:srgbClr val="17273C"/>
                </a:solidFill>
                <a:latin typeface="Arial"/>
                <a:ea typeface="Arial"/>
                <a:cs typeface="Arial"/>
              </a:defRPr>
            </a:lvl4pPr>
            <a:lvl5pPr algn="l">
              <a:defRPr sz="2325" b="1">
                <a:solidFill>
                  <a:srgbClr val="17273C"/>
                </a:solidFill>
                <a:latin typeface="Arial"/>
                <a:ea typeface="Arial"/>
                <a:cs typeface="Arial"/>
              </a:defRPr>
            </a:lvl5pPr>
            <a:lvl6pPr algn="l">
              <a:defRPr sz="2325" b="1">
                <a:solidFill>
                  <a:srgbClr val="17273C"/>
                </a:solidFill>
                <a:latin typeface="Arial"/>
                <a:ea typeface="Arial"/>
                <a:cs typeface="Arial"/>
              </a:defRPr>
            </a:lvl6pPr>
            <a:lvl7pPr algn="l">
              <a:defRPr sz="2325" b="1">
                <a:solidFill>
                  <a:srgbClr val="17273C"/>
                </a:solidFill>
                <a:latin typeface="Arial"/>
                <a:ea typeface="Arial"/>
                <a:cs typeface="Arial"/>
              </a:defRPr>
            </a:lvl7pPr>
            <a:lvl8pPr algn="l">
              <a:defRPr sz="2325" b="1">
                <a:solidFill>
                  <a:srgbClr val="17273C"/>
                </a:solidFill>
                <a:latin typeface="Arial"/>
                <a:ea typeface="Arial"/>
                <a:cs typeface="Arial"/>
              </a:defRPr>
            </a:lvl8pPr>
            <a:lvl9pPr algn="l">
              <a:defRPr sz="2325" b="1">
                <a:solidFill>
                  <a:srgbClr val="17273C"/>
                </a:solidFill>
                <a:latin typeface="Arial"/>
                <a:ea typeface="Arial"/>
                <a:cs typeface="Arial"/>
              </a:defRPr>
            </a:lvl9pPr>
          </a:lstStyle>
          <a:p xmlns:a="http://schemas.openxmlformats.org/drawingml/2006/main">
            <a:pPr algn="l">
              <a:defRPr sz="2325" b="1">
                <a:solidFill>
                  <a:srgbClr val="17273C"/>
                </a:solidFill>
                <a:latin typeface="Arial"/>
                <a:ea typeface="Arial"/>
                <a:cs typeface="Arial"/>
              </a:defRPr>
            </a:pPr>
            <a:r>
              <a:rPr sz="2325" b="1">
                <a:solidFill>
                  <a:srgbClr val="17273C"/>
                </a:solidFill>
                <a:latin typeface="Arial"/>
                <a:ea typeface="Arial"/>
                <a:cs typeface="Arial"/>
              </a:rPr>
              <a:t>Web Worker + Pyodide</a:t>
            </a:r>
          </a:p>
        </p:txBody>
      </p:sp>
      <p:sp>
        <p:nvSpPr>
          <p:cNvPr id="18" name="WebAssembly Python runs the same compiler">
            <a:extLst xmlns:a="http://schemas.openxmlformats.org/drawingml/2006/main">
              <a:ext uri="{FF2B5EF4-FFF2-40B4-BE49-F238E27FC236}">
                <a16:creationId xmlns:a16="http://schemas.microsoft.com/office/drawing/2014/main" id="{19DD8A2C-F61B-4FF4-A2CB-B5E951438FC5}"/>
              </a:ext>
            </a:extLst>
          </p:cNvPr>
          <p:cNvSpPr>
            <a:spLocks xmlns:a="http://schemas.openxmlformats.org/drawingml/2006/main" noGrp="1"/>
          </p:cNvSpPr>
          <p:nvPr/>
        </p:nvSpPr>
        <p:spPr>
          <a:xfrm xmlns:a="http://schemas.openxmlformats.org/drawingml/2006/main">
            <a:off x="8334375" y="6438900"/>
            <a:ext cx="595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7"/>
                </a:solidFill>
                <a:latin typeface="Arial"/>
                <a:ea typeface="Arial"/>
                <a:cs typeface="Arial"/>
              </a:defRPr>
            </a:defPPr>
            <a:lvl1pPr algn="l">
              <a:defRPr sz="1875" b="0">
                <a:solidFill>
                  <a:srgbClr val="596577"/>
                </a:solidFill>
                <a:latin typeface="Arial"/>
                <a:ea typeface="Arial"/>
                <a:cs typeface="Arial"/>
              </a:defRPr>
            </a:lvl1pPr>
            <a:lvl2pPr algn="l">
              <a:defRPr sz="1875" b="0">
                <a:solidFill>
                  <a:srgbClr val="596577"/>
                </a:solidFill>
                <a:latin typeface="Arial"/>
                <a:ea typeface="Arial"/>
                <a:cs typeface="Arial"/>
              </a:defRPr>
            </a:lvl2pPr>
            <a:lvl3pPr algn="l">
              <a:defRPr sz="1875" b="0">
                <a:solidFill>
                  <a:srgbClr val="596577"/>
                </a:solidFill>
                <a:latin typeface="Arial"/>
                <a:ea typeface="Arial"/>
                <a:cs typeface="Arial"/>
              </a:defRPr>
            </a:lvl3pPr>
            <a:lvl4pPr algn="l">
              <a:defRPr sz="1875" b="0">
                <a:solidFill>
                  <a:srgbClr val="596577"/>
                </a:solidFill>
                <a:latin typeface="Arial"/>
                <a:ea typeface="Arial"/>
                <a:cs typeface="Arial"/>
              </a:defRPr>
            </a:lvl4pPr>
            <a:lvl5pPr algn="l">
              <a:defRPr sz="1875" b="0">
                <a:solidFill>
                  <a:srgbClr val="596577"/>
                </a:solidFill>
                <a:latin typeface="Arial"/>
                <a:ea typeface="Arial"/>
                <a:cs typeface="Arial"/>
              </a:defRPr>
            </a:lvl5pPr>
            <a:lvl6pPr algn="l">
              <a:defRPr sz="1875" b="0">
                <a:solidFill>
                  <a:srgbClr val="596577"/>
                </a:solidFill>
                <a:latin typeface="Arial"/>
                <a:ea typeface="Arial"/>
                <a:cs typeface="Arial"/>
              </a:defRPr>
            </a:lvl6pPr>
            <a:lvl7pPr algn="l">
              <a:defRPr sz="1875" b="0">
                <a:solidFill>
                  <a:srgbClr val="596577"/>
                </a:solidFill>
                <a:latin typeface="Arial"/>
                <a:ea typeface="Arial"/>
                <a:cs typeface="Arial"/>
              </a:defRPr>
            </a:lvl7pPr>
            <a:lvl8pPr algn="l">
              <a:defRPr sz="1875" b="0">
                <a:solidFill>
                  <a:srgbClr val="596577"/>
                </a:solidFill>
                <a:latin typeface="Arial"/>
                <a:ea typeface="Arial"/>
                <a:cs typeface="Arial"/>
              </a:defRPr>
            </a:lvl8pPr>
            <a:lvl9pPr algn="l">
              <a:defRPr sz="1875" b="0">
                <a:solidFill>
                  <a:srgbClr val="596577"/>
                </a:solidFill>
                <a:latin typeface="Arial"/>
                <a:ea typeface="Arial"/>
                <a:cs typeface="Arial"/>
              </a:defRPr>
            </a:lvl9pPr>
          </a:lstStyle>
          <a:p xmlns:a="http://schemas.openxmlformats.org/drawingml/2006/main">
            <a:pPr algn="l">
              <a:defRPr sz="1875" b="0">
                <a:solidFill>
                  <a:srgbClr val="596577"/>
                </a:solidFill>
                <a:latin typeface="Arial"/>
                <a:ea typeface="Arial"/>
                <a:cs typeface="Arial"/>
              </a:defRPr>
            </a:pPr>
            <a:r>
              <a:rPr sz="1875" b="0">
                <a:solidFill>
                  <a:srgbClr val="596577"/>
                </a:solidFill>
                <a:latin typeface="Arial"/>
                <a:ea typeface="Arial"/>
                <a:cs typeface="Arial"/>
              </a:rPr>
              <a:t>WebAssembly Python runs the same compiler</a:t>
            </a:r>
          </a:p>
        </p:txBody>
      </p:sp>
      <p:sp>
        <p:nvSpPr>
          <p:cNvPr id="20" name="Pages deployment requires repository-owner configuratio">
            <a:extLst xmlns:a="http://schemas.openxmlformats.org/drawingml/2006/main">
              <a:ext uri="{FF2B5EF4-FFF2-40B4-BE49-F238E27FC236}">
                <a16:creationId xmlns:a16="http://schemas.microsoft.com/office/drawing/2014/main" id="{50219AE2-05EA-4279-B1BA-568B995A2972}"/>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Pages deployment requires repository-owner configuration. The local IDE needs Python 3.11+.</a:t>
            </a:r>
          </a:p>
        </p:txBody>
      </p:sp>
    </p:spTree>
    <p:extLst>
      <p:ext uri="{BB962C8B-B14F-4D97-AF65-F5344CB8AC3E}">
        <p14:creationId xmlns:p14="http://schemas.microsoft.com/office/powerpoint/2010/main" val="949171644"/>
      </p:ext>
    </p:extLst>
  </p:cSld>
</p:sld>
</file>

<file path=ppt/slides/slide29.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sp>
        <p:nvSpPr>
          <p:cNvPr id="10" name="Verification evidence">
            <a:extLst xmlns:a="http://schemas.openxmlformats.org/drawingml/2006/main">
              <a:ext uri="{FF2B5EF4-FFF2-40B4-BE49-F238E27FC236}">
                <a16:creationId xmlns:a16="http://schemas.microsoft.com/office/drawing/2014/main" id="{621F5A73-181F-4C6A-996E-9B07110991F0}"/>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Verification evidence</a:t>
            </a:r>
          </a:p>
        </p:txBody>
      </p:sp>
      <p:sp>
        <p:nvSpPr>
          <p:cNvPr id="2" name="Verified implementation snapshot, 26 October 2026">
            <a:extLst xmlns:a="http://schemas.openxmlformats.org/drawingml/2006/main">
              <a:ext uri="{FF2B5EF4-FFF2-40B4-BE49-F238E27FC236}">
                <a16:creationId xmlns:a16="http://schemas.microsoft.com/office/drawing/2014/main" id="{926376C2-4C1A-477C-8BE9-299DEC17C0FD}"/>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5C7DE"/>
                </a:solidFill>
                <a:latin typeface="Arial"/>
                <a:ea typeface="Arial"/>
                <a:cs typeface="Arial"/>
              </a:defRPr>
            </a:defPPr>
            <a:lvl1pPr algn="l">
              <a:defRPr sz="2250" b="0">
                <a:solidFill>
                  <a:srgbClr val="B5C7DE"/>
                </a:solidFill>
                <a:latin typeface="Arial"/>
                <a:ea typeface="Arial"/>
                <a:cs typeface="Arial"/>
              </a:defRPr>
            </a:lvl1pPr>
            <a:lvl2pPr algn="l">
              <a:defRPr sz="2250" b="0">
                <a:solidFill>
                  <a:srgbClr val="B5C7DE"/>
                </a:solidFill>
                <a:latin typeface="Arial"/>
                <a:ea typeface="Arial"/>
                <a:cs typeface="Arial"/>
              </a:defRPr>
            </a:lvl2pPr>
            <a:lvl3pPr algn="l">
              <a:defRPr sz="2250" b="0">
                <a:solidFill>
                  <a:srgbClr val="B5C7DE"/>
                </a:solidFill>
                <a:latin typeface="Arial"/>
                <a:ea typeface="Arial"/>
                <a:cs typeface="Arial"/>
              </a:defRPr>
            </a:lvl3pPr>
            <a:lvl4pPr algn="l">
              <a:defRPr sz="2250" b="0">
                <a:solidFill>
                  <a:srgbClr val="B5C7DE"/>
                </a:solidFill>
                <a:latin typeface="Arial"/>
                <a:ea typeface="Arial"/>
                <a:cs typeface="Arial"/>
              </a:defRPr>
            </a:lvl4pPr>
            <a:lvl5pPr algn="l">
              <a:defRPr sz="2250" b="0">
                <a:solidFill>
                  <a:srgbClr val="B5C7DE"/>
                </a:solidFill>
                <a:latin typeface="Arial"/>
                <a:ea typeface="Arial"/>
                <a:cs typeface="Arial"/>
              </a:defRPr>
            </a:lvl5pPr>
            <a:lvl6pPr algn="l">
              <a:defRPr sz="2250" b="0">
                <a:solidFill>
                  <a:srgbClr val="B5C7DE"/>
                </a:solidFill>
                <a:latin typeface="Arial"/>
                <a:ea typeface="Arial"/>
                <a:cs typeface="Arial"/>
              </a:defRPr>
            </a:lvl6pPr>
            <a:lvl7pPr algn="l">
              <a:defRPr sz="2250" b="0">
                <a:solidFill>
                  <a:srgbClr val="B5C7DE"/>
                </a:solidFill>
                <a:latin typeface="Arial"/>
                <a:ea typeface="Arial"/>
                <a:cs typeface="Arial"/>
              </a:defRPr>
            </a:lvl7pPr>
            <a:lvl8pPr algn="l">
              <a:defRPr sz="2250" b="0">
                <a:solidFill>
                  <a:srgbClr val="B5C7DE"/>
                </a:solidFill>
                <a:latin typeface="Arial"/>
                <a:ea typeface="Arial"/>
                <a:cs typeface="Arial"/>
              </a:defRPr>
            </a:lvl8pPr>
            <a:lvl9pPr algn="l">
              <a:defRPr sz="2250" b="0">
                <a:solidFill>
                  <a:srgbClr val="B5C7DE"/>
                </a:solidFill>
                <a:latin typeface="Arial"/>
                <a:ea typeface="Arial"/>
                <a:cs typeface="Arial"/>
              </a:defRPr>
            </a:lvl9pPr>
          </a:lstStyle>
          <a:p xmlns:a="http://schemas.openxmlformats.org/drawingml/2006/main">
            <a:pPr algn="l">
              <a:defRPr sz="2250" b="0">
                <a:solidFill>
                  <a:srgbClr val="B5C7DE"/>
                </a:solidFill>
                <a:latin typeface="Arial"/>
                <a:ea typeface="Arial"/>
                <a:cs typeface="Arial"/>
              </a:defRPr>
            </a:pPr>
            <a:r>
              <a:rPr sz="2250" b="0">
                <a:solidFill>
                  <a:srgbClr val="B5C7DE"/>
                </a:solidFill>
                <a:latin typeface="Arial"/>
                <a:ea typeface="Arial"/>
                <a:cs typeface="Arial"/>
              </a:rPr>
              <a:t>Verified implementation snapshot, 26 October 2026</a:t>
            </a:r>
          </a:p>
        </p:txBody>
      </p:sp>
      <p:sp>
        <p:nvSpPr>
          <p:cNvPr id="3" name="29">
            <a:extLst xmlns:a="http://schemas.openxmlformats.org/drawingml/2006/main">
              <a:ext uri="{FF2B5EF4-FFF2-40B4-BE49-F238E27FC236}">
                <a16:creationId xmlns:a16="http://schemas.microsoft.com/office/drawing/2014/main" id="{195B7A98-5C6D-4440-8267-AE04DBFC38D5}"/>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5C7DE"/>
                </a:solidFill>
                <a:latin typeface="Arial"/>
                <a:ea typeface="Arial"/>
                <a:cs typeface="Arial"/>
              </a:defRPr>
            </a:defPPr>
            <a:lvl1pPr algn="r">
              <a:defRPr sz="1500" b="0">
                <a:solidFill>
                  <a:srgbClr val="B5C7DE"/>
                </a:solidFill>
                <a:latin typeface="Arial"/>
                <a:ea typeface="Arial"/>
                <a:cs typeface="Arial"/>
              </a:defRPr>
            </a:lvl1pPr>
            <a:lvl2pPr algn="r">
              <a:defRPr sz="1500" b="0">
                <a:solidFill>
                  <a:srgbClr val="B5C7DE"/>
                </a:solidFill>
                <a:latin typeface="Arial"/>
                <a:ea typeface="Arial"/>
                <a:cs typeface="Arial"/>
              </a:defRPr>
            </a:lvl2pPr>
            <a:lvl3pPr algn="r">
              <a:defRPr sz="1500" b="0">
                <a:solidFill>
                  <a:srgbClr val="B5C7DE"/>
                </a:solidFill>
                <a:latin typeface="Arial"/>
                <a:ea typeface="Arial"/>
                <a:cs typeface="Arial"/>
              </a:defRPr>
            </a:lvl3pPr>
            <a:lvl4pPr algn="r">
              <a:defRPr sz="1500" b="0">
                <a:solidFill>
                  <a:srgbClr val="B5C7DE"/>
                </a:solidFill>
                <a:latin typeface="Arial"/>
                <a:ea typeface="Arial"/>
                <a:cs typeface="Arial"/>
              </a:defRPr>
            </a:lvl4pPr>
            <a:lvl5pPr algn="r">
              <a:defRPr sz="1500" b="0">
                <a:solidFill>
                  <a:srgbClr val="B5C7DE"/>
                </a:solidFill>
                <a:latin typeface="Arial"/>
                <a:ea typeface="Arial"/>
                <a:cs typeface="Arial"/>
              </a:defRPr>
            </a:lvl5pPr>
            <a:lvl6pPr algn="r">
              <a:defRPr sz="1500" b="0">
                <a:solidFill>
                  <a:srgbClr val="B5C7DE"/>
                </a:solidFill>
                <a:latin typeface="Arial"/>
                <a:ea typeface="Arial"/>
                <a:cs typeface="Arial"/>
              </a:defRPr>
            </a:lvl6pPr>
            <a:lvl7pPr algn="r">
              <a:defRPr sz="1500" b="0">
                <a:solidFill>
                  <a:srgbClr val="B5C7DE"/>
                </a:solidFill>
                <a:latin typeface="Arial"/>
                <a:ea typeface="Arial"/>
                <a:cs typeface="Arial"/>
              </a:defRPr>
            </a:lvl7pPr>
            <a:lvl8pPr algn="r">
              <a:defRPr sz="1500" b="0">
                <a:solidFill>
                  <a:srgbClr val="B5C7DE"/>
                </a:solidFill>
                <a:latin typeface="Arial"/>
                <a:ea typeface="Arial"/>
                <a:cs typeface="Arial"/>
              </a:defRPr>
            </a:lvl8pPr>
            <a:lvl9pPr algn="r">
              <a:defRPr sz="1500" b="0">
                <a:solidFill>
                  <a:srgbClr val="B5C7DE"/>
                </a:solidFill>
                <a:latin typeface="Arial"/>
                <a:ea typeface="Arial"/>
                <a:cs typeface="Arial"/>
              </a:defRPr>
            </a:lvl9pPr>
          </a:lstStyle>
          <a:p xmlns:a="http://schemas.openxmlformats.org/drawingml/2006/main">
            <a:pPr algn="r">
              <a:defRPr sz="1500" b="0">
                <a:solidFill>
                  <a:srgbClr val="B5C7DE"/>
                </a:solidFill>
                <a:latin typeface="Arial"/>
                <a:ea typeface="Arial"/>
                <a:cs typeface="Arial"/>
              </a:defRPr>
            </a:pPr>
            <a:r>
              <a:rPr sz="1500" b="0">
                <a:solidFill>
                  <a:srgbClr val="B5C7DE"/>
                </a:solidFill>
                <a:latin typeface="Arial"/>
                <a:ea typeface="Arial"/>
                <a:cs typeface="Arial"/>
              </a:rPr>
              <a:t>29</a:t>
            </a:r>
          </a:p>
        </p:txBody>
      </p:sp>
      <p:sp>
        <p:nvSpPr>
          <p:cNvPr id="4" name="298">
            <a:extLst xmlns:a="http://schemas.openxmlformats.org/drawingml/2006/main">
              <a:ext uri="{FF2B5EF4-FFF2-40B4-BE49-F238E27FC236}">
                <a16:creationId xmlns:a16="http://schemas.microsoft.com/office/drawing/2014/main" id="{8E93EAB4-7D8A-4124-98B5-544623247419}"/>
              </a:ext>
            </a:extLst>
          </p:cNvPr>
          <p:cNvSpPr>
            <a:spLocks xmlns:a="http://schemas.openxmlformats.org/drawingml/2006/main" noGrp="1"/>
          </p:cNvSpPr>
          <p:nvPr/>
        </p:nvSpPr>
        <p:spPr>
          <a:xfrm xmlns:a="http://schemas.openxmlformats.org/drawingml/2006/main">
            <a:off x="781050" y="2828925"/>
            <a:ext cx="609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25" b="1">
                <a:solidFill>
                  <a:srgbClr val="76D9C3"/>
                </a:solidFill>
                <a:latin typeface="Arial"/>
                <a:ea typeface="Arial"/>
                <a:cs typeface="Arial"/>
              </a:defRPr>
            </a:defPPr>
            <a:lvl1pPr algn="l">
              <a:defRPr sz="8625" b="1">
                <a:solidFill>
                  <a:srgbClr val="76D9C3"/>
                </a:solidFill>
                <a:latin typeface="Arial"/>
                <a:ea typeface="Arial"/>
                <a:cs typeface="Arial"/>
              </a:defRPr>
            </a:lvl1pPr>
            <a:lvl2pPr algn="l">
              <a:defRPr sz="8625" b="1">
                <a:solidFill>
                  <a:srgbClr val="76D9C3"/>
                </a:solidFill>
                <a:latin typeface="Arial"/>
                <a:ea typeface="Arial"/>
                <a:cs typeface="Arial"/>
              </a:defRPr>
            </a:lvl2pPr>
            <a:lvl3pPr algn="l">
              <a:defRPr sz="8625" b="1">
                <a:solidFill>
                  <a:srgbClr val="76D9C3"/>
                </a:solidFill>
                <a:latin typeface="Arial"/>
                <a:ea typeface="Arial"/>
                <a:cs typeface="Arial"/>
              </a:defRPr>
            </a:lvl3pPr>
            <a:lvl4pPr algn="l">
              <a:defRPr sz="8625" b="1">
                <a:solidFill>
                  <a:srgbClr val="76D9C3"/>
                </a:solidFill>
                <a:latin typeface="Arial"/>
                <a:ea typeface="Arial"/>
                <a:cs typeface="Arial"/>
              </a:defRPr>
            </a:lvl4pPr>
            <a:lvl5pPr algn="l">
              <a:defRPr sz="8625" b="1">
                <a:solidFill>
                  <a:srgbClr val="76D9C3"/>
                </a:solidFill>
                <a:latin typeface="Arial"/>
                <a:ea typeface="Arial"/>
                <a:cs typeface="Arial"/>
              </a:defRPr>
            </a:lvl5pPr>
            <a:lvl6pPr algn="l">
              <a:defRPr sz="8625" b="1">
                <a:solidFill>
                  <a:srgbClr val="76D9C3"/>
                </a:solidFill>
                <a:latin typeface="Arial"/>
                <a:ea typeface="Arial"/>
                <a:cs typeface="Arial"/>
              </a:defRPr>
            </a:lvl6pPr>
            <a:lvl7pPr algn="l">
              <a:defRPr sz="8625" b="1">
                <a:solidFill>
                  <a:srgbClr val="76D9C3"/>
                </a:solidFill>
                <a:latin typeface="Arial"/>
                <a:ea typeface="Arial"/>
                <a:cs typeface="Arial"/>
              </a:defRPr>
            </a:lvl7pPr>
            <a:lvl8pPr algn="l">
              <a:defRPr sz="8625" b="1">
                <a:solidFill>
                  <a:srgbClr val="76D9C3"/>
                </a:solidFill>
                <a:latin typeface="Arial"/>
                <a:ea typeface="Arial"/>
                <a:cs typeface="Arial"/>
              </a:defRPr>
            </a:lvl8pPr>
            <a:lvl9pPr algn="l">
              <a:defRPr sz="8625" b="1">
                <a:solidFill>
                  <a:srgbClr val="76D9C3"/>
                </a:solidFill>
                <a:latin typeface="Arial"/>
                <a:ea typeface="Arial"/>
                <a:cs typeface="Arial"/>
              </a:defRPr>
            </a:lvl9pPr>
          </a:lstStyle>
          <a:p xmlns:a="http://schemas.openxmlformats.org/drawingml/2006/main">
            <a:pPr algn="l">
              <a:defRPr sz="8625" b="1">
                <a:solidFill>
                  <a:srgbClr val="76D9C3"/>
                </a:solidFill>
                <a:latin typeface="Arial"/>
                <a:ea typeface="Arial"/>
                <a:cs typeface="Arial"/>
              </a:defRPr>
            </a:pPr>
            <a:r>
              <a:rPr sz="8625" b="1">
                <a:solidFill>
                  <a:srgbClr val="76D9C3"/>
                </a:solidFill>
                <a:latin typeface="Arial"/>
                <a:ea typeface="Arial"/>
                <a:cs typeface="Arial"/>
              </a:rPr>
              <a:t>298</a:t>
            </a:r>
          </a:p>
        </p:txBody>
      </p:sp>
      <p:sp>
        <p:nvSpPr>
          <p:cNvPr id="5" name="Python tests passed">
            <a:extLst xmlns:a="http://schemas.openxmlformats.org/drawingml/2006/main">
              <a:ext uri="{FF2B5EF4-FFF2-40B4-BE49-F238E27FC236}">
                <a16:creationId xmlns:a16="http://schemas.microsoft.com/office/drawing/2014/main" id="{0F94B881-D987-4AAA-AD77-4F1A437C32CC}"/>
              </a:ext>
            </a:extLst>
          </p:cNvPr>
          <p:cNvSpPr>
            <a:spLocks xmlns:a="http://schemas.openxmlformats.org/drawingml/2006/main" noGrp="1"/>
          </p:cNvSpPr>
          <p:nvPr/>
        </p:nvSpPr>
        <p:spPr>
          <a:xfrm xmlns:a="http://schemas.openxmlformats.org/drawingml/2006/main">
            <a:off x="828675" y="442912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FFFFFF"/>
                </a:solidFill>
                <a:latin typeface="Arial"/>
                <a:ea typeface="Arial"/>
                <a:cs typeface="Arial"/>
              </a:defRPr>
            </a:defPPr>
            <a:lvl1pPr algn="l">
              <a:defRPr sz="3000" b="0">
                <a:solidFill>
                  <a:srgbClr val="FFFFFF"/>
                </a:solidFill>
                <a:latin typeface="Arial"/>
                <a:ea typeface="Arial"/>
                <a:cs typeface="Arial"/>
              </a:defRPr>
            </a:lvl1pPr>
            <a:lvl2pPr algn="l">
              <a:defRPr sz="3000" b="0">
                <a:solidFill>
                  <a:srgbClr val="FFFFFF"/>
                </a:solidFill>
                <a:latin typeface="Arial"/>
                <a:ea typeface="Arial"/>
                <a:cs typeface="Arial"/>
              </a:defRPr>
            </a:lvl2pPr>
            <a:lvl3pPr algn="l">
              <a:defRPr sz="3000" b="0">
                <a:solidFill>
                  <a:srgbClr val="FFFFFF"/>
                </a:solidFill>
                <a:latin typeface="Arial"/>
                <a:ea typeface="Arial"/>
                <a:cs typeface="Arial"/>
              </a:defRPr>
            </a:lvl3pPr>
            <a:lvl4pPr algn="l">
              <a:defRPr sz="3000" b="0">
                <a:solidFill>
                  <a:srgbClr val="FFFFFF"/>
                </a:solidFill>
                <a:latin typeface="Arial"/>
                <a:ea typeface="Arial"/>
                <a:cs typeface="Arial"/>
              </a:defRPr>
            </a:lvl4pPr>
            <a:lvl5pPr algn="l">
              <a:defRPr sz="3000" b="0">
                <a:solidFill>
                  <a:srgbClr val="FFFFFF"/>
                </a:solidFill>
                <a:latin typeface="Arial"/>
                <a:ea typeface="Arial"/>
                <a:cs typeface="Arial"/>
              </a:defRPr>
            </a:lvl5pPr>
            <a:lvl6pPr algn="l">
              <a:defRPr sz="3000" b="0">
                <a:solidFill>
                  <a:srgbClr val="FFFFFF"/>
                </a:solidFill>
                <a:latin typeface="Arial"/>
                <a:ea typeface="Arial"/>
                <a:cs typeface="Arial"/>
              </a:defRPr>
            </a:lvl6pPr>
            <a:lvl7pPr algn="l">
              <a:defRPr sz="3000" b="0">
                <a:solidFill>
                  <a:srgbClr val="FFFFFF"/>
                </a:solidFill>
                <a:latin typeface="Arial"/>
                <a:ea typeface="Arial"/>
                <a:cs typeface="Arial"/>
              </a:defRPr>
            </a:lvl7pPr>
            <a:lvl8pPr algn="l">
              <a:defRPr sz="3000" b="0">
                <a:solidFill>
                  <a:srgbClr val="FFFFFF"/>
                </a:solidFill>
                <a:latin typeface="Arial"/>
                <a:ea typeface="Arial"/>
                <a:cs typeface="Arial"/>
              </a:defRPr>
            </a:lvl8pPr>
            <a:lvl9pPr algn="l">
              <a:defRPr sz="3000" b="0">
                <a:solidFill>
                  <a:srgbClr val="FFFFFF"/>
                </a:solidFill>
                <a:latin typeface="Arial"/>
                <a:ea typeface="Arial"/>
                <a:cs typeface="Arial"/>
              </a:defRPr>
            </a:lvl9pPr>
          </a:lstStyle>
          <a:p xmlns:a="http://schemas.openxmlformats.org/drawingml/2006/main">
            <a:pPr algn="l">
              <a:defRPr sz="3000" b="0">
                <a:solidFill>
                  <a:srgbClr val="FFFFFF"/>
                </a:solidFill>
                <a:latin typeface="Arial"/>
                <a:ea typeface="Arial"/>
                <a:cs typeface="Arial"/>
              </a:defRPr>
            </a:pPr>
            <a:r>
              <a:rPr sz="3000" b="0">
                <a:solidFill>
                  <a:srgbClr val="FFFFFF"/>
                </a:solidFill>
                <a:latin typeface="Arial"/>
                <a:ea typeface="Arial"/>
                <a:cs typeface="Arial"/>
              </a:rPr>
              <a:t>Python tests passed</a:t>
            </a:r>
          </a:p>
        </p:txBody>
      </p:sp>
      <p:sp>
        <p:nvSpPr>
          <p:cNvPr id="6" name="57">
            <a:extLst xmlns:a="http://schemas.openxmlformats.org/drawingml/2006/main">
              <a:ext uri="{FF2B5EF4-FFF2-40B4-BE49-F238E27FC236}">
                <a16:creationId xmlns:a16="http://schemas.microsoft.com/office/drawing/2014/main" id="{6967159D-ECDC-431A-B3C1-A5166E89DC0F}"/>
              </a:ext>
            </a:extLst>
          </p:cNvPr>
          <p:cNvSpPr>
            <a:spLocks xmlns:a="http://schemas.openxmlformats.org/drawingml/2006/main" noGrp="1"/>
          </p:cNvSpPr>
          <p:nvPr/>
        </p:nvSpPr>
        <p:spPr>
          <a:xfrm xmlns:a="http://schemas.openxmlformats.org/drawingml/2006/main">
            <a:off x="8763000" y="2828925"/>
            <a:ext cx="571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25" b="1">
                <a:solidFill>
                  <a:srgbClr val="76D9C3"/>
                </a:solidFill>
                <a:latin typeface="Arial"/>
                <a:ea typeface="Arial"/>
                <a:cs typeface="Arial"/>
              </a:defRPr>
            </a:defPPr>
            <a:lvl1pPr algn="l">
              <a:defRPr sz="8625" b="1">
                <a:solidFill>
                  <a:srgbClr val="76D9C3"/>
                </a:solidFill>
                <a:latin typeface="Arial"/>
                <a:ea typeface="Arial"/>
                <a:cs typeface="Arial"/>
              </a:defRPr>
            </a:lvl1pPr>
            <a:lvl2pPr algn="l">
              <a:defRPr sz="8625" b="1">
                <a:solidFill>
                  <a:srgbClr val="76D9C3"/>
                </a:solidFill>
                <a:latin typeface="Arial"/>
                <a:ea typeface="Arial"/>
                <a:cs typeface="Arial"/>
              </a:defRPr>
            </a:lvl2pPr>
            <a:lvl3pPr algn="l">
              <a:defRPr sz="8625" b="1">
                <a:solidFill>
                  <a:srgbClr val="76D9C3"/>
                </a:solidFill>
                <a:latin typeface="Arial"/>
                <a:ea typeface="Arial"/>
                <a:cs typeface="Arial"/>
              </a:defRPr>
            </a:lvl3pPr>
            <a:lvl4pPr algn="l">
              <a:defRPr sz="8625" b="1">
                <a:solidFill>
                  <a:srgbClr val="76D9C3"/>
                </a:solidFill>
                <a:latin typeface="Arial"/>
                <a:ea typeface="Arial"/>
                <a:cs typeface="Arial"/>
              </a:defRPr>
            </a:lvl4pPr>
            <a:lvl5pPr algn="l">
              <a:defRPr sz="8625" b="1">
                <a:solidFill>
                  <a:srgbClr val="76D9C3"/>
                </a:solidFill>
                <a:latin typeface="Arial"/>
                <a:ea typeface="Arial"/>
                <a:cs typeface="Arial"/>
              </a:defRPr>
            </a:lvl5pPr>
            <a:lvl6pPr algn="l">
              <a:defRPr sz="8625" b="1">
                <a:solidFill>
                  <a:srgbClr val="76D9C3"/>
                </a:solidFill>
                <a:latin typeface="Arial"/>
                <a:ea typeface="Arial"/>
                <a:cs typeface="Arial"/>
              </a:defRPr>
            </a:lvl6pPr>
            <a:lvl7pPr algn="l">
              <a:defRPr sz="8625" b="1">
                <a:solidFill>
                  <a:srgbClr val="76D9C3"/>
                </a:solidFill>
                <a:latin typeface="Arial"/>
                <a:ea typeface="Arial"/>
                <a:cs typeface="Arial"/>
              </a:defRPr>
            </a:lvl7pPr>
            <a:lvl8pPr algn="l">
              <a:defRPr sz="8625" b="1">
                <a:solidFill>
                  <a:srgbClr val="76D9C3"/>
                </a:solidFill>
                <a:latin typeface="Arial"/>
                <a:ea typeface="Arial"/>
                <a:cs typeface="Arial"/>
              </a:defRPr>
            </a:lvl8pPr>
            <a:lvl9pPr algn="l">
              <a:defRPr sz="8625" b="1">
                <a:solidFill>
                  <a:srgbClr val="76D9C3"/>
                </a:solidFill>
                <a:latin typeface="Arial"/>
                <a:ea typeface="Arial"/>
                <a:cs typeface="Arial"/>
              </a:defRPr>
            </a:lvl9pPr>
          </a:lstStyle>
          <a:p xmlns:a="http://schemas.openxmlformats.org/drawingml/2006/main">
            <a:pPr algn="l">
              <a:defRPr sz="8625" b="1">
                <a:solidFill>
                  <a:srgbClr val="76D9C3"/>
                </a:solidFill>
                <a:latin typeface="Arial"/>
                <a:ea typeface="Arial"/>
                <a:cs typeface="Arial"/>
              </a:defRPr>
            </a:pPr>
            <a:r>
              <a:rPr sz="8625" b="1">
                <a:solidFill>
                  <a:srgbClr val="76D9C3"/>
                </a:solidFill>
                <a:latin typeface="Arial"/>
                <a:ea typeface="Arial"/>
                <a:cs typeface="Arial"/>
              </a:rPr>
              <a:t>57</a:t>
            </a:r>
          </a:p>
        </p:txBody>
      </p:sp>
      <p:sp>
        <p:nvSpPr>
          <p:cNvPr id="7" name="Frontend tests passed">
            <a:extLst xmlns:a="http://schemas.openxmlformats.org/drawingml/2006/main">
              <a:ext uri="{FF2B5EF4-FFF2-40B4-BE49-F238E27FC236}">
                <a16:creationId xmlns:a16="http://schemas.microsoft.com/office/drawing/2014/main" id="{CF4276E1-B2B9-46F8-9C4C-FA771F4F98E1}"/>
              </a:ext>
            </a:extLst>
          </p:cNvPr>
          <p:cNvSpPr>
            <a:spLocks xmlns:a="http://schemas.openxmlformats.org/drawingml/2006/main" noGrp="1"/>
          </p:cNvSpPr>
          <p:nvPr/>
        </p:nvSpPr>
        <p:spPr>
          <a:xfrm xmlns:a="http://schemas.openxmlformats.org/drawingml/2006/main">
            <a:off x="8810625" y="44291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FFFFFF"/>
                </a:solidFill>
                <a:latin typeface="Arial"/>
                <a:ea typeface="Arial"/>
                <a:cs typeface="Arial"/>
              </a:defRPr>
            </a:defPPr>
            <a:lvl1pPr algn="l">
              <a:defRPr sz="3000" b="0">
                <a:solidFill>
                  <a:srgbClr val="FFFFFF"/>
                </a:solidFill>
                <a:latin typeface="Arial"/>
                <a:ea typeface="Arial"/>
                <a:cs typeface="Arial"/>
              </a:defRPr>
            </a:lvl1pPr>
            <a:lvl2pPr algn="l">
              <a:defRPr sz="3000" b="0">
                <a:solidFill>
                  <a:srgbClr val="FFFFFF"/>
                </a:solidFill>
                <a:latin typeface="Arial"/>
                <a:ea typeface="Arial"/>
                <a:cs typeface="Arial"/>
              </a:defRPr>
            </a:lvl2pPr>
            <a:lvl3pPr algn="l">
              <a:defRPr sz="3000" b="0">
                <a:solidFill>
                  <a:srgbClr val="FFFFFF"/>
                </a:solidFill>
                <a:latin typeface="Arial"/>
                <a:ea typeface="Arial"/>
                <a:cs typeface="Arial"/>
              </a:defRPr>
            </a:lvl3pPr>
            <a:lvl4pPr algn="l">
              <a:defRPr sz="3000" b="0">
                <a:solidFill>
                  <a:srgbClr val="FFFFFF"/>
                </a:solidFill>
                <a:latin typeface="Arial"/>
                <a:ea typeface="Arial"/>
                <a:cs typeface="Arial"/>
              </a:defRPr>
            </a:lvl4pPr>
            <a:lvl5pPr algn="l">
              <a:defRPr sz="3000" b="0">
                <a:solidFill>
                  <a:srgbClr val="FFFFFF"/>
                </a:solidFill>
                <a:latin typeface="Arial"/>
                <a:ea typeface="Arial"/>
                <a:cs typeface="Arial"/>
              </a:defRPr>
            </a:lvl5pPr>
            <a:lvl6pPr algn="l">
              <a:defRPr sz="3000" b="0">
                <a:solidFill>
                  <a:srgbClr val="FFFFFF"/>
                </a:solidFill>
                <a:latin typeface="Arial"/>
                <a:ea typeface="Arial"/>
                <a:cs typeface="Arial"/>
              </a:defRPr>
            </a:lvl6pPr>
            <a:lvl7pPr algn="l">
              <a:defRPr sz="3000" b="0">
                <a:solidFill>
                  <a:srgbClr val="FFFFFF"/>
                </a:solidFill>
                <a:latin typeface="Arial"/>
                <a:ea typeface="Arial"/>
                <a:cs typeface="Arial"/>
              </a:defRPr>
            </a:lvl7pPr>
            <a:lvl8pPr algn="l">
              <a:defRPr sz="3000" b="0">
                <a:solidFill>
                  <a:srgbClr val="FFFFFF"/>
                </a:solidFill>
                <a:latin typeface="Arial"/>
                <a:ea typeface="Arial"/>
                <a:cs typeface="Arial"/>
              </a:defRPr>
            </a:lvl8pPr>
            <a:lvl9pPr algn="l">
              <a:defRPr sz="3000" b="0">
                <a:solidFill>
                  <a:srgbClr val="FFFFFF"/>
                </a:solidFill>
                <a:latin typeface="Arial"/>
                <a:ea typeface="Arial"/>
                <a:cs typeface="Arial"/>
              </a:defRPr>
            </a:lvl9pPr>
          </a:lstStyle>
          <a:p xmlns:a="http://schemas.openxmlformats.org/drawingml/2006/main">
            <a:pPr algn="l">
              <a:defRPr sz="3000" b="0">
                <a:solidFill>
                  <a:srgbClr val="FFFFFF"/>
                </a:solidFill>
                <a:latin typeface="Arial"/>
                <a:ea typeface="Arial"/>
                <a:cs typeface="Arial"/>
              </a:defRPr>
            </a:pPr>
            <a:r>
              <a:rPr sz="3000" b="0">
                <a:solidFill>
                  <a:srgbClr val="FFFFFF"/>
                </a:solidFill>
                <a:latin typeface="Arial"/>
                <a:ea typeface="Arial"/>
                <a:cs typeface="Arial"/>
              </a:rPr>
              <a:t>Frontend tests passed</a:t>
            </a:r>
          </a:p>
        </p:txBody>
      </p:sp>
      <p:sp>
        <p:nvSpPr>
          <p:cNvPr id="8" name="Compiler stages, HTTP workers, artifact validation,&#10;opt">
            <a:extLst xmlns:a="http://schemas.openxmlformats.org/drawingml/2006/main">
              <a:ext uri="{FF2B5EF4-FFF2-40B4-BE49-F238E27FC236}">
                <a16:creationId xmlns:a16="http://schemas.microsoft.com/office/drawing/2014/main" id="{136A12D5-5660-4844-AF10-D0661D4D9C02}"/>
              </a:ext>
            </a:extLst>
          </p:cNvPr>
          <p:cNvSpPr>
            <a:spLocks xmlns:a="http://schemas.openxmlformats.org/drawingml/2006/main" noGrp="1"/>
          </p:cNvSpPr>
          <p:nvPr/>
        </p:nvSpPr>
        <p:spPr>
          <a:xfrm xmlns:a="http://schemas.openxmlformats.org/drawingml/2006/main">
            <a:off x="828675" y="6000750"/>
            <a:ext cx="13335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5C7DE"/>
                </a:solidFill>
                <a:latin typeface="Arial"/>
                <a:ea typeface="Arial"/>
                <a:cs typeface="Arial"/>
              </a:defRPr>
            </a:defPPr>
            <a:lvl1pPr algn="l">
              <a:defRPr sz="2700" b="0">
                <a:solidFill>
                  <a:srgbClr val="B5C7DE"/>
                </a:solidFill>
                <a:latin typeface="Arial"/>
                <a:ea typeface="Arial"/>
                <a:cs typeface="Arial"/>
              </a:defRPr>
            </a:lvl1pPr>
            <a:lvl2pPr algn="l">
              <a:defRPr sz="2700" b="0">
                <a:solidFill>
                  <a:srgbClr val="B5C7DE"/>
                </a:solidFill>
                <a:latin typeface="Arial"/>
                <a:ea typeface="Arial"/>
                <a:cs typeface="Arial"/>
              </a:defRPr>
            </a:lvl2pPr>
            <a:lvl3pPr algn="l">
              <a:defRPr sz="2700" b="0">
                <a:solidFill>
                  <a:srgbClr val="B5C7DE"/>
                </a:solidFill>
                <a:latin typeface="Arial"/>
                <a:ea typeface="Arial"/>
                <a:cs typeface="Arial"/>
              </a:defRPr>
            </a:lvl3pPr>
            <a:lvl4pPr algn="l">
              <a:defRPr sz="2700" b="0">
                <a:solidFill>
                  <a:srgbClr val="B5C7DE"/>
                </a:solidFill>
                <a:latin typeface="Arial"/>
                <a:ea typeface="Arial"/>
                <a:cs typeface="Arial"/>
              </a:defRPr>
            </a:lvl4pPr>
            <a:lvl5pPr algn="l">
              <a:defRPr sz="2700" b="0">
                <a:solidFill>
                  <a:srgbClr val="B5C7DE"/>
                </a:solidFill>
                <a:latin typeface="Arial"/>
                <a:ea typeface="Arial"/>
                <a:cs typeface="Arial"/>
              </a:defRPr>
            </a:lvl5pPr>
            <a:lvl6pPr algn="l">
              <a:defRPr sz="2700" b="0">
                <a:solidFill>
                  <a:srgbClr val="B5C7DE"/>
                </a:solidFill>
                <a:latin typeface="Arial"/>
                <a:ea typeface="Arial"/>
                <a:cs typeface="Arial"/>
              </a:defRPr>
            </a:lvl6pPr>
            <a:lvl7pPr algn="l">
              <a:defRPr sz="2700" b="0">
                <a:solidFill>
                  <a:srgbClr val="B5C7DE"/>
                </a:solidFill>
                <a:latin typeface="Arial"/>
                <a:ea typeface="Arial"/>
                <a:cs typeface="Arial"/>
              </a:defRPr>
            </a:lvl7pPr>
            <a:lvl8pPr algn="l">
              <a:defRPr sz="2700" b="0">
                <a:solidFill>
                  <a:srgbClr val="B5C7DE"/>
                </a:solidFill>
                <a:latin typeface="Arial"/>
                <a:ea typeface="Arial"/>
                <a:cs typeface="Arial"/>
              </a:defRPr>
            </a:lvl8pPr>
            <a:lvl9pPr algn="l">
              <a:defRPr sz="2700" b="0">
                <a:solidFill>
                  <a:srgbClr val="B5C7DE"/>
                </a:solidFill>
                <a:latin typeface="Arial"/>
                <a:ea typeface="Arial"/>
                <a:cs typeface="Arial"/>
              </a:defRPr>
            </a:lvl9pPr>
          </a:lstStyle>
          <a:p xmlns:a="http://schemas.openxmlformats.org/drawingml/2006/main">
            <a:pPr algn="l">
              <a:defRPr sz="2700" b="0">
                <a:solidFill>
                  <a:srgbClr val="B5C7DE"/>
                </a:solidFill>
                <a:latin typeface="Arial"/>
                <a:ea typeface="Arial"/>
                <a:cs typeface="Arial"/>
              </a:defRPr>
            </a:pPr>
            <a:r>
              <a:rPr sz="2700" b="0">
                <a:solidFill>
                  <a:srgbClr val="B5C7DE"/>
                </a:solidFill>
                <a:latin typeface="Arial"/>
                <a:ea typeface="Arial"/>
                <a:cs typeface="Arial"/>
              </a:rPr>
              <a:t>Compiler stages, HTTP workers, artifact validation,</a:t>
            </a:r>
          </a:p>
          <a:p xmlns:a="http://schemas.openxmlformats.org/drawingml/2006/main">
            <a:pPr algn="l">
              <a:defRPr sz="2700" b="0">
                <a:solidFill>
                  <a:srgbClr val="B5C7DE"/>
                </a:solidFill>
                <a:latin typeface="Arial"/>
                <a:ea typeface="Arial"/>
                <a:cs typeface="Arial"/>
              </a:defRPr>
            </a:pPr>
            <a:r>
              <a:rPr sz="2700" b="0">
                <a:solidFill>
                  <a:srgbClr val="B5C7DE"/>
                </a:solidFill>
                <a:latin typeface="Arial"/>
                <a:ea typeface="Arial"/>
                <a:cs typeface="Arial"/>
              </a:rPr>
              <a:t>optimization equivalence and editor interactions</a:t>
            </a:r>
          </a:p>
        </p:txBody>
      </p:sp>
      <p:sp>
        <p:nvSpPr>
          <p:cNvPr id="9" name="Tests include negative cases and source-independent byt">
            <a:extLst xmlns:a="http://schemas.openxmlformats.org/drawingml/2006/main">
              <a:ext uri="{FF2B5EF4-FFF2-40B4-BE49-F238E27FC236}">
                <a16:creationId xmlns:a16="http://schemas.microsoft.com/office/drawing/2014/main" id="{C56D3E97-5179-4C62-A7EA-1F3AC370E6FD}"/>
              </a:ext>
            </a:extLst>
          </p:cNvPr>
          <p:cNvSpPr>
            <a:spLocks xmlns:a="http://schemas.openxmlformats.org/drawingml/2006/main" noGrp="1"/>
          </p:cNvSpPr>
          <p:nvPr/>
        </p:nvSpPr>
        <p:spPr>
          <a:xfrm xmlns:a="http://schemas.openxmlformats.org/drawingml/2006/main">
            <a:off x="781050" y="754380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B5C7DE"/>
                </a:solidFill>
                <a:latin typeface="Arial"/>
                <a:ea typeface="Arial"/>
                <a:cs typeface="Arial"/>
              </a:defRPr>
            </a:defPPr>
            <a:lvl1pPr algn="l">
              <a:defRPr sz="2025" b="0">
                <a:solidFill>
                  <a:srgbClr val="B5C7DE"/>
                </a:solidFill>
                <a:latin typeface="Arial"/>
                <a:ea typeface="Arial"/>
                <a:cs typeface="Arial"/>
              </a:defRPr>
            </a:lvl1pPr>
            <a:lvl2pPr algn="l">
              <a:defRPr sz="2025" b="0">
                <a:solidFill>
                  <a:srgbClr val="B5C7DE"/>
                </a:solidFill>
                <a:latin typeface="Arial"/>
                <a:ea typeface="Arial"/>
                <a:cs typeface="Arial"/>
              </a:defRPr>
            </a:lvl2pPr>
            <a:lvl3pPr algn="l">
              <a:defRPr sz="2025" b="0">
                <a:solidFill>
                  <a:srgbClr val="B5C7DE"/>
                </a:solidFill>
                <a:latin typeface="Arial"/>
                <a:ea typeface="Arial"/>
                <a:cs typeface="Arial"/>
              </a:defRPr>
            </a:lvl3pPr>
            <a:lvl4pPr algn="l">
              <a:defRPr sz="2025" b="0">
                <a:solidFill>
                  <a:srgbClr val="B5C7DE"/>
                </a:solidFill>
                <a:latin typeface="Arial"/>
                <a:ea typeface="Arial"/>
                <a:cs typeface="Arial"/>
              </a:defRPr>
            </a:lvl4pPr>
            <a:lvl5pPr algn="l">
              <a:defRPr sz="2025" b="0">
                <a:solidFill>
                  <a:srgbClr val="B5C7DE"/>
                </a:solidFill>
                <a:latin typeface="Arial"/>
                <a:ea typeface="Arial"/>
                <a:cs typeface="Arial"/>
              </a:defRPr>
            </a:lvl5pPr>
            <a:lvl6pPr algn="l">
              <a:defRPr sz="2025" b="0">
                <a:solidFill>
                  <a:srgbClr val="B5C7DE"/>
                </a:solidFill>
                <a:latin typeface="Arial"/>
                <a:ea typeface="Arial"/>
                <a:cs typeface="Arial"/>
              </a:defRPr>
            </a:lvl6pPr>
            <a:lvl7pPr algn="l">
              <a:defRPr sz="2025" b="0">
                <a:solidFill>
                  <a:srgbClr val="B5C7DE"/>
                </a:solidFill>
                <a:latin typeface="Arial"/>
                <a:ea typeface="Arial"/>
                <a:cs typeface="Arial"/>
              </a:defRPr>
            </a:lvl7pPr>
            <a:lvl8pPr algn="l">
              <a:defRPr sz="2025" b="0">
                <a:solidFill>
                  <a:srgbClr val="B5C7DE"/>
                </a:solidFill>
                <a:latin typeface="Arial"/>
                <a:ea typeface="Arial"/>
                <a:cs typeface="Arial"/>
              </a:defRPr>
            </a:lvl8pPr>
            <a:lvl9pPr algn="l">
              <a:defRPr sz="2025" b="0">
                <a:solidFill>
                  <a:srgbClr val="B5C7DE"/>
                </a:solidFill>
                <a:latin typeface="Arial"/>
                <a:ea typeface="Arial"/>
                <a:cs typeface="Arial"/>
              </a:defRPr>
            </a:lvl9pPr>
          </a:lstStyle>
          <a:p xmlns:a="http://schemas.openxmlformats.org/drawingml/2006/main">
            <a:pPr algn="l">
              <a:defRPr sz="2025" b="0">
                <a:solidFill>
                  <a:srgbClr val="B5C7DE"/>
                </a:solidFill>
                <a:latin typeface="Arial"/>
                <a:ea typeface="Arial"/>
                <a:cs typeface="Arial"/>
              </a:defRPr>
            </a:pPr>
            <a:r>
              <a:rPr sz="2025" b="0">
                <a:solidFill>
                  <a:srgbClr val="B5C7DE"/>
                </a:solidFill>
                <a:latin typeface="Arial"/>
                <a:ea typeface="Arial"/>
                <a:cs typeface="Arial"/>
              </a:rPr>
              <a:t>Tests include negative cases and source-independent bytecode execution.</a:t>
            </a:r>
          </a:p>
        </p:txBody>
      </p:sp>
    </p:spTree>
    <p:extLst>
      <p:ext uri="{BB962C8B-B14F-4D97-AF65-F5344CB8AC3E}">
        <p14:creationId xmlns:p14="http://schemas.microsoft.com/office/powerpoint/2010/main" val="2039396073"/>
      </p:ext>
    </p:extLst>
  </p:cSld>
</p:sld>
</file>

<file path=ppt/slides/slide3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Live demonstration sequence">
            <a:extLst xmlns:a="http://schemas.openxmlformats.org/drawingml/2006/main">
              <a:ext uri="{FF2B5EF4-FFF2-40B4-BE49-F238E27FC236}">
                <a16:creationId xmlns:a16="http://schemas.microsoft.com/office/drawing/2014/main" id="{D8646E64-9506-4513-9915-84FC603B285F}"/>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Live demonstration sequence</a:t>
            </a:r>
          </a:p>
        </p:txBody>
      </p:sp>
      <p:sp>
        <p:nvSpPr>
          <p:cNvPr id="2" name="A short sequence makes each implementation claim observ">
            <a:extLst xmlns:a="http://schemas.openxmlformats.org/drawingml/2006/main">
              <a:ext uri="{FF2B5EF4-FFF2-40B4-BE49-F238E27FC236}">
                <a16:creationId xmlns:a16="http://schemas.microsoft.com/office/drawing/2014/main" id="{0132A24A-0B7B-44D2-AEE9-9B0447B2430F}"/>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A short sequence makes each implementation claim observable</a:t>
            </a:r>
          </a:p>
        </p:txBody>
      </p:sp>
      <p:sp>
        <p:nvSpPr>
          <p:cNvPr id="3" name="30">
            <a:extLst xmlns:a="http://schemas.openxmlformats.org/drawingml/2006/main">
              <a:ext uri="{FF2B5EF4-FFF2-40B4-BE49-F238E27FC236}">
                <a16:creationId xmlns:a16="http://schemas.microsoft.com/office/drawing/2014/main" id="{AF7A70CE-BC75-47EE-A636-0FE96E8591CE}"/>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30</a:t>
            </a:r>
          </a:p>
        </p:txBody>
      </p:sp>
      <p:graphicFrame>
        <p:nvGraphicFramePr>
          <p:cNvPr id="4" name="">
            <a:extLst xmlns:a="http://schemas.openxmlformats.org/drawingml/2006/main">
              <a:ext uri="{FF2B5EF4-FFF2-40B4-BE49-F238E27FC236}">
                <a16:creationId xmlns:a16="http://schemas.microsoft.com/office/drawing/2014/main" id="{B2BC2E51-9524-42AD-9EFE-6A5E05B4679B}"/>
              </a:ext>
            </a:extLst>
          </p:cNvPr>
          <p:cNvGraphicFramePr/>
          <p:nvPr/>
        </p:nvGraphicFramePr>
        <p:xfrm>
          <a:off xmlns:a="http://schemas.openxmlformats.org/drawingml/2006/main" x="781050" y="2647950"/>
          <a:ext xmlns:a="http://schemas.openxmlformats.org/drawingml/2006/main" cx="13620750" cy="4143375"/>
        </p:xfrm>
        <a:graphic xmlns:a="http://schemas.openxmlformats.org/drawingml/2006/main">
          <a:graphicData uri="http://schemas.openxmlformats.org/drawingml/2006/table">
            <a:tbl>
              <a:tblPr/>
              <a:tblGrid>
                <a:gridCol w="4095750"/>
                <a:gridCol w="5905500"/>
                <a:gridCol w="3619500"/>
              </a:tblGrid>
              <a:tr h="690563">
                <a:tc>
                  <a:txBody>
                    <a:bodyPr lIns="142875" tIns="142875" rIns="142875" bIns="142875"/>
                    <a:lstStyle/>
                    <a:p>
                      <a:r>
                        <a:rPr sz="2175" b="1">
                          <a:solidFill>
                            <a:srgbClr val="17273C"/>
                          </a:solidFill>
                          <a:latin typeface="Arial"/>
                          <a:ea typeface="Arial"/>
                          <a:cs typeface="Arial"/>
                        </a:rPr>
                        <a:t>Demonstration</a:t>
                      </a:r>
                    </a:p>
                  </a:txBody>
                  <a:tcPr marL="91440" marR="91440" marT="45720" marB="45720" anchor="ctr">
                    <a:lnL w="7620">
                      <a:solidFill>
                        <a:srgbClr val="CDD3D9"/>
                      </a:solidFill>
                      <a:prstDash val="solid"/>
                    </a:lnL>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175" b="1">
                          <a:solidFill>
                            <a:srgbClr val="17273C"/>
                          </a:solidFill>
                          <a:latin typeface="Arial"/>
                          <a:ea typeface="Arial"/>
                          <a:cs typeface="Arial"/>
                        </a:rPr>
                        <a:t>What to inspect</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175" b="1">
                          <a:solidFill>
                            <a:srgbClr val="17273C"/>
                          </a:solidFill>
                          <a:latin typeface="Arial"/>
                          <a:ea typeface="Arial"/>
                          <a:cs typeface="Arial"/>
                        </a:rPr>
                        <a:t>Expected result</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r>
              <a:tr h="690563">
                <a:tc>
                  <a:txBody>
                    <a:bodyPr lIns="142875" tIns="142875" rIns="142875" bIns="142875"/>
                    <a:lstStyle/>
                    <a:p>
                      <a:r>
                        <a:rPr sz="2175" b="0">
                          <a:solidFill>
                            <a:srgbClr val="17273C"/>
                          </a:solidFill>
                          <a:latin typeface="Arial"/>
                          <a:ea typeface="Arial"/>
                          <a:cs typeface="Arial"/>
                        </a:rPr>
                        <a:t>p1_mixed.poly</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Syntax map, symbols and output</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Five output lines</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90563">
                <a:tc>
                  <a:txBody>
                    <a:bodyPr lIns="142875" tIns="142875" rIns="142875" bIns="142875"/>
                    <a:lstStyle/>
                    <a:p>
                      <a:r>
                        <a:rPr sz="2175" b="0">
                          <a:solidFill>
                            <a:srgbClr val="17273C"/>
                          </a:solidFill>
                          <a:latin typeface="Arial"/>
                          <a:ea typeface="Arial"/>
                          <a:cs typeface="Arial"/>
                        </a:rPr>
                        <a:t>mixed_nesting.poly</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Nested AST and control flow</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22</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90563">
                <a:tc>
                  <a:txBody>
                    <a:bodyPr lIns="142875" tIns="142875" rIns="142875" bIns="142875"/>
                    <a:lstStyle/>
                    <a:p>
                      <a:r>
                        <a:rPr sz="2175" b="0">
                          <a:solidFill>
                            <a:srgbClr val="17273C"/>
                          </a:solidFill>
                          <a:latin typeface="Arial"/>
                          <a:ea typeface="Arial"/>
                          <a:cs typeface="Arial"/>
                        </a:rPr>
                        <a:t>print((2 + 3) * 4)</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Original IR and generated bytecode</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20, optimized run: 5 steps</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90563">
                <a:tc>
                  <a:txBody>
                    <a:bodyPr lIns="142875" tIns="142875" rIns="142875" bIns="142875"/>
                    <a:lstStyle/>
                    <a:p>
                      <a:r>
                        <a:rPr sz="2175" b="0">
                          <a:solidFill>
                            <a:srgbClr val="17273C"/>
                          </a:solidFill>
                          <a:latin typeface="Arial"/>
                          <a:ea typeface="Arial"/>
                          <a:cs typeface="Arial"/>
                        </a:rPr>
                        <a:t>error_type.poly</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Diagnostic and blocked phases</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S004 on line 2</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90563">
                <a:tc>
                  <a:txBody>
                    <a:bodyPr lIns="142875" tIns="142875" rIns="142875" bIns="142875"/>
                    <a:lstStyle/>
                    <a:p>
                      <a:r>
                        <a:rPr sz="2175" b="0">
                          <a:solidFill>
                            <a:srgbClr val="17273C"/>
                          </a:solidFill>
                          <a:latin typeface="Arial"/>
                          <a:ea typeface="Arial"/>
                          <a:cs typeface="Arial"/>
                        </a:rPr>
                        <a:t>Build, then execute .pbc</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Bytecode artifact without source</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Original output repeats</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bl>
          </a:graphicData>
        </a:graphic>
      </p:graphicFrame>
      <p:sp>
        <p:nvSpPr>
          <p:cNvPr id="5" name="The appendix contains launch commands and suggested pre">
            <a:extLst xmlns:a="http://schemas.openxmlformats.org/drawingml/2006/main">
              <a:ext uri="{FF2B5EF4-FFF2-40B4-BE49-F238E27FC236}">
                <a16:creationId xmlns:a16="http://schemas.microsoft.com/office/drawing/2014/main" id="{92D9005C-6EAF-4E32-8E72-5EA3C0F29C1D}"/>
              </a:ext>
            </a:extLst>
          </p:cNvPr>
          <p:cNvSpPr>
            <a:spLocks xmlns:a="http://schemas.openxmlformats.org/drawingml/2006/main" noGrp="1"/>
          </p:cNvSpPr>
          <p:nvPr/>
        </p:nvSpPr>
        <p:spPr>
          <a:xfrm xmlns:a="http://schemas.openxmlformats.org/drawingml/2006/main">
            <a:off x="781050" y="7381875"/>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7"/>
                </a:solidFill>
                <a:latin typeface="Arial"/>
                <a:ea typeface="Arial"/>
                <a:cs typeface="Arial"/>
              </a:defRPr>
            </a:defPPr>
            <a:lvl1pPr algn="l">
              <a:defRPr sz="2025" b="0">
                <a:solidFill>
                  <a:srgbClr val="596577"/>
                </a:solidFill>
                <a:latin typeface="Arial"/>
                <a:ea typeface="Arial"/>
                <a:cs typeface="Arial"/>
              </a:defRPr>
            </a:lvl1pPr>
            <a:lvl2pPr algn="l">
              <a:defRPr sz="2025" b="0">
                <a:solidFill>
                  <a:srgbClr val="596577"/>
                </a:solidFill>
                <a:latin typeface="Arial"/>
                <a:ea typeface="Arial"/>
                <a:cs typeface="Arial"/>
              </a:defRPr>
            </a:lvl2pPr>
            <a:lvl3pPr algn="l">
              <a:defRPr sz="2025" b="0">
                <a:solidFill>
                  <a:srgbClr val="596577"/>
                </a:solidFill>
                <a:latin typeface="Arial"/>
                <a:ea typeface="Arial"/>
                <a:cs typeface="Arial"/>
              </a:defRPr>
            </a:lvl3pPr>
            <a:lvl4pPr algn="l">
              <a:defRPr sz="2025" b="0">
                <a:solidFill>
                  <a:srgbClr val="596577"/>
                </a:solidFill>
                <a:latin typeface="Arial"/>
                <a:ea typeface="Arial"/>
                <a:cs typeface="Arial"/>
              </a:defRPr>
            </a:lvl4pPr>
            <a:lvl5pPr algn="l">
              <a:defRPr sz="2025" b="0">
                <a:solidFill>
                  <a:srgbClr val="596577"/>
                </a:solidFill>
                <a:latin typeface="Arial"/>
                <a:ea typeface="Arial"/>
                <a:cs typeface="Arial"/>
              </a:defRPr>
            </a:lvl5pPr>
            <a:lvl6pPr algn="l">
              <a:defRPr sz="2025" b="0">
                <a:solidFill>
                  <a:srgbClr val="596577"/>
                </a:solidFill>
                <a:latin typeface="Arial"/>
                <a:ea typeface="Arial"/>
                <a:cs typeface="Arial"/>
              </a:defRPr>
            </a:lvl6pPr>
            <a:lvl7pPr algn="l">
              <a:defRPr sz="2025" b="0">
                <a:solidFill>
                  <a:srgbClr val="596577"/>
                </a:solidFill>
                <a:latin typeface="Arial"/>
                <a:ea typeface="Arial"/>
                <a:cs typeface="Arial"/>
              </a:defRPr>
            </a:lvl7pPr>
            <a:lvl8pPr algn="l">
              <a:defRPr sz="2025" b="0">
                <a:solidFill>
                  <a:srgbClr val="596577"/>
                </a:solidFill>
                <a:latin typeface="Arial"/>
                <a:ea typeface="Arial"/>
                <a:cs typeface="Arial"/>
              </a:defRPr>
            </a:lvl8pPr>
            <a:lvl9pPr algn="l">
              <a:defRPr sz="2025" b="0">
                <a:solidFill>
                  <a:srgbClr val="596577"/>
                </a:solidFill>
                <a:latin typeface="Arial"/>
                <a:ea typeface="Arial"/>
                <a:cs typeface="Arial"/>
              </a:defRPr>
            </a:lvl9pPr>
          </a:lstStyle>
          <a:p xmlns:a="http://schemas.openxmlformats.org/drawingml/2006/main">
            <a:pPr algn="l">
              <a:defRPr sz="2025" b="0">
                <a:solidFill>
                  <a:srgbClr val="596577"/>
                </a:solidFill>
                <a:latin typeface="Arial"/>
                <a:ea typeface="Arial"/>
                <a:cs typeface="Arial"/>
              </a:defRPr>
            </a:pPr>
            <a:r>
              <a:rPr sz="2025" b="0">
                <a:solidFill>
                  <a:srgbClr val="596577"/>
                </a:solidFill>
                <a:latin typeface="Arial"/>
                <a:ea typeface="Arial"/>
                <a:cs typeface="Arial"/>
              </a:rPr>
              <a:t>The appendix contains launch commands and suggested presenter responsibilities.</a:t>
            </a:r>
          </a:p>
        </p:txBody>
      </p:sp>
    </p:spTree>
    <p:extLst>
      <p:ext uri="{BB962C8B-B14F-4D97-AF65-F5344CB8AC3E}">
        <p14:creationId xmlns:p14="http://schemas.microsoft.com/office/powerpoint/2010/main" val="1610920001"/>
      </p:ext>
    </p:extLst>
  </p:cSld>
</p:sld>
</file>

<file path=ppt/slides/slide3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Current boundaries and future work">
            <a:extLst xmlns:a="http://schemas.openxmlformats.org/drawingml/2006/main">
              <a:ext uri="{FF2B5EF4-FFF2-40B4-BE49-F238E27FC236}">
                <a16:creationId xmlns:a16="http://schemas.microsoft.com/office/drawing/2014/main" id="{252C957E-5148-447F-A562-C991260BA8B6}"/>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Current boundaries and future work</a:t>
            </a:r>
          </a:p>
        </p:txBody>
      </p:sp>
      <p:sp>
        <p:nvSpPr>
          <p:cNvPr id="2" name="The project implements a defined subset with explicit l">
            <a:extLst xmlns:a="http://schemas.openxmlformats.org/drawingml/2006/main">
              <a:ext uri="{FF2B5EF4-FFF2-40B4-BE49-F238E27FC236}">
                <a16:creationId xmlns:a16="http://schemas.microsoft.com/office/drawing/2014/main" id="{85E20452-DB86-47EE-A1C2-011B56D8C5EA}"/>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The project implements a defined subset with explicit limitations</a:t>
            </a:r>
          </a:p>
        </p:txBody>
      </p:sp>
      <p:sp>
        <p:nvSpPr>
          <p:cNvPr id="3" name="31">
            <a:extLst xmlns:a="http://schemas.openxmlformats.org/drawingml/2006/main">
              <a:ext uri="{FF2B5EF4-FFF2-40B4-BE49-F238E27FC236}">
                <a16:creationId xmlns:a16="http://schemas.microsoft.com/office/drawing/2014/main" id="{7130812C-09A4-4E64-B427-F2407BD982E6}"/>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31</a:t>
            </a:r>
          </a:p>
        </p:txBody>
      </p:sp>
      <p:sp>
        <p:nvSpPr>
          <p:cNvPr id="4" name="Language boundary">
            <a:extLst xmlns:a="http://schemas.openxmlformats.org/drawingml/2006/main">
              <a:ext uri="{FF2B5EF4-FFF2-40B4-BE49-F238E27FC236}">
                <a16:creationId xmlns:a16="http://schemas.microsoft.com/office/drawing/2014/main" id="{1F4EB2AC-6D94-4981-80D6-A3D4B930C4A1}"/>
              </a:ext>
            </a:extLst>
          </p:cNvPr>
          <p:cNvSpPr>
            <a:spLocks xmlns:a="http://schemas.openxmlformats.org/drawingml/2006/main" noGrp="1"/>
          </p:cNvSpPr>
          <p:nvPr/>
        </p:nvSpPr>
        <p:spPr>
          <a:xfrm xmlns:a="http://schemas.openxmlformats.org/drawingml/2006/main">
            <a:off x="781050" y="271462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Language boundary</a:t>
            </a:r>
          </a:p>
        </p:txBody>
      </p:sp>
      <p:sp>
        <p:nvSpPr>
          <p:cNvPr id="5" name="Classes, imports, pointers and&#10;multidimensional arrays ">
            <a:extLst xmlns:a="http://schemas.openxmlformats.org/drawingml/2006/main">
              <a:ext uri="{FF2B5EF4-FFF2-40B4-BE49-F238E27FC236}">
                <a16:creationId xmlns:a16="http://schemas.microsoft.com/office/drawing/2014/main" id="{B44A3669-889F-415C-8E35-B80857D9C19F}"/>
              </a:ext>
            </a:extLst>
          </p:cNvPr>
          <p:cNvSpPr>
            <a:spLocks xmlns:a="http://schemas.openxmlformats.org/drawingml/2006/main" noGrp="1"/>
          </p:cNvSpPr>
          <p:nvPr/>
        </p:nvSpPr>
        <p:spPr>
          <a:xfrm xmlns:a="http://schemas.openxmlformats.org/drawingml/2006/main">
            <a:off x="781050" y="3333750"/>
            <a:ext cx="647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Classes, imports, pointers and</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multidimensional arrays remain outside scope.</a:t>
            </a:r>
          </a:p>
        </p:txBody>
      </p:sp>
      <p:sp>
        <p:nvSpPr>
          <p:cNvPr id="6" name="Analysis boundary">
            <a:extLst xmlns:a="http://schemas.openxmlformats.org/drawingml/2006/main">
              <a:ext uri="{FF2B5EF4-FFF2-40B4-BE49-F238E27FC236}">
                <a16:creationId xmlns:a16="http://schemas.microsoft.com/office/drawing/2014/main" id="{DFE87BDB-E8C1-4A57-AC9D-9AAAD4BB2CE7}"/>
              </a:ext>
            </a:extLst>
          </p:cNvPr>
          <p:cNvSpPr>
            <a:spLocks xmlns:a="http://schemas.openxmlformats.org/drawingml/2006/main" noGrp="1"/>
          </p:cNvSpPr>
          <p:nvPr/>
        </p:nvSpPr>
        <p:spPr>
          <a:xfrm xmlns:a="http://schemas.openxmlformats.org/drawingml/2006/main">
            <a:off x="8096250" y="2714625"/>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Analysis boundary</a:t>
            </a:r>
          </a:p>
        </p:txBody>
      </p:sp>
      <p:sp>
        <p:nvSpPr>
          <p:cNvPr id="7" name="One top-down parsing strategy and&#10;conservative local co">
            <a:extLst xmlns:a="http://schemas.openxmlformats.org/drawingml/2006/main">
              <a:ext uri="{FF2B5EF4-FFF2-40B4-BE49-F238E27FC236}">
                <a16:creationId xmlns:a16="http://schemas.microsoft.com/office/drawing/2014/main" id="{4AD4185F-20B0-4231-84BB-F884F062A2DA}"/>
              </a:ext>
            </a:extLst>
          </p:cNvPr>
          <p:cNvSpPr>
            <a:spLocks xmlns:a="http://schemas.openxmlformats.org/drawingml/2006/main" noGrp="1"/>
          </p:cNvSpPr>
          <p:nvPr/>
        </p:nvSpPr>
        <p:spPr>
          <a:xfrm xmlns:a="http://schemas.openxmlformats.org/drawingml/2006/main">
            <a:off x="8096250" y="3333750"/>
            <a:ext cx="6381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One top-down parsing strategy and</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conservative local constant reasoning.</a:t>
            </a:r>
          </a:p>
        </p:txBody>
      </p:sp>
      <p:sp>
        <p:nvSpPr>
          <p:cNvPr id="8" name="Next compiler work">
            <a:extLst xmlns:a="http://schemas.openxmlformats.org/drawingml/2006/main">
              <a:ext uri="{FF2B5EF4-FFF2-40B4-BE49-F238E27FC236}">
                <a16:creationId xmlns:a16="http://schemas.microsoft.com/office/drawing/2014/main" id="{79BD7976-C259-41C3-89CD-5FF357AE21B3}"/>
              </a:ext>
            </a:extLst>
          </p:cNvPr>
          <p:cNvSpPr>
            <a:spLocks xmlns:a="http://schemas.openxmlformats.org/drawingml/2006/main" noGrp="1"/>
          </p:cNvSpPr>
          <p:nvPr/>
        </p:nvSpPr>
        <p:spPr>
          <a:xfrm xmlns:a="http://schemas.openxmlformats.org/drawingml/2006/main">
            <a:off x="781050" y="528637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Next compiler work</a:t>
            </a:r>
          </a:p>
        </p:txBody>
      </p:sp>
      <p:sp>
        <p:nvSpPr>
          <p:cNvPr id="9" name="Multiple-error recovery and broader&#10;data-flow optimizat">
            <a:extLst xmlns:a="http://schemas.openxmlformats.org/drawingml/2006/main">
              <a:ext uri="{FF2B5EF4-FFF2-40B4-BE49-F238E27FC236}">
                <a16:creationId xmlns:a16="http://schemas.microsoft.com/office/drawing/2014/main" id="{4FDAD086-7063-4DF2-AFA4-AC0DD7AF4C04}"/>
              </a:ext>
            </a:extLst>
          </p:cNvPr>
          <p:cNvSpPr>
            <a:spLocks xmlns:a="http://schemas.openxmlformats.org/drawingml/2006/main" noGrp="1"/>
          </p:cNvSpPr>
          <p:nvPr/>
        </p:nvSpPr>
        <p:spPr>
          <a:xfrm xmlns:a="http://schemas.openxmlformats.org/drawingml/2006/main">
            <a:off x="781050" y="5905500"/>
            <a:ext cx="647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Multiple-error recovery and broader</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data-flow optimization.</a:t>
            </a:r>
          </a:p>
        </p:txBody>
      </p:sp>
      <p:sp>
        <p:nvSpPr>
          <p:cNvPr id="10" name="Next evaluation work">
            <a:extLst xmlns:a="http://schemas.openxmlformats.org/drawingml/2006/main">
              <a:ext uri="{FF2B5EF4-FFF2-40B4-BE49-F238E27FC236}">
                <a16:creationId xmlns:a16="http://schemas.microsoft.com/office/drawing/2014/main" id="{C419DC86-01CA-4F0F-BB1C-7121D127CC90}"/>
              </a:ext>
            </a:extLst>
          </p:cNvPr>
          <p:cNvSpPr>
            <a:spLocks xmlns:a="http://schemas.openxmlformats.org/drawingml/2006/main" noGrp="1"/>
          </p:cNvSpPr>
          <p:nvPr/>
        </p:nvSpPr>
        <p:spPr>
          <a:xfrm xmlns:a="http://schemas.openxmlformats.org/drawingml/2006/main">
            <a:off x="8096250" y="5286375"/>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Next evaluation work</a:t>
            </a:r>
          </a:p>
        </p:txBody>
      </p:sp>
      <p:sp>
        <p:nvSpPr>
          <p:cNvPr id="11" name="Larger programs, elapsed-time benchmarks&#10;and more gramm">
            <a:extLst xmlns:a="http://schemas.openxmlformats.org/drawingml/2006/main">
              <a:ext uri="{FF2B5EF4-FFF2-40B4-BE49-F238E27FC236}">
                <a16:creationId xmlns:a16="http://schemas.microsoft.com/office/drawing/2014/main" id="{2DE176C2-FF26-4D39-8E12-D941CA0ACDD7}"/>
              </a:ext>
            </a:extLst>
          </p:cNvPr>
          <p:cNvSpPr>
            <a:spLocks xmlns:a="http://schemas.openxmlformats.org/drawingml/2006/main" noGrp="1"/>
          </p:cNvSpPr>
          <p:nvPr/>
        </p:nvSpPr>
        <p:spPr>
          <a:xfrm xmlns:a="http://schemas.openxmlformats.org/drawingml/2006/main">
            <a:off x="8096250" y="5905500"/>
            <a:ext cx="6381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Larger programs, elapsed-time benchmarks</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and more grammar-extension tests.</a:t>
            </a:r>
          </a:p>
        </p:txBody>
      </p:sp>
    </p:spTree>
    <p:extLst>
      <p:ext uri="{BB962C8B-B14F-4D97-AF65-F5344CB8AC3E}">
        <p14:creationId xmlns:p14="http://schemas.microsoft.com/office/powerpoint/2010/main" val="971366976"/>
      </p:ext>
    </p:extLst>
  </p:cSld>
</p:sld>
</file>

<file path=ppt/slides/slide32.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sp>
        <p:nvSpPr>
          <p:cNvPr id="5" name="What the project demonstrates">
            <a:extLst xmlns:a="http://schemas.openxmlformats.org/drawingml/2006/main">
              <a:ext uri="{FF2B5EF4-FFF2-40B4-BE49-F238E27FC236}">
                <a16:creationId xmlns:a16="http://schemas.microsoft.com/office/drawing/2014/main" id="{E7ED2C54-F5EB-44E5-BA2B-09244A5BF54C}"/>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What the project demonstrates</a:t>
            </a:r>
          </a:p>
        </p:txBody>
      </p:sp>
      <p:sp>
        <p:nvSpPr>
          <p:cNvPr id="2" name="32">
            <a:extLst xmlns:a="http://schemas.openxmlformats.org/drawingml/2006/main">
              <a:ext uri="{FF2B5EF4-FFF2-40B4-BE49-F238E27FC236}">
                <a16:creationId xmlns:a16="http://schemas.microsoft.com/office/drawing/2014/main" id="{A15B6A10-AE13-4575-A02D-67265699D03C}"/>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5C7DE"/>
                </a:solidFill>
                <a:latin typeface="Arial"/>
                <a:ea typeface="Arial"/>
                <a:cs typeface="Arial"/>
              </a:defRPr>
            </a:defPPr>
            <a:lvl1pPr algn="r">
              <a:defRPr sz="1500" b="0">
                <a:solidFill>
                  <a:srgbClr val="B5C7DE"/>
                </a:solidFill>
                <a:latin typeface="Arial"/>
                <a:ea typeface="Arial"/>
                <a:cs typeface="Arial"/>
              </a:defRPr>
            </a:lvl1pPr>
            <a:lvl2pPr algn="r">
              <a:defRPr sz="1500" b="0">
                <a:solidFill>
                  <a:srgbClr val="B5C7DE"/>
                </a:solidFill>
                <a:latin typeface="Arial"/>
                <a:ea typeface="Arial"/>
                <a:cs typeface="Arial"/>
              </a:defRPr>
            </a:lvl2pPr>
            <a:lvl3pPr algn="r">
              <a:defRPr sz="1500" b="0">
                <a:solidFill>
                  <a:srgbClr val="B5C7DE"/>
                </a:solidFill>
                <a:latin typeface="Arial"/>
                <a:ea typeface="Arial"/>
                <a:cs typeface="Arial"/>
              </a:defRPr>
            </a:lvl3pPr>
            <a:lvl4pPr algn="r">
              <a:defRPr sz="1500" b="0">
                <a:solidFill>
                  <a:srgbClr val="B5C7DE"/>
                </a:solidFill>
                <a:latin typeface="Arial"/>
                <a:ea typeface="Arial"/>
                <a:cs typeface="Arial"/>
              </a:defRPr>
            </a:lvl4pPr>
            <a:lvl5pPr algn="r">
              <a:defRPr sz="1500" b="0">
                <a:solidFill>
                  <a:srgbClr val="B5C7DE"/>
                </a:solidFill>
                <a:latin typeface="Arial"/>
                <a:ea typeface="Arial"/>
                <a:cs typeface="Arial"/>
              </a:defRPr>
            </a:lvl5pPr>
            <a:lvl6pPr algn="r">
              <a:defRPr sz="1500" b="0">
                <a:solidFill>
                  <a:srgbClr val="B5C7DE"/>
                </a:solidFill>
                <a:latin typeface="Arial"/>
                <a:ea typeface="Arial"/>
                <a:cs typeface="Arial"/>
              </a:defRPr>
            </a:lvl6pPr>
            <a:lvl7pPr algn="r">
              <a:defRPr sz="1500" b="0">
                <a:solidFill>
                  <a:srgbClr val="B5C7DE"/>
                </a:solidFill>
                <a:latin typeface="Arial"/>
                <a:ea typeface="Arial"/>
                <a:cs typeface="Arial"/>
              </a:defRPr>
            </a:lvl7pPr>
            <a:lvl8pPr algn="r">
              <a:defRPr sz="1500" b="0">
                <a:solidFill>
                  <a:srgbClr val="B5C7DE"/>
                </a:solidFill>
                <a:latin typeface="Arial"/>
                <a:ea typeface="Arial"/>
                <a:cs typeface="Arial"/>
              </a:defRPr>
            </a:lvl8pPr>
            <a:lvl9pPr algn="r">
              <a:defRPr sz="1500" b="0">
                <a:solidFill>
                  <a:srgbClr val="B5C7DE"/>
                </a:solidFill>
                <a:latin typeface="Arial"/>
                <a:ea typeface="Arial"/>
                <a:cs typeface="Arial"/>
              </a:defRPr>
            </a:lvl9pPr>
          </a:lstStyle>
          <a:p xmlns:a="http://schemas.openxmlformats.org/drawingml/2006/main">
            <a:pPr algn="r">
              <a:defRPr sz="1500" b="0">
                <a:solidFill>
                  <a:srgbClr val="B5C7DE"/>
                </a:solidFill>
                <a:latin typeface="Arial"/>
                <a:ea typeface="Arial"/>
                <a:cs typeface="Arial"/>
              </a:defRPr>
            </a:pPr>
            <a:r>
              <a:rPr sz="1500" b="0">
                <a:solidFill>
                  <a:srgbClr val="B5C7DE"/>
                </a:solidFill>
                <a:latin typeface="Arial"/>
                <a:ea typeface="Arial"/>
                <a:cs typeface="Arial"/>
              </a:rPr>
              <a:t>32</a:t>
            </a:r>
          </a:p>
        </p:txBody>
      </p:sp>
      <p:sp>
        <p:nvSpPr>
          <p:cNvPr id="3" name="Many accepted syntaxes.&#10;One compiler implementation.">
            <a:extLst xmlns:a="http://schemas.openxmlformats.org/drawingml/2006/main">
              <a:ext uri="{FF2B5EF4-FFF2-40B4-BE49-F238E27FC236}">
                <a16:creationId xmlns:a16="http://schemas.microsoft.com/office/drawing/2014/main" id="{9A4F032E-EBD4-4BC4-9905-17E0B70FF031}"/>
              </a:ext>
            </a:extLst>
          </p:cNvPr>
          <p:cNvSpPr>
            <a:spLocks xmlns:a="http://schemas.openxmlformats.org/drawingml/2006/main" noGrp="1"/>
          </p:cNvSpPr>
          <p:nvPr/>
        </p:nvSpPr>
        <p:spPr>
          <a:xfrm xmlns:a="http://schemas.openxmlformats.org/drawingml/2006/main">
            <a:off x="781050" y="2447925"/>
            <a:ext cx="1362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Many accepted syntaxes.</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One compiler implementation.</a:t>
            </a:r>
          </a:p>
        </p:txBody>
      </p:sp>
      <p:sp>
        <p:nvSpPr>
          <p:cNvPr id="4" name="A shared AST and type system&#10;Real IR analysis and optim">
            <a:extLst xmlns:a="http://schemas.openxmlformats.org/drawingml/2006/main">
              <a:ext uri="{FF2B5EF4-FFF2-40B4-BE49-F238E27FC236}">
                <a16:creationId xmlns:a16="http://schemas.microsoft.com/office/drawing/2014/main" id="{6CFB2DCD-8D63-4C6C-B2D2-BDF45161A5A9}"/>
              </a:ext>
            </a:extLst>
          </p:cNvPr>
          <p:cNvSpPr>
            <a:spLocks xmlns:a="http://schemas.openxmlformats.org/drawingml/2006/main" noGrp="1"/>
          </p:cNvSpPr>
          <p:nvPr/>
        </p:nvSpPr>
        <p:spPr>
          <a:xfrm xmlns:a="http://schemas.openxmlformats.org/drawingml/2006/main">
            <a:off x="828675" y="5381625"/>
            <a:ext cx="1333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76D9C3"/>
                </a:solidFill>
                <a:latin typeface="Arial"/>
                <a:ea typeface="Arial"/>
                <a:cs typeface="Arial"/>
              </a:defRPr>
            </a:defPPr>
            <a:lvl1pPr algn="l">
              <a:defRPr sz="2925" b="0">
                <a:solidFill>
                  <a:srgbClr val="76D9C3"/>
                </a:solidFill>
                <a:latin typeface="Arial"/>
                <a:ea typeface="Arial"/>
                <a:cs typeface="Arial"/>
              </a:defRPr>
            </a:lvl1pPr>
            <a:lvl2pPr algn="l">
              <a:defRPr sz="2925" b="0">
                <a:solidFill>
                  <a:srgbClr val="76D9C3"/>
                </a:solidFill>
                <a:latin typeface="Arial"/>
                <a:ea typeface="Arial"/>
                <a:cs typeface="Arial"/>
              </a:defRPr>
            </a:lvl2pPr>
            <a:lvl3pPr algn="l">
              <a:defRPr sz="2925" b="0">
                <a:solidFill>
                  <a:srgbClr val="76D9C3"/>
                </a:solidFill>
                <a:latin typeface="Arial"/>
                <a:ea typeface="Arial"/>
                <a:cs typeface="Arial"/>
              </a:defRPr>
            </a:lvl3pPr>
            <a:lvl4pPr algn="l">
              <a:defRPr sz="2925" b="0">
                <a:solidFill>
                  <a:srgbClr val="76D9C3"/>
                </a:solidFill>
                <a:latin typeface="Arial"/>
                <a:ea typeface="Arial"/>
                <a:cs typeface="Arial"/>
              </a:defRPr>
            </a:lvl4pPr>
            <a:lvl5pPr algn="l">
              <a:defRPr sz="2925" b="0">
                <a:solidFill>
                  <a:srgbClr val="76D9C3"/>
                </a:solidFill>
                <a:latin typeface="Arial"/>
                <a:ea typeface="Arial"/>
                <a:cs typeface="Arial"/>
              </a:defRPr>
            </a:lvl5pPr>
            <a:lvl6pPr algn="l">
              <a:defRPr sz="2925" b="0">
                <a:solidFill>
                  <a:srgbClr val="76D9C3"/>
                </a:solidFill>
                <a:latin typeface="Arial"/>
                <a:ea typeface="Arial"/>
                <a:cs typeface="Arial"/>
              </a:defRPr>
            </a:lvl6pPr>
            <a:lvl7pPr algn="l">
              <a:defRPr sz="2925" b="0">
                <a:solidFill>
                  <a:srgbClr val="76D9C3"/>
                </a:solidFill>
                <a:latin typeface="Arial"/>
                <a:ea typeface="Arial"/>
                <a:cs typeface="Arial"/>
              </a:defRPr>
            </a:lvl7pPr>
            <a:lvl8pPr algn="l">
              <a:defRPr sz="2925" b="0">
                <a:solidFill>
                  <a:srgbClr val="76D9C3"/>
                </a:solidFill>
                <a:latin typeface="Arial"/>
                <a:ea typeface="Arial"/>
                <a:cs typeface="Arial"/>
              </a:defRPr>
            </a:lvl8pPr>
            <a:lvl9pPr algn="l">
              <a:defRPr sz="2925" b="0">
                <a:solidFill>
                  <a:srgbClr val="76D9C3"/>
                </a:solidFill>
                <a:latin typeface="Arial"/>
                <a:ea typeface="Arial"/>
                <a:cs typeface="Arial"/>
              </a:defRPr>
            </a:lvl9pPr>
          </a:lstStyle>
          <a:p xmlns:a="http://schemas.openxmlformats.org/drawingml/2006/main">
            <a:pPr algn="l">
              <a:defRPr sz="2925" b="0">
                <a:solidFill>
                  <a:srgbClr val="76D9C3"/>
                </a:solidFill>
                <a:latin typeface="Arial"/>
                <a:ea typeface="Arial"/>
                <a:cs typeface="Arial"/>
              </a:defRPr>
            </a:pPr>
            <a:r>
              <a:rPr sz="2925" b="0">
                <a:solidFill>
                  <a:srgbClr val="76D9C3"/>
                </a:solidFill>
                <a:latin typeface="Arial"/>
                <a:ea typeface="Arial"/>
                <a:cs typeface="Arial"/>
              </a:rPr>
              <a:t>A shared AST and type system</a:t>
            </a:r>
          </a:p>
          <a:p xmlns:a="http://schemas.openxmlformats.org/drawingml/2006/main">
            <a:pPr algn="l">
              <a:defRPr sz="2925" b="0">
                <a:solidFill>
                  <a:srgbClr val="76D9C3"/>
                </a:solidFill>
                <a:latin typeface="Arial"/>
                <a:ea typeface="Arial"/>
                <a:cs typeface="Arial"/>
              </a:defRPr>
            </a:pPr>
            <a:r>
              <a:rPr sz="2925" b="0">
                <a:solidFill>
                  <a:srgbClr val="76D9C3"/>
                </a:solidFill>
                <a:latin typeface="Arial"/>
                <a:ea typeface="Arial"/>
                <a:cs typeface="Arial"/>
              </a:rPr>
              <a:t>Real IR analysis and optimization</a:t>
            </a:r>
          </a:p>
          <a:p xmlns:a="http://schemas.openxmlformats.org/drawingml/2006/main">
            <a:pPr algn="l">
              <a:defRPr sz="2925" b="0">
                <a:solidFill>
                  <a:srgbClr val="76D9C3"/>
                </a:solidFill>
                <a:latin typeface="Arial"/>
                <a:ea typeface="Arial"/>
                <a:cs typeface="Arial"/>
              </a:defRPr>
            </a:pPr>
            <a:r>
              <a:rPr sz="2925" b="0">
                <a:solidFill>
                  <a:srgbClr val="76D9C3"/>
                </a:solidFill>
                <a:latin typeface="Arial"/>
                <a:ea typeface="Arial"/>
                <a:cs typeface="Arial"/>
              </a:rPr>
              <a:t>Validated bytecode on our own VM</a:t>
            </a:r>
          </a:p>
        </p:txBody>
      </p:sp>
    </p:spTree>
    <p:extLst>
      <p:ext uri="{BB962C8B-B14F-4D97-AF65-F5344CB8AC3E}">
        <p14:creationId xmlns:p14="http://schemas.microsoft.com/office/powerpoint/2010/main" val="1585628686"/>
      </p:ext>
    </p:extLst>
  </p:cSld>
</p:sld>
</file>

<file path=ppt/slides/slide3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Appendix: implementation map">
            <a:extLst xmlns:a="http://schemas.openxmlformats.org/drawingml/2006/main">
              <a:ext uri="{FF2B5EF4-FFF2-40B4-BE49-F238E27FC236}">
                <a16:creationId xmlns:a16="http://schemas.microsoft.com/office/drawing/2014/main" id="{86774E4F-1C76-42E1-81F4-BF8D7CD3A019}"/>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Appendix: implementation map</a:t>
            </a:r>
          </a:p>
        </p:txBody>
      </p:sp>
      <p:sp>
        <p:nvSpPr>
          <p:cNvPr id="2" name="Where each architectural responsibility lives">
            <a:extLst xmlns:a="http://schemas.openxmlformats.org/drawingml/2006/main">
              <a:ext uri="{FF2B5EF4-FFF2-40B4-BE49-F238E27FC236}">
                <a16:creationId xmlns:a16="http://schemas.microsoft.com/office/drawing/2014/main" id="{3E0E55D9-1609-496B-8254-36DC8FDB4EF5}"/>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Where each architectural responsibility lives</a:t>
            </a:r>
          </a:p>
        </p:txBody>
      </p:sp>
      <p:sp>
        <p:nvSpPr>
          <p:cNvPr id="3" name="33">
            <a:extLst xmlns:a="http://schemas.openxmlformats.org/drawingml/2006/main">
              <a:ext uri="{FF2B5EF4-FFF2-40B4-BE49-F238E27FC236}">
                <a16:creationId xmlns:a16="http://schemas.microsoft.com/office/drawing/2014/main" id="{F226E6B9-73B0-4095-8EE0-81D95268038B}"/>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33</a:t>
            </a:r>
          </a:p>
        </p:txBody>
      </p:sp>
      <p:graphicFrame>
        <p:nvGraphicFramePr>
          <p:cNvPr id="4" name="">
            <a:extLst xmlns:a="http://schemas.openxmlformats.org/drawingml/2006/main">
              <a:ext uri="{FF2B5EF4-FFF2-40B4-BE49-F238E27FC236}">
                <a16:creationId xmlns:a16="http://schemas.microsoft.com/office/drawing/2014/main" id="{14EBF332-DB19-4172-91A7-9D352B0DC846}"/>
              </a:ext>
            </a:extLst>
          </p:cNvPr>
          <p:cNvGraphicFramePr/>
          <p:nvPr/>
        </p:nvGraphicFramePr>
        <p:xfrm>
          <a:off xmlns:a="http://schemas.openxmlformats.org/drawingml/2006/main" x="781050" y="2619375"/>
          <a:ext xmlns:a="http://schemas.openxmlformats.org/drawingml/2006/main" cx="13620750" cy="4333875"/>
        </p:xfrm>
        <a:graphic xmlns:a="http://schemas.openxmlformats.org/drawingml/2006/main">
          <a:graphicData uri="http://schemas.openxmlformats.org/drawingml/2006/table">
            <a:tbl>
              <a:tblPr/>
              <a:tblGrid>
                <a:gridCol w="5905500"/>
                <a:gridCol w="7715250"/>
              </a:tblGrid>
              <a:tr h="619125">
                <a:tc>
                  <a:txBody>
                    <a:bodyPr lIns="142875" tIns="142875" rIns="142875" bIns="142875"/>
                    <a:lstStyle/>
                    <a:p>
                      <a:r>
                        <a:rPr sz="2175" b="1">
                          <a:solidFill>
                            <a:srgbClr val="17273C"/>
                          </a:solidFill>
                          <a:latin typeface="Arial"/>
                          <a:ea typeface="Arial"/>
                          <a:cs typeface="Arial"/>
                        </a:rPr>
                        <a:t>Responsibility</a:t>
                      </a:r>
                    </a:p>
                  </a:txBody>
                  <a:tcPr marL="91440" marR="91440" marT="45720" marB="45720" anchor="ctr">
                    <a:lnL w="7620">
                      <a:solidFill>
                        <a:srgbClr val="CDD3D9"/>
                      </a:solidFill>
                      <a:prstDash val="solid"/>
                    </a:lnL>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175" b="1">
                          <a:solidFill>
                            <a:srgbClr val="17273C"/>
                          </a:solidFill>
                          <a:latin typeface="Arial"/>
                          <a:ea typeface="Arial"/>
                          <a:cs typeface="Arial"/>
                        </a:rPr>
                        <a:t>Repository module</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r>
              <a:tr h="619125">
                <a:tc>
                  <a:txBody>
                    <a:bodyPr lIns="142875" tIns="142875" rIns="142875" bIns="142875"/>
                    <a:lstStyle/>
                    <a:p>
                      <a:r>
                        <a:rPr sz="2175" b="0">
                          <a:solidFill>
                            <a:srgbClr val="17273C"/>
                          </a:solidFill>
                          <a:latin typeface="Arial"/>
                          <a:ea typeface="Arial"/>
                          <a:cs typeface="Arial"/>
                        </a:rPr>
                        <a:t>Source positions and tokens</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source.py, lexer.py, layout.py</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19125">
                <a:tc>
                  <a:txBody>
                    <a:bodyPr lIns="142875" tIns="142875" rIns="142875" bIns="142875"/>
                    <a:lstStyle/>
                    <a:p>
                      <a:r>
                        <a:rPr sz="2175" b="0">
                          <a:solidFill>
                            <a:srgbClr val="17273C"/>
                          </a:solidFill>
                          <a:latin typeface="Arial"/>
                          <a:ea typeface="Arial"/>
                          <a:cs typeface="Arial"/>
                        </a:rPr>
                        <a:t>Grammar and normalized AST</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parser/, ast.py</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19125">
                <a:tc>
                  <a:txBody>
                    <a:bodyPr lIns="142875" tIns="142875" rIns="142875" bIns="142875"/>
                    <a:lstStyle/>
                    <a:p>
                      <a:r>
                        <a:rPr sz="2175" b="0">
                          <a:solidFill>
                            <a:srgbClr val="17273C"/>
                          </a:solidFill>
                          <a:latin typeface="Arial"/>
                          <a:ea typeface="Arial"/>
                          <a:cs typeface="Arial"/>
                        </a:rPr>
                        <a:t>Types, scopes and bindings</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semantics.py, types.py</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19125">
                <a:tc>
                  <a:txBody>
                    <a:bodyPr lIns="142875" tIns="142875" rIns="142875" bIns="142875"/>
                    <a:lstStyle/>
                    <a:p>
                      <a:r>
                        <a:rPr sz="2175" b="0">
                          <a:solidFill>
                            <a:srgbClr val="17273C"/>
                          </a:solidFill>
                          <a:latin typeface="Arial"/>
                          <a:ea typeface="Arial"/>
                          <a:cs typeface="Arial"/>
                        </a:rPr>
                        <a:t>IR and optimization</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ir.py, analysis.py, optimizer.py</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19125">
                <a:tc>
                  <a:txBody>
                    <a:bodyPr lIns="142875" tIns="142875" rIns="142875" bIns="142875"/>
                    <a:lstStyle/>
                    <a:p>
                      <a:r>
                        <a:rPr sz="2175" b="0">
                          <a:solidFill>
                            <a:srgbClr val="17273C"/>
                          </a:solidFill>
                          <a:latin typeface="Arial"/>
                          <a:ea typeface="Arial"/>
                          <a:cs typeface="Arial"/>
                        </a:rPr>
                        <a:t>Code generation and artifact checks</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codegen.py, artifact.py</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19125">
                <a:tc>
                  <a:txBody>
                    <a:bodyPr lIns="142875" tIns="142875" rIns="142875" bIns="142875"/>
                    <a:lstStyle/>
                    <a:p>
                      <a:r>
                        <a:rPr sz="2175" b="0">
                          <a:solidFill>
                            <a:srgbClr val="17273C"/>
                          </a:solidFill>
                          <a:latin typeface="Arial"/>
                          <a:ea typeface="Arial"/>
                          <a:cs typeface="Arial"/>
                        </a:rPr>
                        <a:t>Execution and user interfaces</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vm.py, cli.py, web/server.py, web/worker.py</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bl>
          </a:graphicData>
        </a:graphic>
      </p:graphicFrame>
    </p:spTree>
    <p:extLst>
      <p:ext uri="{BB962C8B-B14F-4D97-AF65-F5344CB8AC3E}">
        <p14:creationId xmlns:p14="http://schemas.microsoft.com/office/powerpoint/2010/main" val="1465943391"/>
      </p:ext>
    </p:extLst>
  </p:cSld>
</p:sld>
</file>

<file path=ppt/slides/slide3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Appendix: complexity and performance">
            <a:extLst xmlns:a="http://schemas.openxmlformats.org/drawingml/2006/main">
              <a:ext uri="{FF2B5EF4-FFF2-40B4-BE49-F238E27FC236}">
                <a16:creationId xmlns:a16="http://schemas.microsoft.com/office/drawing/2014/main" id="{D0D72D51-F3AB-4695-AE9E-369E58826BB4}"/>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Appendix: complexity and performance</a:t>
            </a:r>
          </a:p>
        </p:txBody>
      </p:sp>
      <p:sp>
        <p:nvSpPr>
          <p:cNvPr id="2" name="Multiple syntax families add checks rather than six ful">
            <a:extLst xmlns:a="http://schemas.openxmlformats.org/drawingml/2006/main">
              <a:ext uri="{FF2B5EF4-FFF2-40B4-BE49-F238E27FC236}">
                <a16:creationId xmlns:a16="http://schemas.microsoft.com/office/drawing/2014/main" id="{F5021D3A-C9DA-47D1-8650-F1C5C1ACA007}"/>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Multiple syntax families add checks rather than six full compilation passes</a:t>
            </a:r>
          </a:p>
        </p:txBody>
      </p:sp>
      <p:sp>
        <p:nvSpPr>
          <p:cNvPr id="3" name="34">
            <a:extLst xmlns:a="http://schemas.openxmlformats.org/drawingml/2006/main">
              <a:ext uri="{FF2B5EF4-FFF2-40B4-BE49-F238E27FC236}">
                <a16:creationId xmlns:a16="http://schemas.microsoft.com/office/drawing/2014/main" id="{83FC999F-90E1-45D6-B32B-F70173F45DA5}"/>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34</a:t>
            </a:r>
          </a:p>
        </p:txBody>
      </p:sp>
      <p:sp>
        <p:nvSpPr>
          <p:cNvPr id="4" name="Lexing and parsing">
            <a:extLst xmlns:a="http://schemas.openxmlformats.org/drawingml/2006/main">
              <a:ext uri="{FF2B5EF4-FFF2-40B4-BE49-F238E27FC236}">
                <a16:creationId xmlns:a16="http://schemas.microsoft.com/office/drawing/2014/main" id="{2F78C1E2-EAA9-4239-A40B-60AA6C7B926A}"/>
              </a:ext>
            </a:extLst>
          </p:cNvPr>
          <p:cNvSpPr>
            <a:spLocks xmlns:a="http://schemas.openxmlformats.org/drawingml/2006/main" noGrp="1"/>
          </p:cNvSpPr>
          <p:nvPr/>
        </p:nvSpPr>
        <p:spPr>
          <a:xfrm xmlns:a="http://schemas.openxmlformats.org/drawingml/2006/main">
            <a:off x="781050" y="271462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Lexing and parsing</a:t>
            </a:r>
          </a:p>
        </p:txBody>
      </p:sp>
      <p:sp>
        <p:nvSpPr>
          <p:cNvPr id="5" name="Typically approximately linear in source&#10;characters and">
            <a:extLst xmlns:a="http://schemas.openxmlformats.org/drawingml/2006/main">
              <a:ext uri="{FF2B5EF4-FFF2-40B4-BE49-F238E27FC236}">
                <a16:creationId xmlns:a16="http://schemas.microsoft.com/office/drawing/2014/main" id="{B1662F82-25CC-418D-A957-4EBE013CF751}"/>
              </a:ext>
            </a:extLst>
          </p:cNvPr>
          <p:cNvSpPr>
            <a:spLocks xmlns:a="http://schemas.openxmlformats.org/drawingml/2006/main" noGrp="1"/>
          </p:cNvSpPr>
          <p:nvPr/>
        </p:nvSpPr>
        <p:spPr>
          <a:xfrm xmlns:a="http://schemas.openxmlformats.org/drawingml/2006/main">
            <a:off x="781050" y="3333750"/>
            <a:ext cx="647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Typically approximately linear in source</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characters and tokens for ordinary input.</a:t>
            </a:r>
          </a:p>
        </p:txBody>
      </p:sp>
      <p:sp>
        <p:nvSpPr>
          <p:cNvPr id="6" name="Optimization cost">
            <a:extLst xmlns:a="http://schemas.openxmlformats.org/drawingml/2006/main">
              <a:ext uri="{FF2B5EF4-FFF2-40B4-BE49-F238E27FC236}">
                <a16:creationId xmlns:a16="http://schemas.microsoft.com/office/drawing/2014/main" id="{18AD106E-EB95-41E7-BEDD-26AF69DF5779}"/>
              </a:ext>
            </a:extLst>
          </p:cNvPr>
          <p:cNvSpPr>
            <a:spLocks xmlns:a="http://schemas.openxmlformats.org/drawingml/2006/main" noGrp="1"/>
          </p:cNvSpPr>
          <p:nvPr/>
        </p:nvSpPr>
        <p:spPr>
          <a:xfrm xmlns:a="http://schemas.openxmlformats.org/drawingml/2006/main">
            <a:off x="8096250" y="2714625"/>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Optimization cost</a:t>
            </a:r>
          </a:p>
        </p:txBody>
      </p:sp>
      <p:sp>
        <p:nvSpPr>
          <p:cNvPr id="7" name="CFG construction and iterative liveness&#10;add work based ">
            <a:extLst xmlns:a="http://schemas.openxmlformats.org/drawingml/2006/main">
              <a:ext uri="{FF2B5EF4-FFF2-40B4-BE49-F238E27FC236}">
                <a16:creationId xmlns:a16="http://schemas.microsoft.com/office/drawing/2014/main" id="{C2B2B583-4F9F-4A11-8AD7-5C36BFA0BD86}"/>
              </a:ext>
            </a:extLst>
          </p:cNvPr>
          <p:cNvSpPr>
            <a:spLocks xmlns:a="http://schemas.openxmlformats.org/drawingml/2006/main" noGrp="1"/>
          </p:cNvSpPr>
          <p:nvPr/>
        </p:nvSpPr>
        <p:spPr>
          <a:xfrm xmlns:a="http://schemas.openxmlformats.org/drawingml/2006/main">
            <a:off x="8096250" y="3333750"/>
            <a:ext cx="6381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CFG construction and iterative liveness</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add work based on blocks and edges.</a:t>
            </a:r>
          </a:p>
        </p:txBody>
      </p:sp>
      <p:sp>
        <p:nvSpPr>
          <p:cNvPr id="8" name="Program complexity">
            <a:extLst xmlns:a="http://schemas.openxmlformats.org/drawingml/2006/main">
              <a:ext uri="{FF2B5EF4-FFF2-40B4-BE49-F238E27FC236}">
                <a16:creationId xmlns:a16="http://schemas.microsoft.com/office/drawing/2014/main" id="{1097EC8B-E560-43E4-890A-023D5F41BDEE}"/>
              </a:ext>
            </a:extLst>
          </p:cNvPr>
          <p:cNvSpPr>
            <a:spLocks xmlns:a="http://schemas.openxmlformats.org/drawingml/2006/main" noGrp="1"/>
          </p:cNvSpPr>
          <p:nvPr/>
        </p:nvSpPr>
        <p:spPr>
          <a:xfrm xmlns:a="http://schemas.openxmlformats.org/drawingml/2006/main">
            <a:off x="781050" y="5286375"/>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Program complexity</a:t>
            </a:r>
          </a:p>
        </p:txBody>
      </p:sp>
      <p:sp>
        <p:nvSpPr>
          <p:cNvPr id="9" name="A loop over n values stays O(n).&#10;Two full nested n loop">
            <a:extLst xmlns:a="http://schemas.openxmlformats.org/drawingml/2006/main">
              <a:ext uri="{FF2B5EF4-FFF2-40B4-BE49-F238E27FC236}">
                <a16:creationId xmlns:a16="http://schemas.microsoft.com/office/drawing/2014/main" id="{3AAC143A-E872-43B9-B1BE-757C329AEDF3}"/>
              </a:ext>
            </a:extLst>
          </p:cNvPr>
          <p:cNvSpPr>
            <a:spLocks xmlns:a="http://schemas.openxmlformats.org/drawingml/2006/main" noGrp="1"/>
          </p:cNvSpPr>
          <p:nvPr/>
        </p:nvSpPr>
        <p:spPr>
          <a:xfrm xmlns:a="http://schemas.openxmlformats.org/drawingml/2006/main">
            <a:off x="781050" y="5905500"/>
            <a:ext cx="647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A loop over n values stays O(n).</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Two full nested n loops stay O(n²).</a:t>
            </a:r>
          </a:p>
        </p:txBody>
      </p:sp>
      <p:sp>
        <p:nvSpPr>
          <p:cNvPr id="10" name="Runtime overhead">
            <a:extLst xmlns:a="http://schemas.openxmlformats.org/drawingml/2006/main">
              <a:ext uri="{FF2B5EF4-FFF2-40B4-BE49-F238E27FC236}">
                <a16:creationId xmlns:a16="http://schemas.microsoft.com/office/drawing/2014/main" id="{60893F27-410D-4D47-A328-9E2DFC275408}"/>
              </a:ext>
            </a:extLst>
          </p:cNvPr>
          <p:cNvSpPr>
            <a:spLocks xmlns:a="http://schemas.openxmlformats.org/drawingml/2006/main" noGrp="1"/>
          </p:cNvSpPr>
          <p:nvPr/>
        </p:nvSpPr>
        <p:spPr>
          <a:xfrm xmlns:a="http://schemas.openxmlformats.org/drawingml/2006/main">
            <a:off x="8096250" y="5286375"/>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56D7"/>
                </a:solidFill>
                <a:latin typeface="Arial"/>
                <a:ea typeface="Arial"/>
                <a:cs typeface="Arial"/>
              </a:defRPr>
            </a:defPPr>
            <a:lvl1pPr algn="l">
              <a:defRPr sz="2700" b="1">
                <a:solidFill>
                  <a:srgbClr val="2956D7"/>
                </a:solidFill>
                <a:latin typeface="Arial"/>
                <a:ea typeface="Arial"/>
                <a:cs typeface="Arial"/>
              </a:defRPr>
            </a:lvl1pPr>
            <a:lvl2pPr algn="l">
              <a:defRPr sz="2700" b="1">
                <a:solidFill>
                  <a:srgbClr val="2956D7"/>
                </a:solidFill>
                <a:latin typeface="Arial"/>
                <a:ea typeface="Arial"/>
                <a:cs typeface="Arial"/>
              </a:defRPr>
            </a:lvl2pPr>
            <a:lvl3pPr algn="l">
              <a:defRPr sz="2700" b="1">
                <a:solidFill>
                  <a:srgbClr val="2956D7"/>
                </a:solidFill>
                <a:latin typeface="Arial"/>
                <a:ea typeface="Arial"/>
                <a:cs typeface="Arial"/>
              </a:defRPr>
            </a:lvl3pPr>
            <a:lvl4pPr algn="l">
              <a:defRPr sz="2700" b="1">
                <a:solidFill>
                  <a:srgbClr val="2956D7"/>
                </a:solidFill>
                <a:latin typeface="Arial"/>
                <a:ea typeface="Arial"/>
                <a:cs typeface="Arial"/>
              </a:defRPr>
            </a:lvl4pPr>
            <a:lvl5pPr algn="l">
              <a:defRPr sz="2700" b="1">
                <a:solidFill>
                  <a:srgbClr val="2956D7"/>
                </a:solidFill>
                <a:latin typeface="Arial"/>
                <a:ea typeface="Arial"/>
                <a:cs typeface="Arial"/>
              </a:defRPr>
            </a:lvl5pPr>
            <a:lvl6pPr algn="l">
              <a:defRPr sz="2700" b="1">
                <a:solidFill>
                  <a:srgbClr val="2956D7"/>
                </a:solidFill>
                <a:latin typeface="Arial"/>
                <a:ea typeface="Arial"/>
                <a:cs typeface="Arial"/>
              </a:defRPr>
            </a:lvl6pPr>
            <a:lvl7pPr algn="l">
              <a:defRPr sz="2700" b="1">
                <a:solidFill>
                  <a:srgbClr val="2956D7"/>
                </a:solidFill>
                <a:latin typeface="Arial"/>
                <a:ea typeface="Arial"/>
                <a:cs typeface="Arial"/>
              </a:defRPr>
            </a:lvl7pPr>
            <a:lvl8pPr algn="l">
              <a:defRPr sz="2700" b="1">
                <a:solidFill>
                  <a:srgbClr val="2956D7"/>
                </a:solidFill>
                <a:latin typeface="Arial"/>
                <a:ea typeface="Arial"/>
                <a:cs typeface="Arial"/>
              </a:defRPr>
            </a:lvl8pPr>
            <a:lvl9pPr algn="l">
              <a:defRPr sz="2700" b="1">
                <a:solidFill>
                  <a:srgbClr val="2956D7"/>
                </a:solidFill>
                <a:latin typeface="Arial"/>
                <a:ea typeface="Arial"/>
                <a:cs typeface="Arial"/>
              </a:defRPr>
            </a:lvl9pPr>
          </a:lstStyle>
          <a:p xmlns:a="http://schemas.openxmlformats.org/drawingml/2006/main">
            <a:pPr algn="l">
              <a:defRPr sz="2700" b="1">
                <a:solidFill>
                  <a:srgbClr val="2956D7"/>
                </a:solidFill>
                <a:latin typeface="Arial"/>
                <a:ea typeface="Arial"/>
                <a:cs typeface="Arial"/>
              </a:defRPr>
            </a:pPr>
            <a:r>
              <a:rPr sz="2700" b="1">
                <a:solidFill>
                  <a:srgbClr val="2956D7"/>
                </a:solidFill>
                <a:latin typeface="Arial"/>
                <a:ea typeface="Arial"/>
                <a:cs typeface="Arial"/>
              </a:rPr>
              <a:t>Runtime overhead</a:t>
            </a:r>
          </a:p>
        </p:txBody>
      </p:sp>
      <p:sp>
        <p:nvSpPr>
          <p:cNvPr id="11" name="The interpreted VM adds per-instruction&#10;overhead compar">
            <a:extLst xmlns:a="http://schemas.openxmlformats.org/drawingml/2006/main">
              <a:ext uri="{FF2B5EF4-FFF2-40B4-BE49-F238E27FC236}">
                <a16:creationId xmlns:a16="http://schemas.microsoft.com/office/drawing/2014/main" id="{16510F5A-3BC4-4A42-A241-492C44C74899}"/>
              </a:ext>
            </a:extLst>
          </p:cNvPr>
          <p:cNvSpPr>
            <a:spLocks xmlns:a="http://schemas.openxmlformats.org/drawingml/2006/main" noGrp="1"/>
          </p:cNvSpPr>
          <p:nvPr/>
        </p:nvSpPr>
        <p:spPr>
          <a:xfrm xmlns:a="http://schemas.openxmlformats.org/drawingml/2006/main">
            <a:off x="8096250" y="5905500"/>
            <a:ext cx="6381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7273C"/>
                </a:solidFill>
                <a:latin typeface="Arial"/>
                <a:ea typeface="Arial"/>
                <a:cs typeface="Arial"/>
              </a:defRPr>
            </a:defPPr>
            <a:lvl1pPr algn="l">
              <a:defRPr sz="2400" b="0">
                <a:solidFill>
                  <a:srgbClr val="17273C"/>
                </a:solidFill>
                <a:latin typeface="Arial"/>
                <a:ea typeface="Arial"/>
                <a:cs typeface="Arial"/>
              </a:defRPr>
            </a:lvl1pPr>
            <a:lvl2pPr algn="l">
              <a:defRPr sz="2400" b="0">
                <a:solidFill>
                  <a:srgbClr val="17273C"/>
                </a:solidFill>
                <a:latin typeface="Arial"/>
                <a:ea typeface="Arial"/>
                <a:cs typeface="Arial"/>
              </a:defRPr>
            </a:lvl2pPr>
            <a:lvl3pPr algn="l">
              <a:defRPr sz="2400" b="0">
                <a:solidFill>
                  <a:srgbClr val="17273C"/>
                </a:solidFill>
                <a:latin typeface="Arial"/>
                <a:ea typeface="Arial"/>
                <a:cs typeface="Arial"/>
              </a:defRPr>
            </a:lvl3pPr>
            <a:lvl4pPr algn="l">
              <a:defRPr sz="2400" b="0">
                <a:solidFill>
                  <a:srgbClr val="17273C"/>
                </a:solidFill>
                <a:latin typeface="Arial"/>
                <a:ea typeface="Arial"/>
                <a:cs typeface="Arial"/>
              </a:defRPr>
            </a:lvl4pPr>
            <a:lvl5pPr algn="l">
              <a:defRPr sz="2400" b="0">
                <a:solidFill>
                  <a:srgbClr val="17273C"/>
                </a:solidFill>
                <a:latin typeface="Arial"/>
                <a:ea typeface="Arial"/>
                <a:cs typeface="Arial"/>
              </a:defRPr>
            </a:lvl5pPr>
            <a:lvl6pPr algn="l">
              <a:defRPr sz="2400" b="0">
                <a:solidFill>
                  <a:srgbClr val="17273C"/>
                </a:solidFill>
                <a:latin typeface="Arial"/>
                <a:ea typeface="Arial"/>
                <a:cs typeface="Arial"/>
              </a:defRPr>
            </a:lvl6pPr>
            <a:lvl7pPr algn="l">
              <a:defRPr sz="2400" b="0">
                <a:solidFill>
                  <a:srgbClr val="17273C"/>
                </a:solidFill>
                <a:latin typeface="Arial"/>
                <a:ea typeface="Arial"/>
                <a:cs typeface="Arial"/>
              </a:defRPr>
            </a:lvl7pPr>
            <a:lvl8pPr algn="l">
              <a:defRPr sz="2400" b="0">
                <a:solidFill>
                  <a:srgbClr val="17273C"/>
                </a:solidFill>
                <a:latin typeface="Arial"/>
                <a:ea typeface="Arial"/>
                <a:cs typeface="Arial"/>
              </a:defRPr>
            </a:lvl8pPr>
            <a:lvl9pPr algn="l">
              <a:defRPr sz="2400" b="0">
                <a:solidFill>
                  <a:srgbClr val="17273C"/>
                </a:solidFill>
                <a:latin typeface="Arial"/>
                <a:ea typeface="Arial"/>
                <a:cs typeface="Arial"/>
              </a:defRPr>
            </a:lvl9pPr>
          </a:lstStyle>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The interpreted VM adds per-instruction</a:t>
            </a:r>
          </a:p>
          <a:p xmlns:a="http://schemas.openxmlformats.org/drawingml/2006/main">
            <a:pPr algn="l">
              <a:defRPr sz="2400" b="0">
                <a:solidFill>
                  <a:srgbClr val="17273C"/>
                </a:solidFill>
                <a:latin typeface="Arial"/>
                <a:ea typeface="Arial"/>
                <a:cs typeface="Arial"/>
              </a:defRPr>
            </a:pPr>
            <a:r>
              <a:rPr sz="2400" b="0">
                <a:solidFill>
                  <a:srgbClr val="17273C"/>
                </a:solidFill>
                <a:latin typeface="Arial"/>
                <a:ea typeface="Arial"/>
                <a:cs typeface="Arial"/>
              </a:rPr>
              <a:t>overhead compared with native code.</a:t>
            </a:r>
          </a:p>
        </p:txBody>
      </p:sp>
    </p:spTree>
    <p:extLst>
      <p:ext uri="{BB962C8B-B14F-4D97-AF65-F5344CB8AC3E}">
        <p14:creationId xmlns:p14="http://schemas.microsoft.com/office/powerpoint/2010/main" val="1625645009"/>
      </p:ext>
    </p:extLst>
  </p:cSld>
</p:sld>
</file>

<file path=ppt/slides/slide3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Appendix: short viva answers">
            <a:extLst xmlns:a="http://schemas.openxmlformats.org/drawingml/2006/main">
              <a:ext uri="{FF2B5EF4-FFF2-40B4-BE49-F238E27FC236}">
                <a16:creationId xmlns:a16="http://schemas.microsoft.com/office/drawing/2014/main" id="{AAB7FDAD-27D2-4D90-AF5F-6E5E85DD7E2B}"/>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Appendix: short viva answers</a:t>
            </a:r>
          </a:p>
        </p:txBody>
      </p:sp>
      <p:sp>
        <p:nvSpPr>
          <p:cNvPr id="2" name="35">
            <a:extLst xmlns:a="http://schemas.openxmlformats.org/drawingml/2006/main">
              <a:ext uri="{FF2B5EF4-FFF2-40B4-BE49-F238E27FC236}">
                <a16:creationId xmlns:a16="http://schemas.microsoft.com/office/drawing/2014/main" id="{A6013456-4450-48C6-A1EA-7825EE5749A7}"/>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35</a:t>
            </a:r>
          </a:p>
        </p:txBody>
      </p:sp>
      <p:sp>
        <p:nvSpPr>
          <p:cNvPr id="3" name="Is this six complete compilers?">
            <a:extLst xmlns:a="http://schemas.openxmlformats.org/drawingml/2006/main">
              <a:ext uri="{FF2B5EF4-FFF2-40B4-BE49-F238E27FC236}">
                <a16:creationId xmlns:a16="http://schemas.microsoft.com/office/drawing/2014/main" id="{74C0C6AB-57CA-4766-A626-8B0EB3A302F3}"/>
              </a:ext>
            </a:extLst>
          </p:cNvPr>
          <p:cNvSpPr>
            <a:spLocks xmlns:a="http://schemas.openxmlformats.org/drawingml/2006/main" noGrp="1"/>
          </p:cNvSpPr>
          <p:nvPr/>
        </p:nvSpPr>
        <p:spPr>
          <a:xfrm xmlns:a="http://schemas.openxmlformats.org/drawingml/2006/main">
            <a:off x="781050" y="2038350"/>
            <a:ext cx="1352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956D7"/>
                </a:solidFill>
                <a:latin typeface="Arial"/>
                <a:ea typeface="Arial"/>
                <a:cs typeface="Arial"/>
              </a:defRPr>
            </a:defPPr>
            <a:lvl1pPr algn="l">
              <a:defRPr sz="2550" b="1">
                <a:solidFill>
                  <a:srgbClr val="2956D7"/>
                </a:solidFill>
                <a:latin typeface="Arial"/>
                <a:ea typeface="Arial"/>
                <a:cs typeface="Arial"/>
              </a:defRPr>
            </a:lvl1pPr>
            <a:lvl2pPr algn="l">
              <a:defRPr sz="2550" b="1">
                <a:solidFill>
                  <a:srgbClr val="2956D7"/>
                </a:solidFill>
                <a:latin typeface="Arial"/>
                <a:ea typeface="Arial"/>
                <a:cs typeface="Arial"/>
              </a:defRPr>
            </a:lvl2pPr>
            <a:lvl3pPr algn="l">
              <a:defRPr sz="2550" b="1">
                <a:solidFill>
                  <a:srgbClr val="2956D7"/>
                </a:solidFill>
                <a:latin typeface="Arial"/>
                <a:ea typeface="Arial"/>
                <a:cs typeface="Arial"/>
              </a:defRPr>
            </a:lvl3pPr>
            <a:lvl4pPr algn="l">
              <a:defRPr sz="2550" b="1">
                <a:solidFill>
                  <a:srgbClr val="2956D7"/>
                </a:solidFill>
                <a:latin typeface="Arial"/>
                <a:ea typeface="Arial"/>
                <a:cs typeface="Arial"/>
              </a:defRPr>
            </a:lvl4pPr>
            <a:lvl5pPr algn="l">
              <a:defRPr sz="2550" b="1">
                <a:solidFill>
                  <a:srgbClr val="2956D7"/>
                </a:solidFill>
                <a:latin typeface="Arial"/>
                <a:ea typeface="Arial"/>
                <a:cs typeface="Arial"/>
              </a:defRPr>
            </a:lvl5pPr>
            <a:lvl6pPr algn="l">
              <a:defRPr sz="2550" b="1">
                <a:solidFill>
                  <a:srgbClr val="2956D7"/>
                </a:solidFill>
                <a:latin typeface="Arial"/>
                <a:ea typeface="Arial"/>
                <a:cs typeface="Arial"/>
              </a:defRPr>
            </a:lvl6pPr>
            <a:lvl7pPr algn="l">
              <a:defRPr sz="2550" b="1">
                <a:solidFill>
                  <a:srgbClr val="2956D7"/>
                </a:solidFill>
                <a:latin typeface="Arial"/>
                <a:ea typeface="Arial"/>
                <a:cs typeface="Arial"/>
              </a:defRPr>
            </a:lvl7pPr>
            <a:lvl8pPr algn="l">
              <a:defRPr sz="2550" b="1">
                <a:solidFill>
                  <a:srgbClr val="2956D7"/>
                </a:solidFill>
                <a:latin typeface="Arial"/>
                <a:ea typeface="Arial"/>
                <a:cs typeface="Arial"/>
              </a:defRPr>
            </a:lvl8pPr>
            <a:lvl9pPr algn="l">
              <a:defRPr sz="2550" b="1">
                <a:solidFill>
                  <a:srgbClr val="2956D7"/>
                </a:solidFill>
                <a:latin typeface="Arial"/>
                <a:ea typeface="Arial"/>
                <a:cs typeface="Arial"/>
              </a:defRPr>
            </a:lvl9pPr>
          </a:lstStyle>
          <a:p xmlns:a="http://schemas.openxmlformats.org/drawingml/2006/main">
            <a:pPr algn="l">
              <a:defRPr sz="2550" b="1">
                <a:solidFill>
                  <a:srgbClr val="2956D7"/>
                </a:solidFill>
                <a:latin typeface="Arial"/>
                <a:ea typeface="Arial"/>
                <a:cs typeface="Arial"/>
              </a:defRPr>
            </a:pPr>
            <a:r>
              <a:rPr sz="2550" b="1">
                <a:solidFill>
                  <a:srgbClr val="2956D7"/>
                </a:solidFill>
                <a:latin typeface="Arial"/>
                <a:ea typeface="Arial"/>
                <a:cs typeface="Arial"/>
              </a:rPr>
              <a:t>Is this six complete compilers?</a:t>
            </a:r>
          </a:p>
        </p:txBody>
      </p:sp>
      <p:sp>
        <p:nvSpPr>
          <p:cNvPr id="4" name="One defined language accepts selected syntax families.">
            <a:extLst xmlns:a="http://schemas.openxmlformats.org/drawingml/2006/main">
              <a:ext uri="{FF2B5EF4-FFF2-40B4-BE49-F238E27FC236}">
                <a16:creationId xmlns:a16="http://schemas.microsoft.com/office/drawing/2014/main" id="{B2587371-F34C-45EE-B810-A3C5D78A9080}"/>
              </a:ext>
            </a:extLst>
          </p:cNvPr>
          <p:cNvSpPr>
            <a:spLocks xmlns:a="http://schemas.openxmlformats.org/drawingml/2006/main" noGrp="1"/>
          </p:cNvSpPr>
          <p:nvPr/>
        </p:nvSpPr>
        <p:spPr>
          <a:xfrm xmlns:a="http://schemas.openxmlformats.org/drawingml/2006/main">
            <a:off x="781050" y="2495550"/>
            <a:ext cx="1352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73C"/>
                </a:solidFill>
                <a:latin typeface="Arial"/>
                <a:ea typeface="Arial"/>
                <a:cs typeface="Arial"/>
              </a:defRPr>
            </a:defPPr>
            <a:lvl1pPr algn="l">
              <a:defRPr sz="2250" b="0">
                <a:solidFill>
                  <a:srgbClr val="17273C"/>
                </a:solidFill>
                <a:latin typeface="Arial"/>
                <a:ea typeface="Arial"/>
                <a:cs typeface="Arial"/>
              </a:defRPr>
            </a:lvl1pPr>
            <a:lvl2pPr algn="l">
              <a:defRPr sz="2250" b="0">
                <a:solidFill>
                  <a:srgbClr val="17273C"/>
                </a:solidFill>
                <a:latin typeface="Arial"/>
                <a:ea typeface="Arial"/>
                <a:cs typeface="Arial"/>
              </a:defRPr>
            </a:lvl2pPr>
            <a:lvl3pPr algn="l">
              <a:defRPr sz="2250" b="0">
                <a:solidFill>
                  <a:srgbClr val="17273C"/>
                </a:solidFill>
                <a:latin typeface="Arial"/>
                <a:ea typeface="Arial"/>
                <a:cs typeface="Arial"/>
              </a:defRPr>
            </a:lvl3pPr>
            <a:lvl4pPr algn="l">
              <a:defRPr sz="2250" b="0">
                <a:solidFill>
                  <a:srgbClr val="17273C"/>
                </a:solidFill>
                <a:latin typeface="Arial"/>
                <a:ea typeface="Arial"/>
                <a:cs typeface="Arial"/>
              </a:defRPr>
            </a:lvl4pPr>
            <a:lvl5pPr algn="l">
              <a:defRPr sz="2250" b="0">
                <a:solidFill>
                  <a:srgbClr val="17273C"/>
                </a:solidFill>
                <a:latin typeface="Arial"/>
                <a:ea typeface="Arial"/>
                <a:cs typeface="Arial"/>
              </a:defRPr>
            </a:lvl5pPr>
            <a:lvl6pPr algn="l">
              <a:defRPr sz="2250" b="0">
                <a:solidFill>
                  <a:srgbClr val="17273C"/>
                </a:solidFill>
                <a:latin typeface="Arial"/>
                <a:ea typeface="Arial"/>
                <a:cs typeface="Arial"/>
              </a:defRPr>
            </a:lvl6pPr>
            <a:lvl7pPr algn="l">
              <a:defRPr sz="2250" b="0">
                <a:solidFill>
                  <a:srgbClr val="17273C"/>
                </a:solidFill>
                <a:latin typeface="Arial"/>
                <a:ea typeface="Arial"/>
                <a:cs typeface="Arial"/>
              </a:defRPr>
            </a:lvl7pPr>
            <a:lvl8pPr algn="l">
              <a:defRPr sz="2250" b="0">
                <a:solidFill>
                  <a:srgbClr val="17273C"/>
                </a:solidFill>
                <a:latin typeface="Arial"/>
                <a:ea typeface="Arial"/>
                <a:cs typeface="Arial"/>
              </a:defRPr>
            </a:lvl8pPr>
            <a:lvl9pPr algn="l">
              <a:defRPr sz="2250" b="0">
                <a:solidFill>
                  <a:srgbClr val="17273C"/>
                </a:solidFill>
                <a:latin typeface="Arial"/>
                <a:ea typeface="Arial"/>
                <a:cs typeface="Arial"/>
              </a:defRPr>
            </a:lvl9pPr>
          </a:lstStyle>
          <a:p xmlns:a="http://schemas.openxmlformats.org/drawingml/2006/main">
            <a:pPr algn="l">
              <a:defRPr sz="2250" b="0">
                <a:solidFill>
                  <a:srgbClr val="17273C"/>
                </a:solidFill>
                <a:latin typeface="Arial"/>
                <a:ea typeface="Arial"/>
                <a:cs typeface="Arial"/>
              </a:defRPr>
            </a:pPr>
            <a:r>
              <a:rPr sz="2250" b="0">
                <a:solidFill>
                  <a:srgbClr val="17273C"/>
                </a:solidFill>
                <a:latin typeface="Arial"/>
                <a:ea typeface="Arial"/>
                <a:cs typeface="Arial"/>
              </a:rPr>
              <a:t>One defined language accepts selected syntax families.</a:t>
            </a:r>
          </a:p>
        </p:txBody>
      </p:sp>
      <p:sp>
        <p:nvSpPr>
          <p:cNvPr id="5" name="Do we detect a whole-file language?">
            <a:extLst xmlns:a="http://schemas.openxmlformats.org/drawingml/2006/main">
              <a:ext uri="{FF2B5EF4-FFF2-40B4-BE49-F238E27FC236}">
                <a16:creationId xmlns:a16="http://schemas.microsoft.com/office/drawing/2014/main" id="{DA8A0186-31BD-4934-805E-7FEF9D320ECD}"/>
              </a:ext>
            </a:extLst>
          </p:cNvPr>
          <p:cNvSpPr>
            <a:spLocks xmlns:a="http://schemas.openxmlformats.org/drawingml/2006/main" noGrp="1"/>
          </p:cNvSpPr>
          <p:nvPr/>
        </p:nvSpPr>
        <p:spPr>
          <a:xfrm xmlns:a="http://schemas.openxmlformats.org/drawingml/2006/main">
            <a:off x="781050" y="3143250"/>
            <a:ext cx="1352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956D7"/>
                </a:solidFill>
                <a:latin typeface="Arial"/>
                <a:ea typeface="Arial"/>
                <a:cs typeface="Arial"/>
              </a:defRPr>
            </a:defPPr>
            <a:lvl1pPr algn="l">
              <a:defRPr sz="2550" b="1">
                <a:solidFill>
                  <a:srgbClr val="2956D7"/>
                </a:solidFill>
                <a:latin typeface="Arial"/>
                <a:ea typeface="Arial"/>
                <a:cs typeface="Arial"/>
              </a:defRPr>
            </a:lvl1pPr>
            <a:lvl2pPr algn="l">
              <a:defRPr sz="2550" b="1">
                <a:solidFill>
                  <a:srgbClr val="2956D7"/>
                </a:solidFill>
                <a:latin typeface="Arial"/>
                <a:ea typeface="Arial"/>
                <a:cs typeface="Arial"/>
              </a:defRPr>
            </a:lvl2pPr>
            <a:lvl3pPr algn="l">
              <a:defRPr sz="2550" b="1">
                <a:solidFill>
                  <a:srgbClr val="2956D7"/>
                </a:solidFill>
                <a:latin typeface="Arial"/>
                <a:ea typeface="Arial"/>
                <a:cs typeface="Arial"/>
              </a:defRPr>
            </a:lvl3pPr>
            <a:lvl4pPr algn="l">
              <a:defRPr sz="2550" b="1">
                <a:solidFill>
                  <a:srgbClr val="2956D7"/>
                </a:solidFill>
                <a:latin typeface="Arial"/>
                <a:ea typeface="Arial"/>
                <a:cs typeface="Arial"/>
              </a:defRPr>
            </a:lvl4pPr>
            <a:lvl5pPr algn="l">
              <a:defRPr sz="2550" b="1">
                <a:solidFill>
                  <a:srgbClr val="2956D7"/>
                </a:solidFill>
                <a:latin typeface="Arial"/>
                <a:ea typeface="Arial"/>
                <a:cs typeface="Arial"/>
              </a:defRPr>
            </a:lvl5pPr>
            <a:lvl6pPr algn="l">
              <a:defRPr sz="2550" b="1">
                <a:solidFill>
                  <a:srgbClr val="2956D7"/>
                </a:solidFill>
                <a:latin typeface="Arial"/>
                <a:ea typeface="Arial"/>
                <a:cs typeface="Arial"/>
              </a:defRPr>
            </a:lvl6pPr>
            <a:lvl7pPr algn="l">
              <a:defRPr sz="2550" b="1">
                <a:solidFill>
                  <a:srgbClr val="2956D7"/>
                </a:solidFill>
                <a:latin typeface="Arial"/>
                <a:ea typeface="Arial"/>
                <a:cs typeface="Arial"/>
              </a:defRPr>
            </a:lvl7pPr>
            <a:lvl8pPr algn="l">
              <a:defRPr sz="2550" b="1">
                <a:solidFill>
                  <a:srgbClr val="2956D7"/>
                </a:solidFill>
                <a:latin typeface="Arial"/>
                <a:ea typeface="Arial"/>
                <a:cs typeface="Arial"/>
              </a:defRPr>
            </a:lvl8pPr>
            <a:lvl9pPr algn="l">
              <a:defRPr sz="2550" b="1">
                <a:solidFill>
                  <a:srgbClr val="2956D7"/>
                </a:solidFill>
                <a:latin typeface="Arial"/>
                <a:ea typeface="Arial"/>
                <a:cs typeface="Arial"/>
              </a:defRPr>
            </a:lvl9pPr>
          </a:lstStyle>
          <a:p xmlns:a="http://schemas.openxmlformats.org/drawingml/2006/main">
            <a:pPr algn="l">
              <a:defRPr sz="2550" b="1">
                <a:solidFill>
                  <a:srgbClr val="2956D7"/>
                </a:solidFill>
                <a:latin typeface="Arial"/>
                <a:ea typeface="Arial"/>
                <a:cs typeface="Arial"/>
              </a:defRPr>
            </a:pPr>
            <a:r>
              <a:rPr sz="2550" b="1">
                <a:solidFill>
                  <a:srgbClr val="2956D7"/>
                </a:solidFill>
                <a:latin typeface="Arial"/>
                <a:ea typeface="Arial"/>
                <a:cs typeface="Arial"/>
              </a:rPr>
              <a:t>Do we detect a whole-file language?</a:t>
            </a:r>
          </a:p>
        </p:txBody>
      </p:sp>
      <p:sp>
        <p:nvSpPr>
          <p:cNvPr id="6" name="Grammar dispatch recognizes constructs while parsing.">
            <a:extLst xmlns:a="http://schemas.openxmlformats.org/drawingml/2006/main">
              <a:ext uri="{FF2B5EF4-FFF2-40B4-BE49-F238E27FC236}">
                <a16:creationId xmlns:a16="http://schemas.microsoft.com/office/drawing/2014/main" id="{37E0103A-D14A-4EA6-8A54-FBF9AB897E05}"/>
              </a:ext>
            </a:extLst>
          </p:cNvPr>
          <p:cNvSpPr>
            <a:spLocks xmlns:a="http://schemas.openxmlformats.org/drawingml/2006/main" noGrp="1"/>
          </p:cNvSpPr>
          <p:nvPr/>
        </p:nvSpPr>
        <p:spPr>
          <a:xfrm xmlns:a="http://schemas.openxmlformats.org/drawingml/2006/main">
            <a:off x="781050" y="3600450"/>
            <a:ext cx="1352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73C"/>
                </a:solidFill>
                <a:latin typeface="Arial"/>
                <a:ea typeface="Arial"/>
                <a:cs typeface="Arial"/>
              </a:defRPr>
            </a:defPPr>
            <a:lvl1pPr algn="l">
              <a:defRPr sz="2250" b="0">
                <a:solidFill>
                  <a:srgbClr val="17273C"/>
                </a:solidFill>
                <a:latin typeface="Arial"/>
                <a:ea typeface="Arial"/>
                <a:cs typeface="Arial"/>
              </a:defRPr>
            </a:lvl1pPr>
            <a:lvl2pPr algn="l">
              <a:defRPr sz="2250" b="0">
                <a:solidFill>
                  <a:srgbClr val="17273C"/>
                </a:solidFill>
                <a:latin typeface="Arial"/>
                <a:ea typeface="Arial"/>
                <a:cs typeface="Arial"/>
              </a:defRPr>
            </a:lvl2pPr>
            <a:lvl3pPr algn="l">
              <a:defRPr sz="2250" b="0">
                <a:solidFill>
                  <a:srgbClr val="17273C"/>
                </a:solidFill>
                <a:latin typeface="Arial"/>
                <a:ea typeface="Arial"/>
                <a:cs typeface="Arial"/>
              </a:defRPr>
            </a:lvl3pPr>
            <a:lvl4pPr algn="l">
              <a:defRPr sz="2250" b="0">
                <a:solidFill>
                  <a:srgbClr val="17273C"/>
                </a:solidFill>
                <a:latin typeface="Arial"/>
                <a:ea typeface="Arial"/>
                <a:cs typeface="Arial"/>
              </a:defRPr>
            </a:lvl4pPr>
            <a:lvl5pPr algn="l">
              <a:defRPr sz="2250" b="0">
                <a:solidFill>
                  <a:srgbClr val="17273C"/>
                </a:solidFill>
                <a:latin typeface="Arial"/>
                <a:ea typeface="Arial"/>
                <a:cs typeface="Arial"/>
              </a:defRPr>
            </a:lvl5pPr>
            <a:lvl6pPr algn="l">
              <a:defRPr sz="2250" b="0">
                <a:solidFill>
                  <a:srgbClr val="17273C"/>
                </a:solidFill>
                <a:latin typeface="Arial"/>
                <a:ea typeface="Arial"/>
                <a:cs typeface="Arial"/>
              </a:defRPr>
            </a:lvl6pPr>
            <a:lvl7pPr algn="l">
              <a:defRPr sz="2250" b="0">
                <a:solidFill>
                  <a:srgbClr val="17273C"/>
                </a:solidFill>
                <a:latin typeface="Arial"/>
                <a:ea typeface="Arial"/>
                <a:cs typeface="Arial"/>
              </a:defRPr>
            </a:lvl7pPr>
            <a:lvl8pPr algn="l">
              <a:defRPr sz="2250" b="0">
                <a:solidFill>
                  <a:srgbClr val="17273C"/>
                </a:solidFill>
                <a:latin typeface="Arial"/>
                <a:ea typeface="Arial"/>
                <a:cs typeface="Arial"/>
              </a:defRPr>
            </a:lvl8pPr>
            <a:lvl9pPr algn="l">
              <a:defRPr sz="2250" b="0">
                <a:solidFill>
                  <a:srgbClr val="17273C"/>
                </a:solidFill>
                <a:latin typeface="Arial"/>
                <a:ea typeface="Arial"/>
                <a:cs typeface="Arial"/>
              </a:defRPr>
            </a:lvl9pPr>
          </a:lstStyle>
          <a:p xmlns:a="http://schemas.openxmlformats.org/drawingml/2006/main">
            <a:pPr algn="l">
              <a:defRPr sz="2250" b="0">
                <a:solidFill>
                  <a:srgbClr val="17273C"/>
                </a:solidFill>
                <a:latin typeface="Arial"/>
                <a:ea typeface="Arial"/>
                <a:cs typeface="Arial"/>
              </a:defRPr>
            </a:pPr>
            <a:r>
              <a:rPr sz="2250" b="0">
                <a:solidFill>
                  <a:srgbClr val="17273C"/>
                </a:solidFill>
                <a:latin typeface="Arial"/>
                <a:ea typeface="Arial"/>
                <a:cs typeface="Arial"/>
              </a:rPr>
              <a:t>Grammar dispatch recognizes constructs while parsing.</a:t>
            </a:r>
          </a:p>
        </p:txBody>
      </p:sp>
      <p:sp>
        <p:nvSpPr>
          <p:cNvPr id="7" name="Who generates the bytecode?">
            <a:extLst xmlns:a="http://schemas.openxmlformats.org/drawingml/2006/main">
              <a:ext uri="{FF2B5EF4-FFF2-40B4-BE49-F238E27FC236}">
                <a16:creationId xmlns:a16="http://schemas.microsoft.com/office/drawing/2014/main" id="{270FD8D9-3DC5-49F5-AF09-20EA5C937654}"/>
              </a:ext>
            </a:extLst>
          </p:cNvPr>
          <p:cNvSpPr>
            <a:spLocks xmlns:a="http://schemas.openxmlformats.org/drawingml/2006/main" noGrp="1"/>
          </p:cNvSpPr>
          <p:nvPr/>
        </p:nvSpPr>
        <p:spPr>
          <a:xfrm xmlns:a="http://schemas.openxmlformats.org/drawingml/2006/main">
            <a:off x="781050" y="4248150"/>
            <a:ext cx="1352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956D7"/>
                </a:solidFill>
                <a:latin typeface="Arial"/>
                <a:ea typeface="Arial"/>
                <a:cs typeface="Arial"/>
              </a:defRPr>
            </a:defPPr>
            <a:lvl1pPr algn="l">
              <a:defRPr sz="2550" b="1">
                <a:solidFill>
                  <a:srgbClr val="2956D7"/>
                </a:solidFill>
                <a:latin typeface="Arial"/>
                <a:ea typeface="Arial"/>
                <a:cs typeface="Arial"/>
              </a:defRPr>
            </a:lvl1pPr>
            <a:lvl2pPr algn="l">
              <a:defRPr sz="2550" b="1">
                <a:solidFill>
                  <a:srgbClr val="2956D7"/>
                </a:solidFill>
                <a:latin typeface="Arial"/>
                <a:ea typeface="Arial"/>
                <a:cs typeface="Arial"/>
              </a:defRPr>
            </a:lvl2pPr>
            <a:lvl3pPr algn="l">
              <a:defRPr sz="2550" b="1">
                <a:solidFill>
                  <a:srgbClr val="2956D7"/>
                </a:solidFill>
                <a:latin typeface="Arial"/>
                <a:ea typeface="Arial"/>
                <a:cs typeface="Arial"/>
              </a:defRPr>
            </a:lvl3pPr>
            <a:lvl4pPr algn="l">
              <a:defRPr sz="2550" b="1">
                <a:solidFill>
                  <a:srgbClr val="2956D7"/>
                </a:solidFill>
                <a:latin typeface="Arial"/>
                <a:ea typeface="Arial"/>
                <a:cs typeface="Arial"/>
              </a:defRPr>
            </a:lvl4pPr>
            <a:lvl5pPr algn="l">
              <a:defRPr sz="2550" b="1">
                <a:solidFill>
                  <a:srgbClr val="2956D7"/>
                </a:solidFill>
                <a:latin typeface="Arial"/>
                <a:ea typeface="Arial"/>
                <a:cs typeface="Arial"/>
              </a:defRPr>
            </a:lvl5pPr>
            <a:lvl6pPr algn="l">
              <a:defRPr sz="2550" b="1">
                <a:solidFill>
                  <a:srgbClr val="2956D7"/>
                </a:solidFill>
                <a:latin typeface="Arial"/>
                <a:ea typeface="Arial"/>
                <a:cs typeface="Arial"/>
              </a:defRPr>
            </a:lvl6pPr>
            <a:lvl7pPr algn="l">
              <a:defRPr sz="2550" b="1">
                <a:solidFill>
                  <a:srgbClr val="2956D7"/>
                </a:solidFill>
                <a:latin typeface="Arial"/>
                <a:ea typeface="Arial"/>
                <a:cs typeface="Arial"/>
              </a:defRPr>
            </a:lvl7pPr>
            <a:lvl8pPr algn="l">
              <a:defRPr sz="2550" b="1">
                <a:solidFill>
                  <a:srgbClr val="2956D7"/>
                </a:solidFill>
                <a:latin typeface="Arial"/>
                <a:ea typeface="Arial"/>
                <a:cs typeface="Arial"/>
              </a:defRPr>
            </a:lvl8pPr>
            <a:lvl9pPr algn="l">
              <a:defRPr sz="2550" b="1">
                <a:solidFill>
                  <a:srgbClr val="2956D7"/>
                </a:solidFill>
                <a:latin typeface="Arial"/>
                <a:ea typeface="Arial"/>
                <a:cs typeface="Arial"/>
              </a:defRPr>
            </a:lvl9pPr>
          </a:lstStyle>
          <a:p xmlns:a="http://schemas.openxmlformats.org/drawingml/2006/main">
            <a:pPr algn="l">
              <a:defRPr sz="2550" b="1">
                <a:solidFill>
                  <a:srgbClr val="2956D7"/>
                </a:solidFill>
                <a:latin typeface="Arial"/>
                <a:ea typeface="Arial"/>
                <a:cs typeface="Arial"/>
              </a:defRPr>
            </a:pPr>
            <a:r>
              <a:rPr sz="2550" b="1">
                <a:solidFill>
                  <a:srgbClr val="2956D7"/>
                </a:solidFill>
                <a:latin typeface="Arial"/>
                <a:ea typeface="Arial"/>
                <a:cs typeface="Arial"/>
              </a:rPr>
              <a:t>Who generates the bytecode?</a:t>
            </a:r>
          </a:p>
        </p:txBody>
      </p:sp>
      <p:sp>
        <p:nvSpPr>
          <p:cNvPr id="8" name="Our codegen.py lowers typed IR into our instruction set">
            <a:extLst xmlns:a="http://schemas.openxmlformats.org/drawingml/2006/main">
              <a:ext uri="{FF2B5EF4-FFF2-40B4-BE49-F238E27FC236}">
                <a16:creationId xmlns:a16="http://schemas.microsoft.com/office/drawing/2014/main" id="{CD2A9688-B157-454C-A438-4011BEE4BF0D}"/>
              </a:ext>
            </a:extLst>
          </p:cNvPr>
          <p:cNvSpPr>
            <a:spLocks xmlns:a="http://schemas.openxmlformats.org/drawingml/2006/main" noGrp="1"/>
          </p:cNvSpPr>
          <p:nvPr/>
        </p:nvSpPr>
        <p:spPr>
          <a:xfrm xmlns:a="http://schemas.openxmlformats.org/drawingml/2006/main">
            <a:off x="781050" y="4705350"/>
            <a:ext cx="1352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73C"/>
                </a:solidFill>
                <a:latin typeface="Arial"/>
                <a:ea typeface="Arial"/>
                <a:cs typeface="Arial"/>
              </a:defRPr>
            </a:defPPr>
            <a:lvl1pPr algn="l">
              <a:defRPr sz="2250" b="0">
                <a:solidFill>
                  <a:srgbClr val="17273C"/>
                </a:solidFill>
                <a:latin typeface="Arial"/>
                <a:ea typeface="Arial"/>
                <a:cs typeface="Arial"/>
              </a:defRPr>
            </a:lvl1pPr>
            <a:lvl2pPr algn="l">
              <a:defRPr sz="2250" b="0">
                <a:solidFill>
                  <a:srgbClr val="17273C"/>
                </a:solidFill>
                <a:latin typeface="Arial"/>
                <a:ea typeface="Arial"/>
                <a:cs typeface="Arial"/>
              </a:defRPr>
            </a:lvl2pPr>
            <a:lvl3pPr algn="l">
              <a:defRPr sz="2250" b="0">
                <a:solidFill>
                  <a:srgbClr val="17273C"/>
                </a:solidFill>
                <a:latin typeface="Arial"/>
                <a:ea typeface="Arial"/>
                <a:cs typeface="Arial"/>
              </a:defRPr>
            </a:lvl3pPr>
            <a:lvl4pPr algn="l">
              <a:defRPr sz="2250" b="0">
                <a:solidFill>
                  <a:srgbClr val="17273C"/>
                </a:solidFill>
                <a:latin typeface="Arial"/>
                <a:ea typeface="Arial"/>
                <a:cs typeface="Arial"/>
              </a:defRPr>
            </a:lvl4pPr>
            <a:lvl5pPr algn="l">
              <a:defRPr sz="2250" b="0">
                <a:solidFill>
                  <a:srgbClr val="17273C"/>
                </a:solidFill>
                <a:latin typeface="Arial"/>
                <a:ea typeface="Arial"/>
                <a:cs typeface="Arial"/>
              </a:defRPr>
            </a:lvl5pPr>
            <a:lvl6pPr algn="l">
              <a:defRPr sz="2250" b="0">
                <a:solidFill>
                  <a:srgbClr val="17273C"/>
                </a:solidFill>
                <a:latin typeface="Arial"/>
                <a:ea typeface="Arial"/>
                <a:cs typeface="Arial"/>
              </a:defRPr>
            </a:lvl6pPr>
            <a:lvl7pPr algn="l">
              <a:defRPr sz="2250" b="0">
                <a:solidFill>
                  <a:srgbClr val="17273C"/>
                </a:solidFill>
                <a:latin typeface="Arial"/>
                <a:ea typeface="Arial"/>
                <a:cs typeface="Arial"/>
              </a:defRPr>
            </a:lvl7pPr>
            <a:lvl8pPr algn="l">
              <a:defRPr sz="2250" b="0">
                <a:solidFill>
                  <a:srgbClr val="17273C"/>
                </a:solidFill>
                <a:latin typeface="Arial"/>
                <a:ea typeface="Arial"/>
                <a:cs typeface="Arial"/>
              </a:defRPr>
            </a:lvl8pPr>
            <a:lvl9pPr algn="l">
              <a:defRPr sz="2250" b="0">
                <a:solidFill>
                  <a:srgbClr val="17273C"/>
                </a:solidFill>
                <a:latin typeface="Arial"/>
                <a:ea typeface="Arial"/>
                <a:cs typeface="Arial"/>
              </a:defRPr>
            </a:lvl9pPr>
          </a:lstStyle>
          <a:p xmlns:a="http://schemas.openxmlformats.org/drawingml/2006/main">
            <a:pPr algn="l">
              <a:defRPr sz="2250" b="0">
                <a:solidFill>
                  <a:srgbClr val="17273C"/>
                </a:solidFill>
                <a:latin typeface="Arial"/>
                <a:ea typeface="Arial"/>
                <a:cs typeface="Arial"/>
              </a:defRPr>
            </a:pPr>
            <a:r>
              <a:rPr sz="2250" b="0">
                <a:solidFill>
                  <a:srgbClr val="17273C"/>
                </a:solidFill>
                <a:latin typeface="Arial"/>
                <a:ea typeface="Arial"/>
                <a:cs typeface="Arial"/>
              </a:rPr>
              <a:t>Our codegen.py lowers typed IR into our instruction set.</a:t>
            </a:r>
          </a:p>
        </p:txBody>
      </p:sp>
      <p:sp>
        <p:nvSpPr>
          <p:cNvPr id="9" name="Is Python executing the submitted source?">
            <a:extLst xmlns:a="http://schemas.openxmlformats.org/drawingml/2006/main">
              <a:ext uri="{FF2B5EF4-FFF2-40B4-BE49-F238E27FC236}">
                <a16:creationId xmlns:a16="http://schemas.microsoft.com/office/drawing/2014/main" id="{9DC70435-C150-4AEE-A5D2-BE72C3A3168E}"/>
              </a:ext>
            </a:extLst>
          </p:cNvPr>
          <p:cNvSpPr>
            <a:spLocks xmlns:a="http://schemas.openxmlformats.org/drawingml/2006/main" noGrp="1"/>
          </p:cNvSpPr>
          <p:nvPr/>
        </p:nvSpPr>
        <p:spPr>
          <a:xfrm xmlns:a="http://schemas.openxmlformats.org/drawingml/2006/main">
            <a:off x="781050" y="5353050"/>
            <a:ext cx="1352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956D7"/>
                </a:solidFill>
                <a:latin typeface="Arial"/>
                <a:ea typeface="Arial"/>
                <a:cs typeface="Arial"/>
              </a:defRPr>
            </a:defPPr>
            <a:lvl1pPr algn="l">
              <a:defRPr sz="2550" b="1">
                <a:solidFill>
                  <a:srgbClr val="2956D7"/>
                </a:solidFill>
                <a:latin typeface="Arial"/>
                <a:ea typeface="Arial"/>
                <a:cs typeface="Arial"/>
              </a:defRPr>
            </a:lvl1pPr>
            <a:lvl2pPr algn="l">
              <a:defRPr sz="2550" b="1">
                <a:solidFill>
                  <a:srgbClr val="2956D7"/>
                </a:solidFill>
                <a:latin typeface="Arial"/>
                <a:ea typeface="Arial"/>
                <a:cs typeface="Arial"/>
              </a:defRPr>
            </a:lvl2pPr>
            <a:lvl3pPr algn="l">
              <a:defRPr sz="2550" b="1">
                <a:solidFill>
                  <a:srgbClr val="2956D7"/>
                </a:solidFill>
                <a:latin typeface="Arial"/>
                <a:ea typeface="Arial"/>
                <a:cs typeface="Arial"/>
              </a:defRPr>
            </a:lvl3pPr>
            <a:lvl4pPr algn="l">
              <a:defRPr sz="2550" b="1">
                <a:solidFill>
                  <a:srgbClr val="2956D7"/>
                </a:solidFill>
                <a:latin typeface="Arial"/>
                <a:ea typeface="Arial"/>
                <a:cs typeface="Arial"/>
              </a:defRPr>
            </a:lvl4pPr>
            <a:lvl5pPr algn="l">
              <a:defRPr sz="2550" b="1">
                <a:solidFill>
                  <a:srgbClr val="2956D7"/>
                </a:solidFill>
                <a:latin typeface="Arial"/>
                <a:ea typeface="Arial"/>
                <a:cs typeface="Arial"/>
              </a:defRPr>
            </a:lvl5pPr>
            <a:lvl6pPr algn="l">
              <a:defRPr sz="2550" b="1">
                <a:solidFill>
                  <a:srgbClr val="2956D7"/>
                </a:solidFill>
                <a:latin typeface="Arial"/>
                <a:ea typeface="Arial"/>
                <a:cs typeface="Arial"/>
              </a:defRPr>
            </a:lvl6pPr>
            <a:lvl7pPr algn="l">
              <a:defRPr sz="2550" b="1">
                <a:solidFill>
                  <a:srgbClr val="2956D7"/>
                </a:solidFill>
                <a:latin typeface="Arial"/>
                <a:ea typeface="Arial"/>
                <a:cs typeface="Arial"/>
              </a:defRPr>
            </a:lvl7pPr>
            <a:lvl8pPr algn="l">
              <a:defRPr sz="2550" b="1">
                <a:solidFill>
                  <a:srgbClr val="2956D7"/>
                </a:solidFill>
                <a:latin typeface="Arial"/>
                <a:ea typeface="Arial"/>
                <a:cs typeface="Arial"/>
              </a:defRPr>
            </a:lvl8pPr>
            <a:lvl9pPr algn="l">
              <a:defRPr sz="2550" b="1">
                <a:solidFill>
                  <a:srgbClr val="2956D7"/>
                </a:solidFill>
                <a:latin typeface="Arial"/>
                <a:ea typeface="Arial"/>
                <a:cs typeface="Arial"/>
              </a:defRPr>
            </a:lvl9pPr>
          </a:lstStyle>
          <a:p xmlns:a="http://schemas.openxmlformats.org/drawingml/2006/main">
            <a:pPr algn="l">
              <a:defRPr sz="2550" b="1">
                <a:solidFill>
                  <a:srgbClr val="2956D7"/>
                </a:solidFill>
                <a:latin typeface="Arial"/>
                <a:ea typeface="Arial"/>
                <a:cs typeface="Arial"/>
              </a:defRPr>
            </a:pPr>
            <a:r>
              <a:rPr sz="2550" b="1">
                <a:solidFill>
                  <a:srgbClr val="2956D7"/>
                </a:solidFill>
                <a:latin typeface="Arial"/>
                <a:ea typeface="Arial"/>
                <a:cs typeface="Arial"/>
              </a:rPr>
              <a:t>Is Python executing the submitted source?</a:t>
            </a:r>
          </a:p>
        </p:txBody>
      </p:sp>
      <p:sp>
        <p:nvSpPr>
          <p:cNvPr id="10" name="Python hosts our compiler and VM. The VM executes bytec">
            <a:extLst xmlns:a="http://schemas.openxmlformats.org/drawingml/2006/main">
              <a:ext uri="{FF2B5EF4-FFF2-40B4-BE49-F238E27FC236}">
                <a16:creationId xmlns:a16="http://schemas.microsoft.com/office/drawing/2014/main" id="{1FF7F946-BED6-423B-B1AC-1FAB6F1AA4ED}"/>
              </a:ext>
            </a:extLst>
          </p:cNvPr>
          <p:cNvSpPr>
            <a:spLocks xmlns:a="http://schemas.openxmlformats.org/drawingml/2006/main" noGrp="1"/>
          </p:cNvSpPr>
          <p:nvPr/>
        </p:nvSpPr>
        <p:spPr>
          <a:xfrm xmlns:a="http://schemas.openxmlformats.org/drawingml/2006/main">
            <a:off x="781050" y="5810250"/>
            <a:ext cx="1352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73C"/>
                </a:solidFill>
                <a:latin typeface="Arial"/>
                <a:ea typeface="Arial"/>
                <a:cs typeface="Arial"/>
              </a:defRPr>
            </a:defPPr>
            <a:lvl1pPr algn="l">
              <a:defRPr sz="2250" b="0">
                <a:solidFill>
                  <a:srgbClr val="17273C"/>
                </a:solidFill>
                <a:latin typeface="Arial"/>
                <a:ea typeface="Arial"/>
                <a:cs typeface="Arial"/>
              </a:defRPr>
            </a:lvl1pPr>
            <a:lvl2pPr algn="l">
              <a:defRPr sz="2250" b="0">
                <a:solidFill>
                  <a:srgbClr val="17273C"/>
                </a:solidFill>
                <a:latin typeface="Arial"/>
                <a:ea typeface="Arial"/>
                <a:cs typeface="Arial"/>
              </a:defRPr>
            </a:lvl2pPr>
            <a:lvl3pPr algn="l">
              <a:defRPr sz="2250" b="0">
                <a:solidFill>
                  <a:srgbClr val="17273C"/>
                </a:solidFill>
                <a:latin typeface="Arial"/>
                <a:ea typeface="Arial"/>
                <a:cs typeface="Arial"/>
              </a:defRPr>
            </a:lvl3pPr>
            <a:lvl4pPr algn="l">
              <a:defRPr sz="2250" b="0">
                <a:solidFill>
                  <a:srgbClr val="17273C"/>
                </a:solidFill>
                <a:latin typeface="Arial"/>
                <a:ea typeface="Arial"/>
                <a:cs typeface="Arial"/>
              </a:defRPr>
            </a:lvl4pPr>
            <a:lvl5pPr algn="l">
              <a:defRPr sz="2250" b="0">
                <a:solidFill>
                  <a:srgbClr val="17273C"/>
                </a:solidFill>
                <a:latin typeface="Arial"/>
                <a:ea typeface="Arial"/>
                <a:cs typeface="Arial"/>
              </a:defRPr>
            </a:lvl5pPr>
            <a:lvl6pPr algn="l">
              <a:defRPr sz="2250" b="0">
                <a:solidFill>
                  <a:srgbClr val="17273C"/>
                </a:solidFill>
                <a:latin typeface="Arial"/>
                <a:ea typeface="Arial"/>
                <a:cs typeface="Arial"/>
              </a:defRPr>
            </a:lvl6pPr>
            <a:lvl7pPr algn="l">
              <a:defRPr sz="2250" b="0">
                <a:solidFill>
                  <a:srgbClr val="17273C"/>
                </a:solidFill>
                <a:latin typeface="Arial"/>
                <a:ea typeface="Arial"/>
                <a:cs typeface="Arial"/>
              </a:defRPr>
            </a:lvl7pPr>
            <a:lvl8pPr algn="l">
              <a:defRPr sz="2250" b="0">
                <a:solidFill>
                  <a:srgbClr val="17273C"/>
                </a:solidFill>
                <a:latin typeface="Arial"/>
                <a:ea typeface="Arial"/>
                <a:cs typeface="Arial"/>
              </a:defRPr>
            </a:lvl8pPr>
            <a:lvl9pPr algn="l">
              <a:defRPr sz="2250" b="0">
                <a:solidFill>
                  <a:srgbClr val="17273C"/>
                </a:solidFill>
                <a:latin typeface="Arial"/>
                <a:ea typeface="Arial"/>
                <a:cs typeface="Arial"/>
              </a:defRPr>
            </a:lvl9pPr>
          </a:lstStyle>
          <a:p xmlns:a="http://schemas.openxmlformats.org/drawingml/2006/main">
            <a:pPr algn="l">
              <a:defRPr sz="2250" b="0">
                <a:solidFill>
                  <a:srgbClr val="17273C"/>
                </a:solidFill>
                <a:latin typeface="Arial"/>
                <a:ea typeface="Arial"/>
                <a:cs typeface="Arial"/>
              </a:defRPr>
            </a:pPr>
            <a:r>
              <a:rPr sz="2250" b="0">
                <a:solidFill>
                  <a:srgbClr val="17273C"/>
                </a:solidFill>
                <a:latin typeface="Arial"/>
                <a:ea typeface="Arial"/>
                <a:cs typeface="Arial"/>
              </a:rPr>
              <a:t>Python hosts our compiler and VM. The VM executes bytecode.</a:t>
            </a:r>
          </a:p>
        </p:txBody>
      </p:sp>
      <p:sp>
        <p:nvSpPr>
          <p:cNvPr id="11" name="Why does mixing syntax work?">
            <a:extLst xmlns:a="http://schemas.openxmlformats.org/drawingml/2006/main">
              <a:ext uri="{FF2B5EF4-FFF2-40B4-BE49-F238E27FC236}">
                <a16:creationId xmlns:a16="http://schemas.microsoft.com/office/drawing/2014/main" id="{15A468B7-8F46-42C3-8DEB-4508134C611D}"/>
              </a:ext>
            </a:extLst>
          </p:cNvPr>
          <p:cNvSpPr>
            <a:spLocks xmlns:a="http://schemas.openxmlformats.org/drawingml/2006/main" noGrp="1"/>
          </p:cNvSpPr>
          <p:nvPr/>
        </p:nvSpPr>
        <p:spPr>
          <a:xfrm xmlns:a="http://schemas.openxmlformats.org/drawingml/2006/main">
            <a:off x="781050" y="6457950"/>
            <a:ext cx="1352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956D7"/>
                </a:solidFill>
                <a:latin typeface="Arial"/>
                <a:ea typeface="Arial"/>
                <a:cs typeface="Arial"/>
              </a:defRPr>
            </a:defPPr>
            <a:lvl1pPr algn="l">
              <a:defRPr sz="2550" b="1">
                <a:solidFill>
                  <a:srgbClr val="2956D7"/>
                </a:solidFill>
                <a:latin typeface="Arial"/>
                <a:ea typeface="Arial"/>
                <a:cs typeface="Arial"/>
              </a:defRPr>
            </a:lvl1pPr>
            <a:lvl2pPr algn="l">
              <a:defRPr sz="2550" b="1">
                <a:solidFill>
                  <a:srgbClr val="2956D7"/>
                </a:solidFill>
                <a:latin typeface="Arial"/>
                <a:ea typeface="Arial"/>
                <a:cs typeface="Arial"/>
              </a:defRPr>
            </a:lvl2pPr>
            <a:lvl3pPr algn="l">
              <a:defRPr sz="2550" b="1">
                <a:solidFill>
                  <a:srgbClr val="2956D7"/>
                </a:solidFill>
                <a:latin typeface="Arial"/>
                <a:ea typeface="Arial"/>
                <a:cs typeface="Arial"/>
              </a:defRPr>
            </a:lvl3pPr>
            <a:lvl4pPr algn="l">
              <a:defRPr sz="2550" b="1">
                <a:solidFill>
                  <a:srgbClr val="2956D7"/>
                </a:solidFill>
                <a:latin typeface="Arial"/>
                <a:ea typeface="Arial"/>
                <a:cs typeface="Arial"/>
              </a:defRPr>
            </a:lvl4pPr>
            <a:lvl5pPr algn="l">
              <a:defRPr sz="2550" b="1">
                <a:solidFill>
                  <a:srgbClr val="2956D7"/>
                </a:solidFill>
                <a:latin typeface="Arial"/>
                <a:ea typeface="Arial"/>
                <a:cs typeface="Arial"/>
              </a:defRPr>
            </a:lvl5pPr>
            <a:lvl6pPr algn="l">
              <a:defRPr sz="2550" b="1">
                <a:solidFill>
                  <a:srgbClr val="2956D7"/>
                </a:solidFill>
                <a:latin typeface="Arial"/>
                <a:ea typeface="Arial"/>
                <a:cs typeface="Arial"/>
              </a:defRPr>
            </a:lvl6pPr>
            <a:lvl7pPr algn="l">
              <a:defRPr sz="2550" b="1">
                <a:solidFill>
                  <a:srgbClr val="2956D7"/>
                </a:solidFill>
                <a:latin typeface="Arial"/>
                <a:ea typeface="Arial"/>
                <a:cs typeface="Arial"/>
              </a:defRPr>
            </a:lvl7pPr>
            <a:lvl8pPr algn="l">
              <a:defRPr sz="2550" b="1">
                <a:solidFill>
                  <a:srgbClr val="2956D7"/>
                </a:solidFill>
                <a:latin typeface="Arial"/>
                <a:ea typeface="Arial"/>
                <a:cs typeface="Arial"/>
              </a:defRPr>
            </a:lvl8pPr>
            <a:lvl9pPr algn="l">
              <a:defRPr sz="2550" b="1">
                <a:solidFill>
                  <a:srgbClr val="2956D7"/>
                </a:solidFill>
                <a:latin typeface="Arial"/>
                <a:ea typeface="Arial"/>
                <a:cs typeface="Arial"/>
              </a:defRPr>
            </a:lvl9pPr>
          </a:lstStyle>
          <a:p xmlns:a="http://schemas.openxmlformats.org/drawingml/2006/main">
            <a:pPr algn="l">
              <a:defRPr sz="2550" b="1">
                <a:solidFill>
                  <a:srgbClr val="2956D7"/>
                </a:solidFill>
                <a:latin typeface="Arial"/>
                <a:ea typeface="Arial"/>
                <a:cs typeface="Arial"/>
              </a:defRPr>
            </a:pPr>
            <a:r>
              <a:rPr sz="2550" b="1">
                <a:solidFill>
                  <a:srgbClr val="2956D7"/>
                </a:solidFill>
                <a:latin typeface="Arial"/>
                <a:ea typeface="Arial"/>
                <a:cs typeface="Arial"/>
              </a:rPr>
              <a:t>Why does mixing syntax work?</a:t>
            </a:r>
          </a:p>
        </p:txBody>
      </p:sp>
      <p:sp>
        <p:nvSpPr>
          <p:cNvPr id="12" name="Names, types and operations share one semantic model.">
            <a:extLst xmlns:a="http://schemas.openxmlformats.org/drawingml/2006/main">
              <a:ext uri="{FF2B5EF4-FFF2-40B4-BE49-F238E27FC236}">
                <a16:creationId xmlns:a16="http://schemas.microsoft.com/office/drawing/2014/main" id="{2362A2E4-689B-41FB-B008-D81360298269}"/>
              </a:ext>
            </a:extLst>
          </p:cNvPr>
          <p:cNvSpPr>
            <a:spLocks xmlns:a="http://schemas.openxmlformats.org/drawingml/2006/main" noGrp="1"/>
          </p:cNvSpPr>
          <p:nvPr/>
        </p:nvSpPr>
        <p:spPr>
          <a:xfrm xmlns:a="http://schemas.openxmlformats.org/drawingml/2006/main">
            <a:off x="781050" y="6915150"/>
            <a:ext cx="1352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73C"/>
                </a:solidFill>
                <a:latin typeface="Arial"/>
                <a:ea typeface="Arial"/>
                <a:cs typeface="Arial"/>
              </a:defRPr>
            </a:defPPr>
            <a:lvl1pPr algn="l">
              <a:defRPr sz="2250" b="0">
                <a:solidFill>
                  <a:srgbClr val="17273C"/>
                </a:solidFill>
                <a:latin typeface="Arial"/>
                <a:ea typeface="Arial"/>
                <a:cs typeface="Arial"/>
              </a:defRPr>
            </a:lvl1pPr>
            <a:lvl2pPr algn="l">
              <a:defRPr sz="2250" b="0">
                <a:solidFill>
                  <a:srgbClr val="17273C"/>
                </a:solidFill>
                <a:latin typeface="Arial"/>
                <a:ea typeface="Arial"/>
                <a:cs typeface="Arial"/>
              </a:defRPr>
            </a:lvl2pPr>
            <a:lvl3pPr algn="l">
              <a:defRPr sz="2250" b="0">
                <a:solidFill>
                  <a:srgbClr val="17273C"/>
                </a:solidFill>
                <a:latin typeface="Arial"/>
                <a:ea typeface="Arial"/>
                <a:cs typeface="Arial"/>
              </a:defRPr>
            </a:lvl3pPr>
            <a:lvl4pPr algn="l">
              <a:defRPr sz="2250" b="0">
                <a:solidFill>
                  <a:srgbClr val="17273C"/>
                </a:solidFill>
                <a:latin typeface="Arial"/>
                <a:ea typeface="Arial"/>
                <a:cs typeface="Arial"/>
              </a:defRPr>
            </a:lvl4pPr>
            <a:lvl5pPr algn="l">
              <a:defRPr sz="2250" b="0">
                <a:solidFill>
                  <a:srgbClr val="17273C"/>
                </a:solidFill>
                <a:latin typeface="Arial"/>
                <a:ea typeface="Arial"/>
                <a:cs typeface="Arial"/>
              </a:defRPr>
            </a:lvl5pPr>
            <a:lvl6pPr algn="l">
              <a:defRPr sz="2250" b="0">
                <a:solidFill>
                  <a:srgbClr val="17273C"/>
                </a:solidFill>
                <a:latin typeface="Arial"/>
                <a:ea typeface="Arial"/>
                <a:cs typeface="Arial"/>
              </a:defRPr>
            </a:lvl6pPr>
            <a:lvl7pPr algn="l">
              <a:defRPr sz="2250" b="0">
                <a:solidFill>
                  <a:srgbClr val="17273C"/>
                </a:solidFill>
                <a:latin typeface="Arial"/>
                <a:ea typeface="Arial"/>
                <a:cs typeface="Arial"/>
              </a:defRPr>
            </a:lvl7pPr>
            <a:lvl8pPr algn="l">
              <a:defRPr sz="2250" b="0">
                <a:solidFill>
                  <a:srgbClr val="17273C"/>
                </a:solidFill>
                <a:latin typeface="Arial"/>
                <a:ea typeface="Arial"/>
                <a:cs typeface="Arial"/>
              </a:defRPr>
            </a:lvl8pPr>
            <a:lvl9pPr algn="l">
              <a:defRPr sz="2250" b="0">
                <a:solidFill>
                  <a:srgbClr val="17273C"/>
                </a:solidFill>
                <a:latin typeface="Arial"/>
                <a:ea typeface="Arial"/>
                <a:cs typeface="Arial"/>
              </a:defRPr>
            </a:lvl9pPr>
          </a:lstStyle>
          <a:p xmlns:a="http://schemas.openxmlformats.org/drawingml/2006/main">
            <a:pPr algn="l">
              <a:defRPr sz="2250" b="0">
                <a:solidFill>
                  <a:srgbClr val="17273C"/>
                </a:solidFill>
                <a:latin typeface="Arial"/>
                <a:ea typeface="Arial"/>
                <a:cs typeface="Arial"/>
              </a:defRPr>
            </a:pPr>
            <a:r>
              <a:rPr sz="2250" b="0">
                <a:solidFill>
                  <a:srgbClr val="17273C"/>
                </a:solidFill>
                <a:latin typeface="Arial"/>
                <a:ea typeface="Arial"/>
                <a:cs typeface="Arial"/>
              </a:rPr>
              <a:t>Names, types and operations share one semantic model.</a:t>
            </a:r>
          </a:p>
        </p:txBody>
      </p:sp>
    </p:spTree>
    <p:extLst>
      <p:ext uri="{BB962C8B-B14F-4D97-AF65-F5344CB8AC3E}">
        <p14:creationId xmlns:p14="http://schemas.microsoft.com/office/powerpoint/2010/main" val="215431798"/>
      </p:ext>
    </p:extLst>
  </p:cSld>
</p:sld>
</file>

<file path=ppt/slides/slide3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Appendix: four-presenter plan">
            <a:extLst xmlns:a="http://schemas.openxmlformats.org/drawingml/2006/main">
              <a:ext uri="{FF2B5EF4-FFF2-40B4-BE49-F238E27FC236}">
                <a16:creationId xmlns:a16="http://schemas.microsoft.com/office/drawing/2014/main" id="{8CBF9639-802F-439C-A68B-0C7603194883}"/>
              </a:ext>
            </a:extLst>
          </p:cNvPr>
          <p:cNvSpPr>
            <a:spLocks xmlns:a="http://schemas.openxmlformats.org/drawingml/2006/main" noGrp="1"/>
          </p:cNvSpPr>
          <p:nvPr/>
        </p:nvSpPr>
        <p:spPr>
          <a:xfrm xmlns:a="http://schemas.openxmlformats.org/drawingml/2006/main">
            <a:off x="762000" y="600075"/>
            <a:ext cx="1362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73C"/>
                </a:solidFill>
                <a:latin typeface="Arial"/>
                <a:ea typeface="Arial"/>
                <a:cs typeface="Arial"/>
              </a:defRPr>
            </a:defPPr>
            <a:lvl1pPr algn="l">
              <a:defRPr sz="4350" b="1">
                <a:solidFill>
                  <a:srgbClr val="17273C"/>
                </a:solidFill>
                <a:latin typeface="Arial"/>
                <a:ea typeface="Arial"/>
                <a:cs typeface="Arial"/>
              </a:defRPr>
            </a:lvl1pPr>
            <a:lvl2pPr algn="l">
              <a:defRPr sz="4350" b="1">
                <a:solidFill>
                  <a:srgbClr val="17273C"/>
                </a:solidFill>
                <a:latin typeface="Arial"/>
                <a:ea typeface="Arial"/>
                <a:cs typeface="Arial"/>
              </a:defRPr>
            </a:lvl2pPr>
            <a:lvl3pPr algn="l">
              <a:defRPr sz="4350" b="1">
                <a:solidFill>
                  <a:srgbClr val="17273C"/>
                </a:solidFill>
                <a:latin typeface="Arial"/>
                <a:ea typeface="Arial"/>
                <a:cs typeface="Arial"/>
              </a:defRPr>
            </a:lvl3pPr>
            <a:lvl4pPr algn="l">
              <a:defRPr sz="4350" b="1">
                <a:solidFill>
                  <a:srgbClr val="17273C"/>
                </a:solidFill>
                <a:latin typeface="Arial"/>
                <a:ea typeface="Arial"/>
                <a:cs typeface="Arial"/>
              </a:defRPr>
            </a:lvl4pPr>
            <a:lvl5pPr algn="l">
              <a:defRPr sz="4350" b="1">
                <a:solidFill>
                  <a:srgbClr val="17273C"/>
                </a:solidFill>
                <a:latin typeface="Arial"/>
                <a:ea typeface="Arial"/>
                <a:cs typeface="Arial"/>
              </a:defRPr>
            </a:lvl5pPr>
            <a:lvl6pPr algn="l">
              <a:defRPr sz="4350" b="1">
                <a:solidFill>
                  <a:srgbClr val="17273C"/>
                </a:solidFill>
                <a:latin typeface="Arial"/>
                <a:ea typeface="Arial"/>
                <a:cs typeface="Arial"/>
              </a:defRPr>
            </a:lvl6pPr>
            <a:lvl7pPr algn="l">
              <a:defRPr sz="4350" b="1">
                <a:solidFill>
                  <a:srgbClr val="17273C"/>
                </a:solidFill>
                <a:latin typeface="Arial"/>
                <a:ea typeface="Arial"/>
                <a:cs typeface="Arial"/>
              </a:defRPr>
            </a:lvl7pPr>
            <a:lvl8pPr algn="l">
              <a:defRPr sz="4350" b="1">
                <a:solidFill>
                  <a:srgbClr val="17273C"/>
                </a:solidFill>
                <a:latin typeface="Arial"/>
                <a:ea typeface="Arial"/>
                <a:cs typeface="Arial"/>
              </a:defRPr>
            </a:lvl8pPr>
            <a:lvl9pPr algn="l">
              <a:defRPr sz="4350" b="1">
                <a:solidFill>
                  <a:srgbClr val="17273C"/>
                </a:solidFill>
                <a:latin typeface="Arial"/>
                <a:ea typeface="Arial"/>
                <a:cs typeface="Arial"/>
              </a:defRPr>
            </a:lvl9pPr>
          </a:lstStyle>
          <a:p xmlns:a="http://schemas.openxmlformats.org/drawingml/2006/main">
            <a:pPr algn="l">
              <a:defRPr sz="4350" b="1">
                <a:solidFill>
                  <a:srgbClr val="17273C"/>
                </a:solidFill>
                <a:latin typeface="Arial"/>
                <a:ea typeface="Arial"/>
                <a:cs typeface="Arial"/>
              </a:defRPr>
            </a:pPr>
            <a:r>
              <a:rPr sz="4350" b="1">
                <a:solidFill>
                  <a:srgbClr val="17273C"/>
                </a:solidFill>
                <a:latin typeface="Arial"/>
                <a:ea typeface="Arial"/>
                <a:cs typeface="Arial"/>
              </a:rPr>
              <a:t>Appendix: four-presenter plan</a:t>
            </a:r>
          </a:p>
        </p:txBody>
      </p:sp>
      <p:sp>
        <p:nvSpPr>
          <p:cNvPr id="2" name="Suggested speaking split with a concrete handoff at eac">
            <a:extLst xmlns:a="http://schemas.openxmlformats.org/drawingml/2006/main">
              <a:ext uri="{FF2B5EF4-FFF2-40B4-BE49-F238E27FC236}">
                <a16:creationId xmlns:a16="http://schemas.microsoft.com/office/drawing/2014/main" id="{6829EC5D-5E8D-4733-9D08-FDB3ACBA29D8}"/>
              </a:ext>
            </a:extLst>
          </p:cNvPr>
          <p:cNvSpPr>
            <a:spLocks xmlns:a="http://schemas.openxmlformats.org/drawingml/2006/main" noGrp="1"/>
          </p:cNvSpPr>
          <p:nvPr/>
        </p:nvSpPr>
        <p:spPr>
          <a:xfrm xmlns:a="http://schemas.openxmlformats.org/drawingml/2006/main">
            <a:off x="781050" y="1581150"/>
            <a:ext cx="1357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96577"/>
                </a:solidFill>
                <a:latin typeface="Arial"/>
                <a:ea typeface="Arial"/>
                <a:cs typeface="Arial"/>
              </a:defRPr>
            </a:defPPr>
            <a:lvl1pPr algn="l">
              <a:defRPr sz="2250" b="0">
                <a:solidFill>
                  <a:srgbClr val="596577"/>
                </a:solidFill>
                <a:latin typeface="Arial"/>
                <a:ea typeface="Arial"/>
                <a:cs typeface="Arial"/>
              </a:defRPr>
            </a:lvl1pPr>
            <a:lvl2pPr algn="l">
              <a:defRPr sz="2250" b="0">
                <a:solidFill>
                  <a:srgbClr val="596577"/>
                </a:solidFill>
                <a:latin typeface="Arial"/>
                <a:ea typeface="Arial"/>
                <a:cs typeface="Arial"/>
              </a:defRPr>
            </a:lvl2pPr>
            <a:lvl3pPr algn="l">
              <a:defRPr sz="2250" b="0">
                <a:solidFill>
                  <a:srgbClr val="596577"/>
                </a:solidFill>
                <a:latin typeface="Arial"/>
                <a:ea typeface="Arial"/>
                <a:cs typeface="Arial"/>
              </a:defRPr>
            </a:lvl3pPr>
            <a:lvl4pPr algn="l">
              <a:defRPr sz="2250" b="0">
                <a:solidFill>
                  <a:srgbClr val="596577"/>
                </a:solidFill>
                <a:latin typeface="Arial"/>
                <a:ea typeface="Arial"/>
                <a:cs typeface="Arial"/>
              </a:defRPr>
            </a:lvl4pPr>
            <a:lvl5pPr algn="l">
              <a:defRPr sz="2250" b="0">
                <a:solidFill>
                  <a:srgbClr val="596577"/>
                </a:solidFill>
                <a:latin typeface="Arial"/>
                <a:ea typeface="Arial"/>
                <a:cs typeface="Arial"/>
              </a:defRPr>
            </a:lvl5pPr>
            <a:lvl6pPr algn="l">
              <a:defRPr sz="2250" b="0">
                <a:solidFill>
                  <a:srgbClr val="596577"/>
                </a:solidFill>
                <a:latin typeface="Arial"/>
                <a:ea typeface="Arial"/>
                <a:cs typeface="Arial"/>
              </a:defRPr>
            </a:lvl6pPr>
            <a:lvl7pPr algn="l">
              <a:defRPr sz="2250" b="0">
                <a:solidFill>
                  <a:srgbClr val="596577"/>
                </a:solidFill>
                <a:latin typeface="Arial"/>
                <a:ea typeface="Arial"/>
                <a:cs typeface="Arial"/>
              </a:defRPr>
            </a:lvl7pPr>
            <a:lvl8pPr algn="l">
              <a:defRPr sz="2250" b="0">
                <a:solidFill>
                  <a:srgbClr val="596577"/>
                </a:solidFill>
                <a:latin typeface="Arial"/>
                <a:ea typeface="Arial"/>
                <a:cs typeface="Arial"/>
              </a:defRPr>
            </a:lvl8pPr>
            <a:lvl9pPr algn="l">
              <a:defRPr sz="2250" b="0">
                <a:solidFill>
                  <a:srgbClr val="596577"/>
                </a:solidFill>
                <a:latin typeface="Arial"/>
                <a:ea typeface="Arial"/>
                <a:cs typeface="Arial"/>
              </a:defRPr>
            </a:lvl9pPr>
          </a:lstStyle>
          <a:p xmlns:a="http://schemas.openxmlformats.org/drawingml/2006/main">
            <a:pPr algn="l">
              <a:defRPr sz="2250" b="0">
                <a:solidFill>
                  <a:srgbClr val="596577"/>
                </a:solidFill>
                <a:latin typeface="Arial"/>
                <a:ea typeface="Arial"/>
                <a:cs typeface="Arial"/>
              </a:defRPr>
            </a:pPr>
            <a:r>
              <a:rPr sz="2250" b="0">
                <a:solidFill>
                  <a:srgbClr val="596577"/>
                </a:solidFill>
                <a:latin typeface="Arial"/>
                <a:ea typeface="Arial"/>
                <a:cs typeface="Arial"/>
              </a:rPr>
              <a:t>Suggested speaking split with a concrete handoff at each stage</a:t>
            </a:r>
          </a:p>
        </p:txBody>
      </p:sp>
      <p:sp>
        <p:nvSpPr>
          <p:cNvPr id="3" name="36">
            <a:extLst xmlns:a="http://schemas.openxmlformats.org/drawingml/2006/main">
              <a:ext uri="{FF2B5EF4-FFF2-40B4-BE49-F238E27FC236}">
                <a16:creationId xmlns:a16="http://schemas.microsoft.com/office/drawing/2014/main" id="{10E8D131-3093-4630-8088-6923199B9D56}"/>
              </a:ext>
            </a:extLst>
          </p:cNvPr>
          <p:cNvSpPr>
            <a:spLocks xmlns:a="http://schemas.openxmlformats.org/drawingml/2006/main" noGrp="1"/>
          </p:cNvSpPr>
          <p:nvPr/>
        </p:nvSpPr>
        <p:spPr>
          <a:xfrm xmlns:a="http://schemas.openxmlformats.org/drawingml/2006/main">
            <a:off x="13906500" y="8058150"/>
            <a:ext cx="60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96577"/>
                </a:solidFill>
                <a:latin typeface="Arial"/>
                <a:ea typeface="Arial"/>
                <a:cs typeface="Arial"/>
              </a:defRPr>
            </a:defPPr>
            <a:lvl1pPr algn="r">
              <a:defRPr sz="1500" b="0">
                <a:solidFill>
                  <a:srgbClr val="596577"/>
                </a:solidFill>
                <a:latin typeface="Arial"/>
                <a:ea typeface="Arial"/>
                <a:cs typeface="Arial"/>
              </a:defRPr>
            </a:lvl1pPr>
            <a:lvl2pPr algn="r">
              <a:defRPr sz="1500" b="0">
                <a:solidFill>
                  <a:srgbClr val="596577"/>
                </a:solidFill>
                <a:latin typeface="Arial"/>
                <a:ea typeface="Arial"/>
                <a:cs typeface="Arial"/>
              </a:defRPr>
            </a:lvl2pPr>
            <a:lvl3pPr algn="r">
              <a:defRPr sz="1500" b="0">
                <a:solidFill>
                  <a:srgbClr val="596577"/>
                </a:solidFill>
                <a:latin typeface="Arial"/>
                <a:ea typeface="Arial"/>
                <a:cs typeface="Arial"/>
              </a:defRPr>
            </a:lvl3pPr>
            <a:lvl4pPr algn="r">
              <a:defRPr sz="1500" b="0">
                <a:solidFill>
                  <a:srgbClr val="596577"/>
                </a:solidFill>
                <a:latin typeface="Arial"/>
                <a:ea typeface="Arial"/>
                <a:cs typeface="Arial"/>
              </a:defRPr>
            </a:lvl4pPr>
            <a:lvl5pPr algn="r">
              <a:defRPr sz="1500" b="0">
                <a:solidFill>
                  <a:srgbClr val="596577"/>
                </a:solidFill>
                <a:latin typeface="Arial"/>
                <a:ea typeface="Arial"/>
                <a:cs typeface="Arial"/>
              </a:defRPr>
            </a:lvl5pPr>
            <a:lvl6pPr algn="r">
              <a:defRPr sz="1500" b="0">
                <a:solidFill>
                  <a:srgbClr val="596577"/>
                </a:solidFill>
                <a:latin typeface="Arial"/>
                <a:ea typeface="Arial"/>
                <a:cs typeface="Arial"/>
              </a:defRPr>
            </a:lvl6pPr>
            <a:lvl7pPr algn="r">
              <a:defRPr sz="1500" b="0">
                <a:solidFill>
                  <a:srgbClr val="596577"/>
                </a:solidFill>
                <a:latin typeface="Arial"/>
                <a:ea typeface="Arial"/>
                <a:cs typeface="Arial"/>
              </a:defRPr>
            </a:lvl7pPr>
            <a:lvl8pPr algn="r">
              <a:defRPr sz="1500" b="0">
                <a:solidFill>
                  <a:srgbClr val="596577"/>
                </a:solidFill>
                <a:latin typeface="Arial"/>
                <a:ea typeface="Arial"/>
                <a:cs typeface="Arial"/>
              </a:defRPr>
            </a:lvl8pPr>
            <a:lvl9pPr algn="r">
              <a:defRPr sz="1500" b="0">
                <a:solidFill>
                  <a:srgbClr val="596577"/>
                </a:solidFill>
                <a:latin typeface="Arial"/>
                <a:ea typeface="Arial"/>
                <a:cs typeface="Arial"/>
              </a:defRPr>
            </a:lvl9pPr>
          </a:lstStyle>
          <a:p xmlns:a="http://schemas.openxmlformats.org/drawingml/2006/main">
            <a:pPr algn="r">
              <a:defRPr sz="1500" b="0">
                <a:solidFill>
                  <a:srgbClr val="596577"/>
                </a:solidFill>
                <a:latin typeface="Arial"/>
                <a:ea typeface="Arial"/>
                <a:cs typeface="Arial"/>
              </a:defRPr>
            </a:pPr>
            <a:r>
              <a:rPr sz="1500" b="0">
                <a:solidFill>
                  <a:srgbClr val="596577"/>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607349E4-C9CD-4065-93B0-99C20E3B414C}"/>
              </a:ext>
            </a:extLst>
          </p:cNvPr>
          <p:cNvGraphicFramePr/>
          <p:nvPr/>
        </p:nvGraphicFramePr>
        <p:xfrm>
          <a:off xmlns:a="http://schemas.openxmlformats.org/drawingml/2006/main" x="781050" y="2647950"/>
          <a:ext xmlns:a="http://schemas.openxmlformats.org/drawingml/2006/main" cx="13620750" cy="3429000"/>
        </p:xfrm>
        <a:graphic xmlns:a="http://schemas.openxmlformats.org/drawingml/2006/main">
          <a:graphicData uri="http://schemas.openxmlformats.org/drawingml/2006/table">
            <a:tbl>
              <a:tblPr/>
              <a:tblGrid>
                <a:gridCol w="2190750"/>
                <a:gridCol w="2190750"/>
                <a:gridCol w="9239250"/>
              </a:tblGrid>
              <a:tr h="685800">
                <a:tc>
                  <a:txBody>
                    <a:bodyPr lIns="142875" tIns="142875" rIns="142875" bIns="142875"/>
                    <a:lstStyle/>
                    <a:p>
                      <a:r>
                        <a:rPr sz="2175" b="1">
                          <a:solidFill>
                            <a:srgbClr val="17273C"/>
                          </a:solidFill>
                          <a:latin typeface="Arial"/>
                          <a:ea typeface="Arial"/>
                          <a:cs typeface="Arial"/>
                        </a:rPr>
                        <a:t>Presenter</a:t>
                      </a:r>
                    </a:p>
                  </a:txBody>
                  <a:tcPr marL="91440" marR="91440" marT="45720" marB="45720" anchor="ctr">
                    <a:lnL w="7620">
                      <a:solidFill>
                        <a:srgbClr val="CDD3D9"/>
                      </a:solidFill>
                      <a:prstDash val="solid"/>
                    </a:lnL>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175" b="1">
                          <a:solidFill>
                            <a:srgbClr val="17273C"/>
                          </a:solidFill>
                          <a:latin typeface="Arial"/>
                          <a:ea typeface="Arial"/>
                          <a:cs typeface="Arial"/>
                        </a:rPr>
                        <a:t>Main slides</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c>
                  <a:txBody>
                    <a:bodyPr lIns="142875" tIns="142875" rIns="142875" bIns="142875"/>
                    <a:lstStyle/>
                    <a:p>
                      <a:r>
                        <a:rPr sz="2175" b="1">
                          <a:solidFill>
                            <a:srgbClr val="17273C"/>
                          </a:solidFill>
                          <a:latin typeface="Arial"/>
                          <a:ea typeface="Arial"/>
                          <a:cs typeface="Arial"/>
                        </a:rPr>
                        <a:t>Responsibility</a:t>
                      </a:r>
                    </a:p>
                  </a:txBody>
                  <a:tcPr marL="91440" marR="91440" marT="45720" marB="45720" anchor="ctr">
                    <a:lnR w="7620">
                      <a:solidFill>
                        <a:srgbClr val="CDD3D9"/>
                      </a:solidFill>
                      <a:prstDash val="solid"/>
                    </a:lnR>
                    <a:lnT w="7620">
                      <a:solidFill>
                        <a:srgbClr val="CDD3D9"/>
                      </a:solidFill>
                      <a:prstDash val="solid"/>
                    </a:lnT>
                    <a:lnB w="7620">
                      <a:solidFill>
                        <a:srgbClr val="CDD3D9"/>
                      </a:solidFill>
                      <a:prstDash val="solid"/>
                    </a:lnB>
                    <a:solidFill>
                      <a:srgbClr val="E8EDF9"/>
                    </a:solidFill>
                  </a:tcPr>
                </a:tc>
              </a:tr>
              <a:tr h="685800">
                <a:tc>
                  <a:txBody>
                    <a:bodyPr lIns="142875" tIns="142875" rIns="142875" bIns="142875"/>
                    <a:lstStyle/>
                    <a:p>
                      <a:r>
                        <a:rPr sz="2175" b="0">
                          <a:solidFill>
                            <a:srgbClr val="17273C"/>
                          </a:solidFill>
                          <a:latin typeface="Arial"/>
                          <a:ea typeface="Arial"/>
                          <a:cs typeface="Arial"/>
                        </a:rPr>
                        <a:t>1</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1–7</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Problem, scope, system architecture and grammar dispatch</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85800">
                <a:tc>
                  <a:txBody>
                    <a:bodyPr lIns="142875" tIns="142875" rIns="142875" bIns="142875"/>
                    <a:lstStyle/>
                    <a:p>
                      <a:r>
                        <a:rPr sz="2175" b="0">
                          <a:solidFill>
                            <a:srgbClr val="17273C"/>
                          </a:solidFill>
                          <a:latin typeface="Arial"/>
                          <a:ea typeface="Arial"/>
                          <a:cs typeface="Arial"/>
                        </a:rPr>
                        <a:t>2</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8–13</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Lexer, parsing, AST, mixed blocks and semantic errors</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85800">
                <a:tc>
                  <a:txBody>
                    <a:bodyPr lIns="142875" tIns="142875" rIns="142875" bIns="142875"/>
                    <a:lstStyle/>
                    <a:p>
                      <a:r>
                        <a:rPr sz="2175" b="0">
                          <a:solidFill>
                            <a:srgbClr val="17273C"/>
                          </a:solidFill>
                          <a:latin typeface="Arial"/>
                          <a:ea typeface="Arial"/>
                          <a:cs typeface="Arial"/>
                        </a:rPr>
                        <a:t>3</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14–20</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IR, CFG, data flow, optimization and bytecode generation</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r h="685800">
                <a:tc>
                  <a:txBody>
                    <a:bodyPr lIns="142875" tIns="142875" rIns="142875" bIns="142875"/>
                    <a:lstStyle/>
                    <a:p>
                      <a:r>
                        <a:rPr sz="2175" b="0">
                          <a:solidFill>
                            <a:srgbClr val="17273C"/>
                          </a:solidFill>
                          <a:latin typeface="Arial"/>
                          <a:ea typeface="Arial"/>
                          <a:cs typeface="Arial"/>
                        </a:rPr>
                        <a:t>4</a:t>
                      </a:r>
                    </a:p>
                  </a:txBody>
                  <a:tcPr marL="91440" marR="91440" marT="45720" marB="45720" anchor="ctr">
                    <a:lnL w="7620">
                      <a:solidFill>
                        <a:srgbClr val="CDD3D9"/>
                      </a:solidFill>
                      <a:prstDash val="solid"/>
                    </a:lnL>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21–32</a:t>
                      </a:r>
                    </a:p>
                  </a:txBody>
                  <a:tcPr marL="91440" marR="91440" marT="45720" marB="45720" anchor="ctr">
                    <a:lnR w="7620">
                      <a:solidFill>
                        <a:srgbClr val="CDD3D9"/>
                      </a:solidFill>
                      <a:prstDash val="solid"/>
                    </a:lnR>
                    <a:lnB w="7620">
                      <a:solidFill>
                        <a:srgbClr val="CDD3D9"/>
                      </a:solidFill>
                      <a:prstDash val="solid"/>
                    </a:lnB>
                    <a:solidFill>
                      <a:srgbClr val="F7F5F0"/>
                    </a:solidFill>
                  </a:tcPr>
                </a:tc>
                <a:tc>
                  <a:txBody>
                    <a:bodyPr lIns="142875" tIns="142875" rIns="142875" bIns="142875"/>
                    <a:lstStyle/>
                    <a:p>
                      <a:r>
                        <a:rPr sz="2175" b="0">
                          <a:solidFill>
                            <a:srgbClr val="17273C"/>
                          </a:solidFill>
                          <a:latin typeface="Arial"/>
                          <a:ea typeface="Arial"/>
                          <a:cs typeface="Arial"/>
                        </a:rPr>
                        <a:t>Artifacts, VM, arrays, live demo, evidence and boundaries</a:t>
                      </a:r>
                    </a:p>
                  </a:txBody>
                  <a:tcPr marL="91440" marR="91440" marT="45720" marB="45720" anchor="ctr">
                    <a:lnR w="7620">
                      <a:solidFill>
                        <a:srgbClr val="CDD3D9"/>
                      </a:solidFill>
                      <a:prstDash val="solid"/>
                    </a:lnR>
                    <a:lnB w="7620">
                      <a:solidFill>
                        <a:srgbClr val="CDD3D9"/>
                      </a:solidFill>
                      <a:prstDash val="solid"/>
                    </a:lnB>
                    <a:solidFill>
                      <a:srgbClr val="F7F5F0"/>
                    </a:solidFill>
                  </a:tcPr>
                </a:tc>
              </a:tr>
            </a:tbl>
          </a:graphicData>
        </a:graphic>
      </p:graphicFrame>
      <p:sp>
        <p:nvSpPr>
          <p:cNvPr id="5" name="cd /Users/Umang/Documents/polyglot&#10;python3 run_polyglot">
            <a:extLst xmlns:a="http://schemas.openxmlformats.org/drawingml/2006/main">
              <a:ext uri="{FF2B5EF4-FFF2-40B4-BE49-F238E27FC236}">
                <a16:creationId xmlns:a16="http://schemas.microsoft.com/office/drawing/2014/main" id="{5712A30D-02E7-408E-B04E-84E7B3631440}"/>
              </a:ext>
            </a:extLst>
          </p:cNvPr>
          <p:cNvSpPr>
            <a:spLocks xmlns:a="http://schemas.openxmlformats.org/drawingml/2006/main" noGrp="1"/>
          </p:cNvSpPr>
          <p:nvPr/>
        </p:nvSpPr>
        <p:spPr>
          <a:xfrm xmlns:a="http://schemas.openxmlformats.org/drawingml/2006/main">
            <a:off x="781050" y="6667500"/>
            <a:ext cx="1362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62237"/>
                </a:solidFill>
                <a:latin typeface="Courier New"/>
                <a:ea typeface="Courier New"/>
                <a:cs typeface="Courier New"/>
              </a:defRPr>
            </a:defPPr>
            <a:lvl1pPr algn="l">
              <a:defRPr sz="2175" b="0">
                <a:solidFill>
                  <a:srgbClr val="162237"/>
                </a:solidFill>
                <a:latin typeface="Courier New"/>
                <a:ea typeface="Courier New"/>
                <a:cs typeface="Courier New"/>
              </a:defRPr>
            </a:lvl1pPr>
            <a:lvl2pPr algn="l">
              <a:defRPr sz="2175" b="0">
                <a:solidFill>
                  <a:srgbClr val="162237"/>
                </a:solidFill>
                <a:latin typeface="Courier New"/>
                <a:ea typeface="Courier New"/>
                <a:cs typeface="Courier New"/>
              </a:defRPr>
            </a:lvl2pPr>
            <a:lvl3pPr algn="l">
              <a:defRPr sz="2175" b="0">
                <a:solidFill>
                  <a:srgbClr val="162237"/>
                </a:solidFill>
                <a:latin typeface="Courier New"/>
                <a:ea typeface="Courier New"/>
                <a:cs typeface="Courier New"/>
              </a:defRPr>
            </a:lvl3pPr>
            <a:lvl4pPr algn="l">
              <a:defRPr sz="2175" b="0">
                <a:solidFill>
                  <a:srgbClr val="162237"/>
                </a:solidFill>
                <a:latin typeface="Courier New"/>
                <a:ea typeface="Courier New"/>
                <a:cs typeface="Courier New"/>
              </a:defRPr>
            </a:lvl4pPr>
            <a:lvl5pPr algn="l">
              <a:defRPr sz="2175" b="0">
                <a:solidFill>
                  <a:srgbClr val="162237"/>
                </a:solidFill>
                <a:latin typeface="Courier New"/>
                <a:ea typeface="Courier New"/>
                <a:cs typeface="Courier New"/>
              </a:defRPr>
            </a:lvl5pPr>
            <a:lvl6pPr algn="l">
              <a:defRPr sz="2175" b="0">
                <a:solidFill>
                  <a:srgbClr val="162237"/>
                </a:solidFill>
                <a:latin typeface="Courier New"/>
                <a:ea typeface="Courier New"/>
                <a:cs typeface="Courier New"/>
              </a:defRPr>
            </a:lvl6pPr>
            <a:lvl7pPr algn="l">
              <a:defRPr sz="2175" b="0">
                <a:solidFill>
                  <a:srgbClr val="162237"/>
                </a:solidFill>
                <a:latin typeface="Courier New"/>
                <a:ea typeface="Courier New"/>
                <a:cs typeface="Courier New"/>
              </a:defRPr>
            </a:lvl7pPr>
            <a:lvl8pPr algn="l">
              <a:defRPr sz="2175" b="0">
                <a:solidFill>
                  <a:srgbClr val="162237"/>
                </a:solidFill>
                <a:latin typeface="Courier New"/>
                <a:ea typeface="Courier New"/>
                <a:cs typeface="Courier New"/>
              </a:defRPr>
            </a:lvl8pPr>
            <a:lvl9pPr algn="l">
              <a:defRPr sz="2175" b="0">
                <a:solidFill>
                  <a:srgbClr val="162237"/>
                </a:solidFill>
                <a:latin typeface="Courier New"/>
                <a:ea typeface="Courier New"/>
                <a:cs typeface="Courier New"/>
              </a:defRPr>
            </a:lvl9pPr>
          </a:lstStyle>
          <a:p xmlns:a="http://schemas.openxmlformats.org/drawingml/2006/main">
            <a:pPr algn="l">
              <a:defRPr sz="2175" b="0">
                <a:solidFill>
                  <a:srgbClr val="162237"/>
                </a:solidFill>
                <a:latin typeface="Courier New"/>
                <a:ea typeface="Courier New"/>
                <a:cs typeface="Courier New"/>
              </a:defRPr>
            </a:pPr>
            <a:r>
              <a:rPr sz="2175" b="0">
                <a:solidFill>
                  <a:srgbClr val="162237"/>
                </a:solidFill>
                <a:latin typeface="Courier New"/>
                <a:ea typeface="Courier New"/>
                <a:cs typeface="Courier New"/>
              </a:rPr>
              <a:t>cd /Users/Umang/Documents/polyglot</a:t>
            </a:r>
          </a:p>
          <a:p xmlns:a="http://schemas.openxmlformats.org/drawingml/2006/main">
            <a:pPr algn="l">
              <a:defRPr sz="2175" b="0">
                <a:solidFill>
                  <a:srgbClr val="162237"/>
                </a:solidFill>
                <a:latin typeface="Courier New"/>
                <a:ea typeface="Courier New"/>
                <a:cs typeface="Courier New"/>
              </a:defRPr>
            </a:pPr>
            <a:r>
              <a:rPr sz="2175" b="0">
                <a:solidFill>
                  <a:srgbClr val="162237"/>
                </a:solidFill>
                <a:latin typeface="Courier New"/>
                <a:ea typeface="Courier New"/>
                <a:cs typeface="Courier New"/>
              </a:rPr>
              <a:t>python3 run_polyglot.py serve --port 8766</a:t>
            </a:r>
          </a:p>
        </p:txBody>
      </p:sp>
    </p:spTree>
    <p:extLst>
      <p:ext uri="{BB962C8B-B14F-4D97-AF65-F5344CB8AC3E}">
        <p14:creationId xmlns:p14="http://schemas.microsoft.com/office/powerpoint/2010/main" val="16416338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2026-10-26T12:44:18.9820000Z</dcterms:created>
  <dcterms:modified xsi:type="dcterms:W3CDTF">2026-10-26T12:44:18.9820000Z</dcterms:modified>
</coreProperties>
</file>