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68"/>
  </p:normalViewPr>
  <p:slideViewPr>
    <p:cSldViewPr snapToGrid="0">
      <p:cViewPr varScale="1">
        <p:scale>
          <a:sx n="84" d="100"/>
          <a:sy n="84" d="100"/>
        </p:scale>
        <p:origin x="84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Executed VM instructions</c:v>
          </c:tx>
          <c:spPr>
            <a:solidFill>
              <a:srgbClr val="2956D7"/>
            </a:solidFill>
          </c:spPr>
          <c:invertIfNegative val="0"/>
          <c:dPt>
            <c:idx val="0"/>
            <c:invertIfNegative val="0"/>
            <c:bubble3D val="0"/>
            <c:spPr>
              <a:solidFill>
                <a:srgbClr val="778DAA"/>
              </a:solidFill>
            </c:spPr>
            <c:extLst>
              <c:ext xmlns:c16="http://schemas.microsoft.com/office/drawing/2014/chart" uri="{C3380CC4-5D6E-409C-BE32-E72D297353CC}">
                <c16:uniqueId val="{00000001-1A0D-E645-8949-0A28B8638F7C}"/>
              </c:ext>
            </c:extLst>
          </c:dPt>
          <c:dPt>
            <c:idx val="1"/>
            <c:invertIfNegative val="0"/>
            <c:bubble3D val="0"/>
            <c:spPr>
              <a:solidFill>
                <a:srgbClr val="76D9C3"/>
              </a:solidFill>
            </c:spPr>
            <c:extLst>
              <c:ext xmlns:c16="http://schemas.microsoft.com/office/drawing/2014/chart" uri="{C3380CC4-5D6E-409C-BE32-E72D297353CC}">
                <c16:uniqueId val="{00000003-1A0D-E645-8949-0A28B8638F7C}"/>
              </c:ext>
            </c:extLst>
          </c:dPt>
          <c:dLbls>
            <c:spPr>
              <a:noFill/>
              <a:ln>
                <a:noFill/>
              </a:ln>
              <a:effectLst/>
            </c:spPr>
            <c:txPr>
              <a:bodyPr anchorCtr="1"/>
              <a:lstStyle/>
              <a:p>
                <a:pPr>
                  <a:defRPr sz="2775" b="1">
                    <a:solidFill>
                      <a:srgbClr val="FFFFFF"/>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Unoptimized</c:v>
                </c:pt>
                <c:pt idx="1">
                  <c:v>Optimized</c:v>
                </c:pt>
              </c:strCache>
            </c:strRef>
          </c:cat>
          <c:val>
            <c:numRef>
              <c:f>'Chart Data'!$B$2:$B$3</c:f>
              <c:numCache>
                <c:formatCode>General</c:formatCode>
                <c:ptCount val="2"/>
                <c:pt idx="0">
                  <c:v>17</c:v>
                </c:pt>
                <c:pt idx="1">
                  <c:v>5</c:v>
                </c:pt>
              </c:numCache>
            </c:numRef>
          </c:val>
          <c:extLst>
            <c:ext xmlns:c16="http://schemas.microsoft.com/office/drawing/2014/chart" uri="{C3380CC4-5D6E-409C-BE32-E72D297353CC}">
              <c16:uniqueId val="{00000004-1A0D-E645-8949-0A28B8638F7C}"/>
            </c:ext>
          </c:extLst>
        </c:ser>
        <c:dLbls>
          <c:dLblPos val="outEnd"/>
          <c:showLegendKey val="0"/>
          <c:showVal val="1"/>
          <c:showCatName val="0"/>
          <c:showSerName val="0"/>
          <c:showPercent val="0"/>
          <c:showBubbleSize val="0"/>
        </c:dLbls>
        <c:gapWidth val="100"/>
        <c:axId val="48650112"/>
        <c:axId val="48672768"/>
      </c:barChart>
      <c:catAx>
        <c:axId val="48650112"/>
        <c:scaling>
          <c:orientation val="minMax"/>
        </c:scaling>
        <c:delete val="0"/>
        <c:axPos val="l"/>
        <c:majorGridlines>
          <c:spPr>
            <a:ln w="9525">
              <a:solidFill>
                <a:srgbClr val="344960"/>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2025">
                <a:solidFill>
                  <a:srgbClr val="B5C7DE"/>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2325">
                <a:solidFill>
                  <a:srgbClr val="FFFFFF"/>
                </a:solidFill>
                <a:latin typeface="Arial"/>
                <a:ea typeface="Arial"/>
                <a:cs typeface="Arial"/>
              </a:defRPr>
            </a:pPr>
            <a:endParaRPr lang="en-US"/>
          </a:p>
        </c:txPr>
        <c:crossAx val="48650112"/>
        <c:crosses val="autoZero"/>
        <c:crossBetween val="between"/>
      </c:valAx>
      <c:spPr>
        <a:solidFill>
          <a:srgbClr val="101D31"/>
        </a:solidFill>
      </c:spPr>
    </c:plotArea>
    <c:plotVisOnly val="1"/>
    <c:dispBlanksAs val="zero"/>
    <c:showDLblsOverMax val="1"/>
  </c:chart>
  <c:spPr>
    <a:solidFill>
      <a:srgbClr val="101D31"/>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Introduce PolyGlot as a compiler for a defined mixed-syntax language. Selected constructs inspired by six languages share one semantic model. The implementation includes actual compilation, optimization and execution. Avoid describing it as six full language compilers.</a:t>
            </a:r>
          </a:p>
          <a:p>
            <a:endParaRPr/>
          </a:p>
          <a:p>
            <a:endParaRPr/>
          </a:p>
          <a:p>
            <a:endParaRPr/>
          </a:p>
          <a:p>
            <a:r>
              <a:t>Implementation references, repository snapshot 0b04aa2, 26 October 2026:</a:t>
            </a:r>
          </a:p>
          <a:p>
            <a:r>
              <a:t>https://github.com/hst257/PolyGlot/blob/0b04aa2/README.md</a:t>
            </a:r>
          </a:p>
          <a:p>
            <a:r>
              <a:t>https://github.com/hst257/PolyGlot/blob/0b04aa2/src/polyglot/compiler.py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Explain the engineering question: can selected surface syntaxes share one AST, type system and execution model? PolyGlot answers this for a restricted procedural language. All accepted constructs compile to the same intermediate representation and VM. The objective is a working compiler-design implementation rather than compatibility with complete Python, Java or C programs.</a:t>
            </a:r>
          </a:p>
          <a:p>
            <a:endParaRPr/>
          </a:p>
          <a:p>
            <a:endParaRPr/>
          </a:p>
          <a:p>
            <a:endParaRPr/>
          </a:p>
          <a:p>
            <a:r>
              <a:t>Implementation references, repository snapshot 0b04aa2, 26 October 2026:</a:t>
            </a:r>
          </a:p>
          <a:p>
            <a:r>
              <a:t>https://github.com/hst257/PolyGlot/blob/0b04aa2/docs/architecture.md</a:t>
            </a:r>
          </a:p>
          <a:p>
            <a:r>
              <a:t>https://github.com/hst257/PolyGlot/blob/0b04aa2/docs/language.md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Run this exact validated example if asked. add uses C-style syntax. twice uses Python-style syntax and calls add. BASIC LET assigns base. console.log prints twice(base), producing 6. Name resolution and types cross syntax boundaries because all declarations and calls share one compiler model.</a:t>
            </a:r>
          </a:p>
          <a:p>
            <a:endParaRPr/>
          </a:p>
          <a:p>
            <a:endParaRPr/>
          </a:p>
          <a:p>
            <a:endParaRPr/>
          </a:p>
          <a:p>
            <a:r>
              <a:t>Implementation references, repository snapshot 0b04aa2, 26 October 2026:</a:t>
            </a:r>
          </a:p>
          <a:p>
            <a:r>
              <a:t>https://github.com/hst257/PolyGlot/blob/0b04aa2/src/polyglot/parser/dispatch.py</a:t>
            </a:r>
          </a:p>
          <a:p>
            <a:r>
              <a:t>https://github.com/hst257/PolyGlot/blob/0b04aa2/src/polyglot/semantics.py</a:t>
            </a:r>
          </a:p>
          <a:p>
            <a:r>
              <a:t>https://github.com/hst257/PolyGlot/blob/0b04aa2/src/polyglot/vm.py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Use the terms statically typed, imperative, procedural and structured. An inferred variable still has a fixed checked type. Java-style output does not imply classes. JavaScript-style functions require type annotations. Different syntaxes do not retain all of their original language semantics. Arrays use invariant primitive element types and fixed-length objects.</a:t>
            </a:r>
          </a:p>
          <a:p>
            <a:endParaRPr/>
          </a:p>
          <a:p>
            <a:endParaRPr/>
          </a:p>
          <a:p>
            <a:endParaRPr/>
          </a:p>
          <a:p>
            <a:r>
              <a:t>Implementation references, repository snapshot 0b04aa2, 26 October 2026:</a:t>
            </a:r>
          </a:p>
          <a:p>
            <a:r>
              <a:t>https://github.com/hst257/PolyGlot/blob/0b04aa2/docs/language.md</a:t>
            </a:r>
          </a:p>
          <a:p>
            <a:r>
              <a:t>https://github.com/hst257/PolyGlot/blob/0b04aa2/docs/grammar.ebnf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This diagram shows the local architecture. The browser sends JSON to /api/check, /api/run, /api/build, /api/exec or /api/inspect. The loopback HTTP server checks requests and starts a spawned worker with a parent deadline. The worker uses execute_job, which invokes the shared compiler and optionally VM execution. The CLI calls the same compiler and VM directly. Results return as JSON, including actual stage representations. The arrow toward the VM shows the run path. Check and Build compile without executing.</a:t>
            </a:r>
          </a:p>
          <a:p>
            <a:endParaRPr/>
          </a:p>
          <a:p>
            <a:endParaRPr/>
          </a:p>
          <a:p>
            <a:endParaRPr/>
          </a:p>
          <a:p>
            <a:r>
              <a:t>Implementation references, repository snapshot 0b04aa2, 26 October 2026:</a:t>
            </a:r>
          </a:p>
          <a:p>
            <a:r>
              <a:t>https://github.com/hst257/PolyGlot/blob/0b04aa2/src/polyglot/web/server.py</a:t>
            </a:r>
          </a:p>
          <a:p>
            <a:r>
              <a:t>https://github.com/hst257/PolyGlot/blob/0b04aa2/src/polyglot/web/worker.py</a:t>
            </a:r>
          </a:p>
          <a:p>
            <a:r>
              <a:t>https://github.com/hst257/PolyGlot/blob/0b04aa2/src/polyglot/cli.py</a:t>
            </a:r>
          </a:p>
          <a:p>
            <a:r>
              <a:t>https://github.com/hst257/PolyGlot/blob/0b04aa2/src/polyglot/compiler.py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Explain each representation rather than only naming phases. The lexer preserves source spans. Statement parsing uses recursive descent and expressions use Pratt parsing. Family-specific constructs normalize to common AST nodes. Semantic analysis annotates bindings and types. Lowering creates typed IR. The optimizer runs by default. Code generation maps IR temporaries to local slots and patches symbolic jumps. Generated and uploaded artifacts pass validation before execution. Diagnostics are a cross-cutting concern, using preserved source mappings.</a:t>
            </a:r>
          </a:p>
          <a:p>
            <a:endParaRPr/>
          </a:p>
          <a:p>
            <a:endParaRPr/>
          </a:p>
          <a:p>
            <a:endParaRPr/>
          </a:p>
          <a:p>
            <a:r>
              <a:t>Implementation references, repository snapshot 0b04aa2, 26 October 2026:</a:t>
            </a:r>
          </a:p>
          <a:p>
            <a:r>
              <a:t>https://github.com/hst257/PolyGlot/blob/0b04aa2/src/polyglot/compiler.py</a:t>
            </a:r>
          </a:p>
          <a:p>
            <a:r>
              <a:t>https://github.com/hst257/PolyGlot/blob/0b04aa2/src/polyglot/ir.py</a:t>
            </a:r>
          </a:p>
          <a:p>
            <a:r>
              <a:t>https://github.com/hst257/PolyGlot/blob/0b04aa2/src/polyglot/codegen.py</a:t>
            </a:r>
          </a:p>
          <a:p>
            <a:r>
              <a:t>https://github.com/hst257/PolyGlot/blob/0b04aa2/src/polyglot/artifact.py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There is no initial whole-file language detector. Dispatch operates while parsing statements. def and PRINT are distinctive. int x = 3 can match several syntax families, so recognition keeps candidate families instead of inventing a unique language. Provenance is inspection metadata and does not select semantics. This deterministic design avoids trying six entire parsers in sequence. Shared expression parsing and mixed block handling connect the family modules.</a:t>
            </a:r>
          </a:p>
          <a:p>
            <a:endParaRPr/>
          </a:p>
          <a:p>
            <a:endParaRPr/>
          </a:p>
          <a:p>
            <a:endParaRPr/>
          </a:p>
          <a:p>
            <a:r>
              <a:t>Implementation references, repository snapshot 0b04aa2, 26 October 2026:</a:t>
            </a:r>
          </a:p>
          <a:p>
            <a:r>
              <a:t>https://github.com/hst257/PolyGlot/blob/0b04aa2/src/polyglot/parser/dispatch.py</a:t>
            </a:r>
          </a:p>
          <a:p>
            <a:r>
              <a:t>https://github.com/hst257/PolyGlot/blob/0b04aa2/src/polyglot/parser/shared.py</a:t>
            </a:r>
          </a:p>
          <a:p>
            <a:r>
              <a:t>https://github.com/hst257/PolyGlot/blob/0b04aa2/docs/architecture.md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The scanner is handwritten. In this implementation keywords such as int are NAME tokens, interpreted by the parser. Do not claim a separate KEYWORD token class or a generated Lex/Flex DFA. lex(Source) returns positioned tokens. Comments and quoted strings need careful scanning so operators inside them do not act as code. Layout context works with the parser to support mixed braces and indentation.</a:t>
            </a:r>
          </a:p>
          <a:p>
            <a:endParaRPr/>
          </a:p>
          <a:p>
            <a:endParaRPr/>
          </a:p>
          <a:p>
            <a:endParaRPr/>
          </a:p>
          <a:p>
            <a:r>
              <a:t>Implementation references, repository snapshot 0b04aa2, 26 October 2026:</a:t>
            </a:r>
          </a:p>
          <a:p>
            <a:r>
              <a:t>https://github.com/hst257/PolyGlot/blob/0b04aa2/src/polyglot/lexer.py</a:t>
            </a:r>
          </a:p>
          <a:p>
            <a:r>
              <a:t>https://github.com/hst257/PolyGlot/blob/0b04aa2/src/polyglot/source.py</a:t>
            </a:r>
          </a:p>
          <a:p>
            <a:r>
              <a:t>https://github.com/hst257/PolyGlot/blob/0b04aa2/src/polyglot/layout.py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This is an editable diagram of the expression subtree, not a concrete parse tree. The multiplication belongs inside the right operand of addition. The full AST also contains Program and Output. The actual source was compiled and executed for this deck and produced 14. A Pratt parser uses binding-power rules to build this grouping without trying every grammar.</a:t>
            </a:r>
          </a:p>
          <a:p>
            <a:endParaRPr/>
          </a:p>
          <a:p>
            <a:endParaRPr/>
          </a:p>
          <a:p>
            <a:endParaRPr/>
          </a:p>
          <a:p>
            <a:r>
              <a:t>Implementation references, repository snapshot 0b04aa2, 26 October 2026:</a:t>
            </a:r>
          </a:p>
          <a:p>
            <a:r>
              <a:t>https://github.com/hst257/PolyGlot/blob/0b04aa2/src/polyglot/parser/shared.py</a:t>
            </a:r>
          </a:p>
          <a:p>
            <a:r>
              <a:t>https://github.com/hst257/PolyGlot/blob/0b04aa2/docs/grammar.ebnf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Different surface syntax becomes one operation with common semantics. These output examples normalize to Output. The AST is abstract because it retains semantic structure rather than punctuation. printf is a useful qualification: its format-string structure uses explicit formatting segments and lowers through FORMAT and OUTPUT, so avoid claiming every output form follows exactly the same AST path. The Node dataclass contains kind, span, data and meta.</a:t>
            </a:r>
          </a:p>
          <a:p>
            <a:endParaRPr/>
          </a:p>
          <a:p>
            <a:endParaRPr/>
          </a:p>
          <a:p>
            <a:endParaRPr/>
          </a:p>
          <a:p>
            <a:r>
              <a:t>Implementation references, repository snapshot 0b04aa2, 26 October 2026:</a:t>
            </a:r>
          </a:p>
          <a:p>
            <a:r>
              <a:t>https://github.com/hst257/PolyGlot/blob/0b04aa2/src/polyglot/ast.py</a:t>
            </a:r>
          </a:p>
          <a:p>
            <a:r>
              <a:t>https://github.com/hst257/PolyGlot/blob/0b04aa2/src/polyglot/parser/shared.py</a:t>
            </a:r>
          </a:p>
          <a:p>
            <a:r>
              <a:t>https://github.com/hst257/PolyGlot/blob/0b04aa2/src/polyglot/ir.py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This is the exact mixed_nesting example. The C-style loop has four iterations. Even values add 0 and 2. Odd values add 10 each, producing 22. Parser layout context matters because indentation cannot be interpreted independently from braces and grammar. The AST records nested control-flow nodes. The compiler lowers them to labels, comparisons, branches and jumps. This is structured programming support, with single-entry statement constructs and explicit break/continue handling.</a:t>
            </a:r>
          </a:p>
          <a:p>
            <a:endParaRPr/>
          </a:p>
          <a:p>
            <a:endParaRPr/>
          </a:p>
          <a:p>
            <a:endParaRPr/>
          </a:p>
          <a:p>
            <a:r>
              <a:t>Implementation references, repository snapshot 0b04aa2, 26 October 2026:</a:t>
            </a:r>
          </a:p>
          <a:p>
            <a:r>
              <a:t>https://github.com/hst257/PolyGlot/blob/0b04aa2/examples/mixed_nesting.poly</a:t>
            </a:r>
          </a:p>
          <a:p>
            <a:r>
              <a:t>https://github.com/hst257/PolyGlot/blob/0b04aa2/src/polyglot/layout.py</a:t>
            </a:r>
          </a:p>
          <a:p>
            <a:r>
              <a:t>https://github.com/hst257/PolyGlot/blob/0b04aa2/src/polyglot/parser/shared.py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Use the selected actual symbol records to identify bonus as an immutable int global and values as int[]. sum_values accepts int[] and returns int. Semantic analysis resolves storage class and slots, validates static types, enforces const and annotates the AST. Collecting top-level function signatures first enables forward calls and recursion. A later source spelling cannot bypass shared const or type rules.</a:t>
            </a:r>
          </a:p>
          <a:p>
            <a:endParaRPr/>
          </a:p>
          <a:p>
            <a:endParaRPr/>
          </a:p>
          <a:p>
            <a:endParaRPr/>
          </a:p>
          <a:p>
            <a:r>
              <a:t>Implementation references, repository snapshot 0b04aa2, 26 October 2026:</a:t>
            </a:r>
          </a:p>
          <a:p>
            <a:r>
              <a:t>https://github.com/hst257/PolyGlot/blob/0b04aa2/src/polyglot/semantics.py</a:t>
            </a:r>
          </a:p>
          <a:p>
            <a:r>
              <a:t>https://github.com/hst257/PolyGlot/blob/0b04aa2/src/polyglot/types.py</a:t>
            </a:r>
          </a:p>
          <a:p>
            <a:r>
              <a:t>https://github.com/hst257/PolyGlot/blob/0b04aa2/examples/p1_mixed.poly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The syntax error is at line 1 column 11. The type mismatch is at line 2. Runtime division by zero must remain observable even when the optimizer sees constant operands. Check the precise diagnostic wording from the current implementation. The pipeline reports completed stages and a null artifact on compile failure. Runtime failures retain compilation data and any prior output. The current implementation reports the first compiler error.</a:t>
            </a:r>
          </a:p>
          <a:p>
            <a:endParaRPr/>
          </a:p>
          <a:p>
            <a:endParaRPr/>
          </a:p>
          <a:p>
            <a:endParaRPr/>
          </a:p>
          <a:p>
            <a:r>
              <a:t>Implementation references, repository snapshot 0b04aa2, 26 October 2026:</a:t>
            </a:r>
          </a:p>
          <a:p>
            <a:r>
              <a:t>https://github.com/hst257/PolyGlot/blob/0b04aa2/src/polyglot/compiler.py</a:t>
            </a:r>
          </a:p>
          <a:p>
            <a:r>
              <a:t>https://github.com/hst257/PolyGlot/blob/0b04aa2/src/polyglot/diagnostics.py</a:t>
            </a:r>
          </a:p>
          <a:p>
            <a:r>
              <a:t>https://github.com/hst257/PolyGlot/blob/0b04aa2/src/polyglot/vm.py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All arithmetic temporaries in this example have type int. The left expression lowers to constants, two binary operations, output and return. This is three-address style because an arithmetic instruction typically has one destination and two operands. Control flow uses symbolic labels and branch/jump operations. The original IR remains available for inspection even after optimization. The executed form is stages.optimized_ir.</a:t>
            </a:r>
          </a:p>
          <a:p>
            <a:endParaRPr/>
          </a:p>
          <a:p>
            <a:endParaRPr/>
          </a:p>
          <a:p>
            <a:endParaRPr/>
          </a:p>
          <a:p>
            <a:r>
              <a:t>Implementation references, repository snapshot 0b04aa2, 26 October 2026:</a:t>
            </a:r>
          </a:p>
          <a:p>
            <a:r>
              <a:t>https://github.com/hst257/PolyGlot/blob/0b04aa2/src/polyglot/ir.py</a:t>
            </a:r>
          </a:p>
          <a:p>
            <a:r>
              <a:t>https://github.com/hst257/PolyGlot/blob/0b04aa2/src/polyglot/compiler.py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This diagram corresponds to the actual original CFG for the validated source. B0 has true and false successors. Each output block leads to the exit. Constant branch simplification replaces the known branch with a direct jump to B1. Rebuilding reachability then removes B2 because no entry path reaches it. This distinction matters: structural reachability before simplification still includes both edges. Labels and post-terminator instructions define leaders.</a:t>
            </a:r>
          </a:p>
          <a:p>
            <a:endParaRPr/>
          </a:p>
          <a:p>
            <a:endParaRPr/>
          </a:p>
          <a:p>
            <a:endParaRPr/>
          </a:p>
          <a:p>
            <a:r>
              <a:t>Implementation references, repository snapshot 0b04aa2, 26 October 2026:</a:t>
            </a:r>
          </a:p>
          <a:p>
            <a:r>
              <a:t>https://github.com/hst257/PolyGlot/blob/0b04aa2/src/polyglot/analysis.py</a:t>
            </a:r>
          </a:p>
          <a:p>
            <a:r>
              <a:t>https://github.com/hst257/PolyGlot/blob/0b04aa2/src/polyglot/optimizer.py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USE contains temporaries read before a definition in a block. DEF contains temporaries defined in that block. OUT unions successor IN sets. IN combines local USE with values required afterward that the block does not define. The worklist repeats until IN stops changing. Next-use scanning handles multiple definitions of a temporary. Emphasize that these facts support conservative dead-constant removal, not arbitrary dead instruction removal or physical-register allocation.</a:t>
            </a:r>
          </a:p>
          <a:p>
            <a:endParaRPr/>
          </a:p>
          <a:p>
            <a:endParaRPr/>
          </a:p>
          <a:p>
            <a:endParaRPr/>
          </a:p>
          <a:p>
            <a:r>
              <a:t>Implementation references, repository snapshot 0b04aa2, 26 October 2026:</a:t>
            </a:r>
          </a:p>
          <a:p>
            <a:r>
              <a:t>https://github.com/hst257/PolyGlot/blob/0b04aa2/src/polyglot/analysis.py</a:t>
            </a:r>
          </a:p>
          <a:p>
            <a:r>
              <a:t>https://github.com/hst257/PolyGlot/blob/0b04aa2/src/polyglot/optimizer.py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Known values are tracked only inside a basic block and do not flow through mutable bindings or control-flow joins. Folding uses VM-compatible semantics and respects numeric and value limits. Reachable calls, output, loads, stores and array checks remain. Potentially trapping operations remain unless a valid successful fold is proven. For example 1/0 must still fail at runtime with its source location. Oversized functions retain their original IR and report the skip.</a:t>
            </a:r>
          </a:p>
          <a:p>
            <a:endParaRPr/>
          </a:p>
          <a:p>
            <a:endParaRPr/>
          </a:p>
          <a:p>
            <a:endParaRPr/>
          </a:p>
          <a:p>
            <a:r>
              <a:t>Implementation references, repository snapshot 0b04aa2, 26 October 2026:</a:t>
            </a:r>
          </a:p>
          <a:p>
            <a:r>
              <a:t>https://github.com/hst257/PolyGlot/blob/0b04aa2/src/polyglot/optimizer.py</a:t>
            </a:r>
          </a:p>
          <a:p>
            <a:r>
              <a:t>https://github.com/hst257/PolyGlot/blob/0b04aa2/tests/test_optimization.py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The expression was compiled and executed with optimize=False and optimize=True for this deck. The unoptimized artifact has 17 instructions and executes 17 steps. The optimized artifact has 5 and executes 5. Both produce 20 followed by a newline. The optimizer folds two binary operations and removes four dead constants. Reduction is (17-5)/17, rounded to 70.6%. Never present this as measured elapsed-time performance or a universal speedup.</a:t>
            </a:r>
          </a:p>
          <a:p>
            <a:endParaRPr/>
          </a:p>
          <a:p>
            <a:endParaRPr/>
          </a:p>
          <a:p>
            <a:endParaRPr/>
          </a:p>
          <a:p>
            <a:r>
              <a:t>Implementation references, repository snapshot 0b04aa2, 26 October 2026:</a:t>
            </a:r>
          </a:p>
          <a:p>
            <a:r>
              <a:t>https://github.com/hst257/PolyGlot/blob/0b04aa2/tests/test_optimization.py</a:t>
            </a:r>
          </a:p>
          <a:p>
            <a:r>
              <a:t>https://github.com/hst257/PolyGlot/blob/0b04aa2/src/polyglot/compiler.py</a:t>
            </a:r>
          </a:p>
          <a:p>
            <a:r>
              <a:t>https://github.com/hst257/PolyGlot/blob/0b04aa2/src/polyglot/optimizer.py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generate in codegen.py is our own implementation. It visits each function and IR instruction. Literals enter a constant pool. Global and local bindings use resolved storage slots. A temporary maps to fn.local_count plus its temporary index. For BINARY, codegen loads both operands onto the stack, emits the normalized operator and stores the result. No LLVM, JVM or external compiler library generates this bytecode.</a:t>
            </a:r>
          </a:p>
          <a:p>
            <a:endParaRPr/>
          </a:p>
          <a:p>
            <a:endParaRPr/>
          </a:p>
          <a:p>
            <a:endParaRPr/>
          </a:p>
          <a:p>
            <a:r>
              <a:t>Implementation references, repository snapshot 0b04aa2, 26 October 2026:</a:t>
            </a:r>
          </a:p>
          <a:p>
            <a:r>
              <a:t>https://github.com/hst257/PolyGlot/blob/0b04aa2/src/polyglot/codegen.py</a:t>
            </a:r>
          </a:p>
          <a:p>
            <a:r>
              <a:t>https://github.com/hst257/PolyGlot/blob/0b04aa2/docs/bytecode.md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The generator keeps labels and jumps collections for each function. On LABEL it records len(code). On a jump it saves the position and target label and emits a placeholder operand of zero. After emission it replaces the placeholder with labels[target]. A BRANCH loads its condition, emits JUMP_IF_FALSE for the false target, then JUMP for the true target. This is deferred jump-target resolution, commonly called backpatching.</a:t>
            </a:r>
          </a:p>
          <a:p>
            <a:endParaRPr/>
          </a:p>
          <a:p>
            <a:endParaRPr/>
          </a:p>
          <a:p>
            <a:endParaRPr/>
          </a:p>
          <a:p>
            <a:r>
              <a:t>Implementation references, repository snapshot 0b04aa2, 26 October 2026:</a:t>
            </a:r>
          </a:p>
          <a:p>
            <a:r>
              <a:t>https://github.com/hst257/PolyGlot/blob/0b04aa2/src/polyglot/codegen.py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The current artifact version is 3 and older supported versions remain readable. Bytecode is represented using JSON with named opcodes rather than native machine-code bytes. Function records include signatures, storage sizes and instruction lists. The loader rejects unknown opcodes, malformed values, invalid jumps, stack underflow, inconsistent branch-stack heights and bad return forms. Source metadata inside the artifact supports runtime errors after source-independent execution.</a:t>
            </a:r>
          </a:p>
          <a:p>
            <a:endParaRPr/>
          </a:p>
          <a:p>
            <a:endParaRPr/>
          </a:p>
          <a:p>
            <a:endParaRPr/>
          </a:p>
          <a:p>
            <a:r>
              <a:t>Implementation references, repository snapshot 0b04aa2, 26 October 2026:</a:t>
            </a:r>
          </a:p>
          <a:p>
            <a:r>
              <a:t>https://github.com/hst257/PolyGlot/blob/0b04aa2/src/polyglot/artifact.py</a:t>
            </a:r>
          </a:p>
          <a:p>
            <a:r>
              <a:t>https://github.com/hst257/PolyGlot/blob/0b04aa2/docs/bytecode.md</a:t>
            </a:r>
          </a:p>
          <a:p>
            <a:r>
              <a:t>https://github.com/hst257/PolyGlot/blob/0b04aa2/tests/test_artifact.py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This listing matches the actual optimized artifact for print((2 + 3) * 4). The constant pool contains one int with value 20. Temporary 4 remains in local slot 4 because the optimizer does not renumber temporary storage. OUTPUT pops its argument. RETURN_VOID completes main. Our Python implementation interprets this instruction set. It does not evaluate source as Python, Java or C.</a:t>
            </a:r>
          </a:p>
          <a:p>
            <a:endParaRPr/>
          </a:p>
          <a:p>
            <a:endParaRPr/>
          </a:p>
          <a:p>
            <a:endParaRPr/>
          </a:p>
          <a:p>
            <a:r>
              <a:t>Implementation references, repository snapshot 0b04aa2, 26 October 2026:</a:t>
            </a:r>
          </a:p>
          <a:p>
            <a:r>
              <a:t>https://github.com/hst257/PolyGlot/blob/0b04aa2/src/polyglot/vm.py</a:t>
            </a:r>
          </a:p>
          <a:p>
            <a:r>
              <a:t>https://github.com/hst257/PolyGlot/blob/0b04aa2/src/polyglot/codegen.py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This schematic uses the mixed example from slide 3. The VM frame contains function, locals, ip, stack and callsite. Global storage is separate. Parameters occupy the first local slots. Calling twice then add creates fresh frames, preserving each caller state. RETURN_VALUE transfers the result to the caller. The same mechanism enables recursion. factorial(6) produces 720. The drawing is an execution model explanation, not a screenshot of a live step debugger.</a:t>
            </a:r>
          </a:p>
          <a:p>
            <a:endParaRPr/>
          </a:p>
          <a:p>
            <a:endParaRPr/>
          </a:p>
          <a:p>
            <a:endParaRPr/>
          </a:p>
          <a:p>
            <a:r>
              <a:t>Implementation references, repository snapshot 0b04aa2, 26 October 2026:</a:t>
            </a:r>
          </a:p>
          <a:p>
            <a:r>
              <a:t>https://github.com/hst257/PolyGlot/blob/0b04aa2/src/polyglot/vm.py</a:t>
            </a:r>
          </a:p>
          <a:p>
            <a:r>
              <a:t>https://github.com/hst257/PolyGlot/blob/0b04aa2/examples/recursion.poly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The full bundled array_iteration example uses five elements and prints 1 through 5. This shortened valid example prints 1, 2 and 3. ForEach lowers to a captured array, ARRAY_LENGTH, an index comparison, ARRAY_GET, branches and jumps. No additional VM opcode is needed specifically for iteration. Continue targets the index update. Assigning the loop variable does not update the array element. Objects have fixed lengths and share references when assigned or passed to a function.</a:t>
            </a:r>
          </a:p>
          <a:p>
            <a:endParaRPr/>
          </a:p>
          <a:p>
            <a:endParaRPr/>
          </a:p>
          <a:p>
            <a:endParaRPr/>
          </a:p>
          <a:p>
            <a:r>
              <a:t>Implementation references, repository snapshot 0b04aa2, 26 October 2026:</a:t>
            </a:r>
          </a:p>
          <a:p>
            <a:r>
              <a:t>https://github.com/hst257/PolyGlot/blob/0b04aa2/src/polyglot/ir.py</a:t>
            </a:r>
          </a:p>
          <a:p>
            <a:r>
              <a:t>https://github.com/hst257/PolyGlot/blob/0b04aa2/src/polyglot/vm.py</a:t>
            </a:r>
          </a:p>
          <a:p>
            <a:r>
              <a:t>https://github.com/hst257/PolyGlot/blob/0b04aa2/examples/array_iteration.poly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This screenshot shows an actual successful p1_mixed run. The program includes all six syntax families. It has 110 tokens, 13 recognized constructs, 40 AST nodes, 7 bindings and 57 original IR operations. The optimized artifact has 128 static instructions and the run executes 194 steps. The difference between static instructions and executed steps comes from loops and calls. The UI provides Check, Build and Run plus stage inspection.</a:t>
            </a:r>
          </a:p>
          <a:p>
            <a:endParaRPr/>
          </a:p>
          <a:p>
            <a:endParaRPr/>
          </a:p>
          <a:p>
            <a:endParaRPr/>
          </a:p>
          <a:p>
            <a:r>
              <a:t>Implementation references, repository snapshot 0b04aa2, 26 October 2026:</a:t>
            </a:r>
          </a:p>
          <a:p>
            <a:r>
              <a:t>https://github.com/hst257/PolyGlot/blob/0b04aa2/examples/p1_mixed.poly</a:t>
            </a:r>
          </a:p>
          <a:p>
            <a:r>
              <a:t>https://github.com/hst257/PolyGlot/blob/0b04aa2/src/polyglot/web/static/app.js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The screenshot comes from the original AST for the optimized expression. Multiplication has addition and 4 as children. Addition has 2 and 3 as children. Optimization changes IR, not the original inspected AST. The inspector supports orientation, expansion, subtree focus, zoom and source navigation. Explain the difference between an AST and a concrete parse tree: parentheses and punctuation guide construction but do not appear as separate semantic nodes.</a:t>
            </a:r>
          </a:p>
          <a:p>
            <a:endParaRPr/>
          </a:p>
          <a:p>
            <a:endParaRPr/>
          </a:p>
          <a:p>
            <a:endParaRPr/>
          </a:p>
          <a:p>
            <a:r>
              <a:t>Implementation references, repository snapshot 0b04aa2, 26 October 2026:</a:t>
            </a:r>
          </a:p>
          <a:p>
            <a:r>
              <a:t>https://github.com/hst257/PolyGlot/blob/0b04aa2/src/polyglot/ast.py</a:t>
            </a:r>
          </a:p>
          <a:p>
            <a:r>
              <a:t>https://github.com/hst257/PolyGlot/blob/0b04aa2/src/polyglot/web/static/app.js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This screenshot uses error_type.poly. count first receives an int and then a string. Parsing completes but semantic analysis rejects the assignment. No bytecode artifact is produced. The ribbon shows the later stages as blocked and the diagnostic links back to the source. Mention that only the first error is reported and that improving recovery is future work.</a:t>
            </a:r>
          </a:p>
          <a:p>
            <a:endParaRPr/>
          </a:p>
          <a:p>
            <a:endParaRPr/>
          </a:p>
          <a:p>
            <a:endParaRPr/>
          </a:p>
          <a:p>
            <a:r>
              <a:t>Implementation references, repository snapshot 0b04aa2, 26 October 2026:</a:t>
            </a:r>
          </a:p>
          <a:p>
            <a:r>
              <a:t>https://github.com/hst257/PolyGlot/blob/0b04aa2/examples/error_type.poly</a:t>
            </a:r>
          </a:p>
          <a:p>
            <a:r>
              <a:t>https://github.com/hst257/PolyGlot/blob/0b04aa2/src/polyglot/compiler.py</a:t>
            </a:r>
          </a:p>
          <a:p>
            <a:r>
              <a:t>https://github.com/hst257/PolyGlot/blob/0b04aa2/src/polyglot/web/static/app.js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The standard local app has a Python server. Node and jsdom support development tests only and are not runtime requirements. The static build uses a module Web Worker and Pyodide to run the same Python compiler in the browser, without a remote Python backend. Pyodide hosts our compiler implementation and does not compile .poly source itself. The runtime downloads on first use. At this verified snapshot the GitHub Actions build passed but the repository owner still needs to enable Pages before deployment can complete. Do not claim a publicly live URL.</a:t>
            </a:r>
          </a:p>
          <a:p>
            <a:endParaRPr/>
          </a:p>
          <a:p>
            <a:endParaRPr/>
          </a:p>
          <a:p>
            <a:endParaRPr/>
          </a:p>
          <a:p>
            <a:r>
              <a:t>Implementation references, repository snapshot 0b04aa2, 26 October 2026:</a:t>
            </a:r>
          </a:p>
          <a:p>
            <a:r>
              <a:t>https://github.com/hst257/PolyGlot/blob/0b04aa2/pyproject.toml</a:t>
            </a:r>
          </a:p>
          <a:p>
            <a:r>
              <a:t>https://github.com/hst257/PolyGlot/blob/0b04aa2/package.json</a:t>
            </a:r>
          </a:p>
          <a:p>
            <a:r>
              <a:t>https://github.com/hst257/PolyGlot/blob/0b04aa2/tools/build_pages.py</a:t>
            </a:r>
          </a:p>
          <a:p>
            <a:r>
              <a:t>https://github.com/hst257/PolyGlot/blob/0b04aa2/tools/pages/compiler-worker.mjs</a:t>
            </a:r>
          </a:p>
          <a:p>
            <a:r>
              <a:t>https://github.com/hst257/PolyGlot/blob/0b04aa2/docs/verification.md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These are focused crops of the actual working IDE, captured from a successful p1_mixed.poly run. The code combines JavaScript declarations and an annotated function, Python-style array iteration, BASIC assignment/output, C printf, Java println and C++ cout. The output is total 8; formatted: 8, 2.500000, ready; BASIC output; 8; done, each on a separate line. The VM executes 194 instructions. The crops omit unused editor space and browser chrome while preserving the real program and result.</a:t>
            </a:r>
          </a:p>
          <a:p>
            <a:endParaRPr/>
          </a:p>
          <a:p>
            <a:r>
              <a:t>Source: https://github.com/hst257/PolyGlot/blob/0b04aa2/examples/p1_mixed.poly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This is the actual successful arrays_mixed.poly IDE run. numbers begins as [1, 2, 3, 4]. bonus[0] is 5, so the indexed update changes numbers[1] to 7. sum_values returns 15. Java-style output prints 15, C++-style output prints 7, and Python-style output prints the final array followed by its length 4. Static analysis checks the element types and the VM enforces array bounds at runtime.</a:t>
            </a:r>
          </a:p>
          <a:p>
            <a:endParaRPr/>
          </a:p>
          <a:p>
            <a:r>
              <a:t>Source: https://github.com/hst257/PolyGlot/blob/0b04aa2/examples/arrays_mixed.poly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The screenshots show the actual source, output, VM step count and generated bytecode for print((2 + 3) * 4). Constant folding reduces the expression to one constant with value 20. The bytecode stores it in temporary slot 4, loads it, prints it and returns. All five listed instructions execute. This proves the optimized result in the working application. It is an instruction-count observation, not a timing benchmark.</a:t>
            </a:r>
          </a:p>
          <a:p>
            <a:endParaRPr/>
          </a:p>
          <a:p>
            <a:r>
              <a:t>Sources: https://github.com/hst257/PolyGlot/blob/0b04aa2/src/polyglot/optimizer.py</a:t>
            </a:r>
          </a:p>
          <a:p>
            <a:r>
              <a:t>https://github.com/hst257/PolyGlot/blob/0b04aa2/src/polyglot/codegen.py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12A0E71-3648-42A4-97FC-72D5F18D98AF}"/>
              </a:ext>
            </a:extLst>
          </p:cNvPr>
          <p:cNvSpPr>
            <a:spLocks noGrp="1"/>
          </p:cNvSpPr>
          <p:nvPr>
            <p:ph type="title"/>
          </p:nvPr>
        </p:nvSpPr>
        <p:spPr>
          <a:xfrm>
            <a:off x="1524000" y="3238500"/>
            <a:ext cx="12192000" cy="1238250"/>
          </a:xfrm>
          <a:prstGeom prst="rect">
            <a:avLst/>
          </a:prstGeom>
          <a:noFill/>
          <a:ln>
            <a:noFill/>
            <a:prstDash val="solid"/>
          </a:ln>
        </p:spPr>
        <p:txBody>
          <a:bodyPr wrap="square" lIns="0" tIns="0" rIns="0" bIns="0" anchor="ctr">
            <a:normAutofit/>
          </a:bodyPr>
          <a:lstStyle>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AD93DCA8-297F-4AA1-9528-098FF427415F}"/>
              </a:ext>
            </a:extLst>
          </p:cNvPr>
          <p:cNvSpPr>
            <a:spLocks noGrp="1"/>
          </p:cNvSpPr>
          <p:nvPr>
            <p:ph type="subTitle" idx="1"/>
          </p:nvPr>
        </p:nvSpPr>
        <p:spPr>
          <a:xfrm>
            <a:off x="2286000" y="4714875"/>
            <a:ext cx="10668000" cy="952500"/>
          </a:xfrm>
          <a:prstGeom prst="rect">
            <a:avLst/>
          </a:prstGeom>
          <a:noFill/>
          <a:ln>
            <a:noFill/>
            <a:prstDash val="solid"/>
          </a:ln>
        </p:spPr>
        <p:txBody>
          <a:bodyPr wrap="square" lIns="0" tIns="0" rIns="0" bIns="0" anchor="ctr">
            <a:normAutofit/>
          </a:bodyPr>
          <a:lstStyle>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E679C445-2D9C-48C0-A74B-C7D1C8C3544B}"/>
              </a:ext>
            </a:extLst>
          </p:cNvPr>
          <p:cNvSpPr>
            <a:spLocks noGrp="1"/>
          </p:cNvSpPr>
          <p:nvPr>
            <p:ph type="title"/>
          </p:nvPr>
        </p:nvSpPr>
        <p:spPr>
          <a:xfrm>
            <a:off x="1524000" y="3571875"/>
            <a:ext cx="12192000" cy="1428750"/>
          </a:xfrm>
          <a:prstGeom prst="rect">
            <a:avLst/>
          </a:prstGeom>
          <a:noFill/>
          <a:ln>
            <a:noFill/>
            <a:prstDash val="solid"/>
          </a:ln>
        </p:spPr>
        <p:txBody>
          <a:bodyPr wrap="square" lIns="0" tIns="0" rIns="0" bIns="0" anchor="ctr">
            <a:normAutofit/>
          </a:bodyPr>
          <a:lstStyle>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4D2A8B8-99D7-4FFE-861C-6DE06A8D0AB1}"/>
              </a:ext>
            </a:extLst>
          </p:cNvPr>
          <p:cNvSpPr>
            <a:spLocks noGrp="1"/>
          </p:cNvSpPr>
          <p:nvPr>
            <p:ph type="title"/>
          </p:nvPr>
        </p:nvSpPr>
        <p:spPr>
          <a:xfrm>
            <a:off x="857250" y="666750"/>
            <a:ext cx="13525500" cy="1047750"/>
          </a:xfrm>
          <a:prstGeom prst="rect">
            <a:avLst/>
          </a:prstGeom>
          <a:noFill/>
          <a:ln>
            <a:noFill/>
            <a:prstDash val="solid"/>
          </a:ln>
        </p:spPr>
        <p:txBody>
          <a:bodyPr wrap="square" lIns="0" tIns="0" rIns="0" bIns="0" anchor="t">
            <a:normAutofit/>
          </a:bodyPr>
          <a:lstStyle>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C78B19AB-9D24-471E-914C-7057E815FEB4}"/>
              </a:ext>
            </a:extLst>
          </p:cNvPr>
          <p:cNvSpPr>
            <a:spLocks noGrp="1"/>
          </p:cNvSpPr>
          <p:nvPr>
            <p:ph type="body" idx="1"/>
          </p:nvPr>
        </p:nvSpPr>
        <p:spPr>
          <a:xfrm>
            <a:off x="857250" y="2381250"/>
            <a:ext cx="13525500" cy="5334000"/>
          </a:xfrm>
          <a:prstGeom prst="rect">
            <a:avLst/>
          </a:prstGeom>
          <a:noFill/>
          <a:ln>
            <a:noFill/>
            <a:prstDash val="solid"/>
          </a:ln>
        </p:spPr>
        <p:txBody>
          <a:bodyPr wrap="square" lIns="0" tIns="0" rIns="0" bIns="0" anchor="t">
            <a:normAutofit/>
          </a:bodyPr>
          <a:lstStyle>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F95BFC16-AA97-44F8-AE3B-9553F9C8DE35}"/>
              </a:ext>
            </a:extLst>
          </p:cNvPr>
          <p:cNvSpPr>
            <a:spLocks noGrp="1"/>
          </p:cNvSpPr>
          <p:nvPr>
            <p:ph type="title"/>
          </p:nvPr>
        </p:nvSpPr>
        <p:spPr>
          <a:xfrm>
            <a:off x="857250" y="666750"/>
            <a:ext cx="13525500" cy="1047750"/>
          </a:xfrm>
          <a:prstGeom prst="rect">
            <a:avLst/>
          </a:prstGeom>
          <a:noFill/>
          <a:ln>
            <a:noFill/>
            <a:prstDash val="solid"/>
          </a:ln>
        </p:spPr>
        <p:txBody>
          <a:bodyPr wrap="square" lIns="0" tIns="0" rIns="0" bIns="0" anchor="t">
            <a:normAutofit/>
          </a:bodyPr>
          <a:lstStyle>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AD7F9E13-5E1C-4373-AAE7-EBCCAC223284}"/>
              </a:ext>
            </a:extLst>
          </p:cNvPr>
          <p:cNvSpPr>
            <a:spLocks noGrp="1"/>
          </p:cNvSpPr>
          <p:nvPr>
            <p:ph type="body" idx="1"/>
          </p:nvPr>
        </p:nvSpPr>
        <p:spPr>
          <a:xfrm>
            <a:off x="857250" y="2381250"/>
            <a:ext cx="6286500" cy="5334000"/>
          </a:xfrm>
          <a:prstGeom prst="rect">
            <a:avLst/>
          </a:prstGeom>
          <a:noFill/>
          <a:ln>
            <a:noFill/>
            <a:prstDash val="solid"/>
          </a:ln>
        </p:spPr>
        <p:txBody>
          <a:bodyPr wrap="square" lIns="0" tIns="0" rIns="0" bIns="0" anchor="t">
            <a:normAutofit/>
          </a:bodyPr>
          <a:lstStyle>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F8C389A4-0334-4A27-8B20-49F3AE88002E}"/>
              </a:ext>
            </a:extLst>
          </p:cNvPr>
          <p:cNvSpPr>
            <a:spLocks noGrp="1"/>
          </p:cNvSpPr>
          <p:nvPr>
            <p:ph type="body" idx="2"/>
          </p:nvPr>
        </p:nvSpPr>
        <p:spPr>
          <a:xfrm>
            <a:off x="8096250" y="2381250"/>
            <a:ext cx="6286500" cy="5334000"/>
          </a:xfrm>
          <a:prstGeom prst="rect">
            <a:avLst/>
          </a:prstGeom>
          <a:noFill/>
          <a:ln>
            <a:noFill/>
            <a:prstDash val="solid"/>
          </a:ln>
        </p:spPr>
        <p:txBody>
          <a:bodyPr wrap="square" lIns="0" tIns="0" rIns="0" bIns="0" anchor="t">
            <a:normAutofit/>
          </a:bodyPr>
          <a:lstStyle>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3B3BC23-68C4-4E4B-891E-1E31E6A90C80}"/>
              </a:ext>
            </a:extLst>
          </p:cNvPr>
          <p:cNvSpPr>
            <a:spLocks noGrp="1"/>
          </p:cNvSpPr>
          <p:nvPr>
            <p:ph type="title"/>
          </p:nvPr>
        </p:nvSpPr>
        <p:spPr>
          <a:xfrm>
            <a:off x="857250" y="666750"/>
            <a:ext cx="13525500" cy="1047750"/>
          </a:xfrm>
          <a:prstGeom prst="rect">
            <a:avLst/>
          </a:prstGeom>
          <a:noFill/>
          <a:ln>
            <a:noFill/>
            <a:prstDash val="solid"/>
          </a:ln>
        </p:spPr>
        <p:txBody>
          <a:bodyPr wrap="square" lIns="0" tIns="0" rIns="0" bIns="0" anchor="t">
            <a:normAutofit/>
          </a:bodyPr>
          <a:lstStyle>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075C3C7A-921C-48C8-BC35-9A16BCC749CE}"/>
              </a:ext>
            </a:extLst>
          </p:cNvPr>
          <p:cNvSpPr>
            <a:spLocks noGrp="1"/>
          </p:cNvSpPr>
          <p:nvPr>
            <p:ph type="body" idx="1"/>
          </p:nvPr>
        </p:nvSpPr>
        <p:spPr>
          <a:xfrm>
            <a:off x="857250" y="2381250"/>
            <a:ext cx="6286500" cy="5334000"/>
          </a:xfrm>
          <a:prstGeom prst="rect">
            <a:avLst/>
          </a:prstGeom>
          <a:noFill/>
          <a:ln>
            <a:noFill/>
            <a:prstDash val="solid"/>
          </a:ln>
        </p:spPr>
        <p:txBody>
          <a:bodyPr wrap="square" lIns="0" tIns="0" rIns="0" bIns="0" anchor="t">
            <a:normAutofit/>
          </a:bodyPr>
          <a:lstStyle>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D31"/>
        </a:solidFill>
        <a:effectLst/>
      </p:bgPr>
    </p:bg>
    <p:spTree>
      <p:nvGrpSpPr>
        <p:cNvPr id="1" name=""/>
        <p:cNvGrpSpPr/>
        <p:nvPr/>
      </p:nvGrpSpPr>
      <p:grpSpPr>
        <a:xfrm>
          <a:off x="0" y="0"/>
          <a:ext cx="0" cy="0"/>
          <a:chOff x="0" y="0"/>
          <a:chExt cx="0" cy="0"/>
        </a:xfrm>
      </p:grpSpPr>
      <p:sp>
        <p:nvSpPr>
          <p:cNvPr id="6" name="PolyGlot">
            <a:extLst>
              <a:ext uri="{FF2B5EF4-FFF2-40B4-BE49-F238E27FC236}">
                <a16:creationId xmlns:a16="http://schemas.microsoft.com/office/drawing/2014/main" id="{4DF13FE5-6EC4-46B2-8D5B-EAF3A1687E53}"/>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FFFFFF"/>
                </a:solidFill>
                <a:latin typeface="Arial"/>
                <a:ea typeface="Arial"/>
                <a:cs typeface="Arial"/>
              </a:defRPr>
            </a:defPPr>
            <a:lvl1pPr algn="l">
              <a:buNone/>
              <a:defRPr sz="4350" b="1">
                <a:solidFill>
                  <a:srgbClr val="FFFFFF"/>
                </a:solidFill>
                <a:latin typeface="Arial"/>
                <a:ea typeface="Arial"/>
                <a:cs typeface="Arial"/>
              </a:defRPr>
            </a:lvl1pPr>
            <a:lvl2pPr algn="l">
              <a:buNone/>
              <a:defRPr sz="4350" b="1">
                <a:solidFill>
                  <a:srgbClr val="FFFFFF"/>
                </a:solidFill>
                <a:latin typeface="Arial"/>
                <a:ea typeface="Arial"/>
                <a:cs typeface="Arial"/>
              </a:defRPr>
            </a:lvl2pPr>
            <a:lvl3pPr algn="l">
              <a:buNone/>
              <a:defRPr sz="4350" b="1">
                <a:solidFill>
                  <a:srgbClr val="FFFFFF"/>
                </a:solidFill>
                <a:latin typeface="Arial"/>
                <a:ea typeface="Arial"/>
                <a:cs typeface="Arial"/>
              </a:defRPr>
            </a:lvl3pPr>
            <a:lvl4pPr algn="l">
              <a:buNone/>
              <a:defRPr sz="4350" b="1">
                <a:solidFill>
                  <a:srgbClr val="FFFFFF"/>
                </a:solidFill>
                <a:latin typeface="Arial"/>
                <a:ea typeface="Arial"/>
                <a:cs typeface="Arial"/>
              </a:defRPr>
            </a:lvl4pPr>
            <a:lvl5pPr algn="l">
              <a:buNone/>
              <a:defRPr sz="4350" b="1">
                <a:solidFill>
                  <a:srgbClr val="FFFFFF"/>
                </a:solidFill>
                <a:latin typeface="Arial"/>
                <a:ea typeface="Arial"/>
                <a:cs typeface="Arial"/>
              </a:defRPr>
            </a:lvl5pPr>
            <a:lvl6pPr algn="l">
              <a:buNone/>
              <a:defRPr sz="4350" b="1">
                <a:solidFill>
                  <a:srgbClr val="FFFFFF"/>
                </a:solidFill>
                <a:latin typeface="Arial"/>
                <a:ea typeface="Arial"/>
                <a:cs typeface="Arial"/>
              </a:defRPr>
            </a:lvl6pPr>
            <a:lvl7pPr algn="l">
              <a:buNone/>
              <a:defRPr sz="4350" b="1">
                <a:solidFill>
                  <a:srgbClr val="FFFFFF"/>
                </a:solidFill>
                <a:latin typeface="Arial"/>
                <a:ea typeface="Arial"/>
                <a:cs typeface="Arial"/>
              </a:defRPr>
            </a:lvl7pPr>
            <a:lvl8pPr algn="l">
              <a:buNone/>
              <a:defRPr sz="4350" b="1">
                <a:solidFill>
                  <a:srgbClr val="FFFFFF"/>
                </a:solidFill>
                <a:latin typeface="Arial"/>
                <a:ea typeface="Arial"/>
                <a:cs typeface="Arial"/>
              </a:defRPr>
            </a:lvl8pPr>
            <a:lvl9pPr algn="l">
              <a:buNone/>
              <a:defRPr sz="4350" b="1">
                <a:solidFill>
                  <a:srgbClr val="FFFFFF"/>
                </a:solidFill>
                <a:latin typeface="Arial"/>
                <a:ea typeface="Arial"/>
                <a:cs typeface="Arial"/>
              </a:defRPr>
            </a:lvl9pPr>
          </a:lstStyle>
          <a:p>
            <a:pPr algn="l">
              <a:buNone/>
              <a:defRPr sz="4350" b="1">
                <a:solidFill>
                  <a:srgbClr val="FFFFFF"/>
                </a:solidFill>
                <a:latin typeface="Arial"/>
                <a:ea typeface="Arial"/>
                <a:cs typeface="Arial"/>
              </a:defRPr>
            </a:pPr>
            <a:r>
              <a:rPr sz="4350" b="1">
                <a:solidFill>
                  <a:srgbClr val="FFFFFF"/>
                </a:solidFill>
                <a:latin typeface="Arial"/>
                <a:ea typeface="Arial"/>
                <a:cs typeface="Arial"/>
              </a:rPr>
              <a:t>PolyGlot</a:t>
            </a:r>
          </a:p>
        </p:txBody>
      </p:sp>
      <p:sp>
        <p:nvSpPr>
          <p:cNvPr id="2" name="01">
            <a:extLst>
              <a:ext uri="{FF2B5EF4-FFF2-40B4-BE49-F238E27FC236}">
                <a16:creationId xmlns:a16="http://schemas.microsoft.com/office/drawing/2014/main" id="{C5700153-404C-4C7A-8C21-C15E51CC13A5}"/>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B5C7DE"/>
                </a:solidFill>
                <a:latin typeface="Arial"/>
                <a:ea typeface="Arial"/>
                <a:cs typeface="Arial"/>
              </a:defRPr>
            </a:defPPr>
            <a:lvl1pPr algn="r">
              <a:buNone/>
              <a:defRPr sz="1500" b="0">
                <a:solidFill>
                  <a:srgbClr val="B5C7DE"/>
                </a:solidFill>
                <a:latin typeface="Arial"/>
                <a:ea typeface="Arial"/>
                <a:cs typeface="Arial"/>
              </a:defRPr>
            </a:lvl1pPr>
            <a:lvl2pPr algn="r">
              <a:buNone/>
              <a:defRPr sz="1500" b="0">
                <a:solidFill>
                  <a:srgbClr val="B5C7DE"/>
                </a:solidFill>
                <a:latin typeface="Arial"/>
                <a:ea typeface="Arial"/>
                <a:cs typeface="Arial"/>
              </a:defRPr>
            </a:lvl2pPr>
            <a:lvl3pPr algn="r">
              <a:buNone/>
              <a:defRPr sz="1500" b="0">
                <a:solidFill>
                  <a:srgbClr val="B5C7DE"/>
                </a:solidFill>
                <a:latin typeface="Arial"/>
                <a:ea typeface="Arial"/>
                <a:cs typeface="Arial"/>
              </a:defRPr>
            </a:lvl3pPr>
            <a:lvl4pPr algn="r">
              <a:buNone/>
              <a:defRPr sz="1500" b="0">
                <a:solidFill>
                  <a:srgbClr val="B5C7DE"/>
                </a:solidFill>
                <a:latin typeface="Arial"/>
                <a:ea typeface="Arial"/>
                <a:cs typeface="Arial"/>
              </a:defRPr>
            </a:lvl4pPr>
            <a:lvl5pPr algn="r">
              <a:buNone/>
              <a:defRPr sz="1500" b="0">
                <a:solidFill>
                  <a:srgbClr val="B5C7DE"/>
                </a:solidFill>
                <a:latin typeface="Arial"/>
                <a:ea typeface="Arial"/>
                <a:cs typeface="Arial"/>
              </a:defRPr>
            </a:lvl5pPr>
            <a:lvl6pPr algn="r">
              <a:buNone/>
              <a:defRPr sz="1500" b="0">
                <a:solidFill>
                  <a:srgbClr val="B5C7DE"/>
                </a:solidFill>
                <a:latin typeface="Arial"/>
                <a:ea typeface="Arial"/>
                <a:cs typeface="Arial"/>
              </a:defRPr>
            </a:lvl6pPr>
            <a:lvl7pPr algn="r">
              <a:buNone/>
              <a:defRPr sz="1500" b="0">
                <a:solidFill>
                  <a:srgbClr val="B5C7DE"/>
                </a:solidFill>
                <a:latin typeface="Arial"/>
                <a:ea typeface="Arial"/>
                <a:cs typeface="Arial"/>
              </a:defRPr>
            </a:lvl7pPr>
            <a:lvl8pPr algn="r">
              <a:buNone/>
              <a:defRPr sz="1500" b="0">
                <a:solidFill>
                  <a:srgbClr val="B5C7DE"/>
                </a:solidFill>
                <a:latin typeface="Arial"/>
                <a:ea typeface="Arial"/>
                <a:cs typeface="Arial"/>
              </a:defRPr>
            </a:lvl8pPr>
            <a:lvl9pPr algn="r">
              <a:buNone/>
              <a:defRPr sz="1500" b="0">
                <a:solidFill>
                  <a:srgbClr val="B5C7DE"/>
                </a:solidFill>
                <a:latin typeface="Arial"/>
                <a:ea typeface="Arial"/>
                <a:cs typeface="Arial"/>
              </a:defRPr>
            </a:lvl9pPr>
          </a:lstStyle>
          <a:p>
            <a:pPr algn="r">
              <a:buNone/>
              <a:defRPr sz="1500" b="0">
                <a:solidFill>
                  <a:srgbClr val="B5C7DE"/>
                </a:solidFill>
                <a:latin typeface="Arial"/>
                <a:ea typeface="Arial"/>
                <a:cs typeface="Arial"/>
              </a:defRPr>
            </a:pPr>
            <a:r>
              <a:rPr sz="1500" b="0">
                <a:solidFill>
                  <a:srgbClr val="B5C7DE"/>
                </a:solidFill>
                <a:latin typeface="Arial"/>
                <a:ea typeface="Arial"/>
                <a:cs typeface="Arial"/>
              </a:rPr>
              <a:t>01</a:t>
            </a:r>
          </a:p>
        </p:txBody>
      </p:sp>
      <p:sp>
        <p:nvSpPr>
          <p:cNvPr id="3" name="A compiler for&#10;mixed syntax">
            <a:extLst>
              <a:ext uri="{FF2B5EF4-FFF2-40B4-BE49-F238E27FC236}">
                <a16:creationId xmlns:a16="http://schemas.microsoft.com/office/drawing/2014/main" id="{FF1697F7-E2FC-4DB6-9B41-0CD10D098391}"/>
              </a:ext>
            </a:extLst>
          </p:cNvPr>
          <p:cNvSpPr>
            <a:spLocks noGrp="1"/>
          </p:cNvSpPr>
          <p:nvPr/>
        </p:nvSpPr>
        <p:spPr>
          <a:xfrm>
            <a:off x="762000" y="2343150"/>
            <a:ext cx="12573000" cy="2238375"/>
          </a:xfrm>
          <a:prstGeom prst="rect">
            <a:avLst/>
          </a:prstGeom>
          <a:noFill/>
          <a:ln w="0">
            <a:noFill/>
          </a:ln>
        </p:spPr>
        <p:txBody>
          <a:bodyPr wrap="square" lIns="0" tIns="0" rIns="0" bIns="0" anchor="t">
            <a:noAutofit/>
          </a:bodyPr>
          <a:lstStyle>
            <a:defPPr algn="l">
              <a:defRPr sz="7200" b="1">
                <a:solidFill>
                  <a:srgbClr val="FFFFFF"/>
                </a:solidFill>
                <a:latin typeface="Arial"/>
                <a:ea typeface="Arial"/>
                <a:cs typeface="Arial"/>
              </a:defRPr>
            </a:defPPr>
            <a:lvl1pPr algn="l">
              <a:buNone/>
              <a:defRPr sz="7200" b="1">
                <a:solidFill>
                  <a:srgbClr val="FFFFFF"/>
                </a:solidFill>
                <a:latin typeface="Arial"/>
                <a:ea typeface="Arial"/>
                <a:cs typeface="Arial"/>
              </a:defRPr>
            </a:lvl1pPr>
            <a:lvl2pPr algn="l">
              <a:buNone/>
              <a:defRPr sz="7200" b="1">
                <a:solidFill>
                  <a:srgbClr val="FFFFFF"/>
                </a:solidFill>
                <a:latin typeface="Arial"/>
                <a:ea typeface="Arial"/>
                <a:cs typeface="Arial"/>
              </a:defRPr>
            </a:lvl2pPr>
            <a:lvl3pPr algn="l">
              <a:buNone/>
              <a:defRPr sz="7200" b="1">
                <a:solidFill>
                  <a:srgbClr val="FFFFFF"/>
                </a:solidFill>
                <a:latin typeface="Arial"/>
                <a:ea typeface="Arial"/>
                <a:cs typeface="Arial"/>
              </a:defRPr>
            </a:lvl3pPr>
            <a:lvl4pPr algn="l">
              <a:buNone/>
              <a:defRPr sz="7200" b="1">
                <a:solidFill>
                  <a:srgbClr val="FFFFFF"/>
                </a:solidFill>
                <a:latin typeface="Arial"/>
                <a:ea typeface="Arial"/>
                <a:cs typeface="Arial"/>
              </a:defRPr>
            </a:lvl4pPr>
            <a:lvl5pPr algn="l">
              <a:buNone/>
              <a:defRPr sz="7200" b="1">
                <a:solidFill>
                  <a:srgbClr val="FFFFFF"/>
                </a:solidFill>
                <a:latin typeface="Arial"/>
                <a:ea typeface="Arial"/>
                <a:cs typeface="Arial"/>
              </a:defRPr>
            </a:lvl5pPr>
            <a:lvl6pPr algn="l">
              <a:buNone/>
              <a:defRPr sz="7200" b="1">
                <a:solidFill>
                  <a:srgbClr val="FFFFFF"/>
                </a:solidFill>
                <a:latin typeface="Arial"/>
                <a:ea typeface="Arial"/>
                <a:cs typeface="Arial"/>
              </a:defRPr>
            </a:lvl6pPr>
            <a:lvl7pPr algn="l">
              <a:buNone/>
              <a:defRPr sz="7200" b="1">
                <a:solidFill>
                  <a:srgbClr val="FFFFFF"/>
                </a:solidFill>
                <a:latin typeface="Arial"/>
                <a:ea typeface="Arial"/>
                <a:cs typeface="Arial"/>
              </a:defRPr>
            </a:lvl7pPr>
            <a:lvl8pPr algn="l">
              <a:buNone/>
              <a:defRPr sz="7200" b="1">
                <a:solidFill>
                  <a:srgbClr val="FFFFFF"/>
                </a:solidFill>
                <a:latin typeface="Arial"/>
                <a:ea typeface="Arial"/>
                <a:cs typeface="Arial"/>
              </a:defRPr>
            </a:lvl8pPr>
            <a:lvl9pPr algn="l">
              <a:buNone/>
              <a:defRPr sz="7200" b="1">
                <a:solidFill>
                  <a:srgbClr val="FFFFFF"/>
                </a:solidFill>
                <a:latin typeface="Arial"/>
                <a:ea typeface="Arial"/>
                <a:cs typeface="Arial"/>
              </a:defRPr>
            </a:lvl9pPr>
          </a:lstStyle>
          <a:p>
            <a:pPr algn="l">
              <a:buNone/>
              <a:defRPr sz="7200" b="1">
                <a:solidFill>
                  <a:srgbClr val="FFFFFF"/>
                </a:solidFill>
                <a:latin typeface="Arial"/>
                <a:ea typeface="Arial"/>
                <a:cs typeface="Arial"/>
              </a:defRPr>
            </a:pPr>
            <a:r>
              <a:rPr sz="7200" b="1">
                <a:solidFill>
                  <a:srgbClr val="FFFFFF"/>
                </a:solidFill>
                <a:latin typeface="Arial"/>
                <a:ea typeface="Arial"/>
                <a:cs typeface="Arial"/>
              </a:rPr>
              <a:t>A compiler for</a:t>
            </a:r>
          </a:p>
          <a:p>
            <a:pPr algn="l">
              <a:buNone/>
              <a:defRPr sz="7200" b="1">
                <a:solidFill>
                  <a:srgbClr val="FFFFFF"/>
                </a:solidFill>
                <a:latin typeface="Arial"/>
                <a:ea typeface="Arial"/>
                <a:cs typeface="Arial"/>
              </a:defRPr>
            </a:pPr>
            <a:r>
              <a:rPr sz="7200" b="1">
                <a:solidFill>
                  <a:srgbClr val="FFFFFF"/>
                </a:solidFill>
                <a:latin typeface="Arial"/>
                <a:ea typeface="Arial"/>
                <a:cs typeface="Arial"/>
              </a:rPr>
              <a:t>mixed syntax</a:t>
            </a:r>
          </a:p>
        </p:txBody>
      </p:sp>
      <p:sp>
        <p:nvSpPr>
          <p:cNvPr id="4" name="Shared semantics. Typed IR. Custom bytecode.">
            <a:extLst>
              <a:ext uri="{FF2B5EF4-FFF2-40B4-BE49-F238E27FC236}">
                <a16:creationId xmlns:a16="http://schemas.microsoft.com/office/drawing/2014/main" id="{C49A8A19-8D5B-4D84-B1FE-365250B9A611}"/>
              </a:ext>
            </a:extLst>
          </p:cNvPr>
          <p:cNvSpPr>
            <a:spLocks noGrp="1"/>
          </p:cNvSpPr>
          <p:nvPr/>
        </p:nvSpPr>
        <p:spPr>
          <a:xfrm>
            <a:off x="809625" y="5200650"/>
            <a:ext cx="13335000" cy="628650"/>
          </a:xfrm>
          <a:prstGeom prst="rect">
            <a:avLst/>
          </a:prstGeom>
          <a:noFill/>
          <a:ln w="0">
            <a:noFill/>
          </a:ln>
        </p:spPr>
        <p:txBody>
          <a:bodyPr wrap="square" lIns="0" tIns="0" rIns="0" bIns="0" anchor="t">
            <a:noAutofit/>
          </a:bodyPr>
          <a:lstStyle>
            <a:defPPr algn="l">
              <a:defRPr sz="3000" b="0">
                <a:solidFill>
                  <a:srgbClr val="76D9C3"/>
                </a:solidFill>
                <a:latin typeface="Arial"/>
                <a:ea typeface="Arial"/>
                <a:cs typeface="Arial"/>
              </a:defRPr>
            </a:defPPr>
            <a:lvl1pPr algn="l">
              <a:buNone/>
              <a:defRPr sz="3000" b="0">
                <a:solidFill>
                  <a:srgbClr val="76D9C3"/>
                </a:solidFill>
                <a:latin typeface="Arial"/>
                <a:ea typeface="Arial"/>
                <a:cs typeface="Arial"/>
              </a:defRPr>
            </a:lvl1pPr>
            <a:lvl2pPr algn="l">
              <a:buNone/>
              <a:defRPr sz="3000" b="0">
                <a:solidFill>
                  <a:srgbClr val="76D9C3"/>
                </a:solidFill>
                <a:latin typeface="Arial"/>
                <a:ea typeface="Arial"/>
                <a:cs typeface="Arial"/>
              </a:defRPr>
            </a:lvl2pPr>
            <a:lvl3pPr algn="l">
              <a:buNone/>
              <a:defRPr sz="3000" b="0">
                <a:solidFill>
                  <a:srgbClr val="76D9C3"/>
                </a:solidFill>
                <a:latin typeface="Arial"/>
                <a:ea typeface="Arial"/>
                <a:cs typeface="Arial"/>
              </a:defRPr>
            </a:lvl3pPr>
            <a:lvl4pPr algn="l">
              <a:buNone/>
              <a:defRPr sz="3000" b="0">
                <a:solidFill>
                  <a:srgbClr val="76D9C3"/>
                </a:solidFill>
                <a:latin typeface="Arial"/>
                <a:ea typeface="Arial"/>
                <a:cs typeface="Arial"/>
              </a:defRPr>
            </a:lvl4pPr>
            <a:lvl5pPr algn="l">
              <a:buNone/>
              <a:defRPr sz="3000" b="0">
                <a:solidFill>
                  <a:srgbClr val="76D9C3"/>
                </a:solidFill>
                <a:latin typeface="Arial"/>
                <a:ea typeface="Arial"/>
                <a:cs typeface="Arial"/>
              </a:defRPr>
            </a:lvl5pPr>
            <a:lvl6pPr algn="l">
              <a:buNone/>
              <a:defRPr sz="3000" b="0">
                <a:solidFill>
                  <a:srgbClr val="76D9C3"/>
                </a:solidFill>
                <a:latin typeface="Arial"/>
                <a:ea typeface="Arial"/>
                <a:cs typeface="Arial"/>
              </a:defRPr>
            </a:lvl6pPr>
            <a:lvl7pPr algn="l">
              <a:buNone/>
              <a:defRPr sz="3000" b="0">
                <a:solidFill>
                  <a:srgbClr val="76D9C3"/>
                </a:solidFill>
                <a:latin typeface="Arial"/>
                <a:ea typeface="Arial"/>
                <a:cs typeface="Arial"/>
              </a:defRPr>
            </a:lvl7pPr>
            <a:lvl8pPr algn="l">
              <a:buNone/>
              <a:defRPr sz="3000" b="0">
                <a:solidFill>
                  <a:srgbClr val="76D9C3"/>
                </a:solidFill>
                <a:latin typeface="Arial"/>
                <a:ea typeface="Arial"/>
                <a:cs typeface="Arial"/>
              </a:defRPr>
            </a:lvl8pPr>
            <a:lvl9pPr algn="l">
              <a:buNone/>
              <a:defRPr sz="3000" b="0">
                <a:solidFill>
                  <a:srgbClr val="76D9C3"/>
                </a:solidFill>
                <a:latin typeface="Arial"/>
                <a:ea typeface="Arial"/>
                <a:cs typeface="Arial"/>
              </a:defRPr>
            </a:lvl9pPr>
          </a:lstStyle>
          <a:p>
            <a:pPr algn="l">
              <a:buNone/>
              <a:defRPr sz="3000" b="0">
                <a:solidFill>
                  <a:srgbClr val="76D9C3"/>
                </a:solidFill>
                <a:latin typeface="Arial"/>
                <a:ea typeface="Arial"/>
                <a:cs typeface="Arial"/>
              </a:defRPr>
            </a:pPr>
            <a:r>
              <a:rPr sz="3000" b="0">
                <a:solidFill>
                  <a:srgbClr val="76D9C3"/>
                </a:solidFill>
                <a:latin typeface="Arial"/>
                <a:ea typeface="Arial"/>
                <a:cs typeface="Arial"/>
              </a:rPr>
              <a:t>Shared semantics. Typed IR. Custom bytecode.</a:t>
            </a:r>
          </a:p>
        </p:txBody>
      </p:sp>
      <p:sp>
        <p:nvSpPr>
          <p:cNvPr id="5" name="Compiler Design Project">
            <a:extLst>
              <a:ext uri="{FF2B5EF4-FFF2-40B4-BE49-F238E27FC236}">
                <a16:creationId xmlns:a16="http://schemas.microsoft.com/office/drawing/2014/main" id="{B7CB33C4-5631-40ED-8F57-8B170314F5F1}"/>
              </a:ext>
            </a:extLst>
          </p:cNvPr>
          <p:cNvSpPr>
            <a:spLocks noGrp="1"/>
          </p:cNvSpPr>
          <p:nvPr/>
        </p:nvSpPr>
        <p:spPr>
          <a:xfrm>
            <a:off x="809625" y="6905625"/>
            <a:ext cx="10477500" cy="523875"/>
          </a:xfrm>
          <a:prstGeom prst="rect">
            <a:avLst/>
          </a:prstGeom>
          <a:noFill/>
          <a:ln w="0">
            <a:noFill/>
          </a:ln>
        </p:spPr>
        <p:txBody>
          <a:bodyPr wrap="square" lIns="0" tIns="0" rIns="0" bIns="0" anchor="t">
            <a:noAutofit/>
          </a:bodyPr>
          <a:lstStyle>
            <a:defPPr algn="l">
              <a:defRPr sz="2250" b="0">
                <a:solidFill>
                  <a:srgbClr val="B5C7DE"/>
                </a:solidFill>
                <a:latin typeface="Arial"/>
                <a:ea typeface="Arial"/>
                <a:cs typeface="Arial"/>
              </a:defRPr>
            </a:defPPr>
            <a:lvl1pPr algn="l">
              <a:buNone/>
              <a:defRPr sz="2250" b="0">
                <a:solidFill>
                  <a:srgbClr val="B5C7DE"/>
                </a:solidFill>
                <a:latin typeface="Arial"/>
                <a:ea typeface="Arial"/>
                <a:cs typeface="Arial"/>
              </a:defRPr>
            </a:lvl1pPr>
            <a:lvl2pPr algn="l">
              <a:buNone/>
              <a:defRPr sz="2250" b="0">
                <a:solidFill>
                  <a:srgbClr val="B5C7DE"/>
                </a:solidFill>
                <a:latin typeface="Arial"/>
                <a:ea typeface="Arial"/>
                <a:cs typeface="Arial"/>
              </a:defRPr>
            </a:lvl2pPr>
            <a:lvl3pPr algn="l">
              <a:buNone/>
              <a:defRPr sz="2250" b="0">
                <a:solidFill>
                  <a:srgbClr val="B5C7DE"/>
                </a:solidFill>
                <a:latin typeface="Arial"/>
                <a:ea typeface="Arial"/>
                <a:cs typeface="Arial"/>
              </a:defRPr>
            </a:lvl3pPr>
            <a:lvl4pPr algn="l">
              <a:buNone/>
              <a:defRPr sz="2250" b="0">
                <a:solidFill>
                  <a:srgbClr val="B5C7DE"/>
                </a:solidFill>
                <a:latin typeface="Arial"/>
                <a:ea typeface="Arial"/>
                <a:cs typeface="Arial"/>
              </a:defRPr>
            </a:lvl4pPr>
            <a:lvl5pPr algn="l">
              <a:buNone/>
              <a:defRPr sz="2250" b="0">
                <a:solidFill>
                  <a:srgbClr val="B5C7DE"/>
                </a:solidFill>
                <a:latin typeface="Arial"/>
                <a:ea typeface="Arial"/>
                <a:cs typeface="Arial"/>
              </a:defRPr>
            </a:lvl5pPr>
            <a:lvl6pPr algn="l">
              <a:buNone/>
              <a:defRPr sz="2250" b="0">
                <a:solidFill>
                  <a:srgbClr val="B5C7DE"/>
                </a:solidFill>
                <a:latin typeface="Arial"/>
                <a:ea typeface="Arial"/>
                <a:cs typeface="Arial"/>
              </a:defRPr>
            </a:lvl6pPr>
            <a:lvl7pPr algn="l">
              <a:buNone/>
              <a:defRPr sz="2250" b="0">
                <a:solidFill>
                  <a:srgbClr val="B5C7DE"/>
                </a:solidFill>
                <a:latin typeface="Arial"/>
                <a:ea typeface="Arial"/>
                <a:cs typeface="Arial"/>
              </a:defRPr>
            </a:lvl7pPr>
            <a:lvl8pPr algn="l">
              <a:buNone/>
              <a:defRPr sz="2250" b="0">
                <a:solidFill>
                  <a:srgbClr val="B5C7DE"/>
                </a:solidFill>
                <a:latin typeface="Arial"/>
                <a:ea typeface="Arial"/>
                <a:cs typeface="Arial"/>
              </a:defRPr>
            </a:lvl8pPr>
            <a:lvl9pPr algn="l">
              <a:buNone/>
              <a:defRPr sz="2250" b="0">
                <a:solidFill>
                  <a:srgbClr val="B5C7DE"/>
                </a:solidFill>
                <a:latin typeface="Arial"/>
                <a:ea typeface="Arial"/>
                <a:cs typeface="Arial"/>
              </a:defRPr>
            </a:lvl9pPr>
          </a:lstStyle>
          <a:p>
            <a:pPr algn="l">
              <a:buNone/>
              <a:defRPr sz="2250" b="0">
                <a:solidFill>
                  <a:srgbClr val="B5C7DE"/>
                </a:solidFill>
                <a:latin typeface="Arial"/>
                <a:ea typeface="Arial"/>
                <a:cs typeface="Arial"/>
              </a:defRPr>
            </a:pPr>
            <a:r>
              <a:rPr sz="2250" b="0">
                <a:solidFill>
                  <a:srgbClr val="B5C7DE"/>
                </a:solidFill>
                <a:latin typeface="Arial"/>
                <a:ea typeface="Arial"/>
                <a:cs typeface="Arial"/>
              </a:rPr>
              <a:t>Compiler Design Project</a:t>
            </a:r>
          </a:p>
        </p:txBody>
      </p:sp>
    </p:spTree>
    <p:extLst>
      <p:ext uri="{BB962C8B-B14F-4D97-AF65-F5344CB8AC3E}">
        <p14:creationId xmlns:p14="http://schemas.microsoft.com/office/powerpoint/2010/main" val="1563460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9" name="The problem and our approach">
            <a:extLst>
              <a:ext uri="{FF2B5EF4-FFF2-40B4-BE49-F238E27FC236}">
                <a16:creationId xmlns:a16="http://schemas.microsoft.com/office/drawing/2014/main" id="{D17D91F8-51BA-4EA4-92EC-EEE7C4FC2A9F}"/>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The problem and our approach</a:t>
            </a:r>
          </a:p>
        </p:txBody>
      </p:sp>
      <p:sp>
        <p:nvSpPr>
          <p:cNvPr id="2" name="Familiar syntax can share a common compiler implementat">
            <a:extLst>
              <a:ext uri="{FF2B5EF4-FFF2-40B4-BE49-F238E27FC236}">
                <a16:creationId xmlns:a16="http://schemas.microsoft.com/office/drawing/2014/main" id="{3791F604-CB40-4E1C-8AA9-0E6256249803}"/>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Familiar syntax can share a common compiler implementation</a:t>
            </a:r>
          </a:p>
        </p:txBody>
      </p:sp>
      <p:sp>
        <p:nvSpPr>
          <p:cNvPr id="3" name="02">
            <a:extLst>
              <a:ext uri="{FF2B5EF4-FFF2-40B4-BE49-F238E27FC236}">
                <a16:creationId xmlns:a16="http://schemas.microsoft.com/office/drawing/2014/main" id="{CB5E143E-5314-4908-99EE-359BC7D1BB89}"/>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02</a:t>
            </a:r>
          </a:p>
        </p:txBody>
      </p:sp>
      <p:sp>
        <p:nvSpPr>
          <p:cNvPr id="4" name="The problem">
            <a:extLst>
              <a:ext uri="{FF2B5EF4-FFF2-40B4-BE49-F238E27FC236}">
                <a16:creationId xmlns:a16="http://schemas.microsoft.com/office/drawing/2014/main" id="{F9F294BA-CEAE-4480-BC29-275B032574F5}"/>
              </a:ext>
            </a:extLst>
          </p:cNvPr>
          <p:cNvSpPr>
            <a:spLocks noGrp="1"/>
          </p:cNvSpPr>
          <p:nvPr/>
        </p:nvSpPr>
        <p:spPr>
          <a:xfrm>
            <a:off x="762000" y="2705100"/>
            <a:ext cx="5715000" cy="552450"/>
          </a:xfrm>
          <a:prstGeom prst="rect">
            <a:avLst/>
          </a:prstGeom>
          <a:noFill/>
          <a:ln w="0">
            <a:noFill/>
          </a:ln>
        </p:spPr>
        <p:txBody>
          <a:bodyPr wrap="square" lIns="0" tIns="0" rIns="0" bIns="0" anchor="t">
            <a:noAutofit/>
          </a:bodyPr>
          <a:lstStyle>
            <a:defPPr algn="l">
              <a:defRPr sz="3000" b="1">
                <a:solidFill>
                  <a:srgbClr val="596577"/>
                </a:solidFill>
                <a:latin typeface="Arial"/>
                <a:ea typeface="Arial"/>
                <a:cs typeface="Arial"/>
              </a:defRPr>
            </a:defPPr>
            <a:lvl1pPr algn="l">
              <a:buNone/>
              <a:defRPr sz="3000" b="1">
                <a:solidFill>
                  <a:srgbClr val="596577"/>
                </a:solidFill>
                <a:latin typeface="Arial"/>
                <a:ea typeface="Arial"/>
                <a:cs typeface="Arial"/>
              </a:defRPr>
            </a:lvl1pPr>
            <a:lvl2pPr algn="l">
              <a:buNone/>
              <a:defRPr sz="3000" b="1">
                <a:solidFill>
                  <a:srgbClr val="596577"/>
                </a:solidFill>
                <a:latin typeface="Arial"/>
                <a:ea typeface="Arial"/>
                <a:cs typeface="Arial"/>
              </a:defRPr>
            </a:lvl2pPr>
            <a:lvl3pPr algn="l">
              <a:buNone/>
              <a:defRPr sz="3000" b="1">
                <a:solidFill>
                  <a:srgbClr val="596577"/>
                </a:solidFill>
                <a:latin typeface="Arial"/>
                <a:ea typeface="Arial"/>
                <a:cs typeface="Arial"/>
              </a:defRPr>
            </a:lvl3pPr>
            <a:lvl4pPr algn="l">
              <a:buNone/>
              <a:defRPr sz="3000" b="1">
                <a:solidFill>
                  <a:srgbClr val="596577"/>
                </a:solidFill>
                <a:latin typeface="Arial"/>
                <a:ea typeface="Arial"/>
                <a:cs typeface="Arial"/>
              </a:defRPr>
            </a:lvl4pPr>
            <a:lvl5pPr algn="l">
              <a:buNone/>
              <a:defRPr sz="3000" b="1">
                <a:solidFill>
                  <a:srgbClr val="596577"/>
                </a:solidFill>
                <a:latin typeface="Arial"/>
                <a:ea typeface="Arial"/>
                <a:cs typeface="Arial"/>
              </a:defRPr>
            </a:lvl5pPr>
            <a:lvl6pPr algn="l">
              <a:buNone/>
              <a:defRPr sz="3000" b="1">
                <a:solidFill>
                  <a:srgbClr val="596577"/>
                </a:solidFill>
                <a:latin typeface="Arial"/>
                <a:ea typeface="Arial"/>
                <a:cs typeface="Arial"/>
              </a:defRPr>
            </a:lvl6pPr>
            <a:lvl7pPr algn="l">
              <a:buNone/>
              <a:defRPr sz="3000" b="1">
                <a:solidFill>
                  <a:srgbClr val="596577"/>
                </a:solidFill>
                <a:latin typeface="Arial"/>
                <a:ea typeface="Arial"/>
                <a:cs typeface="Arial"/>
              </a:defRPr>
            </a:lvl7pPr>
            <a:lvl8pPr algn="l">
              <a:buNone/>
              <a:defRPr sz="3000" b="1">
                <a:solidFill>
                  <a:srgbClr val="596577"/>
                </a:solidFill>
                <a:latin typeface="Arial"/>
                <a:ea typeface="Arial"/>
                <a:cs typeface="Arial"/>
              </a:defRPr>
            </a:lvl8pPr>
            <a:lvl9pPr algn="l">
              <a:buNone/>
              <a:defRPr sz="3000" b="1">
                <a:solidFill>
                  <a:srgbClr val="596577"/>
                </a:solidFill>
                <a:latin typeface="Arial"/>
                <a:ea typeface="Arial"/>
                <a:cs typeface="Arial"/>
              </a:defRPr>
            </a:lvl9pPr>
          </a:lstStyle>
          <a:p>
            <a:pPr algn="l">
              <a:buNone/>
              <a:defRPr sz="3000" b="1">
                <a:solidFill>
                  <a:srgbClr val="596577"/>
                </a:solidFill>
                <a:latin typeface="Arial"/>
                <a:ea typeface="Arial"/>
                <a:cs typeface="Arial"/>
              </a:defRPr>
            </a:pPr>
            <a:r>
              <a:rPr sz="3000" b="1">
                <a:solidFill>
                  <a:srgbClr val="596577"/>
                </a:solidFill>
                <a:latin typeface="Arial"/>
                <a:ea typeface="Arial"/>
                <a:cs typeface="Arial"/>
              </a:rPr>
              <a:t>The problem</a:t>
            </a:r>
          </a:p>
        </p:txBody>
      </p:sp>
      <p:sp>
        <p:nvSpPr>
          <p:cNvPr id="5" name="Different syntax usually means&#10;different tools and runt">
            <a:extLst>
              <a:ext uri="{FF2B5EF4-FFF2-40B4-BE49-F238E27FC236}">
                <a16:creationId xmlns:a16="http://schemas.microsoft.com/office/drawing/2014/main" id="{68268DCA-B21E-4674-8CDF-28E1ABBDBF7D}"/>
              </a:ext>
            </a:extLst>
          </p:cNvPr>
          <p:cNvSpPr>
            <a:spLocks noGrp="1"/>
          </p:cNvSpPr>
          <p:nvPr/>
        </p:nvSpPr>
        <p:spPr>
          <a:xfrm>
            <a:off x="762000" y="3543300"/>
            <a:ext cx="6096000" cy="1714500"/>
          </a:xfrm>
          <a:prstGeom prst="rect">
            <a:avLst/>
          </a:prstGeom>
          <a:noFill/>
          <a:ln w="0">
            <a:noFill/>
          </a:ln>
        </p:spPr>
        <p:txBody>
          <a:bodyPr wrap="square" lIns="0" tIns="0" rIns="0" bIns="0" anchor="t">
            <a:noAutofit/>
          </a:bodyPr>
          <a:lstStyle>
            <a:defPPr algn="l">
              <a:defRPr sz="3225" b="1">
                <a:solidFill>
                  <a:srgbClr val="17273C"/>
                </a:solidFill>
                <a:latin typeface="Arial"/>
                <a:ea typeface="Arial"/>
                <a:cs typeface="Arial"/>
              </a:defRPr>
            </a:defPPr>
            <a:lvl1pPr algn="l">
              <a:buNone/>
              <a:defRPr sz="3225" b="1">
                <a:solidFill>
                  <a:srgbClr val="17273C"/>
                </a:solidFill>
                <a:latin typeface="Arial"/>
                <a:ea typeface="Arial"/>
                <a:cs typeface="Arial"/>
              </a:defRPr>
            </a:lvl1pPr>
            <a:lvl2pPr algn="l">
              <a:buNone/>
              <a:defRPr sz="3225" b="1">
                <a:solidFill>
                  <a:srgbClr val="17273C"/>
                </a:solidFill>
                <a:latin typeface="Arial"/>
                <a:ea typeface="Arial"/>
                <a:cs typeface="Arial"/>
              </a:defRPr>
            </a:lvl2pPr>
            <a:lvl3pPr algn="l">
              <a:buNone/>
              <a:defRPr sz="3225" b="1">
                <a:solidFill>
                  <a:srgbClr val="17273C"/>
                </a:solidFill>
                <a:latin typeface="Arial"/>
                <a:ea typeface="Arial"/>
                <a:cs typeface="Arial"/>
              </a:defRPr>
            </a:lvl3pPr>
            <a:lvl4pPr algn="l">
              <a:buNone/>
              <a:defRPr sz="3225" b="1">
                <a:solidFill>
                  <a:srgbClr val="17273C"/>
                </a:solidFill>
                <a:latin typeface="Arial"/>
                <a:ea typeface="Arial"/>
                <a:cs typeface="Arial"/>
              </a:defRPr>
            </a:lvl4pPr>
            <a:lvl5pPr algn="l">
              <a:buNone/>
              <a:defRPr sz="3225" b="1">
                <a:solidFill>
                  <a:srgbClr val="17273C"/>
                </a:solidFill>
                <a:latin typeface="Arial"/>
                <a:ea typeface="Arial"/>
                <a:cs typeface="Arial"/>
              </a:defRPr>
            </a:lvl5pPr>
            <a:lvl6pPr algn="l">
              <a:buNone/>
              <a:defRPr sz="3225" b="1">
                <a:solidFill>
                  <a:srgbClr val="17273C"/>
                </a:solidFill>
                <a:latin typeface="Arial"/>
                <a:ea typeface="Arial"/>
                <a:cs typeface="Arial"/>
              </a:defRPr>
            </a:lvl6pPr>
            <a:lvl7pPr algn="l">
              <a:buNone/>
              <a:defRPr sz="3225" b="1">
                <a:solidFill>
                  <a:srgbClr val="17273C"/>
                </a:solidFill>
                <a:latin typeface="Arial"/>
                <a:ea typeface="Arial"/>
                <a:cs typeface="Arial"/>
              </a:defRPr>
            </a:lvl7pPr>
            <a:lvl8pPr algn="l">
              <a:buNone/>
              <a:defRPr sz="3225" b="1">
                <a:solidFill>
                  <a:srgbClr val="17273C"/>
                </a:solidFill>
                <a:latin typeface="Arial"/>
                <a:ea typeface="Arial"/>
                <a:cs typeface="Arial"/>
              </a:defRPr>
            </a:lvl8pPr>
            <a:lvl9pPr algn="l">
              <a:buNone/>
              <a:defRPr sz="3225" b="1">
                <a:solidFill>
                  <a:srgbClr val="17273C"/>
                </a:solidFill>
                <a:latin typeface="Arial"/>
                <a:ea typeface="Arial"/>
                <a:cs typeface="Arial"/>
              </a:defRPr>
            </a:lvl9pPr>
          </a:lstStyle>
          <a:p>
            <a:pPr algn="l">
              <a:buNone/>
              <a:defRPr sz="3225" b="1">
                <a:solidFill>
                  <a:srgbClr val="17273C"/>
                </a:solidFill>
                <a:latin typeface="Arial"/>
                <a:ea typeface="Arial"/>
                <a:cs typeface="Arial"/>
              </a:defRPr>
            </a:pPr>
            <a:r>
              <a:rPr sz="3225" b="1">
                <a:solidFill>
                  <a:srgbClr val="17273C"/>
                </a:solidFill>
                <a:latin typeface="Arial"/>
                <a:ea typeface="Arial"/>
                <a:cs typeface="Arial"/>
              </a:rPr>
              <a:t>Different syntax usually means</a:t>
            </a:r>
          </a:p>
          <a:p>
            <a:pPr algn="l">
              <a:buNone/>
              <a:defRPr sz="3225" b="1">
                <a:solidFill>
                  <a:srgbClr val="17273C"/>
                </a:solidFill>
                <a:latin typeface="Arial"/>
                <a:ea typeface="Arial"/>
                <a:cs typeface="Arial"/>
              </a:defRPr>
            </a:pPr>
            <a:r>
              <a:rPr sz="3225" b="1">
                <a:solidFill>
                  <a:srgbClr val="17273C"/>
                </a:solidFill>
                <a:latin typeface="Arial"/>
                <a:ea typeface="Arial"/>
                <a:cs typeface="Arial"/>
              </a:rPr>
              <a:t>different tools and runtimes.</a:t>
            </a:r>
          </a:p>
        </p:txBody>
      </p:sp>
      <p:sp>
        <p:nvSpPr>
          <p:cNvPr id="6" name="Our approach">
            <a:extLst>
              <a:ext uri="{FF2B5EF4-FFF2-40B4-BE49-F238E27FC236}">
                <a16:creationId xmlns:a16="http://schemas.microsoft.com/office/drawing/2014/main" id="{EB5DB825-4C6E-4084-A9D5-9723E1104474}"/>
              </a:ext>
            </a:extLst>
          </p:cNvPr>
          <p:cNvSpPr>
            <a:spLocks noGrp="1"/>
          </p:cNvSpPr>
          <p:nvPr/>
        </p:nvSpPr>
        <p:spPr>
          <a:xfrm>
            <a:off x="8334375" y="2705100"/>
            <a:ext cx="6000750" cy="552450"/>
          </a:xfrm>
          <a:prstGeom prst="rect">
            <a:avLst/>
          </a:prstGeom>
          <a:noFill/>
          <a:ln w="0">
            <a:noFill/>
          </a:ln>
        </p:spPr>
        <p:txBody>
          <a:bodyPr wrap="square" lIns="0" tIns="0" rIns="0" bIns="0" anchor="t">
            <a:noAutofit/>
          </a:bodyPr>
          <a:lstStyle>
            <a:defPPr algn="l">
              <a:defRPr sz="3000" b="1">
                <a:solidFill>
                  <a:srgbClr val="2956D7"/>
                </a:solidFill>
                <a:latin typeface="Arial"/>
                <a:ea typeface="Arial"/>
                <a:cs typeface="Arial"/>
              </a:defRPr>
            </a:defPPr>
            <a:lvl1pPr algn="l">
              <a:buNone/>
              <a:defRPr sz="3000" b="1">
                <a:solidFill>
                  <a:srgbClr val="2956D7"/>
                </a:solidFill>
                <a:latin typeface="Arial"/>
                <a:ea typeface="Arial"/>
                <a:cs typeface="Arial"/>
              </a:defRPr>
            </a:lvl1pPr>
            <a:lvl2pPr algn="l">
              <a:buNone/>
              <a:defRPr sz="3000" b="1">
                <a:solidFill>
                  <a:srgbClr val="2956D7"/>
                </a:solidFill>
                <a:latin typeface="Arial"/>
                <a:ea typeface="Arial"/>
                <a:cs typeface="Arial"/>
              </a:defRPr>
            </a:lvl2pPr>
            <a:lvl3pPr algn="l">
              <a:buNone/>
              <a:defRPr sz="3000" b="1">
                <a:solidFill>
                  <a:srgbClr val="2956D7"/>
                </a:solidFill>
                <a:latin typeface="Arial"/>
                <a:ea typeface="Arial"/>
                <a:cs typeface="Arial"/>
              </a:defRPr>
            </a:lvl3pPr>
            <a:lvl4pPr algn="l">
              <a:buNone/>
              <a:defRPr sz="3000" b="1">
                <a:solidFill>
                  <a:srgbClr val="2956D7"/>
                </a:solidFill>
                <a:latin typeface="Arial"/>
                <a:ea typeface="Arial"/>
                <a:cs typeface="Arial"/>
              </a:defRPr>
            </a:lvl4pPr>
            <a:lvl5pPr algn="l">
              <a:buNone/>
              <a:defRPr sz="3000" b="1">
                <a:solidFill>
                  <a:srgbClr val="2956D7"/>
                </a:solidFill>
                <a:latin typeface="Arial"/>
                <a:ea typeface="Arial"/>
                <a:cs typeface="Arial"/>
              </a:defRPr>
            </a:lvl5pPr>
            <a:lvl6pPr algn="l">
              <a:buNone/>
              <a:defRPr sz="3000" b="1">
                <a:solidFill>
                  <a:srgbClr val="2956D7"/>
                </a:solidFill>
                <a:latin typeface="Arial"/>
                <a:ea typeface="Arial"/>
                <a:cs typeface="Arial"/>
              </a:defRPr>
            </a:lvl6pPr>
            <a:lvl7pPr algn="l">
              <a:buNone/>
              <a:defRPr sz="3000" b="1">
                <a:solidFill>
                  <a:srgbClr val="2956D7"/>
                </a:solidFill>
                <a:latin typeface="Arial"/>
                <a:ea typeface="Arial"/>
                <a:cs typeface="Arial"/>
              </a:defRPr>
            </a:lvl7pPr>
            <a:lvl8pPr algn="l">
              <a:buNone/>
              <a:defRPr sz="3000" b="1">
                <a:solidFill>
                  <a:srgbClr val="2956D7"/>
                </a:solidFill>
                <a:latin typeface="Arial"/>
                <a:ea typeface="Arial"/>
                <a:cs typeface="Arial"/>
              </a:defRPr>
            </a:lvl8pPr>
            <a:lvl9pPr algn="l">
              <a:buNone/>
              <a:defRPr sz="3000" b="1">
                <a:solidFill>
                  <a:srgbClr val="2956D7"/>
                </a:solidFill>
                <a:latin typeface="Arial"/>
                <a:ea typeface="Arial"/>
                <a:cs typeface="Arial"/>
              </a:defRPr>
            </a:lvl9pPr>
          </a:lstStyle>
          <a:p>
            <a:pPr algn="l">
              <a:buNone/>
              <a:defRPr sz="3000" b="1">
                <a:solidFill>
                  <a:srgbClr val="2956D7"/>
                </a:solidFill>
                <a:latin typeface="Arial"/>
                <a:ea typeface="Arial"/>
                <a:cs typeface="Arial"/>
              </a:defRPr>
            </a:pPr>
            <a:r>
              <a:rPr sz="3000" b="1">
                <a:solidFill>
                  <a:srgbClr val="2956D7"/>
                </a:solidFill>
                <a:latin typeface="Arial"/>
                <a:ea typeface="Arial"/>
                <a:cs typeface="Arial"/>
              </a:rPr>
              <a:t>Our approach</a:t>
            </a:r>
          </a:p>
        </p:txBody>
      </p:sp>
      <p:sp>
        <p:nvSpPr>
          <p:cNvPr id="7" name="Normalize accepted constructs&#10;into one internal languag">
            <a:extLst>
              <a:ext uri="{FF2B5EF4-FFF2-40B4-BE49-F238E27FC236}">
                <a16:creationId xmlns:a16="http://schemas.microsoft.com/office/drawing/2014/main" id="{1D901504-B60A-41E7-AC31-647A8C8931CE}"/>
              </a:ext>
            </a:extLst>
          </p:cNvPr>
          <p:cNvSpPr>
            <a:spLocks noGrp="1"/>
          </p:cNvSpPr>
          <p:nvPr/>
        </p:nvSpPr>
        <p:spPr>
          <a:xfrm>
            <a:off x="8334375" y="3543300"/>
            <a:ext cx="6000750" cy="1714500"/>
          </a:xfrm>
          <a:prstGeom prst="rect">
            <a:avLst/>
          </a:prstGeom>
          <a:noFill/>
          <a:ln w="0">
            <a:noFill/>
          </a:ln>
        </p:spPr>
        <p:txBody>
          <a:bodyPr wrap="square" lIns="0" tIns="0" rIns="0" bIns="0" anchor="t">
            <a:noAutofit/>
          </a:bodyPr>
          <a:lstStyle>
            <a:defPPr algn="l">
              <a:defRPr sz="3225" b="1">
                <a:solidFill>
                  <a:srgbClr val="17273C"/>
                </a:solidFill>
                <a:latin typeface="Arial"/>
                <a:ea typeface="Arial"/>
                <a:cs typeface="Arial"/>
              </a:defRPr>
            </a:defPPr>
            <a:lvl1pPr algn="l">
              <a:buNone/>
              <a:defRPr sz="3225" b="1">
                <a:solidFill>
                  <a:srgbClr val="17273C"/>
                </a:solidFill>
                <a:latin typeface="Arial"/>
                <a:ea typeface="Arial"/>
                <a:cs typeface="Arial"/>
              </a:defRPr>
            </a:lvl1pPr>
            <a:lvl2pPr algn="l">
              <a:buNone/>
              <a:defRPr sz="3225" b="1">
                <a:solidFill>
                  <a:srgbClr val="17273C"/>
                </a:solidFill>
                <a:latin typeface="Arial"/>
                <a:ea typeface="Arial"/>
                <a:cs typeface="Arial"/>
              </a:defRPr>
            </a:lvl2pPr>
            <a:lvl3pPr algn="l">
              <a:buNone/>
              <a:defRPr sz="3225" b="1">
                <a:solidFill>
                  <a:srgbClr val="17273C"/>
                </a:solidFill>
                <a:latin typeface="Arial"/>
                <a:ea typeface="Arial"/>
                <a:cs typeface="Arial"/>
              </a:defRPr>
            </a:lvl3pPr>
            <a:lvl4pPr algn="l">
              <a:buNone/>
              <a:defRPr sz="3225" b="1">
                <a:solidFill>
                  <a:srgbClr val="17273C"/>
                </a:solidFill>
                <a:latin typeface="Arial"/>
                <a:ea typeface="Arial"/>
                <a:cs typeface="Arial"/>
              </a:defRPr>
            </a:lvl4pPr>
            <a:lvl5pPr algn="l">
              <a:buNone/>
              <a:defRPr sz="3225" b="1">
                <a:solidFill>
                  <a:srgbClr val="17273C"/>
                </a:solidFill>
                <a:latin typeface="Arial"/>
                <a:ea typeface="Arial"/>
                <a:cs typeface="Arial"/>
              </a:defRPr>
            </a:lvl5pPr>
            <a:lvl6pPr algn="l">
              <a:buNone/>
              <a:defRPr sz="3225" b="1">
                <a:solidFill>
                  <a:srgbClr val="17273C"/>
                </a:solidFill>
                <a:latin typeface="Arial"/>
                <a:ea typeface="Arial"/>
                <a:cs typeface="Arial"/>
              </a:defRPr>
            </a:lvl6pPr>
            <a:lvl7pPr algn="l">
              <a:buNone/>
              <a:defRPr sz="3225" b="1">
                <a:solidFill>
                  <a:srgbClr val="17273C"/>
                </a:solidFill>
                <a:latin typeface="Arial"/>
                <a:ea typeface="Arial"/>
                <a:cs typeface="Arial"/>
              </a:defRPr>
            </a:lvl7pPr>
            <a:lvl8pPr algn="l">
              <a:buNone/>
              <a:defRPr sz="3225" b="1">
                <a:solidFill>
                  <a:srgbClr val="17273C"/>
                </a:solidFill>
                <a:latin typeface="Arial"/>
                <a:ea typeface="Arial"/>
                <a:cs typeface="Arial"/>
              </a:defRPr>
            </a:lvl8pPr>
            <a:lvl9pPr algn="l">
              <a:buNone/>
              <a:defRPr sz="3225" b="1">
                <a:solidFill>
                  <a:srgbClr val="17273C"/>
                </a:solidFill>
                <a:latin typeface="Arial"/>
                <a:ea typeface="Arial"/>
                <a:cs typeface="Arial"/>
              </a:defRPr>
            </a:lvl9pPr>
          </a:lstStyle>
          <a:p>
            <a:pPr algn="l">
              <a:buNone/>
              <a:defRPr sz="3225" b="1">
                <a:solidFill>
                  <a:srgbClr val="17273C"/>
                </a:solidFill>
                <a:latin typeface="Arial"/>
                <a:ea typeface="Arial"/>
                <a:cs typeface="Arial"/>
              </a:defRPr>
            </a:pPr>
            <a:r>
              <a:rPr sz="3225" b="1">
                <a:solidFill>
                  <a:srgbClr val="17273C"/>
                </a:solidFill>
                <a:latin typeface="Arial"/>
                <a:ea typeface="Arial"/>
                <a:cs typeface="Arial"/>
              </a:rPr>
              <a:t>Normalize accepted constructs</a:t>
            </a:r>
          </a:p>
          <a:p>
            <a:pPr algn="l">
              <a:buNone/>
              <a:defRPr sz="3225" b="1">
                <a:solidFill>
                  <a:srgbClr val="17273C"/>
                </a:solidFill>
                <a:latin typeface="Arial"/>
                <a:ea typeface="Arial"/>
                <a:cs typeface="Arial"/>
              </a:defRPr>
            </a:pPr>
            <a:r>
              <a:rPr sz="3225" b="1">
                <a:solidFill>
                  <a:srgbClr val="17273C"/>
                </a:solidFill>
                <a:latin typeface="Arial"/>
                <a:ea typeface="Arial"/>
                <a:cs typeface="Arial"/>
              </a:rPr>
              <a:t>into one internal language.</a:t>
            </a:r>
          </a:p>
        </p:txBody>
      </p:sp>
      <p:sp>
        <p:nvSpPr>
          <p:cNvPr id="8" name="The project studies syntax normalization and a complete">
            <a:extLst>
              <a:ext uri="{FF2B5EF4-FFF2-40B4-BE49-F238E27FC236}">
                <a16:creationId xmlns:a16="http://schemas.microsoft.com/office/drawing/2014/main" id="{768AFE86-9711-439E-A679-CB7574579339}"/>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The project studies syntax normalization and a complete compiler pipeline.</a:t>
            </a:r>
          </a:p>
        </p:txBody>
      </p:sp>
    </p:spTree>
    <p:extLst>
      <p:ext uri="{BB962C8B-B14F-4D97-AF65-F5344CB8AC3E}">
        <p14:creationId xmlns:p14="http://schemas.microsoft.com/office/powerpoint/2010/main" val="494609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8" name="One program, several syntax families">
            <a:extLst>
              <a:ext uri="{FF2B5EF4-FFF2-40B4-BE49-F238E27FC236}">
                <a16:creationId xmlns:a16="http://schemas.microsoft.com/office/drawing/2014/main" id="{14764D6E-9C77-4D08-BA75-6DA47F74E71D}"/>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One program, several syntax families</a:t>
            </a:r>
          </a:p>
        </p:txBody>
      </p:sp>
      <p:sp>
        <p:nvSpPr>
          <p:cNvPr id="2" name="Functions and variables interact through the same symbo">
            <a:extLst>
              <a:ext uri="{FF2B5EF4-FFF2-40B4-BE49-F238E27FC236}">
                <a16:creationId xmlns:a16="http://schemas.microsoft.com/office/drawing/2014/main" id="{06F8CBDB-053B-4B83-B51E-D1CB1B6B7A6E}"/>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Functions and variables interact through the same symbol table</a:t>
            </a:r>
          </a:p>
        </p:txBody>
      </p:sp>
      <p:sp>
        <p:nvSpPr>
          <p:cNvPr id="3" name="03">
            <a:extLst>
              <a:ext uri="{FF2B5EF4-FFF2-40B4-BE49-F238E27FC236}">
                <a16:creationId xmlns:a16="http://schemas.microsoft.com/office/drawing/2014/main" id="{2F3851D3-C2DC-4ACA-B1EF-91A6C3F1D36F}"/>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03</a:t>
            </a:r>
          </a:p>
        </p:txBody>
      </p:sp>
      <p:sp>
        <p:nvSpPr>
          <p:cNvPr id="4" name="int add(int a, int b) {&#10;    return a + b;&#10;}&#10;&#10;def twice(">
            <a:extLst>
              <a:ext uri="{FF2B5EF4-FFF2-40B4-BE49-F238E27FC236}">
                <a16:creationId xmlns:a16="http://schemas.microsoft.com/office/drawing/2014/main" id="{162E99E3-97C7-403F-B5D1-3985018AD723}"/>
              </a:ext>
            </a:extLst>
          </p:cNvPr>
          <p:cNvSpPr>
            <a:spLocks noGrp="1"/>
          </p:cNvSpPr>
          <p:nvPr/>
        </p:nvSpPr>
        <p:spPr>
          <a:xfrm>
            <a:off x="781050" y="2571750"/>
            <a:ext cx="9525000" cy="4381500"/>
          </a:xfrm>
          <a:prstGeom prst="rect">
            <a:avLst/>
          </a:prstGeom>
          <a:noFill/>
          <a:ln w="0">
            <a:noFill/>
          </a:ln>
        </p:spPr>
        <p:txBody>
          <a:bodyPr wrap="square" lIns="0" tIns="0" rIns="0" bIns="0" anchor="t">
            <a:noAutofit/>
          </a:bodyPr>
          <a:lstStyle>
            <a:defPPr algn="l">
              <a:defRPr sz="2250" b="0">
                <a:solidFill>
                  <a:srgbClr val="162237"/>
                </a:solidFill>
                <a:latin typeface="Courier New"/>
                <a:ea typeface="Courier New"/>
                <a:cs typeface="Courier New"/>
              </a:defRPr>
            </a:defPPr>
            <a:lvl1pPr algn="l">
              <a:buNone/>
              <a:defRPr sz="2250" b="0">
                <a:solidFill>
                  <a:srgbClr val="162237"/>
                </a:solidFill>
                <a:latin typeface="Courier New"/>
                <a:ea typeface="Courier New"/>
                <a:cs typeface="Courier New"/>
              </a:defRPr>
            </a:lvl1pPr>
            <a:lvl2pPr algn="l">
              <a:buNone/>
              <a:defRPr sz="2250" b="0">
                <a:solidFill>
                  <a:srgbClr val="162237"/>
                </a:solidFill>
                <a:latin typeface="Courier New"/>
                <a:ea typeface="Courier New"/>
                <a:cs typeface="Courier New"/>
              </a:defRPr>
            </a:lvl2pPr>
            <a:lvl3pPr algn="l">
              <a:buNone/>
              <a:defRPr sz="2250" b="0">
                <a:solidFill>
                  <a:srgbClr val="162237"/>
                </a:solidFill>
                <a:latin typeface="Courier New"/>
                <a:ea typeface="Courier New"/>
                <a:cs typeface="Courier New"/>
              </a:defRPr>
            </a:lvl3pPr>
            <a:lvl4pPr algn="l">
              <a:buNone/>
              <a:defRPr sz="2250" b="0">
                <a:solidFill>
                  <a:srgbClr val="162237"/>
                </a:solidFill>
                <a:latin typeface="Courier New"/>
                <a:ea typeface="Courier New"/>
                <a:cs typeface="Courier New"/>
              </a:defRPr>
            </a:lvl4pPr>
            <a:lvl5pPr algn="l">
              <a:buNone/>
              <a:defRPr sz="2250" b="0">
                <a:solidFill>
                  <a:srgbClr val="162237"/>
                </a:solidFill>
                <a:latin typeface="Courier New"/>
                <a:ea typeface="Courier New"/>
                <a:cs typeface="Courier New"/>
              </a:defRPr>
            </a:lvl5pPr>
            <a:lvl6pPr algn="l">
              <a:buNone/>
              <a:defRPr sz="2250" b="0">
                <a:solidFill>
                  <a:srgbClr val="162237"/>
                </a:solidFill>
                <a:latin typeface="Courier New"/>
                <a:ea typeface="Courier New"/>
                <a:cs typeface="Courier New"/>
              </a:defRPr>
            </a:lvl6pPr>
            <a:lvl7pPr algn="l">
              <a:buNone/>
              <a:defRPr sz="2250" b="0">
                <a:solidFill>
                  <a:srgbClr val="162237"/>
                </a:solidFill>
                <a:latin typeface="Courier New"/>
                <a:ea typeface="Courier New"/>
                <a:cs typeface="Courier New"/>
              </a:defRPr>
            </a:lvl7pPr>
            <a:lvl8pPr algn="l">
              <a:buNone/>
              <a:defRPr sz="2250" b="0">
                <a:solidFill>
                  <a:srgbClr val="162237"/>
                </a:solidFill>
                <a:latin typeface="Courier New"/>
                <a:ea typeface="Courier New"/>
                <a:cs typeface="Courier New"/>
              </a:defRPr>
            </a:lvl8pPr>
            <a:lvl9pPr algn="l">
              <a:buNone/>
              <a:defRPr sz="2250" b="0">
                <a:solidFill>
                  <a:srgbClr val="162237"/>
                </a:solidFill>
                <a:latin typeface="Courier New"/>
                <a:ea typeface="Courier New"/>
                <a:cs typeface="Courier New"/>
              </a:defRPr>
            </a:lvl9pPr>
          </a:lstStyle>
          <a:p>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int add(int a, int b) {</a:t>
            </a:r>
          </a:p>
          <a:p>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    return a + b;</a:t>
            </a:r>
          </a:p>
          <a:p>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a:t>
            </a:r>
          </a:p>
          <a:p>
            <a:endParaRPr sz="2250" b="0">
              <a:solidFill>
                <a:srgbClr val="162237"/>
              </a:solidFill>
              <a:latin typeface="Courier New"/>
              <a:ea typeface="Courier New"/>
              <a:cs typeface="Courier New"/>
            </a:endParaRPr>
          </a:p>
          <a:p>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def twice(value: int) -&gt; int:</a:t>
            </a:r>
          </a:p>
          <a:p>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    return add(value, value)</a:t>
            </a:r>
          </a:p>
          <a:p>
            <a:endParaRPr sz="2250" b="0">
              <a:solidFill>
                <a:srgbClr val="162237"/>
              </a:solidFill>
              <a:latin typeface="Courier New"/>
              <a:ea typeface="Courier New"/>
              <a:cs typeface="Courier New"/>
            </a:endParaRPr>
          </a:p>
          <a:p>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LET base = 3</a:t>
            </a:r>
          </a:p>
          <a:p>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console.log(twice(base));</a:t>
            </a:r>
          </a:p>
          <a:p>
            <a:endParaRPr sz="2250" b="0">
              <a:solidFill>
                <a:srgbClr val="162237"/>
              </a:solidFill>
              <a:latin typeface="Courier New"/>
              <a:ea typeface="Courier New"/>
              <a:cs typeface="Courier New"/>
            </a:endParaRPr>
          </a:p>
        </p:txBody>
      </p:sp>
      <p:sp>
        <p:nvSpPr>
          <p:cNvPr id="5" name="Output">
            <a:extLst>
              <a:ext uri="{FF2B5EF4-FFF2-40B4-BE49-F238E27FC236}">
                <a16:creationId xmlns:a16="http://schemas.microsoft.com/office/drawing/2014/main" id="{CE53D70C-251C-4C6C-9DD1-1D4A67F964D6}"/>
              </a:ext>
            </a:extLst>
          </p:cNvPr>
          <p:cNvSpPr>
            <a:spLocks noGrp="1"/>
          </p:cNvSpPr>
          <p:nvPr/>
        </p:nvSpPr>
        <p:spPr>
          <a:xfrm>
            <a:off x="11715750" y="2952750"/>
            <a:ext cx="2667000" cy="552450"/>
          </a:xfrm>
          <a:prstGeom prst="rect">
            <a:avLst/>
          </a:prstGeom>
          <a:noFill/>
          <a:ln w="0">
            <a:noFill/>
          </a:ln>
        </p:spPr>
        <p:txBody>
          <a:bodyPr wrap="square" lIns="0" tIns="0" rIns="0" bIns="0" anchor="t">
            <a:noAutofit/>
          </a:bodyPr>
          <a:lstStyle>
            <a:defPPr algn="l">
              <a:defRPr sz="2850" b="1">
                <a:solidFill>
                  <a:srgbClr val="2956D7"/>
                </a:solidFill>
                <a:latin typeface="Arial"/>
                <a:ea typeface="Arial"/>
                <a:cs typeface="Arial"/>
              </a:defRPr>
            </a:defPPr>
            <a:lvl1pPr algn="l">
              <a:buNone/>
              <a:defRPr sz="2850" b="1">
                <a:solidFill>
                  <a:srgbClr val="2956D7"/>
                </a:solidFill>
                <a:latin typeface="Arial"/>
                <a:ea typeface="Arial"/>
                <a:cs typeface="Arial"/>
              </a:defRPr>
            </a:lvl1pPr>
            <a:lvl2pPr algn="l">
              <a:buNone/>
              <a:defRPr sz="2850" b="1">
                <a:solidFill>
                  <a:srgbClr val="2956D7"/>
                </a:solidFill>
                <a:latin typeface="Arial"/>
                <a:ea typeface="Arial"/>
                <a:cs typeface="Arial"/>
              </a:defRPr>
            </a:lvl2pPr>
            <a:lvl3pPr algn="l">
              <a:buNone/>
              <a:defRPr sz="2850" b="1">
                <a:solidFill>
                  <a:srgbClr val="2956D7"/>
                </a:solidFill>
                <a:latin typeface="Arial"/>
                <a:ea typeface="Arial"/>
                <a:cs typeface="Arial"/>
              </a:defRPr>
            </a:lvl3pPr>
            <a:lvl4pPr algn="l">
              <a:buNone/>
              <a:defRPr sz="2850" b="1">
                <a:solidFill>
                  <a:srgbClr val="2956D7"/>
                </a:solidFill>
                <a:latin typeface="Arial"/>
                <a:ea typeface="Arial"/>
                <a:cs typeface="Arial"/>
              </a:defRPr>
            </a:lvl4pPr>
            <a:lvl5pPr algn="l">
              <a:buNone/>
              <a:defRPr sz="2850" b="1">
                <a:solidFill>
                  <a:srgbClr val="2956D7"/>
                </a:solidFill>
                <a:latin typeface="Arial"/>
                <a:ea typeface="Arial"/>
                <a:cs typeface="Arial"/>
              </a:defRPr>
            </a:lvl5pPr>
            <a:lvl6pPr algn="l">
              <a:buNone/>
              <a:defRPr sz="2850" b="1">
                <a:solidFill>
                  <a:srgbClr val="2956D7"/>
                </a:solidFill>
                <a:latin typeface="Arial"/>
                <a:ea typeface="Arial"/>
                <a:cs typeface="Arial"/>
              </a:defRPr>
            </a:lvl6pPr>
            <a:lvl7pPr algn="l">
              <a:buNone/>
              <a:defRPr sz="2850" b="1">
                <a:solidFill>
                  <a:srgbClr val="2956D7"/>
                </a:solidFill>
                <a:latin typeface="Arial"/>
                <a:ea typeface="Arial"/>
                <a:cs typeface="Arial"/>
              </a:defRPr>
            </a:lvl7pPr>
            <a:lvl8pPr algn="l">
              <a:buNone/>
              <a:defRPr sz="2850" b="1">
                <a:solidFill>
                  <a:srgbClr val="2956D7"/>
                </a:solidFill>
                <a:latin typeface="Arial"/>
                <a:ea typeface="Arial"/>
                <a:cs typeface="Arial"/>
              </a:defRPr>
            </a:lvl8pPr>
            <a:lvl9pPr algn="l">
              <a:buNone/>
              <a:defRPr sz="2850" b="1">
                <a:solidFill>
                  <a:srgbClr val="2956D7"/>
                </a:solidFill>
                <a:latin typeface="Arial"/>
                <a:ea typeface="Arial"/>
                <a:cs typeface="Arial"/>
              </a:defRPr>
            </a:lvl9pPr>
          </a:lstStyle>
          <a:p>
            <a:pPr algn="l">
              <a:buNone/>
              <a:defRPr sz="2850" b="1">
                <a:solidFill>
                  <a:srgbClr val="2956D7"/>
                </a:solidFill>
                <a:latin typeface="Arial"/>
                <a:ea typeface="Arial"/>
                <a:cs typeface="Arial"/>
              </a:defRPr>
            </a:pPr>
            <a:r>
              <a:rPr sz="2850" b="1">
                <a:solidFill>
                  <a:srgbClr val="2956D7"/>
                </a:solidFill>
                <a:latin typeface="Arial"/>
                <a:ea typeface="Arial"/>
                <a:cs typeface="Arial"/>
              </a:rPr>
              <a:t>Output</a:t>
            </a:r>
          </a:p>
        </p:txBody>
      </p:sp>
      <p:sp>
        <p:nvSpPr>
          <p:cNvPr id="6" name="6">
            <a:extLst>
              <a:ext uri="{FF2B5EF4-FFF2-40B4-BE49-F238E27FC236}">
                <a16:creationId xmlns:a16="http://schemas.microsoft.com/office/drawing/2014/main" id="{C6A7CDC1-4549-4532-8D8B-1AAE58202250}"/>
              </a:ext>
            </a:extLst>
          </p:cNvPr>
          <p:cNvSpPr>
            <a:spLocks noGrp="1"/>
          </p:cNvSpPr>
          <p:nvPr/>
        </p:nvSpPr>
        <p:spPr>
          <a:xfrm>
            <a:off x="11715750" y="3743325"/>
            <a:ext cx="2476500" cy="1047750"/>
          </a:xfrm>
          <a:prstGeom prst="rect">
            <a:avLst/>
          </a:prstGeom>
          <a:noFill/>
          <a:ln w="0">
            <a:noFill/>
          </a:ln>
        </p:spPr>
        <p:txBody>
          <a:bodyPr wrap="square" lIns="0" tIns="0" rIns="0" bIns="0" anchor="t">
            <a:noAutofit/>
          </a:bodyPr>
          <a:lstStyle>
            <a:defPPr algn="l">
              <a:defRPr sz="6600" b="0">
                <a:solidFill>
                  <a:srgbClr val="162237"/>
                </a:solidFill>
                <a:latin typeface="Courier New"/>
                <a:ea typeface="Courier New"/>
                <a:cs typeface="Courier New"/>
              </a:defRPr>
            </a:defPPr>
            <a:lvl1pPr algn="l">
              <a:buNone/>
              <a:defRPr sz="6600" b="0">
                <a:solidFill>
                  <a:srgbClr val="162237"/>
                </a:solidFill>
                <a:latin typeface="Courier New"/>
                <a:ea typeface="Courier New"/>
                <a:cs typeface="Courier New"/>
              </a:defRPr>
            </a:lvl1pPr>
            <a:lvl2pPr algn="l">
              <a:buNone/>
              <a:defRPr sz="6600" b="0">
                <a:solidFill>
                  <a:srgbClr val="162237"/>
                </a:solidFill>
                <a:latin typeface="Courier New"/>
                <a:ea typeface="Courier New"/>
                <a:cs typeface="Courier New"/>
              </a:defRPr>
            </a:lvl2pPr>
            <a:lvl3pPr algn="l">
              <a:buNone/>
              <a:defRPr sz="6600" b="0">
                <a:solidFill>
                  <a:srgbClr val="162237"/>
                </a:solidFill>
                <a:latin typeface="Courier New"/>
                <a:ea typeface="Courier New"/>
                <a:cs typeface="Courier New"/>
              </a:defRPr>
            </a:lvl3pPr>
            <a:lvl4pPr algn="l">
              <a:buNone/>
              <a:defRPr sz="6600" b="0">
                <a:solidFill>
                  <a:srgbClr val="162237"/>
                </a:solidFill>
                <a:latin typeface="Courier New"/>
                <a:ea typeface="Courier New"/>
                <a:cs typeface="Courier New"/>
              </a:defRPr>
            </a:lvl4pPr>
            <a:lvl5pPr algn="l">
              <a:buNone/>
              <a:defRPr sz="6600" b="0">
                <a:solidFill>
                  <a:srgbClr val="162237"/>
                </a:solidFill>
                <a:latin typeface="Courier New"/>
                <a:ea typeface="Courier New"/>
                <a:cs typeface="Courier New"/>
              </a:defRPr>
            </a:lvl5pPr>
            <a:lvl6pPr algn="l">
              <a:buNone/>
              <a:defRPr sz="6600" b="0">
                <a:solidFill>
                  <a:srgbClr val="162237"/>
                </a:solidFill>
                <a:latin typeface="Courier New"/>
                <a:ea typeface="Courier New"/>
                <a:cs typeface="Courier New"/>
              </a:defRPr>
            </a:lvl6pPr>
            <a:lvl7pPr algn="l">
              <a:buNone/>
              <a:defRPr sz="6600" b="0">
                <a:solidFill>
                  <a:srgbClr val="162237"/>
                </a:solidFill>
                <a:latin typeface="Courier New"/>
                <a:ea typeface="Courier New"/>
                <a:cs typeface="Courier New"/>
              </a:defRPr>
            </a:lvl7pPr>
            <a:lvl8pPr algn="l">
              <a:buNone/>
              <a:defRPr sz="6600" b="0">
                <a:solidFill>
                  <a:srgbClr val="162237"/>
                </a:solidFill>
                <a:latin typeface="Courier New"/>
                <a:ea typeface="Courier New"/>
                <a:cs typeface="Courier New"/>
              </a:defRPr>
            </a:lvl8pPr>
            <a:lvl9pPr algn="l">
              <a:buNone/>
              <a:defRPr sz="6600" b="0">
                <a:solidFill>
                  <a:srgbClr val="162237"/>
                </a:solidFill>
                <a:latin typeface="Courier New"/>
                <a:ea typeface="Courier New"/>
                <a:cs typeface="Courier New"/>
              </a:defRPr>
            </a:lvl9pPr>
          </a:lstStyle>
          <a:p>
            <a:pPr algn="l">
              <a:buNone/>
              <a:defRPr sz="6600" b="0">
                <a:solidFill>
                  <a:srgbClr val="162237"/>
                </a:solidFill>
                <a:latin typeface="Courier New"/>
                <a:ea typeface="Courier New"/>
                <a:cs typeface="Courier New"/>
              </a:defRPr>
            </a:pPr>
            <a:r>
              <a:rPr sz="6600" b="0">
                <a:solidFill>
                  <a:srgbClr val="162237"/>
                </a:solidFill>
                <a:latin typeface="Courier New"/>
                <a:ea typeface="Courier New"/>
                <a:cs typeface="Courier New"/>
              </a:rPr>
              <a:t>6</a:t>
            </a:r>
          </a:p>
        </p:txBody>
      </p:sp>
      <p:sp>
        <p:nvSpPr>
          <p:cNvPr id="7" name="C-style function&#10;Python-style function&#10;BASIC assignment">
            <a:extLst>
              <a:ext uri="{FF2B5EF4-FFF2-40B4-BE49-F238E27FC236}">
                <a16:creationId xmlns:a16="http://schemas.microsoft.com/office/drawing/2014/main" id="{4D57D118-62DA-4448-A3D2-510CC4CF941B}"/>
              </a:ext>
            </a:extLst>
          </p:cNvPr>
          <p:cNvSpPr>
            <a:spLocks noGrp="1"/>
          </p:cNvSpPr>
          <p:nvPr/>
        </p:nvSpPr>
        <p:spPr>
          <a:xfrm>
            <a:off x="10953750" y="5286375"/>
            <a:ext cx="3429000" cy="1619250"/>
          </a:xfrm>
          <a:prstGeom prst="rect">
            <a:avLst/>
          </a:prstGeom>
          <a:noFill/>
          <a:ln w="0">
            <a:noFill/>
          </a:ln>
        </p:spPr>
        <p:txBody>
          <a:bodyPr wrap="square" lIns="0" tIns="0" rIns="0" bIns="0" anchor="t">
            <a:noAutofit/>
          </a:bodyPr>
          <a:lstStyle>
            <a:defPPr algn="l">
              <a:defRPr sz="2100" b="0">
                <a:solidFill>
                  <a:srgbClr val="596577"/>
                </a:solidFill>
                <a:latin typeface="Arial"/>
                <a:ea typeface="Arial"/>
                <a:cs typeface="Arial"/>
              </a:defRPr>
            </a:defPPr>
            <a:lvl1pPr algn="l">
              <a:buNone/>
              <a:defRPr sz="2100" b="0">
                <a:solidFill>
                  <a:srgbClr val="596577"/>
                </a:solidFill>
                <a:latin typeface="Arial"/>
                <a:ea typeface="Arial"/>
                <a:cs typeface="Arial"/>
              </a:defRPr>
            </a:lvl1pPr>
            <a:lvl2pPr algn="l">
              <a:buNone/>
              <a:defRPr sz="2100" b="0">
                <a:solidFill>
                  <a:srgbClr val="596577"/>
                </a:solidFill>
                <a:latin typeface="Arial"/>
                <a:ea typeface="Arial"/>
                <a:cs typeface="Arial"/>
              </a:defRPr>
            </a:lvl2pPr>
            <a:lvl3pPr algn="l">
              <a:buNone/>
              <a:defRPr sz="2100" b="0">
                <a:solidFill>
                  <a:srgbClr val="596577"/>
                </a:solidFill>
                <a:latin typeface="Arial"/>
                <a:ea typeface="Arial"/>
                <a:cs typeface="Arial"/>
              </a:defRPr>
            </a:lvl3pPr>
            <a:lvl4pPr algn="l">
              <a:buNone/>
              <a:defRPr sz="2100" b="0">
                <a:solidFill>
                  <a:srgbClr val="596577"/>
                </a:solidFill>
                <a:latin typeface="Arial"/>
                <a:ea typeface="Arial"/>
                <a:cs typeface="Arial"/>
              </a:defRPr>
            </a:lvl4pPr>
            <a:lvl5pPr algn="l">
              <a:buNone/>
              <a:defRPr sz="2100" b="0">
                <a:solidFill>
                  <a:srgbClr val="596577"/>
                </a:solidFill>
                <a:latin typeface="Arial"/>
                <a:ea typeface="Arial"/>
                <a:cs typeface="Arial"/>
              </a:defRPr>
            </a:lvl5pPr>
            <a:lvl6pPr algn="l">
              <a:buNone/>
              <a:defRPr sz="2100" b="0">
                <a:solidFill>
                  <a:srgbClr val="596577"/>
                </a:solidFill>
                <a:latin typeface="Arial"/>
                <a:ea typeface="Arial"/>
                <a:cs typeface="Arial"/>
              </a:defRPr>
            </a:lvl6pPr>
            <a:lvl7pPr algn="l">
              <a:buNone/>
              <a:defRPr sz="2100" b="0">
                <a:solidFill>
                  <a:srgbClr val="596577"/>
                </a:solidFill>
                <a:latin typeface="Arial"/>
                <a:ea typeface="Arial"/>
                <a:cs typeface="Arial"/>
              </a:defRPr>
            </a:lvl7pPr>
            <a:lvl8pPr algn="l">
              <a:buNone/>
              <a:defRPr sz="2100" b="0">
                <a:solidFill>
                  <a:srgbClr val="596577"/>
                </a:solidFill>
                <a:latin typeface="Arial"/>
                <a:ea typeface="Arial"/>
                <a:cs typeface="Arial"/>
              </a:defRPr>
            </a:lvl8pPr>
            <a:lvl9pPr algn="l">
              <a:buNone/>
              <a:defRPr sz="2100" b="0">
                <a:solidFill>
                  <a:srgbClr val="596577"/>
                </a:solidFill>
                <a:latin typeface="Arial"/>
                <a:ea typeface="Arial"/>
                <a:cs typeface="Arial"/>
              </a:defRPr>
            </a:lvl9pPr>
          </a:lstStyle>
          <a:p>
            <a:pPr algn="l">
              <a:buNone/>
              <a:defRPr sz="2100" b="0">
                <a:solidFill>
                  <a:srgbClr val="596577"/>
                </a:solidFill>
                <a:latin typeface="Arial"/>
                <a:ea typeface="Arial"/>
                <a:cs typeface="Arial"/>
              </a:defRPr>
            </a:pPr>
            <a:r>
              <a:rPr sz="2100" b="0">
                <a:solidFill>
                  <a:srgbClr val="596577"/>
                </a:solidFill>
                <a:latin typeface="Arial"/>
                <a:ea typeface="Arial"/>
                <a:cs typeface="Arial"/>
              </a:rPr>
              <a:t>C-style function</a:t>
            </a:r>
          </a:p>
          <a:p>
            <a:pPr algn="l">
              <a:buNone/>
              <a:defRPr sz="2100" b="0">
                <a:solidFill>
                  <a:srgbClr val="596577"/>
                </a:solidFill>
                <a:latin typeface="Arial"/>
                <a:ea typeface="Arial"/>
                <a:cs typeface="Arial"/>
              </a:defRPr>
            </a:pPr>
            <a:r>
              <a:rPr sz="2100" b="0">
                <a:solidFill>
                  <a:srgbClr val="596577"/>
                </a:solidFill>
                <a:latin typeface="Arial"/>
                <a:ea typeface="Arial"/>
                <a:cs typeface="Arial"/>
              </a:rPr>
              <a:t>Python-style function</a:t>
            </a:r>
          </a:p>
          <a:p>
            <a:pPr algn="l">
              <a:buNone/>
              <a:defRPr sz="2100" b="0">
                <a:solidFill>
                  <a:srgbClr val="596577"/>
                </a:solidFill>
                <a:latin typeface="Arial"/>
                <a:ea typeface="Arial"/>
                <a:cs typeface="Arial"/>
              </a:defRPr>
            </a:pPr>
            <a:r>
              <a:rPr sz="2100" b="0">
                <a:solidFill>
                  <a:srgbClr val="596577"/>
                </a:solidFill>
                <a:latin typeface="Arial"/>
                <a:ea typeface="Arial"/>
                <a:cs typeface="Arial"/>
              </a:rPr>
              <a:t>BASIC assignment</a:t>
            </a:r>
          </a:p>
          <a:p>
            <a:pPr algn="l">
              <a:buNone/>
              <a:defRPr sz="2100" b="0">
                <a:solidFill>
                  <a:srgbClr val="596577"/>
                </a:solidFill>
                <a:latin typeface="Arial"/>
                <a:ea typeface="Arial"/>
                <a:cs typeface="Arial"/>
              </a:defRPr>
            </a:pPr>
            <a:r>
              <a:rPr sz="2100" b="0">
                <a:solidFill>
                  <a:srgbClr val="596577"/>
                </a:solidFill>
                <a:latin typeface="Arial"/>
                <a:ea typeface="Arial"/>
                <a:cs typeface="Arial"/>
              </a:rPr>
              <a:t>JavaScript output</a:t>
            </a:r>
          </a:p>
        </p:txBody>
      </p:sp>
    </p:spTree>
    <p:extLst>
      <p:ext uri="{BB962C8B-B14F-4D97-AF65-F5344CB8AC3E}">
        <p14:creationId xmlns:p14="http://schemas.microsoft.com/office/powerpoint/2010/main" val="1320366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2" name="Language model and scope">
            <a:extLst>
              <a:ext uri="{FF2B5EF4-FFF2-40B4-BE49-F238E27FC236}">
                <a16:creationId xmlns:a16="http://schemas.microsoft.com/office/drawing/2014/main" id="{63DEC10B-0A35-4D8E-9676-7FC23EAC6261}"/>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Language model and scope</a:t>
            </a:r>
          </a:p>
        </p:txBody>
      </p:sp>
      <p:sp>
        <p:nvSpPr>
          <p:cNvPr id="2" name="A statically checked, imperative and procedural languag">
            <a:extLst>
              <a:ext uri="{FF2B5EF4-FFF2-40B4-BE49-F238E27FC236}">
                <a16:creationId xmlns:a16="http://schemas.microsoft.com/office/drawing/2014/main" id="{A168C507-5788-417C-B8FD-3D3858924F12}"/>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A statically checked, imperative and procedural language</a:t>
            </a:r>
          </a:p>
        </p:txBody>
      </p:sp>
      <p:sp>
        <p:nvSpPr>
          <p:cNvPr id="3" name="04">
            <a:extLst>
              <a:ext uri="{FF2B5EF4-FFF2-40B4-BE49-F238E27FC236}">
                <a16:creationId xmlns:a16="http://schemas.microsoft.com/office/drawing/2014/main" id="{27D6D54D-5D28-4C2A-A356-E25433862112}"/>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04</a:t>
            </a:r>
          </a:p>
        </p:txBody>
      </p:sp>
      <p:sp>
        <p:nvSpPr>
          <p:cNvPr id="4" name="Structured control flow">
            <a:extLst>
              <a:ext uri="{FF2B5EF4-FFF2-40B4-BE49-F238E27FC236}">
                <a16:creationId xmlns:a16="http://schemas.microsoft.com/office/drawing/2014/main" id="{1959850E-85B1-420D-893E-7A46C1FE9010}"/>
              </a:ext>
            </a:extLst>
          </p:cNvPr>
          <p:cNvSpPr>
            <a:spLocks noGrp="1"/>
          </p:cNvSpPr>
          <p:nvPr/>
        </p:nvSpPr>
        <p:spPr>
          <a:xfrm>
            <a:off x="781050" y="2667000"/>
            <a:ext cx="628650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Structured control flow</a:t>
            </a:r>
          </a:p>
        </p:txBody>
      </p:sp>
      <p:sp>
        <p:nvSpPr>
          <p:cNvPr id="5" name="Nested if/else, loops, break and continue.&#10;Braces and i">
            <a:extLst>
              <a:ext uri="{FF2B5EF4-FFF2-40B4-BE49-F238E27FC236}">
                <a16:creationId xmlns:a16="http://schemas.microsoft.com/office/drawing/2014/main" id="{A89100A4-964E-4106-B23C-337481D4B581}"/>
              </a:ext>
            </a:extLst>
          </p:cNvPr>
          <p:cNvSpPr>
            <a:spLocks noGrp="1"/>
          </p:cNvSpPr>
          <p:nvPr/>
        </p:nvSpPr>
        <p:spPr>
          <a:xfrm>
            <a:off x="781050" y="3286125"/>
            <a:ext cx="628650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Nested if/else, loops, break and continue.</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Braces and indentation can coexist.</a:t>
            </a:r>
          </a:p>
        </p:txBody>
      </p:sp>
      <p:sp>
        <p:nvSpPr>
          <p:cNvPr id="6" name="Functions and storage">
            <a:extLst>
              <a:ext uri="{FF2B5EF4-FFF2-40B4-BE49-F238E27FC236}">
                <a16:creationId xmlns:a16="http://schemas.microsoft.com/office/drawing/2014/main" id="{4C44B2A2-48DA-48C2-A7E2-88A897027933}"/>
              </a:ext>
            </a:extLst>
          </p:cNvPr>
          <p:cNvSpPr>
            <a:spLocks noGrp="1"/>
          </p:cNvSpPr>
          <p:nvPr/>
        </p:nvSpPr>
        <p:spPr>
          <a:xfrm>
            <a:off x="8048625" y="2667000"/>
            <a:ext cx="628650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Functions and storage</a:t>
            </a:r>
          </a:p>
        </p:txBody>
      </p:sp>
      <p:sp>
        <p:nvSpPr>
          <p:cNvPr id="7" name="Typed functions, forward calls and recursion.&#10;Global bi">
            <a:extLst>
              <a:ext uri="{FF2B5EF4-FFF2-40B4-BE49-F238E27FC236}">
                <a16:creationId xmlns:a16="http://schemas.microsoft.com/office/drawing/2014/main" id="{CBD182B0-0D42-4B92-8BF0-7BFED0E4D3AC}"/>
              </a:ext>
            </a:extLst>
          </p:cNvPr>
          <p:cNvSpPr>
            <a:spLocks noGrp="1"/>
          </p:cNvSpPr>
          <p:nvPr/>
        </p:nvSpPr>
        <p:spPr>
          <a:xfrm>
            <a:off x="8048625" y="3286125"/>
            <a:ext cx="628650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Typed functions, forward calls and recursion.</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Global bindings and frame-local storage.</a:t>
            </a:r>
          </a:p>
        </p:txBody>
      </p:sp>
      <p:sp>
        <p:nvSpPr>
          <p:cNvPr id="8" name="Shared values">
            <a:extLst>
              <a:ext uri="{FF2B5EF4-FFF2-40B4-BE49-F238E27FC236}">
                <a16:creationId xmlns:a16="http://schemas.microsoft.com/office/drawing/2014/main" id="{244C0EF9-656F-41FC-9A33-24ADD793BC4D}"/>
              </a:ext>
            </a:extLst>
          </p:cNvPr>
          <p:cNvSpPr>
            <a:spLocks noGrp="1"/>
          </p:cNvSpPr>
          <p:nvPr/>
        </p:nvSpPr>
        <p:spPr>
          <a:xfrm>
            <a:off x="781050" y="5219700"/>
            <a:ext cx="628650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Shared values</a:t>
            </a:r>
          </a:p>
        </p:txBody>
      </p:sp>
      <p:sp>
        <p:nvSpPr>
          <p:cNvPr id="9" name="int, float, bool, string and fixed-length&#10;one-dimension">
            <a:extLst>
              <a:ext uri="{FF2B5EF4-FFF2-40B4-BE49-F238E27FC236}">
                <a16:creationId xmlns:a16="http://schemas.microsoft.com/office/drawing/2014/main" id="{379B3153-DBE2-4E5B-840B-46DFE85DB645}"/>
              </a:ext>
            </a:extLst>
          </p:cNvPr>
          <p:cNvSpPr>
            <a:spLocks noGrp="1"/>
          </p:cNvSpPr>
          <p:nvPr/>
        </p:nvSpPr>
        <p:spPr>
          <a:xfrm>
            <a:off x="781050" y="5838825"/>
            <a:ext cx="628650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int, float, bool, string and fixed-length</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one-dimensional arrays.</a:t>
            </a:r>
          </a:p>
        </p:txBody>
      </p:sp>
      <p:sp>
        <p:nvSpPr>
          <p:cNvPr id="10" name="Accepted syntax">
            <a:extLst>
              <a:ext uri="{FF2B5EF4-FFF2-40B4-BE49-F238E27FC236}">
                <a16:creationId xmlns:a16="http://schemas.microsoft.com/office/drawing/2014/main" id="{800F1823-AD1C-4243-9302-6507AF841361}"/>
              </a:ext>
            </a:extLst>
          </p:cNvPr>
          <p:cNvSpPr>
            <a:spLocks noGrp="1"/>
          </p:cNvSpPr>
          <p:nvPr/>
        </p:nvSpPr>
        <p:spPr>
          <a:xfrm>
            <a:off x="8048625" y="5219700"/>
            <a:ext cx="628650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Accepted syntax</a:t>
            </a:r>
          </a:p>
        </p:txBody>
      </p:sp>
      <p:sp>
        <p:nvSpPr>
          <p:cNvPr id="11" name="Selected forms inspired by Python, C, C++,&#10;Java, JavaSc">
            <a:extLst>
              <a:ext uri="{FF2B5EF4-FFF2-40B4-BE49-F238E27FC236}">
                <a16:creationId xmlns:a16="http://schemas.microsoft.com/office/drawing/2014/main" id="{B5698C77-7643-4EC2-86A7-1A0C7A1B8EAF}"/>
              </a:ext>
            </a:extLst>
          </p:cNvPr>
          <p:cNvSpPr>
            <a:spLocks noGrp="1"/>
          </p:cNvSpPr>
          <p:nvPr/>
        </p:nvSpPr>
        <p:spPr>
          <a:xfrm>
            <a:off x="8048625" y="5838825"/>
            <a:ext cx="628650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Selected forms inspired by Python, C, C++,</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Java, JavaScript and BASIC.</a:t>
            </a:r>
          </a:p>
        </p:txBody>
      </p:sp>
    </p:spTree>
    <p:extLst>
      <p:ext uri="{BB962C8B-B14F-4D97-AF65-F5344CB8AC3E}">
        <p14:creationId xmlns:p14="http://schemas.microsoft.com/office/powerpoint/2010/main" val="848370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D31"/>
        </a:solidFill>
        <a:effectLst/>
      </p:bgPr>
    </p:bg>
    <p:spTree>
      <p:nvGrpSpPr>
        <p:cNvPr id="1" name=""/>
        <p:cNvGrpSpPr/>
        <p:nvPr/>
      </p:nvGrpSpPr>
      <p:grpSpPr>
        <a:xfrm>
          <a:off x="0" y="0"/>
          <a:ext cx="0" cy="0"/>
          <a:chOff x="0" y="0"/>
          <a:chExt cx="0" cy="0"/>
        </a:xfrm>
      </p:grpSpPr>
      <p:cxnSp>
        <p:nvCxnSpPr>
          <p:cNvPr id="27" name="Straight Arrow Connector 26">
            <a:extLst>
              <a:ext uri="{FF2B5EF4-FFF2-40B4-BE49-F238E27FC236}">
                <a16:creationId xmlns:a16="http://schemas.microsoft.com/office/drawing/2014/main" id="{809534DF-50AC-4861-8A44-66D119FE0368}"/>
              </a:ext>
            </a:extLst>
          </p:cNvPr>
          <p:cNvCxnSpPr>
            <a:stCxn id="19" idx="3"/>
            <a:endCxn id="22" idx="1"/>
          </p:cNvCxnSpPr>
          <p:nvPr/>
        </p:nvCxnSpPr>
        <p:spPr>
          <a:xfrm>
            <a:off x="10858500" y="6072188"/>
            <a:ext cx="952500" cy="0"/>
          </a:xfrm>
          <a:prstGeom prst="straightConnector1">
            <a:avLst/>
          </a:prstGeom>
          <a:ln w="22860">
            <a:solidFill>
              <a:srgbClr val="76D9C3"/>
            </a:solidFill>
            <a:prstDash val="solid"/>
            <a:tailEnd type="triangle" w="sm" len="sm"/>
          </a:ln>
        </p:spPr>
      </p:cxnSp>
      <p:cxnSp>
        <p:nvCxnSpPr>
          <p:cNvPr id="26" name="Straight Arrow Connector 25">
            <a:extLst>
              <a:ext uri="{FF2B5EF4-FFF2-40B4-BE49-F238E27FC236}">
                <a16:creationId xmlns:a16="http://schemas.microsoft.com/office/drawing/2014/main" id="{A8A1E661-5795-4592-9605-290FC1904CDC}"/>
              </a:ext>
            </a:extLst>
          </p:cNvPr>
          <p:cNvCxnSpPr>
            <a:stCxn id="16" idx="3"/>
            <a:endCxn id="19" idx="1"/>
          </p:cNvCxnSpPr>
          <p:nvPr/>
        </p:nvCxnSpPr>
        <p:spPr>
          <a:xfrm>
            <a:off x="4476750" y="6072188"/>
            <a:ext cx="1333500" cy="0"/>
          </a:xfrm>
          <a:prstGeom prst="straightConnector1">
            <a:avLst/>
          </a:prstGeom>
          <a:ln w="22860">
            <a:solidFill>
              <a:srgbClr val="76D9C3"/>
            </a:solidFill>
            <a:prstDash val="solid"/>
            <a:tailEnd type="triangle" w="sm" len="sm"/>
          </a:ln>
        </p:spPr>
      </p:cxnSp>
      <p:cxnSp>
        <p:nvCxnSpPr>
          <p:cNvPr id="25" name="Elbow Connector 24">
            <a:extLst>
              <a:ext uri="{FF2B5EF4-FFF2-40B4-BE49-F238E27FC236}">
                <a16:creationId xmlns:a16="http://schemas.microsoft.com/office/drawing/2014/main" id="{DCCD483C-ECD6-4A4E-B319-8415C541B31C}"/>
              </a:ext>
            </a:extLst>
          </p:cNvPr>
          <p:cNvCxnSpPr>
            <a:stCxn id="10" idx="2"/>
            <a:endCxn id="19" idx="0"/>
          </p:cNvCxnSpPr>
          <p:nvPr/>
        </p:nvCxnSpPr>
        <p:spPr>
          <a:xfrm flipH="1">
            <a:off x="8334375" y="4000500"/>
            <a:ext cx="3524250" cy="1381125"/>
          </a:xfrm>
          <a:prstGeom prst="bentConnector4">
            <a:avLst>
              <a:gd name="adj1" fmla="val 0"/>
              <a:gd name="adj2" fmla="val 50000"/>
            </a:avLst>
          </a:prstGeom>
          <a:ln w="22860">
            <a:solidFill>
              <a:srgbClr val="76D9C3"/>
            </a:solidFill>
            <a:prstDash val="solid"/>
            <a:tailEnd type="triangle" w="sm" len="sm"/>
          </a:ln>
        </p:spPr>
      </p:cxnSp>
      <p:cxnSp>
        <p:nvCxnSpPr>
          <p:cNvPr id="14" name="Straight Arrow Connector 13">
            <a:extLst>
              <a:ext uri="{FF2B5EF4-FFF2-40B4-BE49-F238E27FC236}">
                <a16:creationId xmlns:a16="http://schemas.microsoft.com/office/drawing/2014/main" id="{40F21180-28AF-41A5-AA79-CE7127CC7931}"/>
              </a:ext>
            </a:extLst>
          </p:cNvPr>
          <p:cNvCxnSpPr>
            <a:stCxn id="7" idx="3"/>
            <a:endCxn id="10" idx="1"/>
          </p:cNvCxnSpPr>
          <p:nvPr/>
        </p:nvCxnSpPr>
        <p:spPr>
          <a:xfrm>
            <a:off x="8477250" y="3381375"/>
            <a:ext cx="1143000" cy="0"/>
          </a:xfrm>
          <a:prstGeom prst="straightConnector1">
            <a:avLst/>
          </a:prstGeom>
          <a:ln w="22860">
            <a:solidFill>
              <a:srgbClr val="76D9C3"/>
            </a:solidFill>
            <a:prstDash val="solid"/>
            <a:tailEnd type="triangle" w="sm" len="sm"/>
          </a:ln>
        </p:spPr>
      </p:cxnSp>
      <p:cxnSp>
        <p:nvCxnSpPr>
          <p:cNvPr id="13" name="Straight Arrow Connector 12">
            <a:extLst>
              <a:ext uri="{FF2B5EF4-FFF2-40B4-BE49-F238E27FC236}">
                <a16:creationId xmlns:a16="http://schemas.microsoft.com/office/drawing/2014/main" id="{AE385BB6-56AA-4D64-939B-5C0493FA7D11}"/>
              </a:ext>
            </a:extLst>
          </p:cNvPr>
          <p:cNvCxnSpPr>
            <a:stCxn id="4" idx="3"/>
            <a:endCxn id="7" idx="1"/>
          </p:cNvCxnSpPr>
          <p:nvPr/>
        </p:nvCxnSpPr>
        <p:spPr>
          <a:xfrm>
            <a:off x="3810000" y="3381375"/>
            <a:ext cx="952500" cy="0"/>
          </a:xfrm>
          <a:prstGeom prst="straightConnector1">
            <a:avLst/>
          </a:prstGeom>
          <a:ln w="22860">
            <a:solidFill>
              <a:srgbClr val="76D9C3"/>
            </a:solidFill>
            <a:prstDash val="solid"/>
            <a:tailEnd type="triangle" w="sm" len="sm"/>
          </a:ln>
        </p:spPr>
      </p:cxnSp>
      <p:sp>
        <p:nvSpPr>
          <p:cNvPr id="29" name="System architecture">
            <a:extLst>
              <a:ext uri="{FF2B5EF4-FFF2-40B4-BE49-F238E27FC236}">
                <a16:creationId xmlns:a16="http://schemas.microsoft.com/office/drawing/2014/main" id="{A70DAB7E-404C-4E7F-BDC3-6C3745E34DF9}"/>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FFFFFF"/>
                </a:solidFill>
                <a:latin typeface="Arial"/>
                <a:ea typeface="Arial"/>
                <a:cs typeface="Arial"/>
              </a:defRPr>
            </a:defPPr>
            <a:lvl1pPr algn="l">
              <a:buNone/>
              <a:defRPr sz="4350" b="1">
                <a:solidFill>
                  <a:srgbClr val="FFFFFF"/>
                </a:solidFill>
                <a:latin typeface="Arial"/>
                <a:ea typeface="Arial"/>
                <a:cs typeface="Arial"/>
              </a:defRPr>
            </a:lvl1pPr>
            <a:lvl2pPr algn="l">
              <a:buNone/>
              <a:defRPr sz="4350" b="1">
                <a:solidFill>
                  <a:srgbClr val="FFFFFF"/>
                </a:solidFill>
                <a:latin typeface="Arial"/>
                <a:ea typeface="Arial"/>
                <a:cs typeface="Arial"/>
              </a:defRPr>
            </a:lvl2pPr>
            <a:lvl3pPr algn="l">
              <a:buNone/>
              <a:defRPr sz="4350" b="1">
                <a:solidFill>
                  <a:srgbClr val="FFFFFF"/>
                </a:solidFill>
                <a:latin typeface="Arial"/>
                <a:ea typeface="Arial"/>
                <a:cs typeface="Arial"/>
              </a:defRPr>
            </a:lvl3pPr>
            <a:lvl4pPr algn="l">
              <a:buNone/>
              <a:defRPr sz="4350" b="1">
                <a:solidFill>
                  <a:srgbClr val="FFFFFF"/>
                </a:solidFill>
                <a:latin typeface="Arial"/>
                <a:ea typeface="Arial"/>
                <a:cs typeface="Arial"/>
              </a:defRPr>
            </a:lvl4pPr>
            <a:lvl5pPr algn="l">
              <a:buNone/>
              <a:defRPr sz="4350" b="1">
                <a:solidFill>
                  <a:srgbClr val="FFFFFF"/>
                </a:solidFill>
                <a:latin typeface="Arial"/>
                <a:ea typeface="Arial"/>
                <a:cs typeface="Arial"/>
              </a:defRPr>
            </a:lvl5pPr>
            <a:lvl6pPr algn="l">
              <a:buNone/>
              <a:defRPr sz="4350" b="1">
                <a:solidFill>
                  <a:srgbClr val="FFFFFF"/>
                </a:solidFill>
                <a:latin typeface="Arial"/>
                <a:ea typeface="Arial"/>
                <a:cs typeface="Arial"/>
              </a:defRPr>
            </a:lvl6pPr>
            <a:lvl7pPr algn="l">
              <a:buNone/>
              <a:defRPr sz="4350" b="1">
                <a:solidFill>
                  <a:srgbClr val="FFFFFF"/>
                </a:solidFill>
                <a:latin typeface="Arial"/>
                <a:ea typeface="Arial"/>
                <a:cs typeface="Arial"/>
              </a:defRPr>
            </a:lvl7pPr>
            <a:lvl8pPr algn="l">
              <a:buNone/>
              <a:defRPr sz="4350" b="1">
                <a:solidFill>
                  <a:srgbClr val="FFFFFF"/>
                </a:solidFill>
                <a:latin typeface="Arial"/>
                <a:ea typeface="Arial"/>
                <a:cs typeface="Arial"/>
              </a:defRPr>
            </a:lvl8pPr>
            <a:lvl9pPr algn="l">
              <a:buNone/>
              <a:defRPr sz="4350" b="1">
                <a:solidFill>
                  <a:srgbClr val="FFFFFF"/>
                </a:solidFill>
                <a:latin typeface="Arial"/>
                <a:ea typeface="Arial"/>
                <a:cs typeface="Arial"/>
              </a:defRPr>
            </a:lvl9pPr>
          </a:lstStyle>
          <a:p>
            <a:pPr algn="l">
              <a:buNone/>
              <a:defRPr sz="4350" b="1">
                <a:solidFill>
                  <a:srgbClr val="FFFFFF"/>
                </a:solidFill>
                <a:latin typeface="Arial"/>
                <a:ea typeface="Arial"/>
                <a:cs typeface="Arial"/>
              </a:defRPr>
            </a:pPr>
            <a:r>
              <a:rPr sz="4350" b="1">
                <a:solidFill>
                  <a:srgbClr val="FFFFFF"/>
                </a:solidFill>
                <a:latin typeface="Arial"/>
                <a:ea typeface="Arial"/>
                <a:cs typeface="Arial"/>
              </a:rPr>
              <a:t>System architecture</a:t>
            </a:r>
          </a:p>
        </p:txBody>
      </p:sp>
      <p:sp>
        <p:nvSpPr>
          <p:cNvPr id="2" name="The IDE and CLI use the same compiler library">
            <a:extLst>
              <a:ext uri="{FF2B5EF4-FFF2-40B4-BE49-F238E27FC236}">
                <a16:creationId xmlns:a16="http://schemas.microsoft.com/office/drawing/2014/main" id="{A49DC24C-EC87-4336-ABDF-8C06E82F78BB}"/>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B5C7DE"/>
                </a:solidFill>
                <a:latin typeface="Arial"/>
                <a:ea typeface="Arial"/>
                <a:cs typeface="Arial"/>
              </a:defRPr>
            </a:defPPr>
            <a:lvl1pPr algn="l">
              <a:buNone/>
              <a:defRPr sz="2250" b="0">
                <a:solidFill>
                  <a:srgbClr val="B5C7DE"/>
                </a:solidFill>
                <a:latin typeface="Arial"/>
                <a:ea typeface="Arial"/>
                <a:cs typeface="Arial"/>
              </a:defRPr>
            </a:lvl1pPr>
            <a:lvl2pPr algn="l">
              <a:buNone/>
              <a:defRPr sz="2250" b="0">
                <a:solidFill>
                  <a:srgbClr val="B5C7DE"/>
                </a:solidFill>
                <a:latin typeface="Arial"/>
                <a:ea typeface="Arial"/>
                <a:cs typeface="Arial"/>
              </a:defRPr>
            </a:lvl2pPr>
            <a:lvl3pPr algn="l">
              <a:buNone/>
              <a:defRPr sz="2250" b="0">
                <a:solidFill>
                  <a:srgbClr val="B5C7DE"/>
                </a:solidFill>
                <a:latin typeface="Arial"/>
                <a:ea typeface="Arial"/>
                <a:cs typeface="Arial"/>
              </a:defRPr>
            </a:lvl3pPr>
            <a:lvl4pPr algn="l">
              <a:buNone/>
              <a:defRPr sz="2250" b="0">
                <a:solidFill>
                  <a:srgbClr val="B5C7DE"/>
                </a:solidFill>
                <a:latin typeface="Arial"/>
                <a:ea typeface="Arial"/>
                <a:cs typeface="Arial"/>
              </a:defRPr>
            </a:lvl4pPr>
            <a:lvl5pPr algn="l">
              <a:buNone/>
              <a:defRPr sz="2250" b="0">
                <a:solidFill>
                  <a:srgbClr val="B5C7DE"/>
                </a:solidFill>
                <a:latin typeface="Arial"/>
                <a:ea typeface="Arial"/>
                <a:cs typeface="Arial"/>
              </a:defRPr>
            </a:lvl5pPr>
            <a:lvl6pPr algn="l">
              <a:buNone/>
              <a:defRPr sz="2250" b="0">
                <a:solidFill>
                  <a:srgbClr val="B5C7DE"/>
                </a:solidFill>
                <a:latin typeface="Arial"/>
                <a:ea typeface="Arial"/>
                <a:cs typeface="Arial"/>
              </a:defRPr>
            </a:lvl6pPr>
            <a:lvl7pPr algn="l">
              <a:buNone/>
              <a:defRPr sz="2250" b="0">
                <a:solidFill>
                  <a:srgbClr val="B5C7DE"/>
                </a:solidFill>
                <a:latin typeface="Arial"/>
                <a:ea typeface="Arial"/>
                <a:cs typeface="Arial"/>
              </a:defRPr>
            </a:lvl7pPr>
            <a:lvl8pPr algn="l">
              <a:buNone/>
              <a:defRPr sz="2250" b="0">
                <a:solidFill>
                  <a:srgbClr val="B5C7DE"/>
                </a:solidFill>
                <a:latin typeface="Arial"/>
                <a:ea typeface="Arial"/>
                <a:cs typeface="Arial"/>
              </a:defRPr>
            </a:lvl8pPr>
            <a:lvl9pPr algn="l">
              <a:buNone/>
              <a:defRPr sz="2250" b="0">
                <a:solidFill>
                  <a:srgbClr val="B5C7DE"/>
                </a:solidFill>
                <a:latin typeface="Arial"/>
                <a:ea typeface="Arial"/>
                <a:cs typeface="Arial"/>
              </a:defRPr>
            </a:lvl9pPr>
          </a:lstStyle>
          <a:p>
            <a:pPr algn="l">
              <a:buNone/>
              <a:defRPr sz="2250" b="0">
                <a:solidFill>
                  <a:srgbClr val="B5C7DE"/>
                </a:solidFill>
                <a:latin typeface="Arial"/>
                <a:ea typeface="Arial"/>
                <a:cs typeface="Arial"/>
              </a:defRPr>
            </a:pPr>
            <a:r>
              <a:rPr sz="2250" b="0">
                <a:solidFill>
                  <a:srgbClr val="B5C7DE"/>
                </a:solidFill>
                <a:latin typeface="Arial"/>
                <a:ea typeface="Arial"/>
                <a:cs typeface="Arial"/>
              </a:rPr>
              <a:t>The IDE and CLI use the same compiler library</a:t>
            </a:r>
          </a:p>
        </p:txBody>
      </p:sp>
      <p:sp>
        <p:nvSpPr>
          <p:cNvPr id="3" name="05">
            <a:extLst>
              <a:ext uri="{FF2B5EF4-FFF2-40B4-BE49-F238E27FC236}">
                <a16:creationId xmlns:a16="http://schemas.microsoft.com/office/drawing/2014/main" id="{4ABC0875-9A2C-4862-AF73-0CF4699407C2}"/>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B5C7DE"/>
                </a:solidFill>
                <a:latin typeface="Arial"/>
                <a:ea typeface="Arial"/>
                <a:cs typeface="Arial"/>
              </a:defRPr>
            </a:defPPr>
            <a:lvl1pPr algn="r">
              <a:buNone/>
              <a:defRPr sz="1500" b="0">
                <a:solidFill>
                  <a:srgbClr val="B5C7DE"/>
                </a:solidFill>
                <a:latin typeface="Arial"/>
                <a:ea typeface="Arial"/>
                <a:cs typeface="Arial"/>
              </a:defRPr>
            </a:lvl1pPr>
            <a:lvl2pPr algn="r">
              <a:buNone/>
              <a:defRPr sz="1500" b="0">
                <a:solidFill>
                  <a:srgbClr val="B5C7DE"/>
                </a:solidFill>
                <a:latin typeface="Arial"/>
                <a:ea typeface="Arial"/>
                <a:cs typeface="Arial"/>
              </a:defRPr>
            </a:lvl2pPr>
            <a:lvl3pPr algn="r">
              <a:buNone/>
              <a:defRPr sz="1500" b="0">
                <a:solidFill>
                  <a:srgbClr val="B5C7DE"/>
                </a:solidFill>
                <a:latin typeface="Arial"/>
                <a:ea typeface="Arial"/>
                <a:cs typeface="Arial"/>
              </a:defRPr>
            </a:lvl3pPr>
            <a:lvl4pPr algn="r">
              <a:buNone/>
              <a:defRPr sz="1500" b="0">
                <a:solidFill>
                  <a:srgbClr val="B5C7DE"/>
                </a:solidFill>
                <a:latin typeface="Arial"/>
                <a:ea typeface="Arial"/>
                <a:cs typeface="Arial"/>
              </a:defRPr>
            </a:lvl4pPr>
            <a:lvl5pPr algn="r">
              <a:buNone/>
              <a:defRPr sz="1500" b="0">
                <a:solidFill>
                  <a:srgbClr val="B5C7DE"/>
                </a:solidFill>
                <a:latin typeface="Arial"/>
                <a:ea typeface="Arial"/>
                <a:cs typeface="Arial"/>
              </a:defRPr>
            </a:lvl5pPr>
            <a:lvl6pPr algn="r">
              <a:buNone/>
              <a:defRPr sz="1500" b="0">
                <a:solidFill>
                  <a:srgbClr val="B5C7DE"/>
                </a:solidFill>
                <a:latin typeface="Arial"/>
                <a:ea typeface="Arial"/>
                <a:cs typeface="Arial"/>
              </a:defRPr>
            </a:lvl6pPr>
            <a:lvl7pPr algn="r">
              <a:buNone/>
              <a:defRPr sz="1500" b="0">
                <a:solidFill>
                  <a:srgbClr val="B5C7DE"/>
                </a:solidFill>
                <a:latin typeface="Arial"/>
                <a:ea typeface="Arial"/>
                <a:cs typeface="Arial"/>
              </a:defRPr>
            </a:lvl7pPr>
            <a:lvl8pPr algn="r">
              <a:buNone/>
              <a:defRPr sz="1500" b="0">
                <a:solidFill>
                  <a:srgbClr val="B5C7DE"/>
                </a:solidFill>
                <a:latin typeface="Arial"/>
                <a:ea typeface="Arial"/>
                <a:cs typeface="Arial"/>
              </a:defRPr>
            </a:lvl8pPr>
            <a:lvl9pPr algn="r">
              <a:buNone/>
              <a:defRPr sz="1500" b="0">
                <a:solidFill>
                  <a:srgbClr val="B5C7DE"/>
                </a:solidFill>
                <a:latin typeface="Arial"/>
                <a:ea typeface="Arial"/>
                <a:cs typeface="Arial"/>
              </a:defRPr>
            </a:lvl9pPr>
          </a:lstStyle>
          <a:p>
            <a:pPr algn="r">
              <a:buNone/>
              <a:defRPr sz="1500" b="0">
                <a:solidFill>
                  <a:srgbClr val="B5C7DE"/>
                </a:solidFill>
                <a:latin typeface="Arial"/>
                <a:ea typeface="Arial"/>
                <a:cs typeface="Arial"/>
              </a:defRPr>
            </a:pPr>
            <a:r>
              <a:rPr sz="1500" b="0">
                <a:solidFill>
                  <a:srgbClr val="B5C7DE"/>
                </a:solidFill>
                <a:latin typeface="Arial"/>
                <a:ea typeface="Arial"/>
                <a:cs typeface="Arial"/>
              </a:rPr>
              <a:t>05</a:t>
            </a:r>
          </a:p>
        </p:txBody>
      </p:sp>
      <p:sp>
        <p:nvSpPr>
          <p:cNvPr id="4" name="Browser IDE">
            <a:extLst>
              <a:ext uri="{FF2B5EF4-FFF2-40B4-BE49-F238E27FC236}">
                <a16:creationId xmlns:a16="http://schemas.microsoft.com/office/drawing/2014/main" id="{D7CBCD07-55B7-4CD5-B2D2-190C7568E0E9}"/>
              </a:ext>
            </a:extLst>
          </p:cNvPr>
          <p:cNvSpPr>
            <a:spLocks noGrp="1"/>
          </p:cNvSpPr>
          <p:nvPr/>
        </p:nvSpPr>
        <p:spPr>
          <a:xfrm>
            <a:off x="762000" y="2762250"/>
            <a:ext cx="3048000" cy="1238250"/>
          </a:xfrm>
          <a:prstGeom prst="rect">
            <a:avLst/>
          </a:prstGeom>
          <a:solidFill>
            <a:srgbClr val="182C46"/>
          </a:solidFill>
          <a:ln w="16193">
            <a:solidFill>
              <a:srgbClr val="657D9A"/>
            </a:solidFill>
          </a:ln>
        </p:spPr>
        <p:txBody>
          <a:bodyPr/>
          <a:lstStyle/>
          <a:p>
            <a:endParaRPr lang="en-US"/>
          </a:p>
        </p:txBody>
      </p:sp>
      <p:sp>
        <p:nvSpPr>
          <p:cNvPr id="5" name="Browser IDE">
            <a:extLst>
              <a:ext uri="{FF2B5EF4-FFF2-40B4-BE49-F238E27FC236}">
                <a16:creationId xmlns:a16="http://schemas.microsoft.com/office/drawing/2014/main" id="{CB50AB17-108E-4464-967A-EE7C60058818}"/>
              </a:ext>
            </a:extLst>
          </p:cNvPr>
          <p:cNvSpPr>
            <a:spLocks noGrp="1"/>
          </p:cNvSpPr>
          <p:nvPr/>
        </p:nvSpPr>
        <p:spPr>
          <a:xfrm>
            <a:off x="952500" y="2933700"/>
            <a:ext cx="2667000" cy="533400"/>
          </a:xfrm>
          <a:prstGeom prst="rect">
            <a:avLst/>
          </a:prstGeom>
          <a:noFill/>
          <a:ln w="0">
            <a:noFill/>
          </a:ln>
        </p:spPr>
        <p:txBody>
          <a:bodyPr wrap="square" lIns="0" tIns="0" rIns="0" bIns="0" anchor="t">
            <a:noAutofit/>
          </a:bodyPr>
          <a:lstStyle>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a:pPr algn="l">
              <a:buNone/>
              <a:defRPr sz="2325" b="1">
                <a:solidFill>
                  <a:srgbClr val="FFFFFF"/>
                </a:solidFill>
                <a:latin typeface="Arial"/>
                <a:ea typeface="Arial"/>
                <a:cs typeface="Arial"/>
              </a:defRPr>
            </a:pPr>
            <a:r>
              <a:rPr sz="2325" b="1">
                <a:solidFill>
                  <a:srgbClr val="FFFFFF"/>
                </a:solidFill>
                <a:latin typeface="Arial"/>
                <a:ea typeface="Arial"/>
                <a:cs typeface="Arial"/>
              </a:rPr>
              <a:t>Browser IDE</a:t>
            </a:r>
          </a:p>
        </p:txBody>
      </p:sp>
      <p:sp>
        <p:nvSpPr>
          <p:cNvPr id="6" name="HTML, CSS, JavaScript">
            <a:extLst>
              <a:ext uri="{FF2B5EF4-FFF2-40B4-BE49-F238E27FC236}">
                <a16:creationId xmlns:a16="http://schemas.microsoft.com/office/drawing/2014/main" id="{0B530FB4-D5ED-49F4-BE04-B9AFF4BDBDB9}"/>
              </a:ext>
            </a:extLst>
          </p:cNvPr>
          <p:cNvSpPr>
            <a:spLocks noGrp="1"/>
          </p:cNvSpPr>
          <p:nvPr/>
        </p:nvSpPr>
        <p:spPr>
          <a:xfrm>
            <a:off x="952500" y="3486150"/>
            <a:ext cx="2667000" cy="4572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HTML, CSS, JavaScript</a:t>
            </a:r>
          </a:p>
        </p:txBody>
      </p:sp>
      <p:sp>
        <p:nvSpPr>
          <p:cNvPr id="7" name="Local HTTP server">
            <a:extLst>
              <a:ext uri="{FF2B5EF4-FFF2-40B4-BE49-F238E27FC236}">
                <a16:creationId xmlns:a16="http://schemas.microsoft.com/office/drawing/2014/main" id="{22576B24-E16C-4AD1-A6DD-DFC20D262098}"/>
              </a:ext>
            </a:extLst>
          </p:cNvPr>
          <p:cNvSpPr>
            <a:spLocks noGrp="1"/>
          </p:cNvSpPr>
          <p:nvPr/>
        </p:nvSpPr>
        <p:spPr>
          <a:xfrm>
            <a:off x="4762500" y="2762250"/>
            <a:ext cx="3714750" cy="1238250"/>
          </a:xfrm>
          <a:prstGeom prst="rect">
            <a:avLst/>
          </a:prstGeom>
          <a:solidFill>
            <a:srgbClr val="182C46"/>
          </a:solidFill>
          <a:ln w="16193">
            <a:solidFill>
              <a:srgbClr val="657D9A"/>
            </a:solidFill>
          </a:ln>
        </p:spPr>
        <p:txBody>
          <a:bodyPr/>
          <a:lstStyle/>
          <a:p>
            <a:endParaRPr lang="en-US"/>
          </a:p>
        </p:txBody>
      </p:sp>
      <p:sp>
        <p:nvSpPr>
          <p:cNvPr id="8" name="Local HTTP server">
            <a:extLst>
              <a:ext uri="{FF2B5EF4-FFF2-40B4-BE49-F238E27FC236}">
                <a16:creationId xmlns:a16="http://schemas.microsoft.com/office/drawing/2014/main" id="{66D4431E-4831-4850-8C08-640F0245FCE7}"/>
              </a:ext>
            </a:extLst>
          </p:cNvPr>
          <p:cNvSpPr>
            <a:spLocks noGrp="1"/>
          </p:cNvSpPr>
          <p:nvPr/>
        </p:nvSpPr>
        <p:spPr>
          <a:xfrm>
            <a:off x="4953000" y="2933700"/>
            <a:ext cx="3333750" cy="533400"/>
          </a:xfrm>
          <a:prstGeom prst="rect">
            <a:avLst/>
          </a:prstGeom>
          <a:noFill/>
          <a:ln w="0">
            <a:noFill/>
          </a:ln>
        </p:spPr>
        <p:txBody>
          <a:bodyPr wrap="square" lIns="0" tIns="0" rIns="0" bIns="0" anchor="t">
            <a:noAutofit/>
          </a:bodyPr>
          <a:lstStyle>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a:pPr algn="l">
              <a:buNone/>
              <a:defRPr sz="2325" b="1">
                <a:solidFill>
                  <a:srgbClr val="FFFFFF"/>
                </a:solidFill>
                <a:latin typeface="Arial"/>
                <a:ea typeface="Arial"/>
                <a:cs typeface="Arial"/>
              </a:defRPr>
            </a:pPr>
            <a:r>
              <a:rPr sz="2325" b="1">
                <a:solidFill>
                  <a:srgbClr val="FFFFFF"/>
                </a:solidFill>
                <a:latin typeface="Arial"/>
                <a:ea typeface="Arial"/>
                <a:cs typeface="Arial"/>
              </a:rPr>
              <a:t>Local HTTP server</a:t>
            </a:r>
          </a:p>
        </p:txBody>
      </p:sp>
      <p:sp>
        <p:nvSpPr>
          <p:cNvPr id="9" name="Request routing and checks">
            <a:extLst>
              <a:ext uri="{FF2B5EF4-FFF2-40B4-BE49-F238E27FC236}">
                <a16:creationId xmlns:a16="http://schemas.microsoft.com/office/drawing/2014/main" id="{2683B186-4650-4B86-BE46-B76A23F8221D}"/>
              </a:ext>
            </a:extLst>
          </p:cNvPr>
          <p:cNvSpPr>
            <a:spLocks noGrp="1"/>
          </p:cNvSpPr>
          <p:nvPr/>
        </p:nvSpPr>
        <p:spPr>
          <a:xfrm>
            <a:off x="4953000" y="3486150"/>
            <a:ext cx="3333750" cy="4572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Request routing and checks</a:t>
            </a:r>
          </a:p>
        </p:txBody>
      </p:sp>
      <p:sp>
        <p:nvSpPr>
          <p:cNvPr id="10" name="Spawned worker">
            <a:extLst>
              <a:ext uri="{FF2B5EF4-FFF2-40B4-BE49-F238E27FC236}">
                <a16:creationId xmlns:a16="http://schemas.microsoft.com/office/drawing/2014/main" id="{469A9B15-6C79-4C28-BC94-625652E9647D}"/>
              </a:ext>
            </a:extLst>
          </p:cNvPr>
          <p:cNvSpPr>
            <a:spLocks noGrp="1"/>
          </p:cNvSpPr>
          <p:nvPr/>
        </p:nvSpPr>
        <p:spPr>
          <a:xfrm>
            <a:off x="9620250" y="2762250"/>
            <a:ext cx="4476750" cy="1238250"/>
          </a:xfrm>
          <a:prstGeom prst="rect">
            <a:avLst/>
          </a:prstGeom>
          <a:solidFill>
            <a:srgbClr val="182C46"/>
          </a:solidFill>
          <a:ln w="16193">
            <a:solidFill>
              <a:srgbClr val="657D9A"/>
            </a:solidFill>
          </a:ln>
        </p:spPr>
        <p:txBody>
          <a:bodyPr/>
          <a:lstStyle/>
          <a:p>
            <a:endParaRPr lang="en-US"/>
          </a:p>
        </p:txBody>
      </p:sp>
      <p:sp>
        <p:nvSpPr>
          <p:cNvPr id="11" name="Spawned worker">
            <a:extLst>
              <a:ext uri="{FF2B5EF4-FFF2-40B4-BE49-F238E27FC236}">
                <a16:creationId xmlns:a16="http://schemas.microsoft.com/office/drawing/2014/main" id="{FF1703DB-9C48-4698-8FC0-4DE14179E1C4}"/>
              </a:ext>
            </a:extLst>
          </p:cNvPr>
          <p:cNvSpPr>
            <a:spLocks noGrp="1"/>
          </p:cNvSpPr>
          <p:nvPr/>
        </p:nvSpPr>
        <p:spPr>
          <a:xfrm>
            <a:off x="9810750" y="2933700"/>
            <a:ext cx="4095750" cy="533400"/>
          </a:xfrm>
          <a:prstGeom prst="rect">
            <a:avLst/>
          </a:prstGeom>
          <a:noFill/>
          <a:ln w="0">
            <a:noFill/>
          </a:ln>
        </p:spPr>
        <p:txBody>
          <a:bodyPr wrap="square" lIns="0" tIns="0" rIns="0" bIns="0" anchor="t">
            <a:noAutofit/>
          </a:bodyPr>
          <a:lstStyle>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a:pPr algn="l">
              <a:buNone/>
              <a:defRPr sz="2325" b="1">
                <a:solidFill>
                  <a:srgbClr val="FFFFFF"/>
                </a:solidFill>
                <a:latin typeface="Arial"/>
                <a:ea typeface="Arial"/>
                <a:cs typeface="Arial"/>
              </a:defRPr>
            </a:pPr>
            <a:r>
              <a:rPr sz="2325" b="1">
                <a:solidFill>
                  <a:srgbClr val="FFFFFF"/>
                </a:solidFill>
                <a:latin typeface="Arial"/>
                <a:ea typeface="Arial"/>
                <a:cs typeface="Arial"/>
              </a:rPr>
              <a:t>Spawned worker</a:t>
            </a:r>
          </a:p>
        </p:txBody>
      </p:sp>
      <p:sp>
        <p:nvSpPr>
          <p:cNvPr id="12" name="One bounded compiler job">
            <a:extLst>
              <a:ext uri="{FF2B5EF4-FFF2-40B4-BE49-F238E27FC236}">
                <a16:creationId xmlns:a16="http://schemas.microsoft.com/office/drawing/2014/main" id="{9B1E5E05-359B-46FF-AC85-2ECCA6DE64D9}"/>
              </a:ext>
            </a:extLst>
          </p:cNvPr>
          <p:cNvSpPr>
            <a:spLocks noGrp="1"/>
          </p:cNvSpPr>
          <p:nvPr/>
        </p:nvSpPr>
        <p:spPr>
          <a:xfrm>
            <a:off x="9810750" y="3486150"/>
            <a:ext cx="4095750" cy="4572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One bounded compiler job</a:t>
            </a:r>
          </a:p>
        </p:txBody>
      </p:sp>
      <p:sp>
        <p:nvSpPr>
          <p:cNvPr id="15" name="JSON request / response">
            <a:extLst>
              <a:ext uri="{FF2B5EF4-FFF2-40B4-BE49-F238E27FC236}">
                <a16:creationId xmlns:a16="http://schemas.microsoft.com/office/drawing/2014/main" id="{19AAD0D2-9512-45FD-B560-BB6A10832D47}"/>
              </a:ext>
            </a:extLst>
          </p:cNvPr>
          <p:cNvSpPr>
            <a:spLocks noGrp="1"/>
          </p:cNvSpPr>
          <p:nvPr/>
        </p:nvSpPr>
        <p:spPr>
          <a:xfrm>
            <a:off x="4381500" y="2190750"/>
            <a:ext cx="4667250" cy="419100"/>
          </a:xfrm>
          <a:prstGeom prst="rect">
            <a:avLst/>
          </a:prstGeom>
          <a:noFill/>
          <a:ln w="0">
            <a:noFill/>
          </a:ln>
        </p:spPr>
        <p:txBody>
          <a:bodyPr wrap="square" lIns="0" tIns="0" rIns="0" bIns="0" anchor="t">
            <a:noAutofit/>
          </a:bodyPr>
          <a:lstStyle>
            <a:defPPr algn="l">
              <a:defRPr sz="1950" b="0">
                <a:solidFill>
                  <a:srgbClr val="B5C7DE"/>
                </a:solidFill>
                <a:latin typeface="Arial"/>
                <a:ea typeface="Arial"/>
                <a:cs typeface="Arial"/>
              </a:defRPr>
            </a:defPPr>
            <a:lvl1pPr algn="l">
              <a:buNone/>
              <a:defRPr sz="1950" b="0">
                <a:solidFill>
                  <a:srgbClr val="B5C7DE"/>
                </a:solidFill>
                <a:latin typeface="Arial"/>
                <a:ea typeface="Arial"/>
                <a:cs typeface="Arial"/>
              </a:defRPr>
            </a:lvl1pPr>
            <a:lvl2pPr algn="l">
              <a:buNone/>
              <a:defRPr sz="1950" b="0">
                <a:solidFill>
                  <a:srgbClr val="B5C7DE"/>
                </a:solidFill>
                <a:latin typeface="Arial"/>
                <a:ea typeface="Arial"/>
                <a:cs typeface="Arial"/>
              </a:defRPr>
            </a:lvl2pPr>
            <a:lvl3pPr algn="l">
              <a:buNone/>
              <a:defRPr sz="1950" b="0">
                <a:solidFill>
                  <a:srgbClr val="B5C7DE"/>
                </a:solidFill>
                <a:latin typeface="Arial"/>
                <a:ea typeface="Arial"/>
                <a:cs typeface="Arial"/>
              </a:defRPr>
            </a:lvl3pPr>
            <a:lvl4pPr algn="l">
              <a:buNone/>
              <a:defRPr sz="1950" b="0">
                <a:solidFill>
                  <a:srgbClr val="B5C7DE"/>
                </a:solidFill>
                <a:latin typeface="Arial"/>
                <a:ea typeface="Arial"/>
                <a:cs typeface="Arial"/>
              </a:defRPr>
            </a:lvl4pPr>
            <a:lvl5pPr algn="l">
              <a:buNone/>
              <a:defRPr sz="1950" b="0">
                <a:solidFill>
                  <a:srgbClr val="B5C7DE"/>
                </a:solidFill>
                <a:latin typeface="Arial"/>
                <a:ea typeface="Arial"/>
                <a:cs typeface="Arial"/>
              </a:defRPr>
            </a:lvl5pPr>
            <a:lvl6pPr algn="l">
              <a:buNone/>
              <a:defRPr sz="1950" b="0">
                <a:solidFill>
                  <a:srgbClr val="B5C7DE"/>
                </a:solidFill>
                <a:latin typeface="Arial"/>
                <a:ea typeface="Arial"/>
                <a:cs typeface="Arial"/>
              </a:defRPr>
            </a:lvl6pPr>
            <a:lvl7pPr algn="l">
              <a:buNone/>
              <a:defRPr sz="1950" b="0">
                <a:solidFill>
                  <a:srgbClr val="B5C7DE"/>
                </a:solidFill>
                <a:latin typeface="Arial"/>
                <a:ea typeface="Arial"/>
                <a:cs typeface="Arial"/>
              </a:defRPr>
            </a:lvl7pPr>
            <a:lvl8pPr algn="l">
              <a:buNone/>
              <a:defRPr sz="1950" b="0">
                <a:solidFill>
                  <a:srgbClr val="B5C7DE"/>
                </a:solidFill>
                <a:latin typeface="Arial"/>
                <a:ea typeface="Arial"/>
                <a:cs typeface="Arial"/>
              </a:defRPr>
            </a:lvl8pPr>
            <a:lvl9pPr algn="l">
              <a:buNone/>
              <a:defRPr sz="1950" b="0">
                <a:solidFill>
                  <a:srgbClr val="B5C7DE"/>
                </a:solidFill>
                <a:latin typeface="Arial"/>
                <a:ea typeface="Arial"/>
                <a:cs typeface="Arial"/>
              </a:defRPr>
            </a:lvl9pPr>
          </a:lstStyle>
          <a:p>
            <a:pPr algn="l">
              <a:buNone/>
              <a:defRPr sz="1950" b="0">
                <a:solidFill>
                  <a:srgbClr val="B5C7DE"/>
                </a:solidFill>
                <a:latin typeface="Arial"/>
                <a:ea typeface="Arial"/>
                <a:cs typeface="Arial"/>
              </a:defRPr>
            </a:pPr>
            <a:r>
              <a:rPr sz="1950" b="0">
                <a:solidFill>
                  <a:srgbClr val="B5C7DE"/>
                </a:solidFill>
                <a:latin typeface="Arial"/>
                <a:ea typeface="Arial"/>
                <a:cs typeface="Arial"/>
              </a:rPr>
              <a:t>JSON request / response</a:t>
            </a:r>
          </a:p>
        </p:txBody>
      </p:sp>
      <p:sp>
        <p:nvSpPr>
          <p:cNvPr id="16" name="CLI">
            <a:extLst>
              <a:ext uri="{FF2B5EF4-FFF2-40B4-BE49-F238E27FC236}">
                <a16:creationId xmlns:a16="http://schemas.microsoft.com/office/drawing/2014/main" id="{4783D2F7-BAC0-4F20-9407-D92CDC6FAD0A}"/>
              </a:ext>
            </a:extLst>
          </p:cNvPr>
          <p:cNvSpPr>
            <a:spLocks noGrp="1"/>
          </p:cNvSpPr>
          <p:nvPr/>
        </p:nvSpPr>
        <p:spPr>
          <a:xfrm>
            <a:off x="762000" y="5381625"/>
            <a:ext cx="3714750" cy="1381125"/>
          </a:xfrm>
          <a:prstGeom prst="rect">
            <a:avLst/>
          </a:prstGeom>
          <a:solidFill>
            <a:srgbClr val="182C46"/>
          </a:solidFill>
          <a:ln w="16193">
            <a:solidFill>
              <a:srgbClr val="657D9A"/>
            </a:solidFill>
          </a:ln>
        </p:spPr>
        <p:txBody>
          <a:bodyPr/>
          <a:lstStyle/>
          <a:p>
            <a:endParaRPr lang="en-US"/>
          </a:p>
        </p:txBody>
      </p:sp>
      <p:sp>
        <p:nvSpPr>
          <p:cNvPr id="17" name="CLI">
            <a:extLst>
              <a:ext uri="{FF2B5EF4-FFF2-40B4-BE49-F238E27FC236}">
                <a16:creationId xmlns:a16="http://schemas.microsoft.com/office/drawing/2014/main" id="{993A3DFC-1413-475D-967A-28C1B1D9B10E}"/>
              </a:ext>
            </a:extLst>
          </p:cNvPr>
          <p:cNvSpPr>
            <a:spLocks noGrp="1"/>
          </p:cNvSpPr>
          <p:nvPr/>
        </p:nvSpPr>
        <p:spPr>
          <a:xfrm>
            <a:off x="952500" y="5553075"/>
            <a:ext cx="3333750" cy="533400"/>
          </a:xfrm>
          <a:prstGeom prst="rect">
            <a:avLst/>
          </a:prstGeom>
          <a:noFill/>
          <a:ln w="0">
            <a:noFill/>
          </a:ln>
        </p:spPr>
        <p:txBody>
          <a:bodyPr wrap="square" lIns="0" tIns="0" rIns="0" bIns="0" anchor="t">
            <a:noAutofit/>
          </a:bodyPr>
          <a:lstStyle>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a:pPr algn="l">
              <a:buNone/>
              <a:defRPr sz="2325" b="1">
                <a:solidFill>
                  <a:srgbClr val="FFFFFF"/>
                </a:solidFill>
                <a:latin typeface="Arial"/>
                <a:ea typeface="Arial"/>
                <a:cs typeface="Arial"/>
              </a:defRPr>
            </a:pPr>
            <a:r>
              <a:rPr sz="2325" b="1">
                <a:solidFill>
                  <a:srgbClr val="FFFFFF"/>
                </a:solidFill>
                <a:latin typeface="Arial"/>
                <a:ea typeface="Arial"/>
                <a:cs typeface="Arial"/>
              </a:rPr>
              <a:t>CLI</a:t>
            </a:r>
          </a:p>
        </p:txBody>
      </p:sp>
      <p:sp>
        <p:nvSpPr>
          <p:cNvPr id="18" name="check / run / build / exec">
            <a:extLst>
              <a:ext uri="{FF2B5EF4-FFF2-40B4-BE49-F238E27FC236}">
                <a16:creationId xmlns:a16="http://schemas.microsoft.com/office/drawing/2014/main" id="{144D965F-5AB8-43FC-8745-DC6947E92E40}"/>
              </a:ext>
            </a:extLst>
          </p:cNvPr>
          <p:cNvSpPr>
            <a:spLocks noGrp="1"/>
          </p:cNvSpPr>
          <p:nvPr/>
        </p:nvSpPr>
        <p:spPr>
          <a:xfrm>
            <a:off x="952500" y="6105525"/>
            <a:ext cx="3333750" cy="600075"/>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check / run / build / exec</a:t>
            </a:r>
          </a:p>
        </p:txBody>
      </p:sp>
      <p:sp>
        <p:nvSpPr>
          <p:cNvPr id="19" name="Shared compiler library">
            <a:extLst>
              <a:ext uri="{FF2B5EF4-FFF2-40B4-BE49-F238E27FC236}">
                <a16:creationId xmlns:a16="http://schemas.microsoft.com/office/drawing/2014/main" id="{C0DF70F9-B233-44EC-AF5C-F9C39B680D7F}"/>
              </a:ext>
            </a:extLst>
          </p:cNvPr>
          <p:cNvSpPr>
            <a:spLocks noGrp="1"/>
          </p:cNvSpPr>
          <p:nvPr/>
        </p:nvSpPr>
        <p:spPr>
          <a:xfrm>
            <a:off x="5810250" y="5381625"/>
            <a:ext cx="5048250" cy="1381125"/>
          </a:xfrm>
          <a:prstGeom prst="rect">
            <a:avLst/>
          </a:prstGeom>
          <a:solidFill>
            <a:srgbClr val="173F4C"/>
          </a:solidFill>
          <a:ln w="16193">
            <a:solidFill>
              <a:srgbClr val="76D9C3"/>
            </a:solidFill>
          </a:ln>
        </p:spPr>
        <p:txBody>
          <a:bodyPr/>
          <a:lstStyle/>
          <a:p>
            <a:endParaRPr lang="en-US"/>
          </a:p>
        </p:txBody>
      </p:sp>
      <p:sp>
        <p:nvSpPr>
          <p:cNvPr id="20" name="Shared compiler library">
            <a:extLst>
              <a:ext uri="{FF2B5EF4-FFF2-40B4-BE49-F238E27FC236}">
                <a16:creationId xmlns:a16="http://schemas.microsoft.com/office/drawing/2014/main" id="{FC877CB7-D5A9-48F5-9925-0A1D82441389}"/>
              </a:ext>
            </a:extLst>
          </p:cNvPr>
          <p:cNvSpPr>
            <a:spLocks noGrp="1"/>
          </p:cNvSpPr>
          <p:nvPr/>
        </p:nvSpPr>
        <p:spPr>
          <a:xfrm>
            <a:off x="6000750" y="5553075"/>
            <a:ext cx="4667250" cy="533400"/>
          </a:xfrm>
          <a:prstGeom prst="rect">
            <a:avLst/>
          </a:prstGeom>
          <a:noFill/>
          <a:ln w="0">
            <a:noFill/>
          </a:ln>
        </p:spPr>
        <p:txBody>
          <a:bodyPr wrap="square" lIns="0" tIns="0" rIns="0" bIns="0" anchor="t">
            <a:noAutofit/>
          </a:bodyPr>
          <a:lstStyle>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a:pPr algn="l">
              <a:buNone/>
              <a:defRPr sz="2325" b="1">
                <a:solidFill>
                  <a:srgbClr val="FFFFFF"/>
                </a:solidFill>
                <a:latin typeface="Arial"/>
                <a:ea typeface="Arial"/>
                <a:cs typeface="Arial"/>
              </a:defRPr>
            </a:pPr>
            <a:r>
              <a:rPr sz="2325" b="1">
                <a:solidFill>
                  <a:srgbClr val="FFFFFF"/>
                </a:solidFill>
                <a:latin typeface="Arial"/>
                <a:ea typeface="Arial"/>
                <a:cs typeface="Arial"/>
              </a:rPr>
              <a:t>Shared compiler library</a:t>
            </a:r>
          </a:p>
        </p:txBody>
      </p:sp>
      <p:sp>
        <p:nvSpPr>
          <p:cNvPr id="21" name="compile_source() and execute_job()">
            <a:extLst>
              <a:ext uri="{FF2B5EF4-FFF2-40B4-BE49-F238E27FC236}">
                <a16:creationId xmlns:a16="http://schemas.microsoft.com/office/drawing/2014/main" id="{6024CA3A-0999-4E04-ABD9-0E07A33E565E}"/>
              </a:ext>
            </a:extLst>
          </p:cNvPr>
          <p:cNvSpPr>
            <a:spLocks noGrp="1"/>
          </p:cNvSpPr>
          <p:nvPr/>
        </p:nvSpPr>
        <p:spPr>
          <a:xfrm>
            <a:off x="6000750" y="6105525"/>
            <a:ext cx="4667250" cy="600075"/>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compile_source() and execute_job()</a:t>
            </a:r>
          </a:p>
        </p:txBody>
      </p:sp>
      <p:sp>
        <p:nvSpPr>
          <p:cNvPr id="22" name="Stack VM">
            <a:extLst>
              <a:ext uri="{FF2B5EF4-FFF2-40B4-BE49-F238E27FC236}">
                <a16:creationId xmlns:a16="http://schemas.microsoft.com/office/drawing/2014/main" id="{DB4BF7C5-D4BA-403E-9745-6AF2DC80279F}"/>
              </a:ext>
            </a:extLst>
          </p:cNvPr>
          <p:cNvSpPr>
            <a:spLocks noGrp="1"/>
          </p:cNvSpPr>
          <p:nvPr/>
        </p:nvSpPr>
        <p:spPr>
          <a:xfrm>
            <a:off x="11811000" y="5381625"/>
            <a:ext cx="2762250" cy="1381125"/>
          </a:xfrm>
          <a:prstGeom prst="rect">
            <a:avLst/>
          </a:prstGeom>
          <a:solidFill>
            <a:srgbClr val="182C46"/>
          </a:solidFill>
          <a:ln w="16193">
            <a:solidFill>
              <a:srgbClr val="657D9A"/>
            </a:solidFill>
          </a:ln>
        </p:spPr>
        <p:txBody>
          <a:bodyPr/>
          <a:lstStyle/>
          <a:p>
            <a:endParaRPr lang="en-US"/>
          </a:p>
        </p:txBody>
      </p:sp>
      <p:sp>
        <p:nvSpPr>
          <p:cNvPr id="23" name="Stack VM">
            <a:extLst>
              <a:ext uri="{FF2B5EF4-FFF2-40B4-BE49-F238E27FC236}">
                <a16:creationId xmlns:a16="http://schemas.microsoft.com/office/drawing/2014/main" id="{61B631AD-11C1-472B-93AD-D48A9B501AD7}"/>
              </a:ext>
            </a:extLst>
          </p:cNvPr>
          <p:cNvSpPr>
            <a:spLocks noGrp="1"/>
          </p:cNvSpPr>
          <p:nvPr/>
        </p:nvSpPr>
        <p:spPr>
          <a:xfrm>
            <a:off x="12001500" y="5553075"/>
            <a:ext cx="2381250" cy="533400"/>
          </a:xfrm>
          <a:prstGeom prst="rect">
            <a:avLst/>
          </a:prstGeom>
          <a:noFill/>
          <a:ln w="0">
            <a:noFill/>
          </a:ln>
        </p:spPr>
        <p:txBody>
          <a:bodyPr wrap="square" lIns="0" tIns="0" rIns="0" bIns="0" anchor="t">
            <a:noAutofit/>
          </a:bodyPr>
          <a:lstStyle>
            <a:defPPr algn="l">
              <a:defRPr sz="2175" b="1">
                <a:solidFill>
                  <a:srgbClr val="FFFFFF"/>
                </a:solidFill>
                <a:latin typeface="Arial"/>
                <a:ea typeface="Arial"/>
                <a:cs typeface="Arial"/>
              </a:defRPr>
            </a:defPPr>
            <a:lvl1pPr algn="l">
              <a:buNone/>
              <a:defRPr sz="2175" b="1">
                <a:solidFill>
                  <a:srgbClr val="FFFFFF"/>
                </a:solidFill>
                <a:latin typeface="Arial"/>
                <a:ea typeface="Arial"/>
                <a:cs typeface="Arial"/>
              </a:defRPr>
            </a:lvl1pPr>
            <a:lvl2pPr algn="l">
              <a:buNone/>
              <a:defRPr sz="2175" b="1">
                <a:solidFill>
                  <a:srgbClr val="FFFFFF"/>
                </a:solidFill>
                <a:latin typeface="Arial"/>
                <a:ea typeface="Arial"/>
                <a:cs typeface="Arial"/>
              </a:defRPr>
            </a:lvl2pPr>
            <a:lvl3pPr algn="l">
              <a:buNone/>
              <a:defRPr sz="2175" b="1">
                <a:solidFill>
                  <a:srgbClr val="FFFFFF"/>
                </a:solidFill>
                <a:latin typeface="Arial"/>
                <a:ea typeface="Arial"/>
                <a:cs typeface="Arial"/>
              </a:defRPr>
            </a:lvl3pPr>
            <a:lvl4pPr algn="l">
              <a:buNone/>
              <a:defRPr sz="2175" b="1">
                <a:solidFill>
                  <a:srgbClr val="FFFFFF"/>
                </a:solidFill>
                <a:latin typeface="Arial"/>
                <a:ea typeface="Arial"/>
                <a:cs typeface="Arial"/>
              </a:defRPr>
            </a:lvl4pPr>
            <a:lvl5pPr algn="l">
              <a:buNone/>
              <a:defRPr sz="2175" b="1">
                <a:solidFill>
                  <a:srgbClr val="FFFFFF"/>
                </a:solidFill>
                <a:latin typeface="Arial"/>
                <a:ea typeface="Arial"/>
                <a:cs typeface="Arial"/>
              </a:defRPr>
            </a:lvl5pPr>
            <a:lvl6pPr algn="l">
              <a:buNone/>
              <a:defRPr sz="2175" b="1">
                <a:solidFill>
                  <a:srgbClr val="FFFFFF"/>
                </a:solidFill>
                <a:latin typeface="Arial"/>
                <a:ea typeface="Arial"/>
                <a:cs typeface="Arial"/>
              </a:defRPr>
            </a:lvl6pPr>
            <a:lvl7pPr algn="l">
              <a:buNone/>
              <a:defRPr sz="2175" b="1">
                <a:solidFill>
                  <a:srgbClr val="FFFFFF"/>
                </a:solidFill>
                <a:latin typeface="Arial"/>
                <a:ea typeface="Arial"/>
                <a:cs typeface="Arial"/>
              </a:defRPr>
            </a:lvl7pPr>
            <a:lvl8pPr algn="l">
              <a:buNone/>
              <a:defRPr sz="2175" b="1">
                <a:solidFill>
                  <a:srgbClr val="FFFFFF"/>
                </a:solidFill>
                <a:latin typeface="Arial"/>
                <a:ea typeface="Arial"/>
                <a:cs typeface="Arial"/>
              </a:defRPr>
            </a:lvl8pPr>
            <a:lvl9pPr algn="l">
              <a:buNone/>
              <a:defRPr sz="2175" b="1">
                <a:solidFill>
                  <a:srgbClr val="FFFFFF"/>
                </a:solidFill>
                <a:latin typeface="Arial"/>
                <a:ea typeface="Arial"/>
                <a:cs typeface="Arial"/>
              </a:defRPr>
            </a:lvl9pPr>
          </a:lstStyle>
          <a:p>
            <a:pPr algn="l">
              <a:buNone/>
              <a:defRPr sz="2175" b="1">
                <a:solidFill>
                  <a:srgbClr val="FFFFFF"/>
                </a:solidFill>
                <a:latin typeface="Arial"/>
                <a:ea typeface="Arial"/>
                <a:cs typeface="Arial"/>
              </a:defRPr>
            </a:pPr>
            <a:r>
              <a:rPr sz="2175" b="1">
                <a:solidFill>
                  <a:srgbClr val="FFFFFF"/>
                </a:solidFill>
                <a:latin typeface="Arial"/>
                <a:ea typeface="Arial"/>
                <a:cs typeface="Arial"/>
              </a:rPr>
              <a:t>Stack VM</a:t>
            </a:r>
          </a:p>
        </p:txBody>
      </p:sp>
      <p:sp>
        <p:nvSpPr>
          <p:cNvPr id="24" name="Validated bytecode execution">
            <a:extLst>
              <a:ext uri="{FF2B5EF4-FFF2-40B4-BE49-F238E27FC236}">
                <a16:creationId xmlns:a16="http://schemas.microsoft.com/office/drawing/2014/main" id="{DE72FC37-2019-4A7E-AC8A-183C62064ACC}"/>
              </a:ext>
            </a:extLst>
          </p:cNvPr>
          <p:cNvSpPr>
            <a:spLocks noGrp="1"/>
          </p:cNvSpPr>
          <p:nvPr/>
        </p:nvSpPr>
        <p:spPr>
          <a:xfrm>
            <a:off x="12001500" y="6105525"/>
            <a:ext cx="2381250" cy="600075"/>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Validated bytecode execution</a:t>
            </a:r>
          </a:p>
        </p:txBody>
      </p:sp>
      <p:sp>
        <p:nvSpPr>
          <p:cNvPr id="28" name="Compilation returns stage data and diagnostics. Run add">
            <a:extLst>
              <a:ext uri="{FF2B5EF4-FFF2-40B4-BE49-F238E27FC236}">
                <a16:creationId xmlns:a16="http://schemas.microsoft.com/office/drawing/2014/main" id="{0C705776-09E1-484E-9CE4-1F8E7EA266B7}"/>
              </a:ext>
            </a:extLst>
          </p:cNvPr>
          <p:cNvSpPr>
            <a:spLocks noGrp="1"/>
          </p:cNvSpPr>
          <p:nvPr/>
        </p:nvSpPr>
        <p:spPr>
          <a:xfrm>
            <a:off x="781050" y="7410450"/>
            <a:ext cx="13620750" cy="552450"/>
          </a:xfrm>
          <a:prstGeom prst="rect">
            <a:avLst/>
          </a:prstGeom>
          <a:noFill/>
          <a:ln w="0">
            <a:noFill/>
          </a:ln>
        </p:spPr>
        <p:txBody>
          <a:bodyPr wrap="square" lIns="0" tIns="0" rIns="0" bIns="0" anchor="t">
            <a:noAutofit/>
          </a:bodyPr>
          <a:lstStyle>
            <a:defPPr algn="l">
              <a:defRPr sz="2025" b="0">
                <a:solidFill>
                  <a:srgbClr val="B5C7DE"/>
                </a:solidFill>
                <a:latin typeface="Arial"/>
                <a:ea typeface="Arial"/>
                <a:cs typeface="Arial"/>
              </a:defRPr>
            </a:defPPr>
            <a:lvl1pPr algn="l">
              <a:buNone/>
              <a:defRPr sz="2025" b="0">
                <a:solidFill>
                  <a:srgbClr val="B5C7DE"/>
                </a:solidFill>
                <a:latin typeface="Arial"/>
                <a:ea typeface="Arial"/>
                <a:cs typeface="Arial"/>
              </a:defRPr>
            </a:lvl1pPr>
            <a:lvl2pPr algn="l">
              <a:buNone/>
              <a:defRPr sz="2025" b="0">
                <a:solidFill>
                  <a:srgbClr val="B5C7DE"/>
                </a:solidFill>
                <a:latin typeface="Arial"/>
                <a:ea typeface="Arial"/>
                <a:cs typeface="Arial"/>
              </a:defRPr>
            </a:lvl2pPr>
            <a:lvl3pPr algn="l">
              <a:buNone/>
              <a:defRPr sz="2025" b="0">
                <a:solidFill>
                  <a:srgbClr val="B5C7DE"/>
                </a:solidFill>
                <a:latin typeface="Arial"/>
                <a:ea typeface="Arial"/>
                <a:cs typeface="Arial"/>
              </a:defRPr>
            </a:lvl3pPr>
            <a:lvl4pPr algn="l">
              <a:buNone/>
              <a:defRPr sz="2025" b="0">
                <a:solidFill>
                  <a:srgbClr val="B5C7DE"/>
                </a:solidFill>
                <a:latin typeface="Arial"/>
                <a:ea typeface="Arial"/>
                <a:cs typeface="Arial"/>
              </a:defRPr>
            </a:lvl4pPr>
            <a:lvl5pPr algn="l">
              <a:buNone/>
              <a:defRPr sz="2025" b="0">
                <a:solidFill>
                  <a:srgbClr val="B5C7DE"/>
                </a:solidFill>
                <a:latin typeface="Arial"/>
                <a:ea typeface="Arial"/>
                <a:cs typeface="Arial"/>
              </a:defRPr>
            </a:lvl5pPr>
            <a:lvl6pPr algn="l">
              <a:buNone/>
              <a:defRPr sz="2025" b="0">
                <a:solidFill>
                  <a:srgbClr val="B5C7DE"/>
                </a:solidFill>
                <a:latin typeface="Arial"/>
                <a:ea typeface="Arial"/>
                <a:cs typeface="Arial"/>
              </a:defRPr>
            </a:lvl6pPr>
            <a:lvl7pPr algn="l">
              <a:buNone/>
              <a:defRPr sz="2025" b="0">
                <a:solidFill>
                  <a:srgbClr val="B5C7DE"/>
                </a:solidFill>
                <a:latin typeface="Arial"/>
                <a:ea typeface="Arial"/>
                <a:cs typeface="Arial"/>
              </a:defRPr>
            </a:lvl7pPr>
            <a:lvl8pPr algn="l">
              <a:buNone/>
              <a:defRPr sz="2025" b="0">
                <a:solidFill>
                  <a:srgbClr val="B5C7DE"/>
                </a:solidFill>
                <a:latin typeface="Arial"/>
                <a:ea typeface="Arial"/>
                <a:cs typeface="Arial"/>
              </a:defRPr>
            </a:lvl8pPr>
            <a:lvl9pPr algn="l">
              <a:buNone/>
              <a:defRPr sz="2025" b="0">
                <a:solidFill>
                  <a:srgbClr val="B5C7DE"/>
                </a:solidFill>
                <a:latin typeface="Arial"/>
                <a:ea typeface="Arial"/>
                <a:cs typeface="Arial"/>
              </a:defRPr>
            </a:lvl9pPr>
          </a:lstStyle>
          <a:p>
            <a:pPr algn="l">
              <a:buNone/>
              <a:defRPr sz="2025" b="0">
                <a:solidFill>
                  <a:srgbClr val="B5C7DE"/>
                </a:solidFill>
                <a:latin typeface="Arial"/>
                <a:ea typeface="Arial"/>
                <a:cs typeface="Arial"/>
              </a:defRPr>
            </a:pPr>
            <a:r>
              <a:rPr sz="2025" b="0">
                <a:solidFill>
                  <a:srgbClr val="B5C7DE"/>
                </a:solidFill>
                <a:latin typeface="Arial"/>
                <a:ea typeface="Arial"/>
                <a:cs typeface="Arial"/>
              </a:rPr>
              <a:t>Compilation returns stage data and diagnostics. Run additionally executes the artifact.</a:t>
            </a:r>
          </a:p>
        </p:txBody>
      </p:sp>
    </p:spTree>
    <p:extLst>
      <p:ext uri="{BB962C8B-B14F-4D97-AF65-F5344CB8AC3E}">
        <p14:creationId xmlns:p14="http://schemas.microsoft.com/office/powerpoint/2010/main" val="11632860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D31"/>
        </a:solidFill>
        <a:effectLst/>
      </p:bgPr>
    </p:bg>
    <p:spTree>
      <p:nvGrpSpPr>
        <p:cNvPr id="1" name=""/>
        <p:cNvGrpSpPr/>
        <p:nvPr/>
      </p:nvGrpSpPr>
      <p:grpSpPr>
        <a:xfrm>
          <a:off x="0" y="0"/>
          <a:ext cx="0" cy="0"/>
          <a:chOff x="0" y="0"/>
          <a:chExt cx="0" cy="0"/>
        </a:xfrm>
      </p:grpSpPr>
      <p:cxnSp>
        <p:nvCxnSpPr>
          <p:cNvPr id="34" name="Straight Arrow Connector 33">
            <a:extLst>
              <a:ext uri="{FF2B5EF4-FFF2-40B4-BE49-F238E27FC236}">
                <a16:creationId xmlns:a16="http://schemas.microsoft.com/office/drawing/2014/main" id="{557C8137-4DD4-482D-AA89-78E436EF7D0D}"/>
              </a:ext>
            </a:extLst>
          </p:cNvPr>
          <p:cNvCxnSpPr>
            <a:stCxn id="29" idx="3"/>
            <a:endCxn id="31" idx="1"/>
          </p:cNvCxnSpPr>
          <p:nvPr/>
        </p:nvCxnSpPr>
        <p:spPr>
          <a:xfrm>
            <a:off x="10953750" y="7534275"/>
            <a:ext cx="571500" cy="0"/>
          </a:xfrm>
          <a:prstGeom prst="straightConnector1">
            <a:avLst/>
          </a:prstGeom>
          <a:ln w="22860">
            <a:solidFill>
              <a:srgbClr val="76D9C3"/>
            </a:solidFill>
            <a:prstDash val="solid"/>
            <a:tailEnd type="triangle" w="sm" len="sm"/>
          </a:ln>
        </p:spPr>
      </p:cxnSp>
      <p:cxnSp>
        <p:nvCxnSpPr>
          <p:cNvPr id="33" name="Elbow Connector 32">
            <a:extLst>
              <a:ext uri="{FF2B5EF4-FFF2-40B4-BE49-F238E27FC236}">
                <a16:creationId xmlns:a16="http://schemas.microsoft.com/office/drawing/2014/main" id="{45F696FB-3742-4D0E-AD05-09DE4F837A75}"/>
              </a:ext>
            </a:extLst>
          </p:cNvPr>
          <p:cNvCxnSpPr>
            <a:stCxn id="23" idx="2"/>
            <a:endCxn id="29" idx="0"/>
          </p:cNvCxnSpPr>
          <p:nvPr/>
        </p:nvCxnSpPr>
        <p:spPr>
          <a:xfrm flipH="1">
            <a:off x="9525000" y="6477000"/>
            <a:ext cx="1762125" cy="666750"/>
          </a:xfrm>
          <a:prstGeom prst="bentConnector4">
            <a:avLst>
              <a:gd name="adj1" fmla="val 0"/>
              <a:gd name="adj2" fmla="val 50000"/>
            </a:avLst>
          </a:prstGeom>
          <a:ln w="22860">
            <a:solidFill>
              <a:srgbClr val="76D9C3"/>
            </a:solidFill>
            <a:prstDash val="solid"/>
            <a:tailEnd type="triangle" w="sm" len="sm"/>
          </a:ln>
        </p:spPr>
      </p:cxnSp>
      <p:cxnSp>
        <p:nvCxnSpPr>
          <p:cNvPr id="28" name="Elbow Connector 27">
            <a:extLst>
              <a:ext uri="{FF2B5EF4-FFF2-40B4-BE49-F238E27FC236}">
                <a16:creationId xmlns:a16="http://schemas.microsoft.com/office/drawing/2014/main" id="{44B27820-D7A7-48EF-A5D9-0ED911BFECAC}"/>
              </a:ext>
            </a:extLst>
          </p:cNvPr>
          <p:cNvCxnSpPr>
            <a:stCxn id="12" idx="3"/>
            <a:endCxn id="17" idx="1"/>
          </p:cNvCxnSpPr>
          <p:nvPr/>
        </p:nvCxnSpPr>
        <p:spPr>
          <a:xfrm flipV="1">
            <a:off x="6667500" y="3381375"/>
            <a:ext cx="1428750" cy="2571750"/>
          </a:xfrm>
          <a:prstGeom prst="bentConnector3">
            <a:avLst>
              <a:gd name="adj1" fmla="val 50000"/>
            </a:avLst>
          </a:prstGeom>
          <a:ln w="22860">
            <a:solidFill>
              <a:srgbClr val="76D9C3"/>
            </a:solidFill>
            <a:prstDash val="solid"/>
            <a:tailEnd type="triangle" w="sm" len="sm"/>
          </a:ln>
        </p:spPr>
      </p:cxnSp>
      <p:cxnSp>
        <p:nvCxnSpPr>
          <p:cNvPr id="27" name="Straight Arrow Connector 26">
            <a:extLst>
              <a:ext uri="{FF2B5EF4-FFF2-40B4-BE49-F238E27FC236}">
                <a16:creationId xmlns:a16="http://schemas.microsoft.com/office/drawing/2014/main" id="{27259ACC-7FCB-4E76-91F7-B8050223D24B}"/>
              </a:ext>
            </a:extLst>
          </p:cNvPr>
          <p:cNvCxnSpPr>
            <a:stCxn id="20" idx="2"/>
            <a:endCxn id="23" idx="0"/>
          </p:cNvCxnSpPr>
          <p:nvPr/>
        </p:nvCxnSpPr>
        <p:spPr>
          <a:xfrm>
            <a:off x="11287125" y="5191125"/>
            <a:ext cx="0" cy="238125"/>
          </a:xfrm>
          <a:prstGeom prst="straightConnector1">
            <a:avLst/>
          </a:prstGeom>
          <a:ln w="22860">
            <a:solidFill>
              <a:srgbClr val="76D9C3"/>
            </a:solidFill>
            <a:prstDash val="solid"/>
            <a:tailEnd type="triangle" w="sm" len="sm"/>
          </a:ln>
        </p:spPr>
      </p:cxnSp>
      <p:cxnSp>
        <p:nvCxnSpPr>
          <p:cNvPr id="26" name="Straight Arrow Connector 25">
            <a:extLst>
              <a:ext uri="{FF2B5EF4-FFF2-40B4-BE49-F238E27FC236}">
                <a16:creationId xmlns:a16="http://schemas.microsoft.com/office/drawing/2014/main" id="{C63B254E-EC80-4454-88AF-80925205280F}"/>
              </a:ext>
            </a:extLst>
          </p:cNvPr>
          <p:cNvCxnSpPr>
            <a:stCxn id="17" idx="2"/>
            <a:endCxn id="20" idx="0"/>
          </p:cNvCxnSpPr>
          <p:nvPr/>
        </p:nvCxnSpPr>
        <p:spPr>
          <a:xfrm>
            <a:off x="11287125" y="3905250"/>
            <a:ext cx="0" cy="238125"/>
          </a:xfrm>
          <a:prstGeom prst="straightConnector1">
            <a:avLst/>
          </a:prstGeom>
          <a:ln w="22860">
            <a:solidFill>
              <a:srgbClr val="76D9C3"/>
            </a:solidFill>
            <a:prstDash val="solid"/>
            <a:tailEnd type="triangle" w="sm" len="sm"/>
          </a:ln>
        </p:spPr>
      </p:cxnSp>
      <p:cxnSp>
        <p:nvCxnSpPr>
          <p:cNvPr id="16" name="Straight Arrow Connector 15">
            <a:extLst>
              <a:ext uri="{FF2B5EF4-FFF2-40B4-BE49-F238E27FC236}">
                <a16:creationId xmlns:a16="http://schemas.microsoft.com/office/drawing/2014/main" id="{9A9F1052-2766-4392-B64F-CEC809AA40D5}"/>
              </a:ext>
            </a:extLst>
          </p:cNvPr>
          <p:cNvCxnSpPr>
            <a:stCxn id="9" idx="2"/>
            <a:endCxn id="12" idx="0"/>
          </p:cNvCxnSpPr>
          <p:nvPr/>
        </p:nvCxnSpPr>
        <p:spPr>
          <a:xfrm>
            <a:off x="3714750" y="5191125"/>
            <a:ext cx="0" cy="238125"/>
          </a:xfrm>
          <a:prstGeom prst="straightConnector1">
            <a:avLst/>
          </a:prstGeom>
          <a:ln w="22860">
            <a:solidFill>
              <a:srgbClr val="76D9C3"/>
            </a:solidFill>
            <a:prstDash val="solid"/>
            <a:tailEnd type="triangle" w="sm" len="sm"/>
          </a:ln>
        </p:spPr>
      </p:cxnSp>
      <p:cxnSp>
        <p:nvCxnSpPr>
          <p:cNvPr id="15" name="Straight Arrow Connector 14">
            <a:extLst>
              <a:ext uri="{FF2B5EF4-FFF2-40B4-BE49-F238E27FC236}">
                <a16:creationId xmlns:a16="http://schemas.microsoft.com/office/drawing/2014/main" id="{85285178-CFAD-4FE5-BFCE-A2AB7CE9C62E}"/>
              </a:ext>
            </a:extLst>
          </p:cNvPr>
          <p:cNvCxnSpPr>
            <a:stCxn id="6" idx="2"/>
            <a:endCxn id="9" idx="0"/>
          </p:cNvCxnSpPr>
          <p:nvPr/>
        </p:nvCxnSpPr>
        <p:spPr>
          <a:xfrm>
            <a:off x="3714750" y="3905250"/>
            <a:ext cx="0" cy="238125"/>
          </a:xfrm>
          <a:prstGeom prst="straightConnector1">
            <a:avLst/>
          </a:prstGeom>
          <a:ln w="22860">
            <a:solidFill>
              <a:srgbClr val="76D9C3"/>
            </a:solidFill>
            <a:prstDash val="solid"/>
            <a:tailEnd type="triangle" w="sm" len="sm"/>
          </a:ln>
        </p:spPr>
      </p:cxnSp>
      <p:sp>
        <p:nvSpPr>
          <p:cNvPr id="36" name="Compiler architecture">
            <a:extLst>
              <a:ext uri="{FF2B5EF4-FFF2-40B4-BE49-F238E27FC236}">
                <a16:creationId xmlns:a16="http://schemas.microsoft.com/office/drawing/2014/main" id="{93BBABC6-F056-48CB-9F1B-15186C117455}"/>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FFFFFF"/>
                </a:solidFill>
                <a:latin typeface="Arial"/>
                <a:ea typeface="Arial"/>
                <a:cs typeface="Arial"/>
              </a:defRPr>
            </a:defPPr>
            <a:lvl1pPr algn="l">
              <a:buNone/>
              <a:defRPr sz="4350" b="1">
                <a:solidFill>
                  <a:srgbClr val="FFFFFF"/>
                </a:solidFill>
                <a:latin typeface="Arial"/>
                <a:ea typeface="Arial"/>
                <a:cs typeface="Arial"/>
              </a:defRPr>
            </a:lvl1pPr>
            <a:lvl2pPr algn="l">
              <a:buNone/>
              <a:defRPr sz="4350" b="1">
                <a:solidFill>
                  <a:srgbClr val="FFFFFF"/>
                </a:solidFill>
                <a:latin typeface="Arial"/>
                <a:ea typeface="Arial"/>
                <a:cs typeface="Arial"/>
              </a:defRPr>
            </a:lvl2pPr>
            <a:lvl3pPr algn="l">
              <a:buNone/>
              <a:defRPr sz="4350" b="1">
                <a:solidFill>
                  <a:srgbClr val="FFFFFF"/>
                </a:solidFill>
                <a:latin typeface="Arial"/>
                <a:ea typeface="Arial"/>
                <a:cs typeface="Arial"/>
              </a:defRPr>
            </a:lvl3pPr>
            <a:lvl4pPr algn="l">
              <a:buNone/>
              <a:defRPr sz="4350" b="1">
                <a:solidFill>
                  <a:srgbClr val="FFFFFF"/>
                </a:solidFill>
                <a:latin typeface="Arial"/>
                <a:ea typeface="Arial"/>
                <a:cs typeface="Arial"/>
              </a:defRPr>
            </a:lvl4pPr>
            <a:lvl5pPr algn="l">
              <a:buNone/>
              <a:defRPr sz="4350" b="1">
                <a:solidFill>
                  <a:srgbClr val="FFFFFF"/>
                </a:solidFill>
                <a:latin typeface="Arial"/>
                <a:ea typeface="Arial"/>
                <a:cs typeface="Arial"/>
              </a:defRPr>
            </a:lvl5pPr>
            <a:lvl6pPr algn="l">
              <a:buNone/>
              <a:defRPr sz="4350" b="1">
                <a:solidFill>
                  <a:srgbClr val="FFFFFF"/>
                </a:solidFill>
                <a:latin typeface="Arial"/>
                <a:ea typeface="Arial"/>
                <a:cs typeface="Arial"/>
              </a:defRPr>
            </a:lvl6pPr>
            <a:lvl7pPr algn="l">
              <a:buNone/>
              <a:defRPr sz="4350" b="1">
                <a:solidFill>
                  <a:srgbClr val="FFFFFF"/>
                </a:solidFill>
                <a:latin typeface="Arial"/>
                <a:ea typeface="Arial"/>
                <a:cs typeface="Arial"/>
              </a:defRPr>
            </a:lvl7pPr>
            <a:lvl8pPr algn="l">
              <a:buNone/>
              <a:defRPr sz="4350" b="1">
                <a:solidFill>
                  <a:srgbClr val="FFFFFF"/>
                </a:solidFill>
                <a:latin typeface="Arial"/>
                <a:ea typeface="Arial"/>
                <a:cs typeface="Arial"/>
              </a:defRPr>
            </a:lvl8pPr>
            <a:lvl9pPr algn="l">
              <a:buNone/>
              <a:defRPr sz="4350" b="1">
                <a:solidFill>
                  <a:srgbClr val="FFFFFF"/>
                </a:solidFill>
                <a:latin typeface="Arial"/>
                <a:ea typeface="Arial"/>
                <a:cs typeface="Arial"/>
              </a:defRPr>
            </a:lvl9pPr>
          </a:lstStyle>
          <a:p>
            <a:pPr algn="l">
              <a:buNone/>
              <a:defRPr sz="4350" b="1">
                <a:solidFill>
                  <a:srgbClr val="FFFFFF"/>
                </a:solidFill>
                <a:latin typeface="Arial"/>
                <a:ea typeface="Arial"/>
                <a:cs typeface="Arial"/>
              </a:defRPr>
            </a:pPr>
            <a:r>
              <a:rPr sz="4350" b="1">
                <a:solidFill>
                  <a:srgbClr val="FFFFFF"/>
                </a:solidFill>
                <a:latin typeface="Arial"/>
                <a:ea typeface="Arial"/>
                <a:cs typeface="Arial"/>
              </a:rPr>
              <a:t>Compiler architecture</a:t>
            </a:r>
          </a:p>
        </p:txBody>
      </p:sp>
      <p:sp>
        <p:nvSpPr>
          <p:cNvPr id="2" name="Representations connect every stage of compilation">
            <a:extLst>
              <a:ext uri="{FF2B5EF4-FFF2-40B4-BE49-F238E27FC236}">
                <a16:creationId xmlns:a16="http://schemas.microsoft.com/office/drawing/2014/main" id="{839D26CD-4646-4A33-8E16-AC97D3569DAB}"/>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B5C7DE"/>
                </a:solidFill>
                <a:latin typeface="Arial"/>
                <a:ea typeface="Arial"/>
                <a:cs typeface="Arial"/>
              </a:defRPr>
            </a:defPPr>
            <a:lvl1pPr algn="l">
              <a:buNone/>
              <a:defRPr sz="2250" b="0">
                <a:solidFill>
                  <a:srgbClr val="B5C7DE"/>
                </a:solidFill>
                <a:latin typeface="Arial"/>
                <a:ea typeface="Arial"/>
                <a:cs typeface="Arial"/>
              </a:defRPr>
            </a:lvl1pPr>
            <a:lvl2pPr algn="l">
              <a:buNone/>
              <a:defRPr sz="2250" b="0">
                <a:solidFill>
                  <a:srgbClr val="B5C7DE"/>
                </a:solidFill>
                <a:latin typeface="Arial"/>
                <a:ea typeface="Arial"/>
                <a:cs typeface="Arial"/>
              </a:defRPr>
            </a:lvl2pPr>
            <a:lvl3pPr algn="l">
              <a:buNone/>
              <a:defRPr sz="2250" b="0">
                <a:solidFill>
                  <a:srgbClr val="B5C7DE"/>
                </a:solidFill>
                <a:latin typeface="Arial"/>
                <a:ea typeface="Arial"/>
                <a:cs typeface="Arial"/>
              </a:defRPr>
            </a:lvl3pPr>
            <a:lvl4pPr algn="l">
              <a:buNone/>
              <a:defRPr sz="2250" b="0">
                <a:solidFill>
                  <a:srgbClr val="B5C7DE"/>
                </a:solidFill>
                <a:latin typeface="Arial"/>
                <a:ea typeface="Arial"/>
                <a:cs typeface="Arial"/>
              </a:defRPr>
            </a:lvl4pPr>
            <a:lvl5pPr algn="l">
              <a:buNone/>
              <a:defRPr sz="2250" b="0">
                <a:solidFill>
                  <a:srgbClr val="B5C7DE"/>
                </a:solidFill>
                <a:latin typeface="Arial"/>
                <a:ea typeface="Arial"/>
                <a:cs typeface="Arial"/>
              </a:defRPr>
            </a:lvl5pPr>
            <a:lvl6pPr algn="l">
              <a:buNone/>
              <a:defRPr sz="2250" b="0">
                <a:solidFill>
                  <a:srgbClr val="B5C7DE"/>
                </a:solidFill>
                <a:latin typeface="Arial"/>
                <a:ea typeface="Arial"/>
                <a:cs typeface="Arial"/>
              </a:defRPr>
            </a:lvl6pPr>
            <a:lvl7pPr algn="l">
              <a:buNone/>
              <a:defRPr sz="2250" b="0">
                <a:solidFill>
                  <a:srgbClr val="B5C7DE"/>
                </a:solidFill>
                <a:latin typeface="Arial"/>
                <a:ea typeface="Arial"/>
                <a:cs typeface="Arial"/>
              </a:defRPr>
            </a:lvl7pPr>
            <a:lvl8pPr algn="l">
              <a:buNone/>
              <a:defRPr sz="2250" b="0">
                <a:solidFill>
                  <a:srgbClr val="B5C7DE"/>
                </a:solidFill>
                <a:latin typeface="Arial"/>
                <a:ea typeface="Arial"/>
                <a:cs typeface="Arial"/>
              </a:defRPr>
            </a:lvl8pPr>
            <a:lvl9pPr algn="l">
              <a:buNone/>
              <a:defRPr sz="2250" b="0">
                <a:solidFill>
                  <a:srgbClr val="B5C7DE"/>
                </a:solidFill>
                <a:latin typeface="Arial"/>
                <a:ea typeface="Arial"/>
                <a:cs typeface="Arial"/>
              </a:defRPr>
            </a:lvl9pPr>
          </a:lstStyle>
          <a:p>
            <a:pPr algn="l">
              <a:buNone/>
              <a:defRPr sz="2250" b="0">
                <a:solidFill>
                  <a:srgbClr val="B5C7DE"/>
                </a:solidFill>
                <a:latin typeface="Arial"/>
                <a:ea typeface="Arial"/>
                <a:cs typeface="Arial"/>
              </a:defRPr>
            </a:pPr>
            <a:r>
              <a:rPr sz="2250" b="0">
                <a:solidFill>
                  <a:srgbClr val="B5C7DE"/>
                </a:solidFill>
                <a:latin typeface="Arial"/>
                <a:ea typeface="Arial"/>
                <a:cs typeface="Arial"/>
              </a:rPr>
              <a:t>Representations connect every stage of compilation</a:t>
            </a:r>
          </a:p>
        </p:txBody>
      </p:sp>
      <p:sp>
        <p:nvSpPr>
          <p:cNvPr id="3" name="06">
            <a:extLst>
              <a:ext uri="{FF2B5EF4-FFF2-40B4-BE49-F238E27FC236}">
                <a16:creationId xmlns:a16="http://schemas.microsoft.com/office/drawing/2014/main" id="{4518F5C0-7061-49E8-B1E9-B66540E0A917}"/>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B5C7DE"/>
                </a:solidFill>
                <a:latin typeface="Arial"/>
                <a:ea typeface="Arial"/>
                <a:cs typeface="Arial"/>
              </a:defRPr>
            </a:defPPr>
            <a:lvl1pPr algn="r">
              <a:buNone/>
              <a:defRPr sz="1500" b="0">
                <a:solidFill>
                  <a:srgbClr val="B5C7DE"/>
                </a:solidFill>
                <a:latin typeface="Arial"/>
                <a:ea typeface="Arial"/>
                <a:cs typeface="Arial"/>
              </a:defRPr>
            </a:lvl1pPr>
            <a:lvl2pPr algn="r">
              <a:buNone/>
              <a:defRPr sz="1500" b="0">
                <a:solidFill>
                  <a:srgbClr val="B5C7DE"/>
                </a:solidFill>
                <a:latin typeface="Arial"/>
                <a:ea typeface="Arial"/>
                <a:cs typeface="Arial"/>
              </a:defRPr>
            </a:lvl2pPr>
            <a:lvl3pPr algn="r">
              <a:buNone/>
              <a:defRPr sz="1500" b="0">
                <a:solidFill>
                  <a:srgbClr val="B5C7DE"/>
                </a:solidFill>
                <a:latin typeface="Arial"/>
                <a:ea typeface="Arial"/>
                <a:cs typeface="Arial"/>
              </a:defRPr>
            </a:lvl3pPr>
            <a:lvl4pPr algn="r">
              <a:buNone/>
              <a:defRPr sz="1500" b="0">
                <a:solidFill>
                  <a:srgbClr val="B5C7DE"/>
                </a:solidFill>
                <a:latin typeface="Arial"/>
                <a:ea typeface="Arial"/>
                <a:cs typeface="Arial"/>
              </a:defRPr>
            </a:lvl4pPr>
            <a:lvl5pPr algn="r">
              <a:buNone/>
              <a:defRPr sz="1500" b="0">
                <a:solidFill>
                  <a:srgbClr val="B5C7DE"/>
                </a:solidFill>
                <a:latin typeface="Arial"/>
                <a:ea typeface="Arial"/>
                <a:cs typeface="Arial"/>
              </a:defRPr>
            </a:lvl5pPr>
            <a:lvl6pPr algn="r">
              <a:buNone/>
              <a:defRPr sz="1500" b="0">
                <a:solidFill>
                  <a:srgbClr val="B5C7DE"/>
                </a:solidFill>
                <a:latin typeface="Arial"/>
                <a:ea typeface="Arial"/>
                <a:cs typeface="Arial"/>
              </a:defRPr>
            </a:lvl6pPr>
            <a:lvl7pPr algn="r">
              <a:buNone/>
              <a:defRPr sz="1500" b="0">
                <a:solidFill>
                  <a:srgbClr val="B5C7DE"/>
                </a:solidFill>
                <a:latin typeface="Arial"/>
                <a:ea typeface="Arial"/>
                <a:cs typeface="Arial"/>
              </a:defRPr>
            </a:lvl7pPr>
            <a:lvl8pPr algn="r">
              <a:buNone/>
              <a:defRPr sz="1500" b="0">
                <a:solidFill>
                  <a:srgbClr val="B5C7DE"/>
                </a:solidFill>
                <a:latin typeface="Arial"/>
                <a:ea typeface="Arial"/>
                <a:cs typeface="Arial"/>
              </a:defRPr>
            </a:lvl8pPr>
            <a:lvl9pPr algn="r">
              <a:buNone/>
              <a:defRPr sz="1500" b="0">
                <a:solidFill>
                  <a:srgbClr val="B5C7DE"/>
                </a:solidFill>
                <a:latin typeface="Arial"/>
                <a:ea typeface="Arial"/>
                <a:cs typeface="Arial"/>
              </a:defRPr>
            </a:lvl9pPr>
          </a:lstStyle>
          <a:p>
            <a:pPr algn="r">
              <a:buNone/>
              <a:defRPr sz="1500" b="0">
                <a:solidFill>
                  <a:srgbClr val="B5C7DE"/>
                </a:solidFill>
                <a:latin typeface="Arial"/>
                <a:ea typeface="Arial"/>
                <a:cs typeface="Arial"/>
              </a:defRPr>
            </a:pPr>
            <a:r>
              <a:rPr sz="1500" b="0">
                <a:solidFill>
                  <a:srgbClr val="B5C7DE"/>
                </a:solidFill>
                <a:latin typeface="Arial"/>
                <a:ea typeface="Arial"/>
                <a:cs typeface="Arial"/>
              </a:rPr>
              <a:t>06</a:t>
            </a:r>
          </a:p>
        </p:txBody>
      </p:sp>
      <p:sp>
        <p:nvSpPr>
          <p:cNvPr id="4" name="FRONT END">
            <a:extLst>
              <a:ext uri="{FF2B5EF4-FFF2-40B4-BE49-F238E27FC236}">
                <a16:creationId xmlns:a16="http://schemas.microsoft.com/office/drawing/2014/main" id="{F09A9468-B6C6-4767-84F5-2AC6530880F1}"/>
              </a:ext>
            </a:extLst>
          </p:cNvPr>
          <p:cNvSpPr>
            <a:spLocks noGrp="1"/>
          </p:cNvSpPr>
          <p:nvPr/>
        </p:nvSpPr>
        <p:spPr>
          <a:xfrm>
            <a:off x="781050" y="2409825"/>
            <a:ext cx="5334000" cy="381000"/>
          </a:xfrm>
          <a:prstGeom prst="rect">
            <a:avLst/>
          </a:prstGeom>
          <a:noFill/>
          <a:ln w="0">
            <a:noFill/>
          </a:ln>
        </p:spPr>
        <p:txBody>
          <a:bodyPr wrap="square" lIns="0" tIns="0" rIns="0" bIns="0" anchor="t">
            <a:noAutofit/>
          </a:bodyPr>
          <a:lstStyle>
            <a:defPPr algn="l">
              <a:defRPr sz="2025" b="1">
                <a:solidFill>
                  <a:srgbClr val="76D9C3"/>
                </a:solidFill>
                <a:latin typeface="Arial"/>
                <a:ea typeface="Arial"/>
                <a:cs typeface="Arial"/>
              </a:defRPr>
            </a:defPPr>
            <a:lvl1pPr algn="l">
              <a:buNone/>
              <a:defRPr sz="2025" b="1">
                <a:solidFill>
                  <a:srgbClr val="76D9C3"/>
                </a:solidFill>
                <a:latin typeface="Arial"/>
                <a:ea typeface="Arial"/>
                <a:cs typeface="Arial"/>
              </a:defRPr>
            </a:lvl1pPr>
            <a:lvl2pPr algn="l">
              <a:buNone/>
              <a:defRPr sz="2025" b="1">
                <a:solidFill>
                  <a:srgbClr val="76D9C3"/>
                </a:solidFill>
                <a:latin typeface="Arial"/>
                <a:ea typeface="Arial"/>
                <a:cs typeface="Arial"/>
              </a:defRPr>
            </a:lvl2pPr>
            <a:lvl3pPr algn="l">
              <a:buNone/>
              <a:defRPr sz="2025" b="1">
                <a:solidFill>
                  <a:srgbClr val="76D9C3"/>
                </a:solidFill>
                <a:latin typeface="Arial"/>
                <a:ea typeface="Arial"/>
                <a:cs typeface="Arial"/>
              </a:defRPr>
            </a:lvl3pPr>
            <a:lvl4pPr algn="l">
              <a:buNone/>
              <a:defRPr sz="2025" b="1">
                <a:solidFill>
                  <a:srgbClr val="76D9C3"/>
                </a:solidFill>
                <a:latin typeface="Arial"/>
                <a:ea typeface="Arial"/>
                <a:cs typeface="Arial"/>
              </a:defRPr>
            </a:lvl4pPr>
            <a:lvl5pPr algn="l">
              <a:buNone/>
              <a:defRPr sz="2025" b="1">
                <a:solidFill>
                  <a:srgbClr val="76D9C3"/>
                </a:solidFill>
                <a:latin typeface="Arial"/>
                <a:ea typeface="Arial"/>
                <a:cs typeface="Arial"/>
              </a:defRPr>
            </a:lvl5pPr>
            <a:lvl6pPr algn="l">
              <a:buNone/>
              <a:defRPr sz="2025" b="1">
                <a:solidFill>
                  <a:srgbClr val="76D9C3"/>
                </a:solidFill>
                <a:latin typeface="Arial"/>
                <a:ea typeface="Arial"/>
                <a:cs typeface="Arial"/>
              </a:defRPr>
            </a:lvl6pPr>
            <a:lvl7pPr algn="l">
              <a:buNone/>
              <a:defRPr sz="2025" b="1">
                <a:solidFill>
                  <a:srgbClr val="76D9C3"/>
                </a:solidFill>
                <a:latin typeface="Arial"/>
                <a:ea typeface="Arial"/>
                <a:cs typeface="Arial"/>
              </a:defRPr>
            </a:lvl7pPr>
            <a:lvl8pPr algn="l">
              <a:buNone/>
              <a:defRPr sz="2025" b="1">
                <a:solidFill>
                  <a:srgbClr val="76D9C3"/>
                </a:solidFill>
                <a:latin typeface="Arial"/>
                <a:ea typeface="Arial"/>
                <a:cs typeface="Arial"/>
              </a:defRPr>
            </a:lvl8pPr>
            <a:lvl9pPr algn="l">
              <a:buNone/>
              <a:defRPr sz="2025" b="1">
                <a:solidFill>
                  <a:srgbClr val="76D9C3"/>
                </a:solidFill>
                <a:latin typeface="Arial"/>
                <a:ea typeface="Arial"/>
                <a:cs typeface="Arial"/>
              </a:defRPr>
            </a:lvl9pPr>
          </a:lstStyle>
          <a:p>
            <a:pPr algn="l">
              <a:buNone/>
              <a:defRPr sz="2025" b="1">
                <a:solidFill>
                  <a:srgbClr val="76D9C3"/>
                </a:solidFill>
                <a:latin typeface="Arial"/>
                <a:ea typeface="Arial"/>
                <a:cs typeface="Arial"/>
              </a:defRPr>
            </a:pPr>
            <a:r>
              <a:rPr sz="2025" b="1">
                <a:solidFill>
                  <a:srgbClr val="76D9C3"/>
                </a:solidFill>
                <a:latin typeface="Arial"/>
                <a:ea typeface="Arial"/>
                <a:cs typeface="Arial"/>
              </a:rPr>
              <a:t>FRONT END</a:t>
            </a:r>
          </a:p>
        </p:txBody>
      </p:sp>
      <p:sp>
        <p:nvSpPr>
          <p:cNvPr id="5" name="OPTIMIZATION AND BACK END">
            <a:extLst>
              <a:ext uri="{FF2B5EF4-FFF2-40B4-BE49-F238E27FC236}">
                <a16:creationId xmlns:a16="http://schemas.microsoft.com/office/drawing/2014/main" id="{F37DA10C-619A-492B-8820-5835176F4977}"/>
              </a:ext>
            </a:extLst>
          </p:cNvPr>
          <p:cNvSpPr>
            <a:spLocks noGrp="1"/>
          </p:cNvSpPr>
          <p:nvPr/>
        </p:nvSpPr>
        <p:spPr>
          <a:xfrm>
            <a:off x="8143875" y="2409825"/>
            <a:ext cx="6381750" cy="381000"/>
          </a:xfrm>
          <a:prstGeom prst="rect">
            <a:avLst/>
          </a:prstGeom>
          <a:noFill/>
          <a:ln w="0">
            <a:noFill/>
          </a:ln>
        </p:spPr>
        <p:txBody>
          <a:bodyPr wrap="square" lIns="0" tIns="0" rIns="0" bIns="0" anchor="t">
            <a:noAutofit/>
          </a:bodyPr>
          <a:lstStyle>
            <a:defPPr algn="l">
              <a:defRPr sz="2025" b="1">
                <a:solidFill>
                  <a:srgbClr val="76D9C3"/>
                </a:solidFill>
                <a:latin typeface="Arial"/>
                <a:ea typeface="Arial"/>
                <a:cs typeface="Arial"/>
              </a:defRPr>
            </a:defPPr>
            <a:lvl1pPr algn="l">
              <a:buNone/>
              <a:defRPr sz="2025" b="1">
                <a:solidFill>
                  <a:srgbClr val="76D9C3"/>
                </a:solidFill>
                <a:latin typeface="Arial"/>
                <a:ea typeface="Arial"/>
                <a:cs typeface="Arial"/>
              </a:defRPr>
            </a:lvl1pPr>
            <a:lvl2pPr algn="l">
              <a:buNone/>
              <a:defRPr sz="2025" b="1">
                <a:solidFill>
                  <a:srgbClr val="76D9C3"/>
                </a:solidFill>
                <a:latin typeface="Arial"/>
                <a:ea typeface="Arial"/>
                <a:cs typeface="Arial"/>
              </a:defRPr>
            </a:lvl2pPr>
            <a:lvl3pPr algn="l">
              <a:buNone/>
              <a:defRPr sz="2025" b="1">
                <a:solidFill>
                  <a:srgbClr val="76D9C3"/>
                </a:solidFill>
                <a:latin typeface="Arial"/>
                <a:ea typeface="Arial"/>
                <a:cs typeface="Arial"/>
              </a:defRPr>
            </a:lvl3pPr>
            <a:lvl4pPr algn="l">
              <a:buNone/>
              <a:defRPr sz="2025" b="1">
                <a:solidFill>
                  <a:srgbClr val="76D9C3"/>
                </a:solidFill>
                <a:latin typeface="Arial"/>
                <a:ea typeface="Arial"/>
                <a:cs typeface="Arial"/>
              </a:defRPr>
            </a:lvl4pPr>
            <a:lvl5pPr algn="l">
              <a:buNone/>
              <a:defRPr sz="2025" b="1">
                <a:solidFill>
                  <a:srgbClr val="76D9C3"/>
                </a:solidFill>
                <a:latin typeface="Arial"/>
                <a:ea typeface="Arial"/>
                <a:cs typeface="Arial"/>
              </a:defRPr>
            </a:lvl5pPr>
            <a:lvl6pPr algn="l">
              <a:buNone/>
              <a:defRPr sz="2025" b="1">
                <a:solidFill>
                  <a:srgbClr val="76D9C3"/>
                </a:solidFill>
                <a:latin typeface="Arial"/>
                <a:ea typeface="Arial"/>
                <a:cs typeface="Arial"/>
              </a:defRPr>
            </a:lvl6pPr>
            <a:lvl7pPr algn="l">
              <a:buNone/>
              <a:defRPr sz="2025" b="1">
                <a:solidFill>
                  <a:srgbClr val="76D9C3"/>
                </a:solidFill>
                <a:latin typeface="Arial"/>
                <a:ea typeface="Arial"/>
                <a:cs typeface="Arial"/>
              </a:defRPr>
            </a:lvl7pPr>
            <a:lvl8pPr algn="l">
              <a:buNone/>
              <a:defRPr sz="2025" b="1">
                <a:solidFill>
                  <a:srgbClr val="76D9C3"/>
                </a:solidFill>
                <a:latin typeface="Arial"/>
                <a:ea typeface="Arial"/>
                <a:cs typeface="Arial"/>
              </a:defRPr>
            </a:lvl8pPr>
            <a:lvl9pPr algn="l">
              <a:buNone/>
              <a:defRPr sz="2025" b="1">
                <a:solidFill>
                  <a:srgbClr val="76D9C3"/>
                </a:solidFill>
                <a:latin typeface="Arial"/>
                <a:ea typeface="Arial"/>
                <a:cs typeface="Arial"/>
              </a:defRPr>
            </a:lvl9pPr>
          </a:lstStyle>
          <a:p>
            <a:pPr algn="l">
              <a:buNone/>
              <a:defRPr sz="2025" b="1">
                <a:solidFill>
                  <a:srgbClr val="76D9C3"/>
                </a:solidFill>
                <a:latin typeface="Arial"/>
                <a:ea typeface="Arial"/>
                <a:cs typeface="Arial"/>
              </a:defRPr>
            </a:pPr>
            <a:r>
              <a:rPr sz="2025" b="1">
                <a:solidFill>
                  <a:srgbClr val="76D9C3"/>
                </a:solidFill>
                <a:latin typeface="Arial"/>
                <a:ea typeface="Arial"/>
                <a:cs typeface="Arial"/>
              </a:rPr>
              <a:t>OPTIMIZATION AND BACK END</a:t>
            </a:r>
          </a:p>
        </p:txBody>
      </p:sp>
      <p:sp>
        <p:nvSpPr>
          <p:cNvPr id="6" name="Lexer">
            <a:extLst>
              <a:ext uri="{FF2B5EF4-FFF2-40B4-BE49-F238E27FC236}">
                <a16:creationId xmlns:a16="http://schemas.microsoft.com/office/drawing/2014/main" id="{514799D7-B51B-4D4F-8343-E2F6596C6202}"/>
              </a:ext>
            </a:extLst>
          </p:cNvPr>
          <p:cNvSpPr>
            <a:spLocks noGrp="1"/>
          </p:cNvSpPr>
          <p:nvPr/>
        </p:nvSpPr>
        <p:spPr>
          <a:xfrm>
            <a:off x="762000" y="2857500"/>
            <a:ext cx="5905500" cy="1047750"/>
          </a:xfrm>
          <a:prstGeom prst="rect">
            <a:avLst/>
          </a:prstGeom>
          <a:solidFill>
            <a:srgbClr val="182C46"/>
          </a:solidFill>
          <a:ln w="16193">
            <a:solidFill>
              <a:srgbClr val="657D9A"/>
            </a:solidFill>
          </a:ln>
        </p:spPr>
        <p:txBody>
          <a:bodyPr/>
          <a:lstStyle/>
          <a:p>
            <a:endParaRPr lang="en-US"/>
          </a:p>
        </p:txBody>
      </p:sp>
      <p:sp>
        <p:nvSpPr>
          <p:cNvPr id="7" name="Lexer">
            <a:extLst>
              <a:ext uri="{FF2B5EF4-FFF2-40B4-BE49-F238E27FC236}">
                <a16:creationId xmlns:a16="http://schemas.microsoft.com/office/drawing/2014/main" id="{68EE7861-4E1F-43A4-B021-5C6449D54487}"/>
              </a:ext>
            </a:extLst>
          </p:cNvPr>
          <p:cNvSpPr>
            <a:spLocks noGrp="1"/>
          </p:cNvSpPr>
          <p:nvPr/>
        </p:nvSpPr>
        <p:spPr>
          <a:xfrm>
            <a:off x="952500" y="3028950"/>
            <a:ext cx="5524500" cy="533400"/>
          </a:xfrm>
          <a:prstGeom prst="rect">
            <a:avLst/>
          </a:prstGeom>
          <a:noFill/>
          <a:ln w="0">
            <a:noFill/>
          </a:ln>
        </p:spPr>
        <p:txBody>
          <a:bodyPr wrap="square" lIns="0" tIns="0" rIns="0" bIns="0" anchor="t">
            <a:noAutofit/>
          </a:bodyPr>
          <a:lstStyle>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Lexer</a:t>
            </a:r>
          </a:p>
        </p:txBody>
      </p:sp>
      <p:sp>
        <p:nvSpPr>
          <p:cNvPr id="8" name="Characters to positioned tokens">
            <a:extLst>
              <a:ext uri="{FF2B5EF4-FFF2-40B4-BE49-F238E27FC236}">
                <a16:creationId xmlns:a16="http://schemas.microsoft.com/office/drawing/2014/main" id="{7BD0E836-7EDF-42B9-AF89-EF5D90A3520E}"/>
              </a:ext>
            </a:extLst>
          </p:cNvPr>
          <p:cNvSpPr>
            <a:spLocks noGrp="1"/>
          </p:cNvSpPr>
          <p:nvPr/>
        </p:nvSpPr>
        <p:spPr>
          <a:xfrm>
            <a:off x="952500" y="3581400"/>
            <a:ext cx="5524500" cy="2667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Characters to positioned tokens</a:t>
            </a:r>
          </a:p>
        </p:txBody>
      </p:sp>
      <p:sp>
        <p:nvSpPr>
          <p:cNvPr id="9" name="Parser">
            <a:extLst>
              <a:ext uri="{FF2B5EF4-FFF2-40B4-BE49-F238E27FC236}">
                <a16:creationId xmlns:a16="http://schemas.microsoft.com/office/drawing/2014/main" id="{FB308102-F250-4918-968E-061E07C346DD}"/>
              </a:ext>
            </a:extLst>
          </p:cNvPr>
          <p:cNvSpPr>
            <a:spLocks noGrp="1"/>
          </p:cNvSpPr>
          <p:nvPr/>
        </p:nvSpPr>
        <p:spPr>
          <a:xfrm>
            <a:off x="762000" y="4143375"/>
            <a:ext cx="5905500" cy="1047750"/>
          </a:xfrm>
          <a:prstGeom prst="rect">
            <a:avLst/>
          </a:prstGeom>
          <a:solidFill>
            <a:srgbClr val="182C46"/>
          </a:solidFill>
          <a:ln w="16193">
            <a:solidFill>
              <a:srgbClr val="657D9A"/>
            </a:solidFill>
          </a:ln>
        </p:spPr>
        <p:txBody>
          <a:bodyPr/>
          <a:lstStyle/>
          <a:p>
            <a:endParaRPr lang="en-US"/>
          </a:p>
        </p:txBody>
      </p:sp>
      <p:sp>
        <p:nvSpPr>
          <p:cNvPr id="10" name="Parser">
            <a:extLst>
              <a:ext uri="{FF2B5EF4-FFF2-40B4-BE49-F238E27FC236}">
                <a16:creationId xmlns:a16="http://schemas.microsoft.com/office/drawing/2014/main" id="{E888E4A5-1F2A-40DE-BA73-ACD4F05BD5EA}"/>
              </a:ext>
            </a:extLst>
          </p:cNvPr>
          <p:cNvSpPr>
            <a:spLocks noGrp="1"/>
          </p:cNvSpPr>
          <p:nvPr/>
        </p:nvSpPr>
        <p:spPr>
          <a:xfrm>
            <a:off x="952500" y="4314825"/>
            <a:ext cx="5524500" cy="533400"/>
          </a:xfrm>
          <a:prstGeom prst="rect">
            <a:avLst/>
          </a:prstGeom>
          <a:noFill/>
          <a:ln w="0">
            <a:noFill/>
          </a:ln>
        </p:spPr>
        <p:txBody>
          <a:bodyPr wrap="square" lIns="0" tIns="0" rIns="0" bIns="0" anchor="t">
            <a:noAutofit/>
          </a:bodyPr>
          <a:lstStyle>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Parser</a:t>
            </a:r>
          </a:p>
        </p:txBody>
      </p:sp>
      <p:sp>
        <p:nvSpPr>
          <p:cNvPr id="11" name="Tokens to normalized AST">
            <a:extLst>
              <a:ext uri="{FF2B5EF4-FFF2-40B4-BE49-F238E27FC236}">
                <a16:creationId xmlns:a16="http://schemas.microsoft.com/office/drawing/2014/main" id="{8ECB9B6D-0989-407E-B5F4-569EAF4FC9DB}"/>
              </a:ext>
            </a:extLst>
          </p:cNvPr>
          <p:cNvSpPr>
            <a:spLocks noGrp="1"/>
          </p:cNvSpPr>
          <p:nvPr/>
        </p:nvSpPr>
        <p:spPr>
          <a:xfrm>
            <a:off x="952500" y="4867275"/>
            <a:ext cx="5524500" cy="2667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Tokens to normalized AST</a:t>
            </a:r>
          </a:p>
        </p:txBody>
      </p:sp>
      <p:sp>
        <p:nvSpPr>
          <p:cNvPr id="12" name="Semantic analyzer">
            <a:extLst>
              <a:ext uri="{FF2B5EF4-FFF2-40B4-BE49-F238E27FC236}">
                <a16:creationId xmlns:a16="http://schemas.microsoft.com/office/drawing/2014/main" id="{71022AC6-4387-4ACE-A13C-0DAD1911B2A0}"/>
              </a:ext>
            </a:extLst>
          </p:cNvPr>
          <p:cNvSpPr>
            <a:spLocks noGrp="1"/>
          </p:cNvSpPr>
          <p:nvPr/>
        </p:nvSpPr>
        <p:spPr>
          <a:xfrm>
            <a:off x="762000" y="5429250"/>
            <a:ext cx="5905500" cy="1047750"/>
          </a:xfrm>
          <a:prstGeom prst="rect">
            <a:avLst/>
          </a:prstGeom>
          <a:solidFill>
            <a:srgbClr val="182C46"/>
          </a:solidFill>
          <a:ln w="16193">
            <a:solidFill>
              <a:srgbClr val="657D9A"/>
            </a:solidFill>
          </a:ln>
        </p:spPr>
        <p:txBody>
          <a:bodyPr/>
          <a:lstStyle/>
          <a:p>
            <a:endParaRPr lang="en-US"/>
          </a:p>
        </p:txBody>
      </p:sp>
      <p:sp>
        <p:nvSpPr>
          <p:cNvPr id="13" name="Semantic analyzer">
            <a:extLst>
              <a:ext uri="{FF2B5EF4-FFF2-40B4-BE49-F238E27FC236}">
                <a16:creationId xmlns:a16="http://schemas.microsoft.com/office/drawing/2014/main" id="{13663EDF-C373-41FC-B096-09C7200A6F62}"/>
              </a:ext>
            </a:extLst>
          </p:cNvPr>
          <p:cNvSpPr>
            <a:spLocks noGrp="1"/>
          </p:cNvSpPr>
          <p:nvPr/>
        </p:nvSpPr>
        <p:spPr>
          <a:xfrm>
            <a:off x="952500" y="5600700"/>
            <a:ext cx="5524500" cy="533400"/>
          </a:xfrm>
          <a:prstGeom prst="rect">
            <a:avLst/>
          </a:prstGeom>
          <a:noFill/>
          <a:ln w="0">
            <a:noFill/>
          </a:ln>
        </p:spPr>
        <p:txBody>
          <a:bodyPr wrap="square" lIns="0" tIns="0" rIns="0" bIns="0" anchor="t">
            <a:noAutofit/>
          </a:bodyPr>
          <a:lstStyle>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Semantic analyzer</a:t>
            </a:r>
          </a:p>
        </p:txBody>
      </p:sp>
      <p:sp>
        <p:nvSpPr>
          <p:cNvPr id="14" name="Checked types and resolved symbols">
            <a:extLst>
              <a:ext uri="{FF2B5EF4-FFF2-40B4-BE49-F238E27FC236}">
                <a16:creationId xmlns:a16="http://schemas.microsoft.com/office/drawing/2014/main" id="{F39BF9B8-AC74-4189-A8D2-4D45E67AB6BC}"/>
              </a:ext>
            </a:extLst>
          </p:cNvPr>
          <p:cNvSpPr>
            <a:spLocks noGrp="1"/>
          </p:cNvSpPr>
          <p:nvPr/>
        </p:nvSpPr>
        <p:spPr>
          <a:xfrm>
            <a:off x="952500" y="6153150"/>
            <a:ext cx="5524500" cy="2667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Checked types and resolved symbols</a:t>
            </a:r>
          </a:p>
        </p:txBody>
      </p:sp>
      <p:sp>
        <p:nvSpPr>
          <p:cNvPr id="17" name="IR lowering">
            <a:extLst>
              <a:ext uri="{FF2B5EF4-FFF2-40B4-BE49-F238E27FC236}">
                <a16:creationId xmlns:a16="http://schemas.microsoft.com/office/drawing/2014/main" id="{5942547F-EC67-4A1E-BD79-0D12F3A3DE27}"/>
              </a:ext>
            </a:extLst>
          </p:cNvPr>
          <p:cNvSpPr>
            <a:spLocks noGrp="1"/>
          </p:cNvSpPr>
          <p:nvPr/>
        </p:nvSpPr>
        <p:spPr>
          <a:xfrm>
            <a:off x="8096250" y="2857500"/>
            <a:ext cx="6381750" cy="1047750"/>
          </a:xfrm>
          <a:prstGeom prst="rect">
            <a:avLst/>
          </a:prstGeom>
          <a:solidFill>
            <a:srgbClr val="182C46"/>
          </a:solidFill>
          <a:ln w="16193">
            <a:solidFill>
              <a:srgbClr val="657D9A"/>
            </a:solidFill>
          </a:ln>
        </p:spPr>
        <p:txBody>
          <a:bodyPr/>
          <a:lstStyle/>
          <a:p>
            <a:endParaRPr lang="en-US"/>
          </a:p>
        </p:txBody>
      </p:sp>
      <p:sp>
        <p:nvSpPr>
          <p:cNvPr id="18" name="IR lowering">
            <a:extLst>
              <a:ext uri="{FF2B5EF4-FFF2-40B4-BE49-F238E27FC236}">
                <a16:creationId xmlns:a16="http://schemas.microsoft.com/office/drawing/2014/main" id="{7C06089A-438F-4950-A00F-FDA04550131C}"/>
              </a:ext>
            </a:extLst>
          </p:cNvPr>
          <p:cNvSpPr>
            <a:spLocks noGrp="1"/>
          </p:cNvSpPr>
          <p:nvPr/>
        </p:nvSpPr>
        <p:spPr>
          <a:xfrm>
            <a:off x="8286750" y="3028950"/>
            <a:ext cx="6000750" cy="533400"/>
          </a:xfrm>
          <a:prstGeom prst="rect">
            <a:avLst/>
          </a:prstGeom>
          <a:noFill/>
          <a:ln w="0">
            <a:noFill/>
          </a:ln>
        </p:spPr>
        <p:txBody>
          <a:bodyPr wrap="square" lIns="0" tIns="0" rIns="0" bIns="0" anchor="t">
            <a:noAutofit/>
          </a:bodyPr>
          <a:lstStyle>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IR lowering</a:t>
            </a:r>
          </a:p>
        </p:txBody>
      </p:sp>
      <p:sp>
        <p:nvSpPr>
          <p:cNvPr id="19" name="Typed three-address instructions">
            <a:extLst>
              <a:ext uri="{FF2B5EF4-FFF2-40B4-BE49-F238E27FC236}">
                <a16:creationId xmlns:a16="http://schemas.microsoft.com/office/drawing/2014/main" id="{23694772-7FD6-4BAE-A2C3-F6820A7EFFA7}"/>
              </a:ext>
            </a:extLst>
          </p:cNvPr>
          <p:cNvSpPr>
            <a:spLocks noGrp="1"/>
          </p:cNvSpPr>
          <p:nvPr/>
        </p:nvSpPr>
        <p:spPr>
          <a:xfrm>
            <a:off x="8286750" y="3581400"/>
            <a:ext cx="6000750" cy="2667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Typed three-address instructions</a:t>
            </a:r>
          </a:p>
        </p:txBody>
      </p:sp>
      <p:sp>
        <p:nvSpPr>
          <p:cNvPr id="20" name="Optimizer">
            <a:extLst>
              <a:ext uri="{FF2B5EF4-FFF2-40B4-BE49-F238E27FC236}">
                <a16:creationId xmlns:a16="http://schemas.microsoft.com/office/drawing/2014/main" id="{8D950771-5C59-4B4A-9A7A-D0849AA8FFD8}"/>
              </a:ext>
            </a:extLst>
          </p:cNvPr>
          <p:cNvSpPr>
            <a:spLocks noGrp="1"/>
          </p:cNvSpPr>
          <p:nvPr/>
        </p:nvSpPr>
        <p:spPr>
          <a:xfrm>
            <a:off x="8096250" y="4143375"/>
            <a:ext cx="6381750" cy="1047750"/>
          </a:xfrm>
          <a:prstGeom prst="rect">
            <a:avLst/>
          </a:prstGeom>
          <a:solidFill>
            <a:srgbClr val="182C46"/>
          </a:solidFill>
          <a:ln w="16193">
            <a:solidFill>
              <a:srgbClr val="657D9A"/>
            </a:solidFill>
          </a:ln>
        </p:spPr>
        <p:txBody>
          <a:bodyPr/>
          <a:lstStyle/>
          <a:p>
            <a:endParaRPr lang="en-US"/>
          </a:p>
        </p:txBody>
      </p:sp>
      <p:sp>
        <p:nvSpPr>
          <p:cNvPr id="21" name="Optimizer">
            <a:extLst>
              <a:ext uri="{FF2B5EF4-FFF2-40B4-BE49-F238E27FC236}">
                <a16:creationId xmlns:a16="http://schemas.microsoft.com/office/drawing/2014/main" id="{6C3F72D3-EB32-4675-BFD6-FC4CBBE37586}"/>
              </a:ext>
            </a:extLst>
          </p:cNvPr>
          <p:cNvSpPr>
            <a:spLocks noGrp="1"/>
          </p:cNvSpPr>
          <p:nvPr/>
        </p:nvSpPr>
        <p:spPr>
          <a:xfrm>
            <a:off x="8286750" y="4314825"/>
            <a:ext cx="6000750" cy="533400"/>
          </a:xfrm>
          <a:prstGeom prst="rect">
            <a:avLst/>
          </a:prstGeom>
          <a:noFill/>
          <a:ln w="0">
            <a:noFill/>
          </a:ln>
        </p:spPr>
        <p:txBody>
          <a:bodyPr wrap="square" lIns="0" tIns="0" rIns="0" bIns="0" anchor="t">
            <a:noAutofit/>
          </a:bodyPr>
          <a:lstStyle>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Optimizer</a:t>
            </a:r>
          </a:p>
        </p:txBody>
      </p:sp>
      <p:sp>
        <p:nvSpPr>
          <p:cNvPr id="22" name="CFG, constants and liveness">
            <a:extLst>
              <a:ext uri="{FF2B5EF4-FFF2-40B4-BE49-F238E27FC236}">
                <a16:creationId xmlns:a16="http://schemas.microsoft.com/office/drawing/2014/main" id="{06E89569-5E38-4F98-AC46-40C50D9EFE9B}"/>
              </a:ext>
            </a:extLst>
          </p:cNvPr>
          <p:cNvSpPr>
            <a:spLocks noGrp="1"/>
          </p:cNvSpPr>
          <p:nvPr/>
        </p:nvSpPr>
        <p:spPr>
          <a:xfrm>
            <a:off x="8286750" y="4867275"/>
            <a:ext cx="6000750" cy="2667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CFG, constants and liveness</a:t>
            </a:r>
          </a:p>
        </p:txBody>
      </p:sp>
      <p:sp>
        <p:nvSpPr>
          <p:cNvPr id="23" name="Code generator">
            <a:extLst>
              <a:ext uri="{FF2B5EF4-FFF2-40B4-BE49-F238E27FC236}">
                <a16:creationId xmlns:a16="http://schemas.microsoft.com/office/drawing/2014/main" id="{E58A4B96-7C73-41A5-B354-FE40A0F4EBF3}"/>
              </a:ext>
            </a:extLst>
          </p:cNvPr>
          <p:cNvSpPr>
            <a:spLocks noGrp="1"/>
          </p:cNvSpPr>
          <p:nvPr/>
        </p:nvSpPr>
        <p:spPr>
          <a:xfrm>
            <a:off x="8096250" y="5429250"/>
            <a:ext cx="6381750" cy="1047750"/>
          </a:xfrm>
          <a:prstGeom prst="rect">
            <a:avLst/>
          </a:prstGeom>
          <a:solidFill>
            <a:srgbClr val="182C46"/>
          </a:solidFill>
          <a:ln w="16193">
            <a:solidFill>
              <a:srgbClr val="657D9A"/>
            </a:solidFill>
          </a:ln>
        </p:spPr>
        <p:txBody>
          <a:bodyPr/>
          <a:lstStyle/>
          <a:p>
            <a:endParaRPr lang="en-US"/>
          </a:p>
        </p:txBody>
      </p:sp>
      <p:sp>
        <p:nvSpPr>
          <p:cNvPr id="24" name="Code generator">
            <a:extLst>
              <a:ext uri="{FF2B5EF4-FFF2-40B4-BE49-F238E27FC236}">
                <a16:creationId xmlns:a16="http://schemas.microsoft.com/office/drawing/2014/main" id="{BE79A903-34B9-4D87-AF0B-7C6F126B0901}"/>
              </a:ext>
            </a:extLst>
          </p:cNvPr>
          <p:cNvSpPr>
            <a:spLocks noGrp="1"/>
          </p:cNvSpPr>
          <p:nvPr/>
        </p:nvSpPr>
        <p:spPr>
          <a:xfrm>
            <a:off x="8286750" y="5600700"/>
            <a:ext cx="6000750" cy="533400"/>
          </a:xfrm>
          <a:prstGeom prst="rect">
            <a:avLst/>
          </a:prstGeom>
          <a:noFill/>
          <a:ln w="0">
            <a:noFill/>
          </a:ln>
        </p:spPr>
        <p:txBody>
          <a:bodyPr wrap="square" lIns="0" tIns="0" rIns="0" bIns="0" anchor="t">
            <a:noAutofit/>
          </a:bodyPr>
          <a:lstStyle>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Code generator</a:t>
            </a:r>
          </a:p>
        </p:txBody>
      </p:sp>
      <p:sp>
        <p:nvSpPr>
          <p:cNvPr id="25" name="Stack bytecode and patched jumps">
            <a:extLst>
              <a:ext uri="{FF2B5EF4-FFF2-40B4-BE49-F238E27FC236}">
                <a16:creationId xmlns:a16="http://schemas.microsoft.com/office/drawing/2014/main" id="{17D78578-6523-443D-BF06-9E7A5A9B17DD}"/>
              </a:ext>
            </a:extLst>
          </p:cNvPr>
          <p:cNvSpPr>
            <a:spLocks noGrp="1"/>
          </p:cNvSpPr>
          <p:nvPr/>
        </p:nvSpPr>
        <p:spPr>
          <a:xfrm>
            <a:off x="8286750" y="6153150"/>
            <a:ext cx="6000750" cy="266700"/>
          </a:xfrm>
          <a:prstGeom prst="rect">
            <a:avLst/>
          </a:prstGeom>
          <a:noFill/>
          <a:ln w="0">
            <a:noFill/>
          </a:ln>
        </p:spPr>
        <p:txBody>
          <a:bodyPr wrap="square" lIns="0" tIns="0" rIns="0" bIns="0" anchor="t">
            <a:noAutofit/>
          </a:bodyPr>
          <a:lstStyle>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a:pPr algn="l">
              <a:buNone/>
              <a:defRPr sz="1875" b="0">
                <a:solidFill>
                  <a:srgbClr val="B5C7DE"/>
                </a:solidFill>
                <a:latin typeface="Arial"/>
                <a:ea typeface="Arial"/>
                <a:cs typeface="Arial"/>
              </a:defRPr>
            </a:pPr>
            <a:r>
              <a:rPr sz="1875" b="0">
                <a:solidFill>
                  <a:srgbClr val="B5C7DE"/>
                </a:solidFill>
                <a:latin typeface="Arial"/>
                <a:ea typeface="Arial"/>
                <a:cs typeface="Arial"/>
              </a:rPr>
              <a:t>Stack bytecode and patched jumps</a:t>
            </a:r>
          </a:p>
        </p:txBody>
      </p:sp>
      <p:sp>
        <p:nvSpPr>
          <p:cNvPr id="29" name="Validated .pbc">
            <a:extLst>
              <a:ext uri="{FF2B5EF4-FFF2-40B4-BE49-F238E27FC236}">
                <a16:creationId xmlns:a16="http://schemas.microsoft.com/office/drawing/2014/main" id="{B23EB1CF-778E-46CF-B80B-48A74C789CB1}"/>
              </a:ext>
            </a:extLst>
          </p:cNvPr>
          <p:cNvSpPr>
            <a:spLocks noGrp="1"/>
          </p:cNvSpPr>
          <p:nvPr/>
        </p:nvSpPr>
        <p:spPr>
          <a:xfrm>
            <a:off x="8096250" y="7143750"/>
            <a:ext cx="2857500" cy="781050"/>
          </a:xfrm>
          <a:prstGeom prst="rect">
            <a:avLst/>
          </a:prstGeom>
          <a:solidFill>
            <a:srgbClr val="182C46"/>
          </a:solidFill>
          <a:ln w="16193">
            <a:solidFill>
              <a:srgbClr val="657D9A"/>
            </a:solidFill>
          </a:ln>
        </p:spPr>
        <p:txBody>
          <a:bodyPr/>
          <a:lstStyle/>
          <a:p>
            <a:endParaRPr lang="en-US"/>
          </a:p>
        </p:txBody>
      </p:sp>
      <p:sp>
        <p:nvSpPr>
          <p:cNvPr id="30" name="Validated .pbc">
            <a:extLst>
              <a:ext uri="{FF2B5EF4-FFF2-40B4-BE49-F238E27FC236}">
                <a16:creationId xmlns:a16="http://schemas.microsoft.com/office/drawing/2014/main" id="{A9762DB2-535C-4151-8457-1E4C64DCEE7D}"/>
              </a:ext>
            </a:extLst>
          </p:cNvPr>
          <p:cNvSpPr>
            <a:spLocks noGrp="1"/>
          </p:cNvSpPr>
          <p:nvPr/>
        </p:nvSpPr>
        <p:spPr>
          <a:xfrm>
            <a:off x="8286750" y="7315200"/>
            <a:ext cx="2476500" cy="533400"/>
          </a:xfrm>
          <a:prstGeom prst="rect">
            <a:avLst/>
          </a:prstGeom>
          <a:noFill/>
          <a:ln w="0">
            <a:noFill/>
          </a:ln>
        </p:spPr>
        <p:txBody>
          <a:bodyPr wrap="square" lIns="0" tIns="0" rIns="0" bIns="0" anchor="t">
            <a:noAutofit/>
          </a:bodyPr>
          <a:lstStyle>
            <a:defPPr algn="l">
              <a:defRPr sz="2100" b="1">
                <a:solidFill>
                  <a:srgbClr val="FFFFFF"/>
                </a:solidFill>
                <a:latin typeface="Arial"/>
                <a:ea typeface="Arial"/>
                <a:cs typeface="Arial"/>
              </a:defRPr>
            </a:defPPr>
            <a:lvl1pPr algn="l">
              <a:buNone/>
              <a:defRPr sz="2100" b="1">
                <a:solidFill>
                  <a:srgbClr val="FFFFFF"/>
                </a:solidFill>
                <a:latin typeface="Arial"/>
                <a:ea typeface="Arial"/>
                <a:cs typeface="Arial"/>
              </a:defRPr>
            </a:lvl1pPr>
            <a:lvl2pPr algn="l">
              <a:buNone/>
              <a:defRPr sz="2100" b="1">
                <a:solidFill>
                  <a:srgbClr val="FFFFFF"/>
                </a:solidFill>
                <a:latin typeface="Arial"/>
                <a:ea typeface="Arial"/>
                <a:cs typeface="Arial"/>
              </a:defRPr>
            </a:lvl2pPr>
            <a:lvl3pPr algn="l">
              <a:buNone/>
              <a:defRPr sz="2100" b="1">
                <a:solidFill>
                  <a:srgbClr val="FFFFFF"/>
                </a:solidFill>
                <a:latin typeface="Arial"/>
                <a:ea typeface="Arial"/>
                <a:cs typeface="Arial"/>
              </a:defRPr>
            </a:lvl3pPr>
            <a:lvl4pPr algn="l">
              <a:buNone/>
              <a:defRPr sz="2100" b="1">
                <a:solidFill>
                  <a:srgbClr val="FFFFFF"/>
                </a:solidFill>
                <a:latin typeface="Arial"/>
                <a:ea typeface="Arial"/>
                <a:cs typeface="Arial"/>
              </a:defRPr>
            </a:lvl4pPr>
            <a:lvl5pPr algn="l">
              <a:buNone/>
              <a:defRPr sz="2100" b="1">
                <a:solidFill>
                  <a:srgbClr val="FFFFFF"/>
                </a:solidFill>
                <a:latin typeface="Arial"/>
                <a:ea typeface="Arial"/>
                <a:cs typeface="Arial"/>
              </a:defRPr>
            </a:lvl5pPr>
            <a:lvl6pPr algn="l">
              <a:buNone/>
              <a:defRPr sz="2100" b="1">
                <a:solidFill>
                  <a:srgbClr val="FFFFFF"/>
                </a:solidFill>
                <a:latin typeface="Arial"/>
                <a:ea typeface="Arial"/>
                <a:cs typeface="Arial"/>
              </a:defRPr>
            </a:lvl6pPr>
            <a:lvl7pPr algn="l">
              <a:buNone/>
              <a:defRPr sz="2100" b="1">
                <a:solidFill>
                  <a:srgbClr val="FFFFFF"/>
                </a:solidFill>
                <a:latin typeface="Arial"/>
                <a:ea typeface="Arial"/>
                <a:cs typeface="Arial"/>
              </a:defRPr>
            </a:lvl7pPr>
            <a:lvl8pPr algn="l">
              <a:buNone/>
              <a:defRPr sz="2100" b="1">
                <a:solidFill>
                  <a:srgbClr val="FFFFFF"/>
                </a:solidFill>
                <a:latin typeface="Arial"/>
                <a:ea typeface="Arial"/>
                <a:cs typeface="Arial"/>
              </a:defRPr>
            </a:lvl8pPr>
            <a:lvl9pPr algn="l">
              <a:buNone/>
              <a:defRPr sz="2100" b="1">
                <a:solidFill>
                  <a:srgbClr val="FFFFFF"/>
                </a:solidFill>
                <a:latin typeface="Arial"/>
                <a:ea typeface="Arial"/>
                <a:cs typeface="Arial"/>
              </a:defRPr>
            </a:lvl9pPr>
          </a:lstStyle>
          <a:p>
            <a:pPr algn="l">
              <a:buNone/>
              <a:defRPr sz="2100" b="1">
                <a:solidFill>
                  <a:srgbClr val="FFFFFF"/>
                </a:solidFill>
                <a:latin typeface="Arial"/>
                <a:ea typeface="Arial"/>
                <a:cs typeface="Arial"/>
              </a:defRPr>
            </a:pPr>
            <a:r>
              <a:rPr sz="2100" b="1">
                <a:solidFill>
                  <a:srgbClr val="FFFFFF"/>
                </a:solidFill>
                <a:latin typeface="Arial"/>
                <a:ea typeface="Arial"/>
                <a:cs typeface="Arial"/>
              </a:rPr>
              <a:t>Validated .pbc</a:t>
            </a:r>
          </a:p>
        </p:txBody>
      </p:sp>
      <p:sp>
        <p:nvSpPr>
          <p:cNvPr id="31" name="Stack VM + output">
            <a:extLst>
              <a:ext uri="{FF2B5EF4-FFF2-40B4-BE49-F238E27FC236}">
                <a16:creationId xmlns:a16="http://schemas.microsoft.com/office/drawing/2014/main" id="{53400FFA-9D4C-48D4-ADBA-4AF04B3BBCB8}"/>
              </a:ext>
            </a:extLst>
          </p:cNvPr>
          <p:cNvSpPr>
            <a:spLocks noGrp="1"/>
          </p:cNvSpPr>
          <p:nvPr/>
        </p:nvSpPr>
        <p:spPr>
          <a:xfrm>
            <a:off x="11525250" y="7143750"/>
            <a:ext cx="2952750" cy="781050"/>
          </a:xfrm>
          <a:prstGeom prst="rect">
            <a:avLst/>
          </a:prstGeom>
          <a:solidFill>
            <a:srgbClr val="182C46"/>
          </a:solidFill>
          <a:ln w="16193">
            <a:solidFill>
              <a:srgbClr val="657D9A"/>
            </a:solidFill>
          </a:ln>
        </p:spPr>
        <p:txBody>
          <a:bodyPr/>
          <a:lstStyle/>
          <a:p>
            <a:endParaRPr lang="en-US"/>
          </a:p>
        </p:txBody>
      </p:sp>
      <p:sp>
        <p:nvSpPr>
          <p:cNvPr id="32" name="Stack VM + output">
            <a:extLst>
              <a:ext uri="{FF2B5EF4-FFF2-40B4-BE49-F238E27FC236}">
                <a16:creationId xmlns:a16="http://schemas.microsoft.com/office/drawing/2014/main" id="{CCC0AA8E-0203-4633-81E9-D192348D3277}"/>
              </a:ext>
            </a:extLst>
          </p:cNvPr>
          <p:cNvSpPr>
            <a:spLocks noGrp="1"/>
          </p:cNvSpPr>
          <p:nvPr/>
        </p:nvSpPr>
        <p:spPr>
          <a:xfrm>
            <a:off x="11715750" y="7315200"/>
            <a:ext cx="2571750" cy="533400"/>
          </a:xfrm>
          <a:prstGeom prst="rect">
            <a:avLst/>
          </a:prstGeom>
          <a:noFill/>
          <a:ln w="0">
            <a:noFill/>
          </a:ln>
        </p:spPr>
        <p:txBody>
          <a:bodyPr wrap="square" lIns="0" tIns="0" rIns="0" bIns="0" anchor="t">
            <a:noAutofit/>
          </a:bodyPr>
          <a:lstStyle>
            <a:defPPr algn="l">
              <a:defRPr sz="2025" b="1">
                <a:solidFill>
                  <a:srgbClr val="FFFFFF"/>
                </a:solidFill>
                <a:latin typeface="Arial"/>
                <a:ea typeface="Arial"/>
                <a:cs typeface="Arial"/>
              </a:defRPr>
            </a:defPPr>
            <a:lvl1pPr algn="l">
              <a:buNone/>
              <a:defRPr sz="2025" b="1">
                <a:solidFill>
                  <a:srgbClr val="FFFFFF"/>
                </a:solidFill>
                <a:latin typeface="Arial"/>
                <a:ea typeface="Arial"/>
                <a:cs typeface="Arial"/>
              </a:defRPr>
            </a:lvl1pPr>
            <a:lvl2pPr algn="l">
              <a:buNone/>
              <a:defRPr sz="2025" b="1">
                <a:solidFill>
                  <a:srgbClr val="FFFFFF"/>
                </a:solidFill>
                <a:latin typeface="Arial"/>
                <a:ea typeface="Arial"/>
                <a:cs typeface="Arial"/>
              </a:defRPr>
            </a:lvl2pPr>
            <a:lvl3pPr algn="l">
              <a:buNone/>
              <a:defRPr sz="2025" b="1">
                <a:solidFill>
                  <a:srgbClr val="FFFFFF"/>
                </a:solidFill>
                <a:latin typeface="Arial"/>
                <a:ea typeface="Arial"/>
                <a:cs typeface="Arial"/>
              </a:defRPr>
            </a:lvl3pPr>
            <a:lvl4pPr algn="l">
              <a:buNone/>
              <a:defRPr sz="2025" b="1">
                <a:solidFill>
                  <a:srgbClr val="FFFFFF"/>
                </a:solidFill>
                <a:latin typeface="Arial"/>
                <a:ea typeface="Arial"/>
                <a:cs typeface="Arial"/>
              </a:defRPr>
            </a:lvl4pPr>
            <a:lvl5pPr algn="l">
              <a:buNone/>
              <a:defRPr sz="2025" b="1">
                <a:solidFill>
                  <a:srgbClr val="FFFFFF"/>
                </a:solidFill>
                <a:latin typeface="Arial"/>
                <a:ea typeface="Arial"/>
                <a:cs typeface="Arial"/>
              </a:defRPr>
            </a:lvl5pPr>
            <a:lvl6pPr algn="l">
              <a:buNone/>
              <a:defRPr sz="2025" b="1">
                <a:solidFill>
                  <a:srgbClr val="FFFFFF"/>
                </a:solidFill>
                <a:latin typeface="Arial"/>
                <a:ea typeface="Arial"/>
                <a:cs typeface="Arial"/>
              </a:defRPr>
            </a:lvl6pPr>
            <a:lvl7pPr algn="l">
              <a:buNone/>
              <a:defRPr sz="2025" b="1">
                <a:solidFill>
                  <a:srgbClr val="FFFFFF"/>
                </a:solidFill>
                <a:latin typeface="Arial"/>
                <a:ea typeface="Arial"/>
                <a:cs typeface="Arial"/>
              </a:defRPr>
            </a:lvl7pPr>
            <a:lvl8pPr algn="l">
              <a:buNone/>
              <a:defRPr sz="2025" b="1">
                <a:solidFill>
                  <a:srgbClr val="FFFFFF"/>
                </a:solidFill>
                <a:latin typeface="Arial"/>
                <a:ea typeface="Arial"/>
                <a:cs typeface="Arial"/>
              </a:defRPr>
            </a:lvl8pPr>
            <a:lvl9pPr algn="l">
              <a:buNone/>
              <a:defRPr sz="2025" b="1">
                <a:solidFill>
                  <a:srgbClr val="FFFFFF"/>
                </a:solidFill>
                <a:latin typeface="Arial"/>
                <a:ea typeface="Arial"/>
                <a:cs typeface="Arial"/>
              </a:defRPr>
            </a:lvl9pPr>
          </a:lstStyle>
          <a:p>
            <a:pPr algn="l">
              <a:buNone/>
              <a:defRPr sz="2025" b="1">
                <a:solidFill>
                  <a:srgbClr val="FFFFFF"/>
                </a:solidFill>
                <a:latin typeface="Arial"/>
                <a:ea typeface="Arial"/>
                <a:cs typeface="Arial"/>
              </a:defRPr>
            </a:pPr>
            <a:r>
              <a:rPr sz="2025" b="1">
                <a:solidFill>
                  <a:srgbClr val="FFFFFF"/>
                </a:solidFill>
                <a:latin typeface="Arial"/>
                <a:ea typeface="Arial"/>
                <a:cs typeface="Arial"/>
              </a:rPr>
              <a:t>Stack VM + output</a:t>
            </a:r>
          </a:p>
        </p:txBody>
      </p:sp>
      <p:sp>
        <p:nvSpPr>
          <p:cNvPr id="35" name="Source maps support diagnostics.">
            <a:extLst>
              <a:ext uri="{FF2B5EF4-FFF2-40B4-BE49-F238E27FC236}">
                <a16:creationId xmlns:a16="http://schemas.microsoft.com/office/drawing/2014/main" id="{43E177E4-95AE-4477-BC93-E834220FA56B}"/>
              </a:ext>
            </a:extLst>
          </p:cNvPr>
          <p:cNvSpPr>
            <a:spLocks noGrp="1"/>
          </p:cNvSpPr>
          <p:nvPr/>
        </p:nvSpPr>
        <p:spPr>
          <a:xfrm>
            <a:off x="781050" y="7286625"/>
            <a:ext cx="5905500" cy="552450"/>
          </a:xfrm>
          <a:prstGeom prst="rect">
            <a:avLst/>
          </a:prstGeom>
          <a:noFill/>
          <a:ln w="0">
            <a:noFill/>
          </a:ln>
        </p:spPr>
        <p:txBody>
          <a:bodyPr wrap="square" lIns="0" tIns="0" rIns="0" bIns="0" anchor="t">
            <a:noAutofit/>
          </a:bodyPr>
          <a:lstStyle>
            <a:defPPr algn="l">
              <a:defRPr sz="2025" b="0">
                <a:solidFill>
                  <a:srgbClr val="B5C7DE"/>
                </a:solidFill>
                <a:latin typeface="Arial"/>
                <a:ea typeface="Arial"/>
                <a:cs typeface="Arial"/>
              </a:defRPr>
            </a:defPPr>
            <a:lvl1pPr algn="l">
              <a:buNone/>
              <a:defRPr sz="2025" b="0">
                <a:solidFill>
                  <a:srgbClr val="B5C7DE"/>
                </a:solidFill>
                <a:latin typeface="Arial"/>
                <a:ea typeface="Arial"/>
                <a:cs typeface="Arial"/>
              </a:defRPr>
            </a:lvl1pPr>
            <a:lvl2pPr algn="l">
              <a:buNone/>
              <a:defRPr sz="2025" b="0">
                <a:solidFill>
                  <a:srgbClr val="B5C7DE"/>
                </a:solidFill>
                <a:latin typeface="Arial"/>
                <a:ea typeface="Arial"/>
                <a:cs typeface="Arial"/>
              </a:defRPr>
            </a:lvl2pPr>
            <a:lvl3pPr algn="l">
              <a:buNone/>
              <a:defRPr sz="2025" b="0">
                <a:solidFill>
                  <a:srgbClr val="B5C7DE"/>
                </a:solidFill>
                <a:latin typeface="Arial"/>
                <a:ea typeface="Arial"/>
                <a:cs typeface="Arial"/>
              </a:defRPr>
            </a:lvl3pPr>
            <a:lvl4pPr algn="l">
              <a:buNone/>
              <a:defRPr sz="2025" b="0">
                <a:solidFill>
                  <a:srgbClr val="B5C7DE"/>
                </a:solidFill>
                <a:latin typeface="Arial"/>
                <a:ea typeface="Arial"/>
                <a:cs typeface="Arial"/>
              </a:defRPr>
            </a:lvl4pPr>
            <a:lvl5pPr algn="l">
              <a:buNone/>
              <a:defRPr sz="2025" b="0">
                <a:solidFill>
                  <a:srgbClr val="B5C7DE"/>
                </a:solidFill>
                <a:latin typeface="Arial"/>
                <a:ea typeface="Arial"/>
                <a:cs typeface="Arial"/>
              </a:defRPr>
            </a:lvl5pPr>
            <a:lvl6pPr algn="l">
              <a:buNone/>
              <a:defRPr sz="2025" b="0">
                <a:solidFill>
                  <a:srgbClr val="B5C7DE"/>
                </a:solidFill>
                <a:latin typeface="Arial"/>
                <a:ea typeface="Arial"/>
                <a:cs typeface="Arial"/>
              </a:defRPr>
            </a:lvl6pPr>
            <a:lvl7pPr algn="l">
              <a:buNone/>
              <a:defRPr sz="2025" b="0">
                <a:solidFill>
                  <a:srgbClr val="B5C7DE"/>
                </a:solidFill>
                <a:latin typeface="Arial"/>
                <a:ea typeface="Arial"/>
                <a:cs typeface="Arial"/>
              </a:defRPr>
            </a:lvl7pPr>
            <a:lvl8pPr algn="l">
              <a:buNone/>
              <a:defRPr sz="2025" b="0">
                <a:solidFill>
                  <a:srgbClr val="B5C7DE"/>
                </a:solidFill>
                <a:latin typeface="Arial"/>
                <a:ea typeface="Arial"/>
                <a:cs typeface="Arial"/>
              </a:defRPr>
            </a:lvl8pPr>
            <a:lvl9pPr algn="l">
              <a:buNone/>
              <a:defRPr sz="2025" b="0">
                <a:solidFill>
                  <a:srgbClr val="B5C7DE"/>
                </a:solidFill>
                <a:latin typeface="Arial"/>
                <a:ea typeface="Arial"/>
                <a:cs typeface="Arial"/>
              </a:defRPr>
            </a:lvl9pPr>
          </a:lstStyle>
          <a:p>
            <a:pPr algn="l">
              <a:buNone/>
              <a:defRPr sz="2025" b="0">
                <a:solidFill>
                  <a:srgbClr val="B5C7DE"/>
                </a:solidFill>
                <a:latin typeface="Arial"/>
                <a:ea typeface="Arial"/>
                <a:cs typeface="Arial"/>
              </a:defRPr>
            </a:pPr>
            <a:r>
              <a:rPr sz="2025" b="0">
                <a:solidFill>
                  <a:srgbClr val="B5C7DE"/>
                </a:solidFill>
                <a:latin typeface="Arial"/>
                <a:ea typeface="Arial"/>
                <a:cs typeface="Arial"/>
              </a:rPr>
              <a:t>Source maps support diagnostics.</a:t>
            </a:r>
          </a:p>
        </p:txBody>
      </p:sp>
    </p:spTree>
    <p:extLst>
      <p:ext uri="{BB962C8B-B14F-4D97-AF65-F5344CB8AC3E}">
        <p14:creationId xmlns:p14="http://schemas.microsoft.com/office/powerpoint/2010/main" val="2008171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cxnSp>
        <p:nvCxnSpPr>
          <p:cNvPr id="22" name="Elbow Connector 21">
            <a:extLst>
              <a:ext uri="{FF2B5EF4-FFF2-40B4-BE49-F238E27FC236}">
                <a16:creationId xmlns:a16="http://schemas.microsoft.com/office/drawing/2014/main" id="{98275D2A-62CD-414A-906D-8E8A065AF33E}"/>
              </a:ext>
            </a:extLst>
          </p:cNvPr>
          <p:cNvCxnSpPr>
            <a:stCxn id="7" idx="3"/>
            <a:endCxn id="16" idx="1"/>
          </p:cNvCxnSpPr>
          <p:nvPr/>
        </p:nvCxnSpPr>
        <p:spPr>
          <a:xfrm>
            <a:off x="9525000" y="4048125"/>
            <a:ext cx="1428750" cy="2214563"/>
          </a:xfrm>
          <a:prstGeom prst="bentConnector3">
            <a:avLst>
              <a:gd name="adj1" fmla="val 50000"/>
            </a:avLst>
          </a:prstGeom>
          <a:ln w="22860">
            <a:solidFill>
              <a:srgbClr val="2956D7"/>
            </a:solidFill>
            <a:prstDash val="solid"/>
            <a:tailEnd type="triangle" w="sm" len="sm"/>
          </a:ln>
        </p:spPr>
      </p:cxnSp>
      <p:cxnSp>
        <p:nvCxnSpPr>
          <p:cNvPr id="21" name="Elbow Connector 20">
            <a:extLst>
              <a:ext uri="{FF2B5EF4-FFF2-40B4-BE49-F238E27FC236}">
                <a16:creationId xmlns:a16="http://schemas.microsoft.com/office/drawing/2014/main" id="{EDA3F5D9-B76F-41D8-A759-0437FCD4770F}"/>
              </a:ext>
            </a:extLst>
          </p:cNvPr>
          <p:cNvCxnSpPr>
            <a:stCxn id="7" idx="3"/>
            <a:endCxn id="13" idx="1"/>
          </p:cNvCxnSpPr>
          <p:nvPr/>
        </p:nvCxnSpPr>
        <p:spPr>
          <a:xfrm>
            <a:off x="9525000" y="4048125"/>
            <a:ext cx="1428750" cy="500063"/>
          </a:xfrm>
          <a:prstGeom prst="bentConnector3">
            <a:avLst>
              <a:gd name="adj1" fmla="val 50000"/>
            </a:avLst>
          </a:prstGeom>
          <a:ln w="22860">
            <a:solidFill>
              <a:srgbClr val="2956D7"/>
            </a:solidFill>
            <a:prstDash val="solid"/>
            <a:tailEnd type="triangle" w="sm" len="sm"/>
          </a:ln>
        </p:spPr>
      </p:cxnSp>
      <p:cxnSp>
        <p:nvCxnSpPr>
          <p:cNvPr id="20" name="Elbow Connector 19">
            <a:extLst>
              <a:ext uri="{FF2B5EF4-FFF2-40B4-BE49-F238E27FC236}">
                <a16:creationId xmlns:a16="http://schemas.microsoft.com/office/drawing/2014/main" id="{AD886EE3-A322-4285-A672-E9ECBFE9F83A}"/>
              </a:ext>
            </a:extLst>
          </p:cNvPr>
          <p:cNvCxnSpPr>
            <a:stCxn id="7" idx="3"/>
            <a:endCxn id="10" idx="1"/>
          </p:cNvCxnSpPr>
          <p:nvPr/>
        </p:nvCxnSpPr>
        <p:spPr>
          <a:xfrm flipV="1">
            <a:off x="9525000" y="2833688"/>
            <a:ext cx="1428750" cy="1214438"/>
          </a:xfrm>
          <a:prstGeom prst="bentConnector3">
            <a:avLst>
              <a:gd name="adj1" fmla="val 50000"/>
            </a:avLst>
          </a:prstGeom>
          <a:ln w="22860">
            <a:solidFill>
              <a:srgbClr val="2956D7"/>
            </a:solidFill>
            <a:prstDash val="solid"/>
            <a:tailEnd type="triangle" w="sm" len="sm"/>
          </a:ln>
        </p:spPr>
      </p:cxnSp>
      <p:cxnSp>
        <p:nvCxnSpPr>
          <p:cNvPr id="19" name="Straight Arrow Connector 18">
            <a:extLst>
              <a:ext uri="{FF2B5EF4-FFF2-40B4-BE49-F238E27FC236}">
                <a16:creationId xmlns:a16="http://schemas.microsoft.com/office/drawing/2014/main" id="{690329FC-D192-4EC0-BF50-7CDA260F471A}"/>
              </a:ext>
            </a:extLst>
          </p:cNvPr>
          <p:cNvCxnSpPr>
            <a:stCxn id="4" idx="3"/>
            <a:endCxn id="7" idx="1"/>
          </p:cNvCxnSpPr>
          <p:nvPr/>
        </p:nvCxnSpPr>
        <p:spPr>
          <a:xfrm>
            <a:off x="4000500" y="4048125"/>
            <a:ext cx="1238250" cy="0"/>
          </a:xfrm>
          <a:prstGeom prst="straightConnector1">
            <a:avLst/>
          </a:prstGeom>
          <a:ln w="22860">
            <a:solidFill>
              <a:srgbClr val="2956D7"/>
            </a:solidFill>
            <a:prstDash val="solid"/>
            <a:tailEnd type="triangle" w="sm" len="sm"/>
          </a:ln>
        </p:spPr>
      </p:cxnSp>
      <p:sp>
        <p:nvSpPr>
          <p:cNvPr id="24" name="Syntax recognition inside the parser">
            <a:extLst>
              <a:ext uri="{FF2B5EF4-FFF2-40B4-BE49-F238E27FC236}">
                <a16:creationId xmlns:a16="http://schemas.microsoft.com/office/drawing/2014/main" id="{C315853A-79B4-4E12-B2AB-FE5466F77C5B}"/>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Syntax recognition inside the parser</a:t>
            </a:r>
          </a:p>
        </p:txBody>
      </p:sp>
      <p:sp>
        <p:nvSpPr>
          <p:cNvPr id="2" name="Leading tokens and bounded lookahead guide grammar disp">
            <a:extLst>
              <a:ext uri="{FF2B5EF4-FFF2-40B4-BE49-F238E27FC236}">
                <a16:creationId xmlns:a16="http://schemas.microsoft.com/office/drawing/2014/main" id="{9346A3A9-6814-4F71-A0A6-134C4CCFD641}"/>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Leading tokens and bounded lookahead guide grammar dispatch</a:t>
            </a:r>
          </a:p>
        </p:txBody>
      </p:sp>
      <p:sp>
        <p:nvSpPr>
          <p:cNvPr id="3" name="07">
            <a:extLst>
              <a:ext uri="{FF2B5EF4-FFF2-40B4-BE49-F238E27FC236}">
                <a16:creationId xmlns:a16="http://schemas.microsoft.com/office/drawing/2014/main" id="{37D0A4CA-56DA-42C6-AE13-282FF14B21F5}"/>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07</a:t>
            </a:r>
          </a:p>
        </p:txBody>
      </p:sp>
      <p:sp>
        <p:nvSpPr>
          <p:cNvPr id="4" name="Token stream">
            <a:extLst>
              <a:ext uri="{FF2B5EF4-FFF2-40B4-BE49-F238E27FC236}">
                <a16:creationId xmlns:a16="http://schemas.microsoft.com/office/drawing/2014/main" id="{A03512FC-B3F2-42AF-A9BB-DEB6595EC0C9}"/>
              </a:ext>
            </a:extLst>
          </p:cNvPr>
          <p:cNvSpPr>
            <a:spLocks noGrp="1"/>
          </p:cNvSpPr>
          <p:nvPr/>
        </p:nvSpPr>
        <p:spPr>
          <a:xfrm>
            <a:off x="762000" y="3333750"/>
            <a:ext cx="3238500" cy="1428750"/>
          </a:xfrm>
          <a:prstGeom prst="rect">
            <a:avLst/>
          </a:prstGeom>
          <a:solidFill>
            <a:srgbClr val="FFFFFF"/>
          </a:solidFill>
          <a:ln w="16193">
            <a:solidFill>
              <a:srgbClr val="CDD3D9"/>
            </a:solidFill>
          </a:ln>
        </p:spPr>
        <p:txBody>
          <a:bodyPr/>
          <a:lstStyle/>
          <a:p>
            <a:endParaRPr lang="en-US"/>
          </a:p>
        </p:txBody>
      </p:sp>
      <p:sp>
        <p:nvSpPr>
          <p:cNvPr id="5" name="Token stream">
            <a:extLst>
              <a:ext uri="{FF2B5EF4-FFF2-40B4-BE49-F238E27FC236}">
                <a16:creationId xmlns:a16="http://schemas.microsoft.com/office/drawing/2014/main" id="{B72EF9C9-1C37-4B08-AA83-6508B295F480}"/>
              </a:ext>
            </a:extLst>
          </p:cNvPr>
          <p:cNvSpPr>
            <a:spLocks noGrp="1"/>
          </p:cNvSpPr>
          <p:nvPr/>
        </p:nvSpPr>
        <p:spPr>
          <a:xfrm>
            <a:off x="952500" y="3505200"/>
            <a:ext cx="285750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Token stream</a:t>
            </a:r>
          </a:p>
        </p:txBody>
      </p:sp>
      <p:sp>
        <p:nvSpPr>
          <p:cNvPr id="6" name="NAME, operators, literals, newlines">
            <a:extLst>
              <a:ext uri="{FF2B5EF4-FFF2-40B4-BE49-F238E27FC236}">
                <a16:creationId xmlns:a16="http://schemas.microsoft.com/office/drawing/2014/main" id="{526153E1-DEC1-426E-AC57-8FB283FB072D}"/>
              </a:ext>
            </a:extLst>
          </p:cNvPr>
          <p:cNvSpPr>
            <a:spLocks noGrp="1"/>
          </p:cNvSpPr>
          <p:nvPr/>
        </p:nvSpPr>
        <p:spPr>
          <a:xfrm>
            <a:off x="952500" y="4057650"/>
            <a:ext cx="2857500" cy="64770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NAME, operators, literals, newlines</a:t>
            </a:r>
          </a:p>
        </p:txBody>
      </p:sp>
      <p:sp>
        <p:nvSpPr>
          <p:cNvPr id="7" name="Grammar dispatch">
            <a:extLst>
              <a:ext uri="{FF2B5EF4-FFF2-40B4-BE49-F238E27FC236}">
                <a16:creationId xmlns:a16="http://schemas.microsoft.com/office/drawing/2014/main" id="{764E01C1-2797-4FDA-919B-D04B37F3CB62}"/>
              </a:ext>
            </a:extLst>
          </p:cNvPr>
          <p:cNvSpPr>
            <a:spLocks noGrp="1"/>
          </p:cNvSpPr>
          <p:nvPr/>
        </p:nvSpPr>
        <p:spPr>
          <a:xfrm>
            <a:off x="5238750" y="3333750"/>
            <a:ext cx="4286250" cy="1428750"/>
          </a:xfrm>
          <a:prstGeom prst="rect">
            <a:avLst/>
          </a:prstGeom>
          <a:solidFill>
            <a:srgbClr val="DDF2EC"/>
          </a:solidFill>
          <a:ln w="16193">
            <a:solidFill>
              <a:srgbClr val="147B70"/>
            </a:solidFill>
          </a:ln>
        </p:spPr>
        <p:txBody>
          <a:bodyPr/>
          <a:lstStyle/>
          <a:p>
            <a:endParaRPr lang="en-US"/>
          </a:p>
        </p:txBody>
      </p:sp>
      <p:sp>
        <p:nvSpPr>
          <p:cNvPr id="8" name="Grammar dispatch">
            <a:extLst>
              <a:ext uri="{FF2B5EF4-FFF2-40B4-BE49-F238E27FC236}">
                <a16:creationId xmlns:a16="http://schemas.microsoft.com/office/drawing/2014/main" id="{46974C07-F9AE-48F8-BC77-9143A37E1D0D}"/>
              </a:ext>
            </a:extLst>
          </p:cNvPr>
          <p:cNvSpPr>
            <a:spLocks noGrp="1"/>
          </p:cNvSpPr>
          <p:nvPr/>
        </p:nvSpPr>
        <p:spPr>
          <a:xfrm>
            <a:off x="5429250" y="3505200"/>
            <a:ext cx="390525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Grammar dispatch</a:t>
            </a:r>
          </a:p>
        </p:txBody>
      </p:sp>
      <p:sp>
        <p:nvSpPr>
          <p:cNvPr id="9" name="Distinctive prefixes or shared rules">
            <a:extLst>
              <a:ext uri="{FF2B5EF4-FFF2-40B4-BE49-F238E27FC236}">
                <a16:creationId xmlns:a16="http://schemas.microsoft.com/office/drawing/2014/main" id="{A35A8CCD-8AEF-4E79-9AA0-B09365614257}"/>
              </a:ext>
            </a:extLst>
          </p:cNvPr>
          <p:cNvSpPr>
            <a:spLocks noGrp="1"/>
          </p:cNvSpPr>
          <p:nvPr/>
        </p:nvSpPr>
        <p:spPr>
          <a:xfrm>
            <a:off x="5429250" y="4057650"/>
            <a:ext cx="3905250" cy="64770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Distinctive prefixes or shared rules</a:t>
            </a:r>
          </a:p>
        </p:txBody>
      </p:sp>
      <p:sp>
        <p:nvSpPr>
          <p:cNvPr id="10" name="Python family">
            <a:extLst>
              <a:ext uri="{FF2B5EF4-FFF2-40B4-BE49-F238E27FC236}">
                <a16:creationId xmlns:a16="http://schemas.microsoft.com/office/drawing/2014/main" id="{6C7A9AE2-00A5-433F-9DB8-22CA4198F5C2}"/>
              </a:ext>
            </a:extLst>
          </p:cNvPr>
          <p:cNvSpPr>
            <a:spLocks noGrp="1"/>
          </p:cNvSpPr>
          <p:nvPr/>
        </p:nvSpPr>
        <p:spPr>
          <a:xfrm>
            <a:off x="10953750" y="2286000"/>
            <a:ext cx="3524250" cy="1095375"/>
          </a:xfrm>
          <a:prstGeom prst="rect">
            <a:avLst/>
          </a:prstGeom>
          <a:solidFill>
            <a:srgbClr val="FFFFFF"/>
          </a:solidFill>
          <a:ln w="16193">
            <a:solidFill>
              <a:srgbClr val="CDD3D9"/>
            </a:solidFill>
          </a:ln>
        </p:spPr>
        <p:txBody>
          <a:bodyPr/>
          <a:lstStyle/>
          <a:p>
            <a:endParaRPr lang="en-US"/>
          </a:p>
        </p:txBody>
      </p:sp>
      <p:sp>
        <p:nvSpPr>
          <p:cNvPr id="11" name="Python family">
            <a:extLst>
              <a:ext uri="{FF2B5EF4-FFF2-40B4-BE49-F238E27FC236}">
                <a16:creationId xmlns:a16="http://schemas.microsoft.com/office/drawing/2014/main" id="{6331B368-F4D9-43D1-87B6-278B1B48DF04}"/>
              </a:ext>
            </a:extLst>
          </p:cNvPr>
          <p:cNvSpPr>
            <a:spLocks noGrp="1"/>
          </p:cNvSpPr>
          <p:nvPr/>
        </p:nvSpPr>
        <p:spPr>
          <a:xfrm>
            <a:off x="11144250" y="2457450"/>
            <a:ext cx="3143250" cy="533400"/>
          </a:xfrm>
          <a:prstGeom prst="rect">
            <a:avLst/>
          </a:prstGeom>
          <a:noFill/>
          <a:ln w="0">
            <a:noFill/>
          </a:ln>
        </p:spPr>
        <p:txBody>
          <a:bodyPr wrap="square" lIns="0" tIns="0" rIns="0" bIns="0" anchor="t">
            <a:noAutofit/>
          </a:bodyPr>
          <a:lstStyle>
            <a:defPPr algn="l">
              <a:defRPr sz="2175" b="1">
                <a:solidFill>
                  <a:srgbClr val="17273C"/>
                </a:solidFill>
                <a:latin typeface="Arial"/>
                <a:ea typeface="Arial"/>
                <a:cs typeface="Arial"/>
              </a:defRPr>
            </a:defPPr>
            <a:lvl1pPr algn="l">
              <a:buNone/>
              <a:defRPr sz="2175" b="1">
                <a:solidFill>
                  <a:srgbClr val="17273C"/>
                </a:solidFill>
                <a:latin typeface="Arial"/>
                <a:ea typeface="Arial"/>
                <a:cs typeface="Arial"/>
              </a:defRPr>
            </a:lvl1pPr>
            <a:lvl2pPr algn="l">
              <a:buNone/>
              <a:defRPr sz="2175" b="1">
                <a:solidFill>
                  <a:srgbClr val="17273C"/>
                </a:solidFill>
                <a:latin typeface="Arial"/>
                <a:ea typeface="Arial"/>
                <a:cs typeface="Arial"/>
              </a:defRPr>
            </a:lvl2pPr>
            <a:lvl3pPr algn="l">
              <a:buNone/>
              <a:defRPr sz="2175" b="1">
                <a:solidFill>
                  <a:srgbClr val="17273C"/>
                </a:solidFill>
                <a:latin typeface="Arial"/>
                <a:ea typeface="Arial"/>
                <a:cs typeface="Arial"/>
              </a:defRPr>
            </a:lvl3pPr>
            <a:lvl4pPr algn="l">
              <a:buNone/>
              <a:defRPr sz="2175" b="1">
                <a:solidFill>
                  <a:srgbClr val="17273C"/>
                </a:solidFill>
                <a:latin typeface="Arial"/>
                <a:ea typeface="Arial"/>
                <a:cs typeface="Arial"/>
              </a:defRPr>
            </a:lvl4pPr>
            <a:lvl5pPr algn="l">
              <a:buNone/>
              <a:defRPr sz="2175" b="1">
                <a:solidFill>
                  <a:srgbClr val="17273C"/>
                </a:solidFill>
                <a:latin typeface="Arial"/>
                <a:ea typeface="Arial"/>
                <a:cs typeface="Arial"/>
              </a:defRPr>
            </a:lvl5pPr>
            <a:lvl6pPr algn="l">
              <a:buNone/>
              <a:defRPr sz="2175" b="1">
                <a:solidFill>
                  <a:srgbClr val="17273C"/>
                </a:solidFill>
                <a:latin typeface="Arial"/>
                <a:ea typeface="Arial"/>
                <a:cs typeface="Arial"/>
              </a:defRPr>
            </a:lvl6pPr>
            <a:lvl7pPr algn="l">
              <a:buNone/>
              <a:defRPr sz="2175" b="1">
                <a:solidFill>
                  <a:srgbClr val="17273C"/>
                </a:solidFill>
                <a:latin typeface="Arial"/>
                <a:ea typeface="Arial"/>
                <a:cs typeface="Arial"/>
              </a:defRPr>
            </a:lvl7pPr>
            <a:lvl8pPr algn="l">
              <a:buNone/>
              <a:defRPr sz="2175" b="1">
                <a:solidFill>
                  <a:srgbClr val="17273C"/>
                </a:solidFill>
                <a:latin typeface="Arial"/>
                <a:ea typeface="Arial"/>
                <a:cs typeface="Arial"/>
              </a:defRPr>
            </a:lvl8pPr>
            <a:lvl9pPr algn="l">
              <a:buNone/>
              <a:defRPr sz="2175" b="1">
                <a:solidFill>
                  <a:srgbClr val="17273C"/>
                </a:solidFill>
                <a:latin typeface="Arial"/>
                <a:ea typeface="Arial"/>
                <a:cs typeface="Arial"/>
              </a:defRPr>
            </a:lvl9pPr>
          </a:lstStyle>
          <a:p>
            <a:pPr algn="l">
              <a:buNone/>
              <a:defRPr sz="2175" b="1">
                <a:solidFill>
                  <a:srgbClr val="17273C"/>
                </a:solidFill>
                <a:latin typeface="Arial"/>
                <a:ea typeface="Arial"/>
                <a:cs typeface="Arial"/>
              </a:defRPr>
            </a:pPr>
            <a:r>
              <a:rPr sz="2175" b="1">
                <a:solidFill>
                  <a:srgbClr val="17273C"/>
                </a:solidFill>
                <a:latin typeface="Arial"/>
                <a:ea typeface="Arial"/>
                <a:cs typeface="Arial"/>
              </a:rPr>
              <a:t>Python family</a:t>
            </a:r>
          </a:p>
        </p:txBody>
      </p:sp>
      <p:sp>
        <p:nvSpPr>
          <p:cNvPr id="12" name="def, for ... in, suites">
            <a:extLst>
              <a:ext uri="{FF2B5EF4-FFF2-40B4-BE49-F238E27FC236}">
                <a16:creationId xmlns:a16="http://schemas.microsoft.com/office/drawing/2014/main" id="{721B2D50-5DF9-49A2-9E9A-A2564FC59C4D}"/>
              </a:ext>
            </a:extLst>
          </p:cNvPr>
          <p:cNvSpPr>
            <a:spLocks noGrp="1"/>
          </p:cNvSpPr>
          <p:nvPr/>
        </p:nvSpPr>
        <p:spPr>
          <a:xfrm>
            <a:off x="11144250" y="3009900"/>
            <a:ext cx="3143250" cy="314325"/>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def, for ... in, suites</a:t>
            </a:r>
          </a:p>
        </p:txBody>
      </p:sp>
      <p:sp>
        <p:nvSpPr>
          <p:cNvPr id="13" name="C family">
            <a:extLst>
              <a:ext uri="{FF2B5EF4-FFF2-40B4-BE49-F238E27FC236}">
                <a16:creationId xmlns:a16="http://schemas.microsoft.com/office/drawing/2014/main" id="{C73D8370-F2B1-49E6-82F3-83A54278E8F3}"/>
              </a:ext>
            </a:extLst>
          </p:cNvPr>
          <p:cNvSpPr>
            <a:spLocks noGrp="1"/>
          </p:cNvSpPr>
          <p:nvPr/>
        </p:nvSpPr>
        <p:spPr>
          <a:xfrm>
            <a:off x="10953750" y="4000500"/>
            <a:ext cx="3524250" cy="1095375"/>
          </a:xfrm>
          <a:prstGeom prst="rect">
            <a:avLst/>
          </a:prstGeom>
          <a:solidFill>
            <a:srgbClr val="FFFFFF"/>
          </a:solidFill>
          <a:ln w="16193">
            <a:solidFill>
              <a:srgbClr val="CDD3D9"/>
            </a:solidFill>
          </a:ln>
        </p:spPr>
        <p:txBody>
          <a:bodyPr/>
          <a:lstStyle/>
          <a:p>
            <a:endParaRPr lang="en-US"/>
          </a:p>
        </p:txBody>
      </p:sp>
      <p:sp>
        <p:nvSpPr>
          <p:cNvPr id="14" name="C family">
            <a:extLst>
              <a:ext uri="{FF2B5EF4-FFF2-40B4-BE49-F238E27FC236}">
                <a16:creationId xmlns:a16="http://schemas.microsoft.com/office/drawing/2014/main" id="{201C3631-CD61-4EC9-9400-94DEF38A96E0}"/>
              </a:ext>
            </a:extLst>
          </p:cNvPr>
          <p:cNvSpPr>
            <a:spLocks noGrp="1"/>
          </p:cNvSpPr>
          <p:nvPr/>
        </p:nvSpPr>
        <p:spPr>
          <a:xfrm>
            <a:off x="11144250" y="4171950"/>
            <a:ext cx="3143250" cy="533400"/>
          </a:xfrm>
          <a:prstGeom prst="rect">
            <a:avLst/>
          </a:prstGeom>
          <a:noFill/>
          <a:ln w="0">
            <a:noFill/>
          </a:ln>
        </p:spPr>
        <p:txBody>
          <a:bodyPr wrap="square" lIns="0" tIns="0" rIns="0" bIns="0" anchor="t">
            <a:noAutofit/>
          </a:bodyPr>
          <a:lstStyle>
            <a:defPPr algn="l">
              <a:defRPr sz="2175" b="1">
                <a:solidFill>
                  <a:srgbClr val="17273C"/>
                </a:solidFill>
                <a:latin typeface="Arial"/>
                <a:ea typeface="Arial"/>
                <a:cs typeface="Arial"/>
              </a:defRPr>
            </a:defPPr>
            <a:lvl1pPr algn="l">
              <a:buNone/>
              <a:defRPr sz="2175" b="1">
                <a:solidFill>
                  <a:srgbClr val="17273C"/>
                </a:solidFill>
                <a:latin typeface="Arial"/>
                <a:ea typeface="Arial"/>
                <a:cs typeface="Arial"/>
              </a:defRPr>
            </a:lvl1pPr>
            <a:lvl2pPr algn="l">
              <a:buNone/>
              <a:defRPr sz="2175" b="1">
                <a:solidFill>
                  <a:srgbClr val="17273C"/>
                </a:solidFill>
                <a:latin typeface="Arial"/>
                <a:ea typeface="Arial"/>
                <a:cs typeface="Arial"/>
              </a:defRPr>
            </a:lvl2pPr>
            <a:lvl3pPr algn="l">
              <a:buNone/>
              <a:defRPr sz="2175" b="1">
                <a:solidFill>
                  <a:srgbClr val="17273C"/>
                </a:solidFill>
                <a:latin typeface="Arial"/>
                <a:ea typeface="Arial"/>
                <a:cs typeface="Arial"/>
              </a:defRPr>
            </a:lvl3pPr>
            <a:lvl4pPr algn="l">
              <a:buNone/>
              <a:defRPr sz="2175" b="1">
                <a:solidFill>
                  <a:srgbClr val="17273C"/>
                </a:solidFill>
                <a:latin typeface="Arial"/>
                <a:ea typeface="Arial"/>
                <a:cs typeface="Arial"/>
              </a:defRPr>
            </a:lvl4pPr>
            <a:lvl5pPr algn="l">
              <a:buNone/>
              <a:defRPr sz="2175" b="1">
                <a:solidFill>
                  <a:srgbClr val="17273C"/>
                </a:solidFill>
                <a:latin typeface="Arial"/>
                <a:ea typeface="Arial"/>
                <a:cs typeface="Arial"/>
              </a:defRPr>
            </a:lvl5pPr>
            <a:lvl6pPr algn="l">
              <a:buNone/>
              <a:defRPr sz="2175" b="1">
                <a:solidFill>
                  <a:srgbClr val="17273C"/>
                </a:solidFill>
                <a:latin typeface="Arial"/>
                <a:ea typeface="Arial"/>
                <a:cs typeface="Arial"/>
              </a:defRPr>
            </a:lvl6pPr>
            <a:lvl7pPr algn="l">
              <a:buNone/>
              <a:defRPr sz="2175" b="1">
                <a:solidFill>
                  <a:srgbClr val="17273C"/>
                </a:solidFill>
                <a:latin typeface="Arial"/>
                <a:ea typeface="Arial"/>
                <a:cs typeface="Arial"/>
              </a:defRPr>
            </a:lvl7pPr>
            <a:lvl8pPr algn="l">
              <a:buNone/>
              <a:defRPr sz="2175" b="1">
                <a:solidFill>
                  <a:srgbClr val="17273C"/>
                </a:solidFill>
                <a:latin typeface="Arial"/>
                <a:ea typeface="Arial"/>
                <a:cs typeface="Arial"/>
              </a:defRPr>
            </a:lvl8pPr>
            <a:lvl9pPr algn="l">
              <a:buNone/>
              <a:defRPr sz="2175" b="1">
                <a:solidFill>
                  <a:srgbClr val="17273C"/>
                </a:solidFill>
                <a:latin typeface="Arial"/>
                <a:ea typeface="Arial"/>
                <a:cs typeface="Arial"/>
              </a:defRPr>
            </a:lvl9pPr>
          </a:lstStyle>
          <a:p>
            <a:pPr algn="l">
              <a:buNone/>
              <a:defRPr sz="2175" b="1">
                <a:solidFill>
                  <a:srgbClr val="17273C"/>
                </a:solidFill>
                <a:latin typeface="Arial"/>
                <a:ea typeface="Arial"/>
                <a:cs typeface="Arial"/>
              </a:defRPr>
            </a:pPr>
            <a:r>
              <a:rPr sz="2175" b="1">
                <a:solidFill>
                  <a:srgbClr val="17273C"/>
                </a:solidFill>
                <a:latin typeface="Arial"/>
                <a:ea typeface="Arial"/>
                <a:cs typeface="Arial"/>
              </a:rPr>
              <a:t>C family</a:t>
            </a:r>
          </a:p>
        </p:txBody>
      </p:sp>
      <p:sp>
        <p:nvSpPr>
          <p:cNvPr id="15" name="types, braces, for (...)">
            <a:extLst>
              <a:ext uri="{FF2B5EF4-FFF2-40B4-BE49-F238E27FC236}">
                <a16:creationId xmlns:a16="http://schemas.microsoft.com/office/drawing/2014/main" id="{2FFC3010-A9AD-4E31-9A12-92A29F4F2850}"/>
              </a:ext>
            </a:extLst>
          </p:cNvPr>
          <p:cNvSpPr>
            <a:spLocks noGrp="1"/>
          </p:cNvSpPr>
          <p:nvPr/>
        </p:nvSpPr>
        <p:spPr>
          <a:xfrm>
            <a:off x="11144250" y="4724400"/>
            <a:ext cx="3143250" cy="314325"/>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types, braces, for (...)</a:t>
            </a:r>
          </a:p>
        </p:txBody>
      </p:sp>
      <p:sp>
        <p:nvSpPr>
          <p:cNvPr id="16" name="BASIC family">
            <a:extLst>
              <a:ext uri="{FF2B5EF4-FFF2-40B4-BE49-F238E27FC236}">
                <a16:creationId xmlns:a16="http://schemas.microsoft.com/office/drawing/2014/main" id="{3081B8B6-E3AC-401C-B998-0258CC5DBD50}"/>
              </a:ext>
            </a:extLst>
          </p:cNvPr>
          <p:cNvSpPr>
            <a:spLocks noGrp="1"/>
          </p:cNvSpPr>
          <p:nvPr/>
        </p:nvSpPr>
        <p:spPr>
          <a:xfrm>
            <a:off x="10953750" y="5715000"/>
            <a:ext cx="3524250" cy="1095375"/>
          </a:xfrm>
          <a:prstGeom prst="rect">
            <a:avLst/>
          </a:prstGeom>
          <a:solidFill>
            <a:srgbClr val="FFFFFF"/>
          </a:solidFill>
          <a:ln w="16193">
            <a:solidFill>
              <a:srgbClr val="CDD3D9"/>
            </a:solidFill>
          </a:ln>
        </p:spPr>
        <p:txBody>
          <a:bodyPr/>
          <a:lstStyle/>
          <a:p>
            <a:endParaRPr lang="en-US"/>
          </a:p>
        </p:txBody>
      </p:sp>
      <p:sp>
        <p:nvSpPr>
          <p:cNvPr id="17" name="BASIC family">
            <a:extLst>
              <a:ext uri="{FF2B5EF4-FFF2-40B4-BE49-F238E27FC236}">
                <a16:creationId xmlns:a16="http://schemas.microsoft.com/office/drawing/2014/main" id="{3F0BFBDF-7947-45DE-8A62-3DA439B5536A}"/>
              </a:ext>
            </a:extLst>
          </p:cNvPr>
          <p:cNvSpPr>
            <a:spLocks noGrp="1"/>
          </p:cNvSpPr>
          <p:nvPr/>
        </p:nvSpPr>
        <p:spPr>
          <a:xfrm>
            <a:off x="11144250" y="5886450"/>
            <a:ext cx="3143250" cy="533400"/>
          </a:xfrm>
          <a:prstGeom prst="rect">
            <a:avLst/>
          </a:prstGeom>
          <a:noFill/>
          <a:ln w="0">
            <a:noFill/>
          </a:ln>
        </p:spPr>
        <p:txBody>
          <a:bodyPr wrap="square" lIns="0" tIns="0" rIns="0" bIns="0" anchor="t">
            <a:noAutofit/>
          </a:bodyPr>
          <a:lstStyle>
            <a:defPPr algn="l">
              <a:defRPr sz="2175" b="1">
                <a:solidFill>
                  <a:srgbClr val="17273C"/>
                </a:solidFill>
                <a:latin typeface="Arial"/>
                <a:ea typeface="Arial"/>
                <a:cs typeface="Arial"/>
              </a:defRPr>
            </a:defPPr>
            <a:lvl1pPr algn="l">
              <a:buNone/>
              <a:defRPr sz="2175" b="1">
                <a:solidFill>
                  <a:srgbClr val="17273C"/>
                </a:solidFill>
                <a:latin typeface="Arial"/>
                <a:ea typeface="Arial"/>
                <a:cs typeface="Arial"/>
              </a:defRPr>
            </a:lvl1pPr>
            <a:lvl2pPr algn="l">
              <a:buNone/>
              <a:defRPr sz="2175" b="1">
                <a:solidFill>
                  <a:srgbClr val="17273C"/>
                </a:solidFill>
                <a:latin typeface="Arial"/>
                <a:ea typeface="Arial"/>
                <a:cs typeface="Arial"/>
              </a:defRPr>
            </a:lvl2pPr>
            <a:lvl3pPr algn="l">
              <a:buNone/>
              <a:defRPr sz="2175" b="1">
                <a:solidFill>
                  <a:srgbClr val="17273C"/>
                </a:solidFill>
                <a:latin typeface="Arial"/>
                <a:ea typeface="Arial"/>
                <a:cs typeface="Arial"/>
              </a:defRPr>
            </a:lvl3pPr>
            <a:lvl4pPr algn="l">
              <a:buNone/>
              <a:defRPr sz="2175" b="1">
                <a:solidFill>
                  <a:srgbClr val="17273C"/>
                </a:solidFill>
                <a:latin typeface="Arial"/>
                <a:ea typeface="Arial"/>
                <a:cs typeface="Arial"/>
              </a:defRPr>
            </a:lvl4pPr>
            <a:lvl5pPr algn="l">
              <a:buNone/>
              <a:defRPr sz="2175" b="1">
                <a:solidFill>
                  <a:srgbClr val="17273C"/>
                </a:solidFill>
                <a:latin typeface="Arial"/>
                <a:ea typeface="Arial"/>
                <a:cs typeface="Arial"/>
              </a:defRPr>
            </a:lvl5pPr>
            <a:lvl6pPr algn="l">
              <a:buNone/>
              <a:defRPr sz="2175" b="1">
                <a:solidFill>
                  <a:srgbClr val="17273C"/>
                </a:solidFill>
                <a:latin typeface="Arial"/>
                <a:ea typeface="Arial"/>
                <a:cs typeface="Arial"/>
              </a:defRPr>
            </a:lvl6pPr>
            <a:lvl7pPr algn="l">
              <a:buNone/>
              <a:defRPr sz="2175" b="1">
                <a:solidFill>
                  <a:srgbClr val="17273C"/>
                </a:solidFill>
                <a:latin typeface="Arial"/>
                <a:ea typeface="Arial"/>
                <a:cs typeface="Arial"/>
              </a:defRPr>
            </a:lvl7pPr>
            <a:lvl8pPr algn="l">
              <a:buNone/>
              <a:defRPr sz="2175" b="1">
                <a:solidFill>
                  <a:srgbClr val="17273C"/>
                </a:solidFill>
                <a:latin typeface="Arial"/>
                <a:ea typeface="Arial"/>
                <a:cs typeface="Arial"/>
              </a:defRPr>
            </a:lvl8pPr>
            <a:lvl9pPr algn="l">
              <a:buNone/>
              <a:defRPr sz="2175" b="1">
                <a:solidFill>
                  <a:srgbClr val="17273C"/>
                </a:solidFill>
                <a:latin typeface="Arial"/>
                <a:ea typeface="Arial"/>
                <a:cs typeface="Arial"/>
              </a:defRPr>
            </a:lvl9pPr>
          </a:lstStyle>
          <a:p>
            <a:pPr algn="l">
              <a:buNone/>
              <a:defRPr sz="2175" b="1">
                <a:solidFill>
                  <a:srgbClr val="17273C"/>
                </a:solidFill>
                <a:latin typeface="Arial"/>
                <a:ea typeface="Arial"/>
                <a:cs typeface="Arial"/>
              </a:defRPr>
            </a:pPr>
            <a:r>
              <a:rPr sz="2175" b="1">
                <a:solidFill>
                  <a:srgbClr val="17273C"/>
                </a:solidFill>
                <a:latin typeface="Arial"/>
                <a:ea typeface="Arial"/>
                <a:cs typeface="Arial"/>
              </a:rPr>
              <a:t>BASIC family</a:t>
            </a:r>
          </a:p>
        </p:txBody>
      </p:sp>
      <p:sp>
        <p:nvSpPr>
          <p:cNvPr id="18" name="LET and PRINT">
            <a:extLst>
              <a:ext uri="{FF2B5EF4-FFF2-40B4-BE49-F238E27FC236}">
                <a16:creationId xmlns:a16="http://schemas.microsoft.com/office/drawing/2014/main" id="{D30122C3-8CB3-4BE1-9295-02A1F038AEC1}"/>
              </a:ext>
            </a:extLst>
          </p:cNvPr>
          <p:cNvSpPr>
            <a:spLocks noGrp="1"/>
          </p:cNvSpPr>
          <p:nvPr/>
        </p:nvSpPr>
        <p:spPr>
          <a:xfrm>
            <a:off x="11144250" y="6438900"/>
            <a:ext cx="3143250" cy="314325"/>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LET and PRINT</a:t>
            </a:r>
          </a:p>
        </p:txBody>
      </p:sp>
      <p:sp>
        <p:nvSpPr>
          <p:cNvPr id="23" name="All paths use shared expression rules and create common">
            <a:extLst>
              <a:ext uri="{FF2B5EF4-FFF2-40B4-BE49-F238E27FC236}">
                <a16:creationId xmlns:a16="http://schemas.microsoft.com/office/drawing/2014/main" id="{41511560-879A-45B1-8A54-3E918F93F2DB}"/>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All paths use shared expression rules and create common AST nodes.</a:t>
            </a:r>
          </a:p>
        </p:txBody>
      </p:sp>
    </p:spTree>
    <p:extLst>
      <p:ext uri="{BB962C8B-B14F-4D97-AF65-F5344CB8AC3E}">
        <p14:creationId xmlns:p14="http://schemas.microsoft.com/office/powerpoint/2010/main" val="1873999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7" name="Lexical analysis">
            <a:extLst>
              <a:ext uri="{FF2B5EF4-FFF2-40B4-BE49-F238E27FC236}">
                <a16:creationId xmlns:a16="http://schemas.microsoft.com/office/drawing/2014/main" id="{1D5BBADE-8A91-4D5E-9710-AD399F2208FA}"/>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Lexical analysis</a:t>
            </a:r>
          </a:p>
        </p:txBody>
      </p:sp>
      <p:sp>
        <p:nvSpPr>
          <p:cNvPr id="2" name="The scanner converts characters into positioned tokens">
            <a:extLst>
              <a:ext uri="{FF2B5EF4-FFF2-40B4-BE49-F238E27FC236}">
                <a16:creationId xmlns:a16="http://schemas.microsoft.com/office/drawing/2014/main" id="{CD25D13B-76ED-447C-BE43-586CCC406432}"/>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The scanner converts characters into positioned tokens</a:t>
            </a:r>
          </a:p>
        </p:txBody>
      </p:sp>
      <p:sp>
        <p:nvSpPr>
          <p:cNvPr id="3" name="08">
            <a:extLst>
              <a:ext uri="{FF2B5EF4-FFF2-40B4-BE49-F238E27FC236}">
                <a16:creationId xmlns:a16="http://schemas.microsoft.com/office/drawing/2014/main" id="{A9EBBED8-A910-4554-95C4-750701DEFEC5}"/>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08</a:t>
            </a:r>
          </a:p>
        </p:txBody>
      </p:sp>
      <p:sp>
        <p:nvSpPr>
          <p:cNvPr id="4" name="int result = 2 + 3;">
            <a:extLst>
              <a:ext uri="{FF2B5EF4-FFF2-40B4-BE49-F238E27FC236}">
                <a16:creationId xmlns:a16="http://schemas.microsoft.com/office/drawing/2014/main" id="{0D1BC8E9-9B7A-402F-AE0F-EDFE30190F97}"/>
              </a:ext>
            </a:extLst>
          </p:cNvPr>
          <p:cNvSpPr>
            <a:spLocks noGrp="1"/>
          </p:cNvSpPr>
          <p:nvPr/>
        </p:nvSpPr>
        <p:spPr>
          <a:xfrm>
            <a:off x="781050" y="2543175"/>
            <a:ext cx="13049250" cy="571500"/>
          </a:xfrm>
          <a:prstGeom prst="rect">
            <a:avLst/>
          </a:prstGeom>
          <a:noFill/>
          <a:ln w="0">
            <a:noFill/>
          </a:ln>
        </p:spPr>
        <p:txBody>
          <a:bodyPr wrap="square" lIns="0" tIns="0" rIns="0" bIns="0" anchor="t">
            <a:noAutofit/>
          </a:bodyPr>
          <a:lstStyle>
            <a:defPPr algn="l">
              <a:defRPr sz="3450" b="0">
                <a:solidFill>
                  <a:srgbClr val="162237"/>
                </a:solidFill>
                <a:latin typeface="Courier New"/>
                <a:ea typeface="Courier New"/>
                <a:cs typeface="Courier New"/>
              </a:defRPr>
            </a:defPPr>
            <a:lvl1pPr algn="l">
              <a:buNone/>
              <a:defRPr sz="3450" b="0">
                <a:solidFill>
                  <a:srgbClr val="162237"/>
                </a:solidFill>
                <a:latin typeface="Courier New"/>
                <a:ea typeface="Courier New"/>
                <a:cs typeface="Courier New"/>
              </a:defRPr>
            </a:lvl1pPr>
            <a:lvl2pPr algn="l">
              <a:buNone/>
              <a:defRPr sz="3450" b="0">
                <a:solidFill>
                  <a:srgbClr val="162237"/>
                </a:solidFill>
                <a:latin typeface="Courier New"/>
                <a:ea typeface="Courier New"/>
                <a:cs typeface="Courier New"/>
              </a:defRPr>
            </a:lvl2pPr>
            <a:lvl3pPr algn="l">
              <a:buNone/>
              <a:defRPr sz="3450" b="0">
                <a:solidFill>
                  <a:srgbClr val="162237"/>
                </a:solidFill>
                <a:latin typeface="Courier New"/>
                <a:ea typeface="Courier New"/>
                <a:cs typeface="Courier New"/>
              </a:defRPr>
            </a:lvl3pPr>
            <a:lvl4pPr algn="l">
              <a:buNone/>
              <a:defRPr sz="3450" b="0">
                <a:solidFill>
                  <a:srgbClr val="162237"/>
                </a:solidFill>
                <a:latin typeface="Courier New"/>
                <a:ea typeface="Courier New"/>
                <a:cs typeface="Courier New"/>
              </a:defRPr>
            </a:lvl4pPr>
            <a:lvl5pPr algn="l">
              <a:buNone/>
              <a:defRPr sz="3450" b="0">
                <a:solidFill>
                  <a:srgbClr val="162237"/>
                </a:solidFill>
                <a:latin typeface="Courier New"/>
                <a:ea typeface="Courier New"/>
                <a:cs typeface="Courier New"/>
              </a:defRPr>
            </a:lvl5pPr>
            <a:lvl6pPr algn="l">
              <a:buNone/>
              <a:defRPr sz="3450" b="0">
                <a:solidFill>
                  <a:srgbClr val="162237"/>
                </a:solidFill>
                <a:latin typeface="Courier New"/>
                <a:ea typeface="Courier New"/>
                <a:cs typeface="Courier New"/>
              </a:defRPr>
            </a:lvl6pPr>
            <a:lvl7pPr algn="l">
              <a:buNone/>
              <a:defRPr sz="3450" b="0">
                <a:solidFill>
                  <a:srgbClr val="162237"/>
                </a:solidFill>
                <a:latin typeface="Courier New"/>
                <a:ea typeface="Courier New"/>
                <a:cs typeface="Courier New"/>
              </a:defRPr>
            </a:lvl7pPr>
            <a:lvl8pPr algn="l">
              <a:buNone/>
              <a:defRPr sz="3450" b="0">
                <a:solidFill>
                  <a:srgbClr val="162237"/>
                </a:solidFill>
                <a:latin typeface="Courier New"/>
                <a:ea typeface="Courier New"/>
                <a:cs typeface="Courier New"/>
              </a:defRPr>
            </a:lvl8pPr>
            <a:lvl9pPr algn="l">
              <a:buNone/>
              <a:defRPr sz="3450" b="0">
                <a:solidFill>
                  <a:srgbClr val="162237"/>
                </a:solidFill>
                <a:latin typeface="Courier New"/>
                <a:ea typeface="Courier New"/>
                <a:cs typeface="Courier New"/>
              </a:defRPr>
            </a:lvl9pPr>
          </a:lstStyle>
          <a:p>
            <a:pPr algn="l">
              <a:buNone/>
              <a:defRPr sz="3450" b="0">
                <a:solidFill>
                  <a:srgbClr val="162237"/>
                </a:solidFill>
                <a:latin typeface="Courier New"/>
                <a:ea typeface="Courier New"/>
                <a:cs typeface="Courier New"/>
              </a:defRPr>
            </a:pPr>
            <a:r>
              <a:rPr sz="3450" b="0">
                <a:solidFill>
                  <a:srgbClr val="162237"/>
                </a:solidFill>
                <a:latin typeface="Courier New"/>
                <a:ea typeface="Courier New"/>
                <a:cs typeface="Courier New"/>
              </a:rPr>
              <a:t>int result = 2 + 3;</a:t>
            </a:r>
          </a:p>
        </p:txBody>
      </p:sp>
      <p:graphicFrame>
        <p:nvGraphicFramePr>
          <p:cNvPr id="5" name="Table 4">
            <a:extLst>
              <a:ext uri="{FF2B5EF4-FFF2-40B4-BE49-F238E27FC236}">
                <a16:creationId xmlns:a16="http://schemas.microsoft.com/office/drawing/2014/main" id="{0F4B2776-8F18-4479-91D6-6A53C268AA6C}"/>
              </a:ext>
            </a:extLst>
          </p:cNvPr>
          <p:cNvGraphicFramePr/>
          <p:nvPr/>
        </p:nvGraphicFramePr>
        <p:xfrm>
          <a:off x="781050" y="3619500"/>
          <a:ext cx="13620750" cy="3286125"/>
        </p:xfrm>
        <a:graphic>
          <a:graphicData uri="http://schemas.openxmlformats.org/drawingml/2006/table">
            <a:tbl>
              <a:tblPr/>
              <a:tblGrid>
                <a:gridCol w="3143250">
                  <a:extLst>
                    <a:ext uri="{9D8B030D-6E8A-4147-A177-3AD203B41FA5}">
                      <a16:colId xmlns:a16="http://schemas.microsoft.com/office/drawing/2014/main" val="20000"/>
                    </a:ext>
                  </a:extLst>
                </a:gridCol>
                <a:gridCol w="3333750">
                  <a:extLst>
                    <a:ext uri="{9D8B030D-6E8A-4147-A177-3AD203B41FA5}">
                      <a16:colId xmlns:a16="http://schemas.microsoft.com/office/drawing/2014/main" val="20001"/>
                    </a:ext>
                  </a:extLst>
                </a:gridCol>
                <a:gridCol w="7143750">
                  <a:extLst>
                    <a:ext uri="{9D8B030D-6E8A-4147-A177-3AD203B41FA5}">
                      <a16:colId xmlns:a16="http://schemas.microsoft.com/office/drawing/2014/main" val="20002"/>
                    </a:ext>
                  </a:extLst>
                </a:gridCol>
              </a:tblGrid>
              <a:tr h="657225">
                <a:tc>
                  <a:txBody>
                    <a:bodyPr/>
                    <a:lstStyle/>
                    <a:p>
                      <a:r>
                        <a:rPr sz="2250" b="1">
                          <a:solidFill>
                            <a:srgbClr val="17273C"/>
                          </a:solidFill>
                          <a:latin typeface="Arial"/>
                          <a:ea typeface="Arial"/>
                          <a:cs typeface="Arial"/>
                        </a:rPr>
                        <a:t>Token text</a:t>
                      </a:r>
                    </a:p>
                  </a:txBody>
                  <a:tcPr anchor="ctr">
                    <a:lnL w="7620">
                      <a:solidFill>
                        <a:srgbClr val="CDD3D9"/>
                      </a:solidFill>
                      <a:prstDash val="soli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250" b="1">
                          <a:solidFill>
                            <a:srgbClr val="17273C"/>
                          </a:solidFill>
                          <a:latin typeface="Arial"/>
                          <a:ea typeface="Arial"/>
                          <a:cs typeface="Arial"/>
                        </a:rPr>
                        <a:t>Token category</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250" b="1">
                          <a:solidFill>
                            <a:srgbClr val="17273C"/>
                          </a:solidFill>
                          <a:latin typeface="Arial"/>
                          <a:ea typeface="Arial"/>
                          <a:cs typeface="Arial"/>
                        </a:rPr>
                        <a:t>Purpose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extLst>
                  <a:ext uri="{0D108BD9-81ED-4DB2-BD59-A6C34878D82A}">
                    <a16:rowId xmlns:a16="http://schemas.microsoft.com/office/drawing/2014/main" val="10000"/>
                  </a:ext>
                </a:extLst>
              </a:tr>
              <a:tr h="657225">
                <a:tc>
                  <a:txBody>
                    <a:bodyPr/>
                    <a:lstStyle/>
                    <a:p>
                      <a:r>
                        <a:rPr sz="2250" b="0">
                          <a:solidFill>
                            <a:srgbClr val="17273C"/>
                          </a:solidFill>
                          <a:latin typeface="Arial"/>
                          <a:ea typeface="Arial"/>
                          <a:cs typeface="Arial"/>
                        </a:rPr>
                        <a:t>int, result</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NAME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Parser interprets names and keywords</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1"/>
                  </a:ext>
                </a:extLst>
              </a:tr>
              <a:tr h="657225">
                <a:tc>
                  <a:txBody>
                    <a:bodyPr/>
                    <a:lstStyle/>
                    <a:p>
                      <a:r>
                        <a:rPr sz="2250" b="0">
                          <a:solidFill>
                            <a:srgbClr val="17273C"/>
                          </a:solidFill>
                          <a:latin typeface="Arial"/>
                          <a:ea typeface="Arial"/>
                          <a:cs typeface="Arial"/>
                        </a:rPr>
                        <a:t>2, 3</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NUMBER</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Numeric literal values</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2"/>
                  </a:ext>
                </a:extLst>
              </a:tr>
              <a:tr h="657225">
                <a:tc>
                  <a:txBody>
                    <a:bodyPr/>
                    <a:lstStyle/>
                    <a:p>
                      <a:r>
                        <a:rPr sz="2250" b="0">
                          <a:solidFill>
                            <a:srgbClr val="17273C"/>
                          </a:solidFill>
                          <a:latin typeface="Arial"/>
                          <a:ea typeface="Arial"/>
                          <a:cs typeface="Arial"/>
                        </a:rPr>
                        <a:t>=, +, ;</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OP</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Assignment, addition and separator</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3"/>
                  </a:ext>
                </a:extLst>
              </a:tr>
              <a:tr h="657225">
                <a:tc>
                  <a:txBody>
                    <a:bodyPr/>
                    <a:lstStyle/>
                    <a:p>
                      <a:r>
                        <a:rPr sz="2250" b="0">
                          <a:solidFill>
                            <a:srgbClr val="17273C"/>
                          </a:solidFill>
                          <a:latin typeface="Arial"/>
                          <a:ea typeface="Arial"/>
                          <a:cs typeface="Arial"/>
                        </a:rPr>
                        <a:t>newline, end</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Layout / end markers</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Statement boundaries and termination</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4"/>
                  </a:ext>
                </a:extLst>
              </a:tr>
            </a:tbl>
          </a:graphicData>
        </a:graphic>
      </p:graphicFrame>
      <p:sp>
        <p:nvSpPr>
          <p:cNvPr id="6" name="Each token retains a source span for diagnostics and ed">
            <a:extLst>
              <a:ext uri="{FF2B5EF4-FFF2-40B4-BE49-F238E27FC236}">
                <a16:creationId xmlns:a16="http://schemas.microsoft.com/office/drawing/2014/main" id="{8ED91743-C105-4A2F-AAB3-034DD569B0F4}"/>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Each token retains a source span for diagnostics and editor navigation.</a:t>
            </a:r>
          </a:p>
        </p:txBody>
      </p:sp>
    </p:spTree>
    <p:extLst>
      <p:ext uri="{BB962C8B-B14F-4D97-AF65-F5344CB8AC3E}">
        <p14:creationId xmlns:p14="http://schemas.microsoft.com/office/powerpoint/2010/main" val="21331294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cxnSp>
        <p:nvCxnSpPr>
          <p:cNvPr id="20" name="Straight Arrow Connector 19">
            <a:extLst>
              <a:ext uri="{FF2B5EF4-FFF2-40B4-BE49-F238E27FC236}">
                <a16:creationId xmlns:a16="http://schemas.microsoft.com/office/drawing/2014/main" id="{0CD1F311-CE59-4975-8470-830C5CA73F7B}"/>
              </a:ext>
            </a:extLst>
          </p:cNvPr>
          <p:cNvCxnSpPr>
            <a:stCxn id="11" idx="2"/>
            <a:endCxn id="15" idx="0"/>
          </p:cNvCxnSpPr>
          <p:nvPr/>
        </p:nvCxnSpPr>
        <p:spPr>
          <a:xfrm>
            <a:off x="12906375" y="5191125"/>
            <a:ext cx="1047750" cy="952500"/>
          </a:xfrm>
          <a:prstGeom prst="straightConnector1">
            <a:avLst/>
          </a:prstGeom>
          <a:ln w="22860">
            <a:solidFill>
              <a:srgbClr val="2956D7"/>
            </a:solidFill>
            <a:prstDash val="solid"/>
            <a:tailEnd type="triangle" w="sm" len="sm"/>
          </a:ln>
        </p:spPr>
      </p:cxnSp>
      <p:cxnSp>
        <p:nvCxnSpPr>
          <p:cNvPr id="19" name="Straight Arrow Connector 18">
            <a:extLst>
              <a:ext uri="{FF2B5EF4-FFF2-40B4-BE49-F238E27FC236}">
                <a16:creationId xmlns:a16="http://schemas.microsoft.com/office/drawing/2014/main" id="{3698C51A-DE93-41B6-9405-CF48FD45523F}"/>
              </a:ext>
            </a:extLst>
          </p:cNvPr>
          <p:cNvCxnSpPr>
            <a:stCxn id="11" idx="2"/>
            <a:endCxn id="13" idx="0"/>
          </p:cNvCxnSpPr>
          <p:nvPr/>
        </p:nvCxnSpPr>
        <p:spPr>
          <a:xfrm flipH="1">
            <a:off x="11477625" y="5191125"/>
            <a:ext cx="1428750" cy="952500"/>
          </a:xfrm>
          <a:prstGeom prst="straightConnector1">
            <a:avLst/>
          </a:prstGeom>
          <a:ln w="22860">
            <a:solidFill>
              <a:srgbClr val="2956D7"/>
            </a:solidFill>
            <a:prstDash val="solid"/>
            <a:tailEnd type="triangle" w="sm" len="sm"/>
          </a:ln>
        </p:spPr>
      </p:cxnSp>
      <p:cxnSp>
        <p:nvCxnSpPr>
          <p:cNvPr id="18" name="Straight Arrow Connector 17">
            <a:extLst>
              <a:ext uri="{FF2B5EF4-FFF2-40B4-BE49-F238E27FC236}">
                <a16:creationId xmlns:a16="http://schemas.microsoft.com/office/drawing/2014/main" id="{D57CC617-47DB-4EF7-8186-5A20DC579D30}"/>
              </a:ext>
            </a:extLst>
          </p:cNvPr>
          <p:cNvCxnSpPr>
            <a:stCxn id="7" idx="2"/>
            <a:endCxn id="11" idx="0"/>
          </p:cNvCxnSpPr>
          <p:nvPr/>
        </p:nvCxnSpPr>
        <p:spPr>
          <a:xfrm>
            <a:off x="11382375" y="3524250"/>
            <a:ext cx="1524000" cy="809625"/>
          </a:xfrm>
          <a:prstGeom prst="straightConnector1">
            <a:avLst/>
          </a:prstGeom>
          <a:ln w="22860">
            <a:solidFill>
              <a:srgbClr val="2956D7"/>
            </a:solidFill>
            <a:prstDash val="solid"/>
            <a:tailEnd type="triangle" w="sm" len="sm"/>
          </a:ln>
        </p:spPr>
      </p:cxnSp>
      <p:cxnSp>
        <p:nvCxnSpPr>
          <p:cNvPr id="17" name="Straight Arrow Connector 16">
            <a:extLst>
              <a:ext uri="{FF2B5EF4-FFF2-40B4-BE49-F238E27FC236}">
                <a16:creationId xmlns:a16="http://schemas.microsoft.com/office/drawing/2014/main" id="{B049543B-07E8-4A78-87C9-5D1FF260AE91}"/>
              </a:ext>
            </a:extLst>
          </p:cNvPr>
          <p:cNvCxnSpPr>
            <a:stCxn id="7" idx="2"/>
            <a:endCxn id="9" idx="0"/>
          </p:cNvCxnSpPr>
          <p:nvPr/>
        </p:nvCxnSpPr>
        <p:spPr>
          <a:xfrm flipH="1">
            <a:off x="9120188" y="3524250"/>
            <a:ext cx="2262188" cy="809625"/>
          </a:xfrm>
          <a:prstGeom prst="straightConnector1">
            <a:avLst/>
          </a:prstGeom>
          <a:ln w="22860">
            <a:solidFill>
              <a:srgbClr val="2956D7"/>
            </a:solidFill>
            <a:prstDash val="solid"/>
            <a:tailEnd type="triangle" w="sm" len="sm"/>
          </a:ln>
        </p:spPr>
      </p:cxnSp>
      <p:sp>
        <p:nvSpPr>
          <p:cNvPr id="22" name="Parsing and operator precedence">
            <a:extLst>
              <a:ext uri="{FF2B5EF4-FFF2-40B4-BE49-F238E27FC236}">
                <a16:creationId xmlns:a16="http://schemas.microsoft.com/office/drawing/2014/main" id="{042EC3EA-56F8-447C-91FB-80AC384E452E}"/>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Parsing and operator precedence</a:t>
            </a:r>
          </a:p>
        </p:txBody>
      </p:sp>
      <p:sp>
        <p:nvSpPr>
          <p:cNvPr id="2" name="Recursive descent handles statements. Pratt parsing han">
            <a:extLst>
              <a:ext uri="{FF2B5EF4-FFF2-40B4-BE49-F238E27FC236}">
                <a16:creationId xmlns:a16="http://schemas.microsoft.com/office/drawing/2014/main" id="{43D3B44B-9D00-468A-9C9F-9FE5AEC40C35}"/>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Recursive descent handles statements. Pratt parsing handles expressions.</a:t>
            </a:r>
          </a:p>
        </p:txBody>
      </p:sp>
      <p:sp>
        <p:nvSpPr>
          <p:cNvPr id="3" name="09">
            <a:extLst>
              <a:ext uri="{FF2B5EF4-FFF2-40B4-BE49-F238E27FC236}">
                <a16:creationId xmlns:a16="http://schemas.microsoft.com/office/drawing/2014/main" id="{9E434E24-9557-4BD1-883E-BFE1B6944CF8}"/>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09</a:t>
            </a:r>
          </a:p>
        </p:txBody>
      </p:sp>
      <p:sp>
        <p:nvSpPr>
          <p:cNvPr id="4" name="print(2 + 3 * 4)">
            <a:extLst>
              <a:ext uri="{FF2B5EF4-FFF2-40B4-BE49-F238E27FC236}">
                <a16:creationId xmlns:a16="http://schemas.microsoft.com/office/drawing/2014/main" id="{CDFF1612-9BB5-4BB3-B8B5-37C705D4DB75}"/>
              </a:ext>
            </a:extLst>
          </p:cNvPr>
          <p:cNvSpPr>
            <a:spLocks noGrp="1"/>
          </p:cNvSpPr>
          <p:nvPr/>
        </p:nvSpPr>
        <p:spPr>
          <a:xfrm>
            <a:off x="762000" y="2571750"/>
            <a:ext cx="6381750" cy="714375"/>
          </a:xfrm>
          <a:prstGeom prst="rect">
            <a:avLst/>
          </a:prstGeom>
          <a:noFill/>
          <a:ln w="0">
            <a:noFill/>
          </a:ln>
        </p:spPr>
        <p:txBody>
          <a:bodyPr wrap="square" lIns="0" tIns="0" rIns="0" bIns="0" anchor="t">
            <a:noAutofit/>
          </a:bodyPr>
          <a:lstStyle>
            <a:defPPr algn="l">
              <a:defRPr sz="3450" b="0">
                <a:solidFill>
                  <a:srgbClr val="162237"/>
                </a:solidFill>
                <a:latin typeface="Courier New"/>
                <a:ea typeface="Courier New"/>
                <a:cs typeface="Courier New"/>
              </a:defRPr>
            </a:defPPr>
            <a:lvl1pPr algn="l">
              <a:buNone/>
              <a:defRPr sz="3450" b="0">
                <a:solidFill>
                  <a:srgbClr val="162237"/>
                </a:solidFill>
                <a:latin typeface="Courier New"/>
                <a:ea typeface="Courier New"/>
                <a:cs typeface="Courier New"/>
              </a:defRPr>
            </a:lvl1pPr>
            <a:lvl2pPr algn="l">
              <a:buNone/>
              <a:defRPr sz="3450" b="0">
                <a:solidFill>
                  <a:srgbClr val="162237"/>
                </a:solidFill>
                <a:latin typeface="Courier New"/>
                <a:ea typeface="Courier New"/>
                <a:cs typeface="Courier New"/>
              </a:defRPr>
            </a:lvl2pPr>
            <a:lvl3pPr algn="l">
              <a:buNone/>
              <a:defRPr sz="3450" b="0">
                <a:solidFill>
                  <a:srgbClr val="162237"/>
                </a:solidFill>
                <a:latin typeface="Courier New"/>
                <a:ea typeface="Courier New"/>
                <a:cs typeface="Courier New"/>
              </a:defRPr>
            </a:lvl3pPr>
            <a:lvl4pPr algn="l">
              <a:buNone/>
              <a:defRPr sz="3450" b="0">
                <a:solidFill>
                  <a:srgbClr val="162237"/>
                </a:solidFill>
                <a:latin typeface="Courier New"/>
                <a:ea typeface="Courier New"/>
                <a:cs typeface="Courier New"/>
              </a:defRPr>
            </a:lvl4pPr>
            <a:lvl5pPr algn="l">
              <a:buNone/>
              <a:defRPr sz="3450" b="0">
                <a:solidFill>
                  <a:srgbClr val="162237"/>
                </a:solidFill>
                <a:latin typeface="Courier New"/>
                <a:ea typeface="Courier New"/>
                <a:cs typeface="Courier New"/>
              </a:defRPr>
            </a:lvl5pPr>
            <a:lvl6pPr algn="l">
              <a:buNone/>
              <a:defRPr sz="3450" b="0">
                <a:solidFill>
                  <a:srgbClr val="162237"/>
                </a:solidFill>
                <a:latin typeface="Courier New"/>
                <a:ea typeface="Courier New"/>
                <a:cs typeface="Courier New"/>
              </a:defRPr>
            </a:lvl6pPr>
            <a:lvl7pPr algn="l">
              <a:buNone/>
              <a:defRPr sz="3450" b="0">
                <a:solidFill>
                  <a:srgbClr val="162237"/>
                </a:solidFill>
                <a:latin typeface="Courier New"/>
                <a:ea typeface="Courier New"/>
                <a:cs typeface="Courier New"/>
              </a:defRPr>
            </a:lvl7pPr>
            <a:lvl8pPr algn="l">
              <a:buNone/>
              <a:defRPr sz="3450" b="0">
                <a:solidFill>
                  <a:srgbClr val="162237"/>
                </a:solidFill>
                <a:latin typeface="Courier New"/>
                <a:ea typeface="Courier New"/>
                <a:cs typeface="Courier New"/>
              </a:defRPr>
            </a:lvl8pPr>
            <a:lvl9pPr algn="l">
              <a:buNone/>
              <a:defRPr sz="3450" b="0">
                <a:solidFill>
                  <a:srgbClr val="162237"/>
                </a:solidFill>
                <a:latin typeface="Courier New"/>
                <a:ea typeface="Courier New"/>
                <a:cs typeface="Courier New"/>
              </a:defRPr>
            </a:lvl9pPr>
          </a:lstStyle>
          <a:p>
            <a:pPr algn="l">
              <a:buNone/>
              <a:defRPr sz="3450" b="0">
                <a:solidFill>
                  <a:srgbClr val="162237"/>
                </a:solidFill>
                <a:latin typeface="Courier New"/>
                <a:ea typeface="Courier New"/>
                <a:cs typeface="Courier New"/>
              </a:defRPr>
            </a:pPr>
            <a:r>
              <a:rPr sz="3450" b="0">
                <a:solidFill>
                  <a:srgbClr val="162237"/>
                </a:solidFill>
                <a:latin typeface="Courier New"/>
                <a:ea typeface="Courier New"/>
                <a:cs typeface="Courier New"/>
              </a:rPr>
              <a:t>print(2 + 3 * 4)</a:t>
            </a:r>
          </a:p>
        </p:txBody>
      </p:sp>
      <p:sp>
        <p:nvSpPr>
          <p:cNvPr id="5" name="Binding power">
            <a:extLst>
              <a:ext uri="{FF2B5EF4-FFF2-40B4-BE49-F238E27FC236}">
                <a16:creationId xmlns:a16="http://schemas.microsoft.com/office/drawing/2014/main" id="{EB27AE07-9B90-4CF3-ACA0-BEE830634112}"/>
              </a:ext>
            </a:extLst>
          </p:cNvPr>
          <p:cNvSpPr>
            <a:spLocks noGrp="1"/>
          </p:cNvSpPr>
          <p:nvPr/>
        </p:nvSpPr>
        <p:spPr>
          <a:xfrm>
            <a:off x="762000" y="3952875"/>
            <a:ext cx="5619750" cy="523875"/>
          </a:xfrm>
          <a:prstGeom prst="rect">
            <a:avLst/>
          </a:prstGeom>
          <a:noFill/>
          <a:ln w="0">
            <a:noFill/>
          </a:ln>
        </p:spPr>
        <p:txBody>
          <a:bodyPr wrap="square" lIns="0" tIns="0" rIns="0" bIns="0" anchor="t">
            <a:noAutofit/>
          </a:bodyPr>
          <a:lstStyle>
            <a:defPPr algn="l">
              <a:defRPr sz="2850" b="1">
                <a:solidFill>
                  <a:srgbClr val="2956D7"/>
                </a:solidFill>
                <a:latin typeface="Arial"/>
                <a:ea typeface="Arial"/>
                <a:cs typeface="Arial"/>
              </a:defRPr>
            </a:defPPr>
            <a:lvl1pPr algn="l">
              <a:buNone/>
              <a:defRPr sz="2850" b="1">
                <a:solidFill>
                  <a:srgbClr val="2956D7"/>
                </a:solidFill>
                <a:latin typeface="Arial"/>
                <a:ea typeface="Arial"/>
                <a:cs typeface="Arial"/>
              </a:defRPr>
            </a:lvl1pPr>
            <a:lvl2pPr algn="l">
              <a:buNone/>
              <a:defRPr sz="2850" b="1">
                <a:solidFill>
                  <a:srgbClr val="2956D7"/>
                </a:solidFill>
                <a:latin typeface="Arial"/>
                <a:ea typeface="Arial"/>
                <a:cs typeface="Arial"/>
              </a:defRPr>
            </a:lvl2pPr>
            <a:lvl3pPr algn="l">
              <a:buNone/>
              <a:defRPr sz="2850" b="1">
                <a:solidFill>
                  <a:srgbClr val="2956D7"/>
                </a:solidFill>
                <a:latin typeface="Arial"/>
                <a:ea typeface="Arial"/>
                <a:cs typeface="Arial"/>
              </a:defRPr>
            </a:lvl3pPr>
            <a:lvl4pPr algn="l">
              <a:buNone/>
              <a:defRPr sz="2850" b="1">
                <a:solidFill>
                  <a:srgbClr val="2956D7"/>
                </a:solidFill>
                <a:latin typeface="Arial"/>
                <a:ea typeface="Arial"/>
                <a:cs typeface="Arial"/>
              </a:defRPr>
            </a:lvl4pPr>
            <a:lvl5pPr algn="l">
              <a:buNone/>
              <a:defRPr sz="2850" b="1">
                <a:solidFill>
                  <a:srgbClr val="2956D7"/>
                </a:solidFill>
                <a:latin typeface="Arial"/>
                <a:ea typeface="Arial"/>
                <a:cs typeface="Arial"/>
              </a:defRPr>
            </a:lvl5pPr>
            <a:lvl6pPr algn="l">
              <a:buNone/>
              <a:defRPr sz="2850" b="1">
                <a:solidFill>
                  <a:srgbClr val="2956D7"/>
                </a:solidFill>
                <a:latin typeface="Arial"/>
                <a:ea typeface="Arial"/>
                <a:cs typeface="Arial"/>
              </a:defRPr>
            </a:lvl6pPr>
            <a:lvl7pPr algn="l">
              <a:buNone/>
              <a:defRPr sz="2850" b="1">
                <a:solidFill>
                  <a:srgbClr val="2956D7"/>
                </a:solidFill>
                <a:latin typeface="Arial"/>
                <a:ea typeface="Arial"/>
                <a:cs typeface="Arial"/>
              </a:defRPr>
            </a:lvl7pPr>
            <a:lvl8pPr algn="l">
              <a:buNone/>
              <a:defRPr sz="2850" b="1">
                <a:solidFill>
                  <a:srgbClr val="2956D7"/>
                </a:solidFill>
                <a:latin typeface="Arial"/>
                <a:ea typeface="Arial"/>
                <a:cs typeface="Arial"/>
              </a:defRPr>
            </a:lvl8pPr>
            <a:lvl9pPr algn="l">
              <a:buNone/>
              <a:defRPr sz="2850" b="1">
                <a:solidFill>
                  <a:srgbClr val="2956D7"/>
                </a:solidFill>
                <a:latin typeface="Arial"/>
                <a:ea typeface="Arial"/>
                <a:cs typeface="Arial"/>
              </a:defRPr>
            </a:lvl9pPr>
          </a:lstStyle>
          <a:p>
            <a:pPr algn="l">
              <a:buNone/>
              <a:defRPr sz="2850" b="1">
                <a:solidFill>
                  <a:srgbClr val="2956D7"/>
                </a:solidFill>
                <a:latin typeface="Arial"/>
                <a:ea typeface="Arial"/>
                <a:cs typeface="Arial"/>
              </a:defRPr>
            </a:pPr>
            <a:r>
              <a:rPr sz="2850" b="1">
                <a:solidFill>
                  <a:srgbClr val="2956D7"/>
                </a:solidFill>
                <a:latin typeface="Arial"/>
                <a:ea typeface="Arial"/>
                <a:cs typeface="Arial"/>
              </a:rPr>
              <a:t>Binding power</a:t>
            </a:r>
          </a:p>
        </p:txBody>
      </p:sp>
      <p:sp>
        <p:nvSpPr>
          <p:cNvPr id="6" name="Multiplication binds more tightly&#10;than addition. Parent">
            <a:extLst>
              <a:ext uri="{FF2B5EF4-FFF2-40B4-BE49-F238E27FC236}">
                <a16:creationId xmlns:a16="http://schemas.microsoft.com/office/drawing/2014/main" id="{FA2E16F6-6792-4B2C-A98B-4E9983925822}"/>
              </a:ext>
            </a:extLst>
          </p:cNvPr>
          <p:cNvSpPr>
            <a:spLocks noGrp="1"/>
          </p:cNvSpPr>
          <p:nvPr/>
        </p:nvSpPr>
        <p:spPr>
          <a:xfrm>
            <a:off x="762000" y="4714875"/>
            <a:ext cx="6191250" cy="1571625"/>
          </a:xfrm>
          <a:prstGeom prst="rect">
            <a:avLst/>
          </a:prstGeom>
          <a:noFill/>
          <a:ln w="0">
            <a:noFill/>
          </a:ln>
        </p:spPr>
        <p:txBody>
          <a:bodyPr wrap="square" lIns="0" tIns="0" rIns="0" bIns="0" anchor="t">
            <a:noAutofit/>
          </a:bodyPr>
          <a:lstStyle>
            <a:defPPr algn="l">
              <a:defRPr sz="2700" b="0">
                <a:solidFill>
                  <a:srgbClr val="17273C"/>
                </a:solidFill>
                <a:latin typeface="Arial"/>
                <a:ea typeface="Arial"/>
                <a:cs typeface="Arial"/>
              </a:defRPr>
            </a:defPPr>
            <a:lvl1pPr algn="l">
              <a:buNone/>
              <a:defRPr sz="2700" b="0">
                <a:solidFill>
                  <a:srgbClr val="17273C"/>
                </a:solidFill>
                <a:latin typeface="Arial"/>
                <a:ea typeface="Arial"/>
                <a:cs typeface="Arial"/>
              </a:defRPr>
            </a:lvl1pPr>
            <a:lvl2pPr algn="l">
              <a:buNone/>
              <a:defRPr sz="2700" b="0">
                <a:solidFill>
                  <a:srgbClr val="17273C"/>
                </a:solidFill>
                <a:latin typeface="Arial"/>
                <a:ea typeface="Arial"/>
                <a:cs typeface="Arial"/>
              </a:defRPr>
            </a:lvl2pPr>
            <a:lvl3pPr algn="l">
              <a:buNone/>
              <a:defRPr sz="2700" b="0">
                <a:solidFill>
                  <a:srgbClr val="17273C"/>
                </a:solidFill>
                <a:latin typeface="Arial"/>
                <a:ea typeface="Arial"/>
                <a:cs typeface="Arial"/>
              </a:defRPr>
            </a:lvl3pPr>
            <a:lvl4pPr algn="l">
              <a:buNone/>
              <a:defRPr sz="2700" b="0">
                <a:solidFill>
                  <a:srgbClr val="17273C"/>
                </a:solidFill>
                <a:latin typeface="Arial"/>
                <a:ea typeface="Arial"/>
                <a:cs typeface="Arial"/>
              </a:defRPr>
            </a:lvl4pPr>
            <a:lvl5pPr algn="l">
              <a:buNone/>
              <a:defRPr sz="2700" b="0">
                <a:solidFill>
                  <a:srgbClr val="17273C"/>
                </a:solidFill>
                <a:latin typeface="Arial"/>
                <a:ea typeface="Arial"/>
                <a:cs typeface="Arial"/>
              </a:defRPr>
            </a:lvl5pPr>
            <a:lvl6pPr algn="l">
              <a:buNone/>
              <a:defRPr sz="2700" b="0">
                <a:solidFill>
                  <a:srgbClr val="17273C"/>
                </a:solidFill>
                <a:latin typeface="Arial"/>
                <a:ea typeface="Arial"/>
                <a:cs typeface="Arial"/>
              </a:defRPr>
            </a:lvl6pPr>
            <a:lvl7pPr algn="l">
              <a:buNone/>
              <a:defRPr sz="2700" b="0">
                <a:solidFill>
                  <a:srgbClr val="17273C"/>
                </a:solidFill>
                <a:latin typeface="Arial"/>
                <a:ea typeface="Arial"/>
                <a:cs typeface="Arial"/>
              </a:defRPr>
            </a:lvl7pPr>
            <a:lvl8pPr algn="l">
              <a:buNone/>
              <a:defRPr sz="2700" b="0">
                <a:solidFill>
                  <a:srgbClr val="17273C"/>
                </a:solidFill>
                <a:latin typeface="Arial"/>
                <a:ea typeface="Arial"/>
                <a:cs typeface="Arial"/>
              </a:defRPr>
            </a:lvl8pPr>
            <a:lvl9pPr algn="l">
              <a:buNone/>
              <a:defRPr sz="2700" b="0">
                <a:solidFill>
                  <a:srgbClr val="17273C"/>
                </a:solidFill>
                <a:latin typeface="Arial"/>
                <a:ea typeface="Arial"/>
                <a:cs typeface="Arial"/>
              </a:defRPr>
            </a:lvl9pPr>
          </a:lstStyle>
          <a:p>
            <a:pPr algn="l">
              <a:buNone/>
              <a:defRPr sz="2700" b="0">
                <a:solidFill>
                  <a:srgbClr val="17273C"/>
                </a:solidFill>
                <a:latin typeface="Arial"/>
                <a:ea typeface="Arial"/>
                <a:cs typeface="Arial"/>
              </a:defRPr>
            </a:pPr>
            <a:r>
              <a:rPr sz="2700" b="0">
                <a:solidFill>
                  <a:srgbClr val="17273C"/>
                </a:solidFill>
                <a:latin typeface="Arial"/>
                <a:ea typeface="Arial"/>
                <a:cs typeface="Arial"/>
              </a:rPr>
              <a:t>Multiplication binds more tightly</a:t>
            </a:r>
          </a:p>
          <a:p>
            <a:pPr algn="l">
              <a:buNone/>
              <a:defRPr sz="2700" b="0">
                <a:solidFill>
                  <a:srgbClr val="17273C"/>
                </a:solidFill>
                <a:latin typeface="Arial"/>
                <a:ea typeface="Arial"/>
                <a:cs typeface="Arial"/>
              </a:defRPr>
            </a:pPr>
            <a:r>
              <a:rPr sz="2700" b="0">
                <a:solidFill>
                  <a:srgbClr val="17273C"/>
                </a:solidFill>
                <a:latin typeface="Arial"/>
                <a:ea typeface="Arial"/>
                <a:cs typeface="Arial"/>
              </a:rPr>
              <a:t>than addition. Parentheses can</a:t>
            </a:r>
          </a:p>
          <a:p>
            <a:pPr algn="l">
              <a:buNone/>
              <a:defRPr sz="2700" b="0">
                <a:solidFill>
                  <a:srgbClr val="17273C"/>
                </a:solidFill>
                <a:latin typeface="Arial"/>
                <a:ea typeface="Arial"/>
                <a:cs typeface="Arial"/>
              </a:defRPr>
            </a:pPr>
            <a:r>
              <a:rPr sz="2700" b="0">
                <a:solidFill>
                  <a:srgbClr val="17273C"/>
                </a:solidFill>
                <a:latin typeface="Arial"/>
                <a:ea typeface="Arial"/>
                <a:cs typeface="Arial"/>
              </a:rPr>
              <a:t>change the grouping.</a:t>
            </a:r>
          </a:p>
        </p:txBody>
      </p:sp>
      <p:sp>
        <p:nvSpPr>
          <p:cNvPr id="7" name="Binary +">
            <a:extLst>
              <a:ext uri="{FF2B5EF4-FFF2-40B4-BE49-F238E27FC236}">
                <a16:creationId xmlns:a16="http://schemas.microsoft.com/office/drawing/2014/main" id="{52770A20-00B1-4B9C-9198-C3AB4CE8A27C}"/>
              </a:ext>
            </a:extLst>
          </p:cNvPr>
          <p:cNvSpPr>
            <a:spLocks noGrp="1"/>
          </p:cNvSpPr>
          <p:nvPr/>
        </p:nvSpPr>
        <p:spPr>
          <a:xfrm>
            <a:off x="10287000" y="2667000"/>
            <a:ext cx="2190750" cy="857250"/>
          </a:xfrm>
          <a:prstGeom prst="rect">
            <a:avLst/>
          </a:prstGeom>
          <a:solidFill>
            <a:srgbClr val="DDF2EC"/>
          </a:solidFill>
          <a:ln w="16193">
            <a:solidFill>
              <a:srgbClr val="147B70"/>
            </a:solidFill>
          </a:ln>
        </p:spPr>
        <p:txBody>
          <a:bodyPr/>
          <a:lstStyle/>
          <a:p>
            <a:endParaRPr lang="en-US"/>
          </a:p>
        </p:txBody>
      </p:sp>
      <p:sp>
        <p:nvSpPr>
          <p:cNvPr id="8" name="Binary +">
            <a:extLst>
              <a:ext uri="{FF2B5EF4-FFF2-40B4-BE49-F238E27FC236}">
                <a16:creationId xmlns:a16="http://schemas.microsoft.com/office/drawing/2014/main" id="{8724BCB5-0EC4-41E6-87F5-80E4A051584C}"/>
              </a:ext>
            </a:extLst>
          </p:cNvPr>
          <p:cNvSpPr>
            <a:spLocks noGrp="1"/>
          </p:cNvSpPr>
          <p:nvPr/>
        </p:nvSpPr>
        <p:spPr>
          <a:xfrm>
            <a:off x="10477500" y="2838450"/>
            <a:ext cx="1809750" cy="533400"/>
          </a:xfrm>
          <a:prstGeom prst="rect">
            <a:avLst/>
          </a:prstGeom>
          <a:noFill/>
          <a:ln w="0">
            <a:noFill/>
          </a:ln>
        </p:spPr>
        <p:txBody>
          <a:bodyPr wrap="square" lIns="0" tIns="0" rIns="0" bIns="0" anchor="t">
            <a:noAutofit/>
          </a:bodyPr>
          <a:lstStyle>
            <a:defPPr algn="l">
              <a:defRPr sz="2550" b="1">
                <a:solidFill>
                  <a:srgbClr val="17273C"/>
                </a:solidFill>
                <a:latin typeface="Arial"/>
                <a:ea typeface="Arial"/>
                <a:cs typeface="Arial"/>
              </a:defRPr>
            </a:defPPr>
            <a:lvl1pPr algn="l">
              <a:buNone/>
              <a:defRPr sz="2550" b="1">
                <a:solidFill>
                  <a:srgbClr val="17273C"/>
                </a:solidFill>
                <a:latin typeface="Arial"/>
                <a:ea typeface="Arial"/>
                <a:cs typeface="Arial"/>
              </a:defRPr>
            </a:lvl1pPr>
            <a:lvl2pPr algn="l">
              <a:buNone/>
              <a:defRPr sz="2550" b="1">
                <a:solidFill>
                  <a:srgbClr val="17273C"/>
                </a:solidFill>
                <a:latin typeface="Arial"/>
                <a:ea typeface="Arial"/>
                <a:cs typeface="Arial"/>
              </a:defRPr>
            </a:lvl2pPr>
            <a:lvl3pPr algn="l">
              <a:buNone/>
              <a:defRPr sz="2550" b="1">
                <a:solidFill>
                  <a:srgbClr val="17273C"/>
                </a:solidFill>
                <a:latin typeface="Arial"/>
                <a:ea typeface="Arial"/>
                <a:cs typeface="Arial"/>
              </a:defRPr>
            </a:lvl3pPr>
            <a:lvl4pPr algn="l">
              <a:buNone/>
              <a:defRPr sz="2550" b="1">
                <a:solidFill>
                  <a:srgbClr val="17273C"/>
                </a:solidFill>
                <a:latin typeface="Arial"/>
                <a:ea typeface="Arial"/>
                <a:cs typeface="Arial"/>
              </a:defRPr>
            </a:lvl4pPr>
            <a:lvl5pPr algn="l">
              <a:buNone/>
              <a:defRPr sz="2550" b="1">
                <a:solidFill>
                  <a:srgbClr val="17273C"/>
                </a:solidFill>
                <a:latin typeface="Arial"/>
                <a:ea typeface="Arial"/>
                <a:cs typeface="Arial"/>
              </a:defRPr>
            </a:lvl5pPr>
            <a:lvl6pPr algn="l">
              <a:buNone/>
              <a:defRPr sz="2550" b="1">
                <a:solidFill>
                  <a:srgbClr val="17273C"/>
                </a:solidFill>
                <a:latin typeface="Arial"/>
                <a:ea typeface="Arial"/>
                <a:cs typeface="Arial"/>
              </a:defRPr>
            </a:lvl6pPr>
            <a:lvl7pPr algn="l">
              <a:buNone/>
              <a:defRPr sz="2550" b="1">
                <a:solidFill>
                  <a:srgbClr val="17273C"/>
                </a:solidFill>
                <a:latin typeface="Arial"/>
                <a:ea typeface="Arial"/>
                <a:cs typeface="Arial"/>
              </a:defRPr>
            </a:lvl7pPr>
            <a:lvl8pPr algn="l">
              <a:buNone/>
              <a:defRPr sz="2550" b="1">
                <a:solidFill>
                  <a:srgbClr val="17273C"/>
                </a:solidFill>
                <a:latin typeface="Arial"/>
                <a:ea typeface="Arial"/>
                <a:cs typeface="Arial"/>
              </a:defRPr>
            </a:lvl8pPr>
            <a:lvl9pPr algn="l">
              <a:buNone/>
              <a:defRPr sz="2550" b="1">
                <a:solidFill>
                  <a:srgbClr val="17273C"/>
                </a:solidFill>
                <a:latin typeface="Arial"/>
                <a:ea typeface="Arial"/>
                <a:cs typeface="Arial"/>
              </a:defRPr>
            </a:lvl9pPr>
          </a:lstStyle>
          <a:p>
            <a:pPr algn="l">
              <a:buNone/>
              <a:defRPr sz="2550" b="1">
                <a:solidFill>
                  <a:srgbClr val="17273C"/>
                </a:solidFill>
                <a:latin typeface="Arial"/>
                <a:ea typeface="Arial"/>
                <a:cs typeface="Arial"/>
              </a:defRPr>
            </a:pPr>
            <a:r>
              <a:rPr sz="2550" b="1">
                <a:solidFill>
                  <a:srgbClr val="17273C"/>
                </a:solidFill>
                <a:latin typeface="Arial"/>
                <a:ea typeface="Arial"/>
                <a:cs typeface="Arial"/>
              </a:rPr>
              <a:t>Binary +</a:t>
            </a:r>
          </a:p>
        </p:txBody>
      </p:sp>
      <p:sp>
        <p:nvSpPr>
          <p:cNvPr id="9" name="Literal 2">
            <a:extLst>
              <a:ext uri="{FF2B5EF4-FFF2-40B4-BE49-F238E27FC236}">
                <a16:creationId xmlns:a16="http://schemas.microsoft.com/office/drawing/2014/main" id="{5BAE00D7-DB8B-4201-A664-CBDA0E38C911}"/>
              </a:ext>
            </a:extLst>
          </p:cNvPr>
          <p:cNvSpPr>
            <a:spLocks noGrp="1"/>
          </p:cNvSpPr>
          <p:nvPr/>
        </p:nvSpPr>
        <p:spPr>
          <a:xfrm>
            <a:off x="8096250" y="4333875"/>
            <a:ext cx="2047875" cy="857250"/>
          </a:xfrm>
          <a:prstGeom prst="rect">
            <a:avLst/>
          </a:prstGeom>
          <a:solidFill>
            <a:srgbClr val="FFFFFF"/>
          </a:solidFill>
          <a:ln w="16193">
            <a:solidFill>
              <a:srgbClr val="CDD3D9"/>
            </a:solidFill>
          </a:ln>
        </p:spPr>
        <p:txBody>
          <a:bodyPr/>
          <a:lstStyle/>
          <a:p>
            <a:endParaRPr lang="en-US"/>
          </a:p>
        </p:txBody>
      </p:sp>
      <p:sp>
        <p:nvSpPr>
          <p:cNvPr id="10" name="Literal 2">
            <a:extLst>
              <a:ext uri="{FF2B5EF4-FFF2-40B4-BE49-F238E27FC236}">
                <a16:creationId xmlns:a16="http://schemas.microsoft.com/office/drawing/2014/main" id="{4A98E63C-4E9F-4E13-B37C-BAD4920F250C}"/>
              </a:ext>
            </a:extLst>
          </p:cNvPr>
          <p:cNvSpPr>
            <a:spLocks noGrp="1"/>
          </p:cNvSpPr>
          <p:nvPr/>
        </p:nvSpPr>
        <p:spPr>
          <a:xfrm>
            <a:off x="8286750" y="4505325"/>
            <a:ext cx="1666875"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Literal 2</a:t>
            </a:r>
          </a:p>
        </p:txBody>
      </p:sp>
      <p:sp>
        <p:nvSpPr>
          <p:cNvPr id="11" name="Binary *">
            <a:extLst>
              <a:ext uri="{FF2B5EF4-FFF2-40B4-BE49-F238E27FC236}">
                <a16:creationId xmlns:a16="http://schemas.microsoft.com/office/drawing/2014/main" id="{07A5F0E4-9D65-4378-8CCF-50BBC7FFE7E3}"/>
              </a:ext>
            </a:extLst>
          </p:cNvPr>
          <p:cNvSpPr>
            <a:spLocks noGrp="1"/>
          </p:cNvSpPr>
          <p:nvPr/>
        </p:nvSpPr>
        <p:spPr>
          <a:xfrm>
            <a:off x="11811000" y="4333875"/>
            <a:ext cx="2190750" cy="857250"/>
          </a:xfrm>
          <a:prstGeom prst="rect">
            <a:avLst/>
          </a:prstGeom>
          <a:solidFill>
            <a:srgbClr val="DDF2EC"/>
          </a:solidFill>
          <a:ln w="16193">
            <a:solidFill>
              <a:srgbClr val="147B70"/>
            </a:solidFill>
          </a:ln>
        </p:spPr>
        <p:txBody>
          <a:bodyPr/>
          <a:lstStyle/>
          <a:p>
            <a:endParaRPr lang="en-US"/>
          </a:p>
        </p:txBody>
      </p:sp>
      <p:sp>
        <p:nvSpPr>
          <p:cNvPr id="12" name="Binary *">
            <a:extLst>
              <a:ext uri="{FF2B5EF4-FFF2-40B4-BE49-F238E27FC236}">
                <a16:creationId xmlns:a16="http://schemas.microsoft.com/office/drawing/2014/main" id="{30A2CD8C-DCC1-43FC-A659-FF401B2232DF}"/>
              </a:ext>
            </a:extLst>
          </p:cNvPr>
          <p:cNvSpPr>
            <a:spLocks noGrp="1"/>
          </p:cNvSpPr>
          <p:nvPr/>
        </p:nvSpPr>
        <p:spPr>
          <a:xfrm>
            <a:off x="12001500" y="4505325"/>
            <a:ext cx="1809750" cy="533400"/>
          </a:xfrm>
          <a:prstGeom prst="rect">
            <a:avLst/>
          </a:prstGeom>
          <a:noFill/>
          <a:ln w="0">
            <a:noFill/>
          </a:ln>
        </p:spPr>
        <p:txBody>
          <a:bodyPr wrap="square" lIns="0" tIns="0" rIns="0" bIns="0" anchor="t">
            <a:noAutofit/>
          </a:bodyPr>
          <a:lstStyle>
            <a:defPPr algn="l">
              <a:defRPr sz="2550" b="1">
                <a:solidFill>
                  <a:srgbClr val="17273C"/>
                </a:solidFill>
                <a:latin typeface="Arial"/>
                <a:ea typeface="Arial"/>
                <a:cs typeface="Arial"/>
              </a:defRPr>
            </a:defPPr>
            <a:lvl1pPr algn="l">
              <a:buNone/>
              <a:defRPr sz="2550" b="1">
                <a:solidFill>
                  <a:srgbClr val="17273C"/>
                </a:solidFill>
                <a:latin typeface="Arial"/>
                <a:ea typeface="Arial"/>
                <a:cs typeface="Arial"/>
              </a:defRPr>
            </a:lvl1pPr>
            <a:lvl2pPr algn="l">
              <a:buNone/>
              <a:defRPr sz="2550" b="1">
                <a:solidFill>
                  <a:srgbClr val="17273C"/>
                </a:solidFill>
                <a:latin typeface="Arial"/>
                <a:ea typeface="Arial"/>
                <a:cs typeface="Arial"/>
              </a:defRPr>
            </a:lvl2pPr>
            <a:lvl3pPr algn="l">
              <a:buNone/>
              <a:defRPr sz="2550" b="1">
                <a:solidFill>
                  <a:srgbClr val="17273C"/>
                </a:solidFill>
                <a:latin typeface="Arial"/>
                <a:ea typeface="Arial"/>
                <a:cs typeface="Arial"/>
              </a:defRPr>
            </a:lvl3pPr>
            <a:lvl4pPr algn="l">
              <a:buNone/>
              <a:defRPr sz="2550" b="1">
                <a:solidFill>
                  <a:srgbClr val="17273C"/>
                </a:solidFill>
                <a:latin typeface="Arial"/>
                <a:ea typeface="Arial"/>
                <a:cs typeface="Arial"/>
              </a:defRPr>
            </a:lvl4pPr>
            <a:lvl5pPr algn="l">
              <a:buNone/>
              <a:defRPr sz="2550" b="1">
                <a:solidFill>
                  <a:srgbClr val="17273C"/>
                </a:solidFill>
                <a:latin typeface="Arial"/>
                <a:ea typeface="Arial"/>
                <a:cs typeface="Arial"/>
              </a:defRPr>
            </a:lvl5pPr>
            <a:lvl6pPr algn="l">
              <a:buNone/>
              <a:defRPr sz="2550" b="1">
                <a:solidFill>
                  <a:srgbClr val="17273C"/>
                </a:solidFill>
                <a:latin typeface="Arial"/>
                <a:ea typeface="Arial"/>
                <a:cs typeface="Arial"/>
              </a:defRPr>
            </a:lvl6pPr>
            <a:lvl7pPr algn="l">
              <a:buNone/>
              <a:defRPr sz="2550" b="1">
                <a:solidFill>
                  <a:srgbClr val="17273C"/>
                </a:solidFill>
                <a:latin typeface="Arial"/>
                <a:ea typeface="Arial"/>
                <a:cs typeface="Arial"/>
              </a:defRPr>
            </a:lvl7pPr>
            <a:lvl8pPr algn="l">
              <a:buNone/>
              <a:defRPr sz="2550" b="1">
                <a:solidFill>
                  <a:srgbClr val="17273C"/>
                </a:solidFill>
                <a:latin typeface="Arial"/>
                <a:ea typeface="Arial"/>
                <a:cs typeface="Arial"/>
              </a:defRPr>
            </a:lvl8pPr>
            <a:lvl9pPr algn="l">
              <a:buNone/>
              <a:defRPr sz="2550" b="1">
                <a:solidFill>
                  <a:srgbClr val="17273C"/>
                </a:solidFill>
                <a:latin typeface="Arial"/>
                <a:ea typeface="Arial"/>
                <a:cs typeface="Arial"/>
              </a:defRPr>
            </a:lvl9pPr>
          </a:lstStyle>
          <a:p>
            <a:pPr algn="l">
              <a:buNone/>
              <a:defRPr sz="2550" b="1">
                <a:solidFill>
                  <a:srgbClr val="17273C"/>
                </a:solidFill>
                <a:latin typeface="Arial"/>
                <a:ea typeface="Arial"/>
                <a:cs typeface="Arial"/>
              </a:defRPr>
            </a:pPr>
            <a:r>
              <a:rPr sz="2550" b="1">
                <a:solidFill>
                  <a:srgbClr val="17273C"/>
                </a:solidFill>
                <a:latin typeface="Arial"/>
                <a:ea typeface="Arial"/>
                <a:cs typeface="Arial"/>
              </a:rPr>
              <a:t>Binary *</a:t>
            </a:r>
          </a:p>
        </p:txBody>
      </p:sp>
      <p:sp>
        <p:nvSpPr>
          <p:cNvPr id="13" name="Literal 3">
            <a:extLst>
              <a:ext uri="{FF2B5EF4-FFF2-40B4-BE49-F238E27FC236}">
                <a16:creationId xmlns:a16="http://schemas.microsoft.com/office/drawing/2014/main" id="{037F2F32-B9AB-467B-9E84-26B46FF6E535}"/>
              </a:ext>
            </a:extLst>
          </p:cNvPr>
          <p:cNvSpPr>
            <a:spLocks noGrp="1"/>
          </p:cNvSpPr>
          <p:nvPr/>
        </p:nvSpPr>
        <p:spPr>
          <a:xfrm>
            <a:off x="10477500" y="6143625"/>
            <a:ext cx="2000250" cy="857250"/>
          </a:xfrm>
          <a:prstGeom prst="rect">
            <a:avLst/>
          </a:prstGeom>
          <a:solidFill>
            <a:srgbClr val="FFFFFF"/>
          </a:solidFill>
          <a:ln w="16193">
            <a:solidFill>
              <a:srgbClr val="CDD3D9"/>
            </a:solidFill>
          </a:ln>
        </p:spPr>
        <p:txBody>
          <a:bodyPr/>
          <a:lstStyle/>
          <a:p>
            <a:endParaRPr lang="en-US"/>
          </a:p>
        </p:txBody>
      </p:sp>
      <p:sp>
        <p:nvSpPr>
          <p:cNvPr id="14" name="Literal 3">
            <a:extLst>
              <a:ext uri="{FF2B5EF4-FFF2-40B4-BE49-F238E27FC236}">
                <a16:creationId xmlns:a16="http://schemas.microsoft.com/office/drawing/2014/main" id="{0A4896C9-BB0B-4632-B2DD-34336BF8C52C}"/>
              </a:ext>
            </a:extLst>
          </p:cNvPr>
          <p:cNvSpPr>
            <a:spLocks noGrp="1"/>
          </p:cNvSpPr>
          <p:nvPr/>
        </p:nvSpPr>
        <p:spPr>
          <a:xfrm>
            <a:off x="10668000" y="6315075"/>
            <a:ext cx="1619250" cy="533400"/>
          </a:xfrm>
          <a:prstGeom prst="rect">
            <a:avLst/>
          </a:prstGeom>
          <a:noFill/>
          <a:ln w="0">
            <a:noFill/>
          </a:ln>
        </p:spPr>
        <p:txBody>
          <a:bodyPr wrap="square" lIns="0" tIns="0" rIns="0" bIns="0" anchor="t">
            <a:noAutofit/>
          </a:bodyPr>
          <a:lstStyle>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a:pPr algn="l">
              <a:buNone/>
              <a:defRPr sz="2250" b="1">
                <a:solidFill>
                  <a:srgbClr val="17273C"/>
                </a:solidFill>
                <a:latin typeface="Arial"/>
                <a:ea typeface="Arial"/>
                <a:cs typeface="Arial"/>
              </a:defRPr>
            </a:pPr>
            <a:r>
              <a:rPr sz="2250" b="1">
                <a:solidFill>
                  <a:srgbClr val="17273C"/>
                </a:solidFill>
                <a:latin typeface="Arial"/>
                <a:ea typeface="Arial"/>
                <a:cs typeface="Arial"/>
              </a:rPr>
              <a:t>Literal 3</a:t>
            </a:r>
          </a:p>
        </p:txBody>
      </p:sp>
      <p:sp>
        <p:nvSpPr>
          <p:cNvPr id="15" name="Literal 4">
            <a:extLst>
              <a:ext uri="{FF2B5EF4-FFF2-40B4-BE49-F238E27FC236}">
                <a16:creationId xmlns:a16="http://schemas.microsoft.com/office/drawing/2014/main" id="{DE0EA170-335B-48DF-9D9B-4E8F5077AAB1}"/>
              </a:ext>
            </a:extLst>
          </p:cNvPr>
          <p:cNvSpPr>
            <a:spLocks noGrp="1"/>
          </p:cNvSpPr>
          <p:nvPr/>
        </p:nvSpPr>
        <p:spPr>
          <a:xfrm>
            <a:off x="12954000" y="6143625"/>
            <a:ext cx="2000250" cy="857250"/>
          </a:xfrm>
          <a:prstGeom prst="rect">
            <a:avLst/>
          </a:prstGeom>
          <a:solidFill>
            <a:srgbClr val="FFFFFF"/>
          </a:solidFill>
          <a:ln w="16193">
            <a:solidFill>
              <a:srgbClr val="CDD3D9"/>
            </a:solidFill>
          </a:ln>
        </p:spPr>
        <p:txBody>
          <a:bodyPr/>
          <a:lstStyle/>
          <a:p>
            <a:endParaRPr lang="en-US"/>
          </a:p>
        </p:txBody>
      </p:sp>
      <p:sp>
        <p:nvSpPr>
          <p:cNvPr id="16" name="Literal 4">
            <a:extLst>
              <a:ext uri="{FF2B5EF4-FFF2-40B4-BE49-F238E27FC236}">
                <a16:creationId xmlns:a16="http://schemas.microsoft.com/office/drawing/2014/main" id="{5D85F8DE-851F-4108-838F-D457C5F07570}"/>
              </a:ext>
            </a:extLst>
          </p:cNvPr>
          <p:cNvSpPr>
            <a:spLocks noGrp="1"/>
          </p:cNvSpPr>
          <p:nvPr/>
        </p:nvSpPr>
        <p:spPr>
          <a:xfrm>
            <a:off x="13144500" y="6315075"/>
            <a:ext cx="1619250" cy="533400"/>
          </a:xfrm>
          <a:prstGeom prst="rect">
            <a:avLst/>
          </a:prstGeom>
          <a:noFill/>
          <a:ln w="0">
            <a:noFill/>
          </a:ln>
        </p:spPr>
        <p:txBody>
          <a:bodyPr wrap="square" lIns="0" tIns="0" rIns="0" bIns="0" anchor="t">
            <a:noAutofit/>
          </a:bodyPr>
          <a:lstStyle>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a:pPr algn="l">
              <a:buNone/>
              <a:defRPr sz="2250" b="1">
                <a:solidFill>
                  <a:srgbClr val="17273C"/>
                </a:solidFill>
                <a:latin typeface="Arial"/>
                <a:ea typeface="Arial"/>
                <a:cs typeface="Arial"/>
              </a:defRPr>
            </a:pPr>
            <a:r>
              <a:rPr sz="2250" b="1">
                <a:solidFill>
                  <a:srgbClr val="17273C"/>
                </a:solidFill>
                <a:latin typeface="Arial"/>
                <a:ea typeface="Arial"/>
                <a:cs typeface="Arial"/>
              </a:rPr>
              <a:t>Literal 4</a:t>
            </a:r>
          </a:p>
        </p:txBody>
      </p:sp>
      <p:sp>
        <p:nvSpPr>
          <p:cNvPr id="21" name="Expression subtree shown. This program prints 14.">
            <a:extLst>
              <a:ext uri="{FF2B5EF4-FFF2-40B4-BE49-F238E27FC236}">
                <a16:creationId xmlns:a16="http://schemas.microsoft.com/office/drawing/2014/main" id="{432F09C3-8231-47BE-A911-5426347F6BB0}"/>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Expression subtree shown. This program prints 14.</a:t>
            </a:r>
          </a:p>
        </p:txBody>
      </p:sp>
    </p:spTree>
    <p:extLst>
      <p:ext uri="{BB962C8B-B14F-4D97-AF65-F5344CB8AC3E}">
        <p14:creationId xmlns:p14="http://schemas.microsoft.com/office/powerpoint/2010/main" val="15181362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0743157B-6ED7-4E4A-9700-895BA414DA82}"/>
              </a:ext>
            </a:extLst>
          </p:cNvPr>
          <p:cNvCxnSpPr>
            <a:stCxn id="4" idx="3"/>
            <a:endCxn id="5" idx="1"/>
          </p:cNvCxnSpPr>
          <p:nvPr/>
        </p:nvCxnSpPr>
        <p:spPr>
          <a:xfrm>
            <a:off x="8020050" y="4572000"/>
            <a:ext cx="1600200" cy="0"/>
          </a:xfrm>
          <a:prstGeom prst="straightConnector1">
            <a:avLst/>
          </a:prstGeom>
          <a:ln w="22860">
            <a:solidFill>
              <a:srgbClr val="2956D7"/>
            </a:solidFill>
            <a:prstDash val="solid"/>
            <a:tailEnd type="triangle" w="sm" len="sm"/>
          </a:ln>
        </p:spPr>
      </p:cxnSp>
      <p:sp>
        <p:nvSpPr>
          <p:cNvPr id="11" name="AST normalization">
            <a:extLst>
              <a:ext uri="{FF2B5EF4-FFF2-40B4-BE49-F238E27FC236}">
                <a16:creationId xmlns:a16="http://schemas.microsoft.com/office/drawing/2014/main" id="{C25DACF4-1A73-4021-83F0-A0846C01C59E}"/>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AST normalization</a:t>
            </a:r>
          </a:p>
        </p:txBody>
      </p:sp>
      <p:sp>
        <p:nvSpPr>
          <p:cNvPr id="2" name="Equivalent output spellings become the same semantic no">
            <a:extLst>
              <a:ext uri="{FF2B5EF4-FFF2-40B4-BE49-F238E27FC236}">
                <a16:creationId xmlns:a16="http://schemas.microsoft.com/office/drawing/2014/main" id="{9E5572AA-ACE6-45BC-B455-400346D2E1D0}"/>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Equivalent output spellings become the same semantic node</a:t>
            </a:r>
          </a:p>
        </p:txBody>
      </p:sp>
      <p:sp>
        <p:nvSpPr>
          <p:cNvPr id="3" name="10">
            <a:extLst>
              <a:ext uri="{FF2B5EF4-FFF2-40B4-BE49-F238E27FC236}">
                <a16:creationId xmlns:a16="http://schemas.microsoft.com/office/drawing/2014/main" id="{C712AFCD-A2E3-415E-8D42-B4B76203363B}"/>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10</a:t>
            </a:r>
          </a:p>
        </p:txBody>
      </p:sp>
      <p:sp>
        <p:nvSpPr>
          <p:cNvPr id="4" name="print(value)&#10;&#10;console.log(value);&#10;&#10;System.out.println(v">
            <a:extLst>
              <a:ext uri="{FF2B5EF4-FFF2-40B4-BE49-F238E27FC236}">
                <a16:creationId xmlns:a16="http://schemas.microsoft.com/office/drawing/2014/main" id="{AF15A3AD-B2A6-44A9-8851-AD94FA92B0B5}"/>
              </a:ext>
            </a:extLst>
          </p:cNvPr>
          <p:cNvSpPr>
            <a:spLocks noGrp="1"/>
          </p:cNvSpPr>
          <p:nvPr/>
        </p:nvSpPr>
        <p:spPr>
          <a:xfrm>
            <a:off x="781050" y="2762250"/>
            <a:ext cx="7239000" cy="3619500"/>
          </a:xfrm>
          <a:prstGeom prst="rect">
            <a:avLst/>
          </a:prstGeom>
          <a:noFill/>
          <a:ln w="0">
            <a:noFill/>
          </a:ln>
        </p:spPr>
        <p:txBody>
          <a:bodyPr wrap="square" lIns="0" tIns="0" rIns="0" bIns="0" anchor="t">
            <a:noAutofit/>
          </a:bodyPr>
          <a:lstStyle>
            <a:defPPr algn="l">
              <a:defRPr sz="2550" b="0">
                <a:solidFill>
                  <a:srgbClr val="162237"/>
                </a:solidFill>
                <a:latin typeface="Courier New"/>
                <a:ea typeface="Courier New"/>
                <a:cs typeface="Courier New"/>
              </a:defRPr>
            </a:defPPr>
            <a:lvl1pPr algn="l">
              <a:buNone/>
              <a:defRPr sz="2550" b="0">
                <a:solidFill>
                  <a:srgbClr val="162237"/>
                </a:solidFill>
                <a:latin typeface="Courier New"/>
                <a:ea typeface="Courier New"/>
                <a:cs typeface="Courier New"/>
              </a:defRPr>
            </a:lvl1pPr>
            <a:lvl2pPr algn="l">
              <a:buNone/>
              <a:defRPr sz="2550" b="0">
                <a:solidFill>
                  <a:srgbClr val="162237"/>
                </a:solidFill>
                <a:latin typeface="Courier New"/>
                <a:ea typeface="Courier New"/>
                <a:cs typeface="Courier New"/>
              </a:defRPr>
            </a:lvl2pPr>
            <a:lvl3pPr algn="l">
              <a:buNone/>
              <a:defRPr sz="2550" b="0">
                <a:solidFill>
                  <a:srgbClr val="162237"/>
                </a:solidFill>
                <a:latin typeface="Courier New"/>
                <a:ea typeface="Courier New"/>
                <a:cs typeface="Courier New"/>
              </a:defRPr>
            </a:lvl3pPr>
            <a:lvl4pPr algn="l">
              <a:buNone/>
              <a:defRPr sz="2550" b="0">
                <a:solidFill>
                  <a:srgbClr val="162237"/>
                </a:solidFill>
                <a:latin typeface="Courier New"/>
                <a:ea typeface="Courier New"/>
                <a:cs typeface="Courier New"/>
              </a:defRPr>
            </a:lvl4pPr>
            <a:lvl5pPr algn="l">
              <a:buNone/>
              <a:defRPr sz="2550" b="0">
                <a:solidFill>
                  <a:srgbClr val="162237"/>
                </a:solidFill>
                <a:latin typeface="Courier New"/>
                <a:ea typeface="Courier New"/>
                <a:cs typeface="Courier New"/>
              </a:defRPr>
            </a:lvl5pPr>
            <a:lvl6pPr algn="l">
              <a:buNone/>
              <a:defRPr sz="2550" b="0">
                <a:solidFill>
                  <a:srgbClr val="162237"/>
                </a:solidFill>
                <a:latin typeface="Courier New"/>
                <a:ea typeface="Courier New"/>
                <a:cs typeface="Courier New"/>
              </a:defRPr>
            </a:lvl6pPr>
            <a:lvl7pPr algn="l">
              <a:buNone/>
              <a:defRPr sz="2550" b="0">
                <a:solidFill>
                  <a:srgbClr val="162237"/>
                </a:solidFill>
                <a:latin typeface="Courier New"/>
                <a:ea typeface="Courier New"/>
                <a:cs typeface="Courier New"/>
              </a:defRPr>
            </a:lvl7pPr>
            <a:lvl8pPr algn="l">
              <a:buNone/>
              <a:defRPr sz="2550" b="0">
                <a:solidFill>
                  <a:srgbClr val="162237"/>
                </a:solidFill>
                <a:latin typeface="Courier New"/>
                <a:ea typeface="Courier New"/>
                <a:cs typeface="Courier New"/>
              </a:defRPr>
            </a:lvl8pPr>
            <a:lvl9pPr algn="l">
              <a:buNone/>
              <a:defRPr sz="2550" b="0">
                <a:solidFill>
                  <a:srgbClr val="162237"/>
                </a:solidFill>
                <a:latin typeface="Courier New"/>
                <a:ea typeface="Courier New"/>
                <a:cs typeface="Courier New"/>
              </a:defRPr>
            </a:lvl9pPr>
          </a:lstStyle>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print(value)</a:t>
            </a:r>
          </a:p>
          <a:p>
            <a:endParaRPr sz="2550" b="0">
              <a:solidFill>
                <a:srgbClr val="162237"/>
              </a:solidFill>
              <a:latin typeface="Courier New"/>
              <a:ea typeface="Courier New"/>
              <a:cs typeface="Courier New"/>
            </a:endParaRPr>
          </a:p>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console.log(value);</a:t>
            </a:r>
          </a:p>
          <a:p>
            <a:endParaRPr sz="2550" b="0">
              <a:solidFill>
                <a:srgbClr val="162237"/>
              </a:solidFill>
              <a:latin typeface="Courier New"/>
              <a:ea typeface="Courier New"/>
              <a:cs typeface="Courier New"/>
            </a:endParaRPr>
          </a:p>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System.out.println(value);</a:t>
            </a:r>
          </a:p>
          <a:p>
            <a:endParaRPr sz="2550" b="0">
              <a:solidFill>
                <a:srgbClr val="162237"/>
              </a:solidFill>
              <a:latin typeface="Courier New"/>
              <a:ea typeface="Courier New"/>
              <a:cs typeface="Courier New"/>
            </a:endParaRPr>
          </a:p>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PRINT value</a:t>
            </a:r>
          </a:p>
        </p:txBody>
      </p:sp>
      <p:sp>
        <p:nvSpPr>
          <p:cNvPr id="5" name="Output">
            <a:extLst>
              <a:ext uri="{FF2B5EF4-FFF2-40B4-BE49-F238E27FC236}">
                <a16:creationId xmlns:a16="http://schemas.microsoft.com/office/drawing/2014/main" id="{527E15D2-6EC7-4EDB-A989-E236954430EF}"/>
              </a:ext>
            </a:extLst>
          </p:cNvPr>
          <p:cNvSpPr>
            <a:spLocks noGrp="1"/>
          </p:cNvSpPr>
          <p:nvPr/>
        </p:nvSpPr>
        <p:spPr>
          <a:xfrm>
            <a:off x="9620250" y="3524250"/>
            <a:ext cx="4476750" cy="2095500"/>
          </a:xfrm>
          <a:prstGeom prst="rect">
            <a:avLst/>
          </a:prstGeom>
          <a:solidFill>
            <a:srgbClr val="DDF2EC"/>
          </a:solidFill>
          <a:ln w="16193">
            <a:solidFill>
              <a:srgbClr val="147B70"/>
            </a:solidFill>
          </a:ln>
        </p:spPr>
        <p:txBody>
          <a:bodyPr/>
          <a:lstStyle/>
          <a:p>
            <a:endParaRPr lang="en-US"/>
          </a:p>
        </p:txBody>
      </p:sp>
      <p:sp>
        <p:nvSpPr>
          <p:cNvPr id="6" name="Output">
            <a:extLst>
              <a:ext uri="{FF2B5EF4-FFF2-40B4-BE49-F238E27FC236}">
                <a16:creationId xmlns:a16="http://schemas.microsoft.com/office/drawing/2014/main" id="{0CDCB9D1-418F-4C97-981F-E1CE16134067}"/>
              </a:ext>
            </a:extLst>
          </p:cNvPr>
          <p:cNvSpPr>
            <a:spLocks noGrp="1"/>
          </p:cNvSpPr>
          <p:nvPr/>
        </p:nvSpPr>
        <p:spPr>
          <a:xfrm>
            <a:off x="9810750" y="3695700"/>
            <a:ext cx="4095750" cy="533400"/>
          </a:xfrm>
          <a:prstGeom prst="rect">
            <a:avLst/>
          </a:prstGeom>
          <a:noFill/>
          <a:ln w="0">
            <a:noFill/>
          </a:ln>
        </p:spPr>
        <p:txBody>
          <a:bodyPr wrap="square" lIns="0" tIns="0" rIns="0" bIns="0" anchor="t">
            <a:noAutofit/>
          </a:bodyPr>
          <a:lstStyle>
            <a:defPPr algn="l">
              <a:defRPr sz="3150" b="1">
                <a:solidFill>
                  <a:srgbClr val="17273C"/>
                </a:solidFill>
                <a:latin typeface="Arial"/>
                <a:ea typeface="Arial"/>
                <a:cs typeface="Arial"/>
              </a:defRPr>
            </a:defPPr>
            <a:lvl1pPr algn="l">
              <a:buNone/>
              <a:defRPr sz="3150" b="1">
                <a:solidFill>
                  <a:srgbClr val="17273C"/>
                </a:solidFill>
                <a:latin typeface="Arial"/>
                <a:ea typeface="Arial"/>
                <a:cs typeface="Arial"/>
              </a:defRPr>
            </a:lvl1pPr>
            <a:lvl2pPr algn="l">
              <a:buNone/>
              <a:defRPr sz="3150" b="1">
                <a:solidFill>
                  <a:srgbClr val="17273C"/>
                </a:solidFill>
                <a:latin typeface="Arial"/>
                <a:ea typeface="Arial"/>
                <a:cs typeface="Arial"/>
              </a:defRPr>
            </a:lvl2pPr>
            <a:lvl3pPr algn="l">
              <a:buNone/>
              <a:defRPr sz="3150" b="1">
                <a:solidFill>
                  <a:srgbClr val="17273C"/>
                </a:solidFill>
                <a:latin typeface="Arial"/>
                <a:ea typeface="Arial"/>
                <a:cs typeface="Arial"/>
              </a:defRPr>
            </a:lvl3pPr>
            <a:lvl4pPr algn="l">
              <a:buNone/>
              <a:defRPr sz="3150" b="1">
                <a:solidFill>
                  <a:srgbClr val="17273C"/>
                </a:solidFill>
                <a:latin typeface="Arial"/>
                <a:ea typeface="Arial"/>
                <a:cs typeface="Arial"/>
              </a:defRPr>
            </a:lvl4pPr>
            <a:lvl5pPr algn="l">
              <a:buNone/>
              <a:defRPr sz="3150" b="1">
                <a:solidFill>
                  <a:srgbClr val="17273C"/>
                </a:solidFill>
                <a:latin typeface="Arial"/>
                <a:ea typeface="Arial"/>
                <a:cs typeface="Arial"/>
              </a:defRPr>
            </a:lvl5pPr>
            <a:lvl6pPr algn="l">
              <a:buNone/>
              <a:defRPr sz="3150" b="1">
                <a:solidFill>
                  <a:srgbClr val="17273C"/>
                </a:solidFill>
                <a:latin typeface="Arial"/>
                <a:ea typeface="Arial"/>
                <a:cs typeface="Arial"/>
              </a:defRPr>
            </a:lvl6pPr>
            <a:lvl7pPr algn="l">
              <a:buNone/>
              <a:defRPr sz="3150" b="1">
                <a:solidFill>
                  <a:srgbClr val="17273C"/>
                </a:solidFill>
                <a:latin typeface="Arial"/>
                <a:ea typeface="Arial"/>
                <a:cs typeface="Arial"/>
              </a:defRPr>
            </a:lvl7pPr>
            <a:lvl8pPr algn="l">
              <a:buNone/>
              <a:defRPr sz="3150" b="1">
                <a:solidFill>
                  <a:srgbClr val="17273C"/>
                </a:solidFill>
                <a:latin typeface="Arial"/>
                <a:ea typeface="Arial"/>
                <a:cs typeface="Arial"/>
              </a:defRPr>
            </a:lvl8pPr>
            <a:lvl9pPr algn="l">
              <a:buNone/>
              <a:defRPr sz="3150" b="1">
                <a:solidFill>
                  <a:srgbClr val="17273C"/>
                </a:solidFill>
                <a:latin typeface="Arial"/>
                <a:ea typeface="Arial"/>
                <a:cs typeface="Arial"/>
              </a:defRPr>
            </a:lvl9pPr>
          </a:lstStyle>
          <a:p>
            <a:pPr algn="l">
              <a:buNone/>
              <a:defRPr sz="3150" b="1">
                <a:solidFill>
                  <a:srgbClr val="17273C"/>
                </a:solidFill>
                <a:latin typeface="Arial"/>
                <a:ea typeface="Arial"/>
                <a:cs typeface="Arial"/>
              </a:defRPr>
            </a:pPr>
            <a:r>
              <a:rPr sz="3150" b="1">
                <a:solidFill>
                  <a:srgbClr val="17273C"/>
                </a:solidFill>
                <a:latin typeface="Arial"/>
                <a:ea typeface="Arial"/>
                <a:cs typeface="Arial"/>
              </a:rPr>
              <a:t>Output</a:t>
            </a:r>
          </a:p>
        </p:txBody>
      </p:sp>
      <p:sp>
        <p:nvSpPr>
          <p:cNvPr id="7" name="args: [Name(&quot;value&quot;)]&#10;ending: newline">
            <a:extLst>
              <a:ext uri="{FF2B5EF4-FFF2-40B4-BE49-F238E27FC236}">
                <a16:creationId xmlns:a16="http://schemas.microsoft.com/office/drawing/2014/main" id="{4BDB96E0-32F7-47D6-9D7B-228F9FD0981F}"/>
              </a:ext>
            </a:extLst>
          </p:cNvPr>
          <p:cNvSpPr>
            <a:spLocks noGrp="1"/>
          </p:cNvSpPr>
          <p:nvPr/>
        </p:nvSpPr>
        <p:spPr>
          <a:xfrm>
            <a:off x="9810750" y="4248150"/>
            <a:ext cx="4095750" cy="131445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args: [Name("value")]</a:t>
            </a:r>
          </a:p>
          <a:p>
            <a:pPr algn="l">
              <a:buNone/>
              <a:defRPr sz="1875" b="0">
                <a:solidFill>
                  <a:srgbClr val="596577"/>
                </a:solidFill>
                <a:latin typeface="Arial"/>
                <a:ea typeface="Arial"/>
                <a:cs typeface="Arial"/>
              </a:defRPr>
            </a:pPr>
            <a:r>
              <a:rPr sz="1875" b="0">
                <a:solidFill>
                  <a:srgbClr val="596577"/>
                </a:solidFill>
                <a:latin typeface="Arial"/>
                <a:ea typeface="Arial"/>
                <a:cs typeface="Arial"/>
              </a:rPr>
              <a:t>ending: newline</a:t>
            </a:r>
          </a:p>
        </p:txBody>
      </p:sp>
      <p:sp>
        <p:nvSpPr>
          <p:cNvPr id="9" name="One AST node kind">
            <a:extLst>
              <a:ext uri="{FF2B5EF4-FFF2-40B4-BE49-F238E27FC236}">
                <a16:creationId xmlns:a16="http://schemas.microsoft.com/office/drawing/2014/main" id="{288F71D0-6B39-46E5-A644-7CCA5C106757}"/>
              </a:ext>
            </a:extLst>
          </p:cNvPr>
          <p:cNvSpPr>
            <a:spLocks noGrp="1"/>
          </p:cNvSpPr>
          <p:nvPr/>
        </p:nvSpPr>
        <p:spPr>
          <a:xfrm>
            <a:off x="9620250" y="6286500"/>
            <a:ext cx="4476750" cy="476250"/>
          </a:xfrm>
          <a:prstGeom prst="rect">
            <a:avLst/>
          </a:prstGeom>
          <a:noFill/>
          <a:ln w="0">
            <a:noFill/>
          </a:ln>
        </p:spPr>
        <p:txBody>
          <a:bodyPr wrap="square" lIns="0" tIns="0" rIns="0" bIns="0" anchor="t">
            <a:noAutofit/>
          </a:bodyPr>
          <a:lstStyle>
            <a:defPPr algn="l">
              <a:defRPr sz="2550" b="1">
                <a:solidFill>
                  <a:srgbClr val="147B70"/>
                </a:solidFill>
                <a:latin typeface="Arial"/>
                <a:ea typeface="Arial"/>
                <a:cs typeface="Arial"/>
              </a:defRPr>
            </a:defPPr>
            <a:lvl1pPr algn="l">
              <a:buNone/>
              <a:defRPr sz="2550" b="1">
                <a:solidFill>
                  <a:srgbClr val="147B70"/>
                </a:solidFill>
                <a:latin typeface="Arial"/>
                <a:ea typeface="Arial"/>
                <a:cs typeface="Arial"/>
              </a:defRPr>
            </a:lvl1pPr>
            <a:lvl2pPr algn="l">
              <a:buNone/>
              <a:defRPr sz="2550" b="1">
                <a:solidFill>
                  <a:srgbClr val="147B70"/>
                </a:solidFill>
                <a:latin typeface="Arial"/>
                <a:ea typeface="Arial"/>
                <a:cs typeface="Arial"/>
              </a:defRPr>
            </a:lvl2pPr>
            <a:lvl3pPr algn="l">
              <a:buNone/>
              <a:defRPr sz="2550" b="1">
                <a:solidFill>
                  <a:srgbClr val="147B70"/>
                </a:solidFill>
                <a:latin typeface="Arial"/>
                <a:ea typeface="Arial"/>
                <a:cs typeface="Arial"/>
              </a:defRPr>
            </a:lvl3pPr>
            <a:lvl4pPr algn="l">
              <a:buNone/>
              <a:defRPr sz="2550" b="1">
                <a:solidFill>
                  <a:srgbClr val="147B70"/>
                </a:solidFill>
                <a:latin typeface="Arial"/>
                <a:ea typeface="Arial"/>
                <a:cs typeface="Arial"/>
              </a:defRPr>
            </a:lvl4pPr>
            <a:lvl5pPr algn="l">
              <a:buNone/>
              <a:defRPr sz="2550" b="1">
                <a:solidFill>
                  <a:srgbClr val="147B70"/>
                </a:solidFill>
                <a:latin typeface="Arial"/>
                <a:ea typeface="Arial"/>
                <a:cs typeface="Arial"/>
              </a:defRPr>
            </a:lvl5pPr>
            <a:lvl6pPr algn="l">
              <a:buNone/>
              <a:defRPr sz="2550" b="1">
                <a:solidFill>
                  <a:srgbClr val="147B70"/>
                </a:solidFill>
                <a:latin typeface="Arial"/>
                <a:ea typeface="Arial"/>
                <a:cs typeface="Arial"/>
              </a:defRPr>
            </a:lvl6pPr>
            <a:lvl7pPr algn="l">
              <a:buNone/>
              <a:defRPr sz="2550" b="1">
                <a:solidFill>
                  <a:srgbClr val="147B70"/>
                </a:solidFill>
                <a:latin typeface="Arial"/>
                <a:ea typeface="Arial"/>
                <a:cs typeface="Arial"/>
              </a:defRPr>
            </a:lvl7pPr>
            <a:lvl8pPr algn="l">
              <a:buNone/>
              <a:defRPr sz="2550" b="1">
                <a:solidFill>
                  <a:srgbClr val="147B70"/>
                </a:solidFill>
                <a:latin typeface="Arial"/>
                <a:ea typeface="Arial"/>
                <a:cs typeface="Arial"/>
              </a:defRPr>
            </a:lvl8pPr>
            <a:lvl9pPr algn="l">
              <a:buNone/>
              <a:defRPr sz="2550" b="1">
                <a:solidFill>
                  <a:srgbClr val="147B70"/>
                </a:solidFill>
                <a:latin typeface="Arial"/>
                <a:ea typeface="Arial"/>
                <a:cs typeface="Arial"/>
              </a:defRPr>
            </a:lvl9pPr>
          </a:lstStyle>
          <a:p>
            <a:pPr algn="l">
              <a:buNone/>
              <a:defRPr sz="2550" b="1">
                <a:solidFill>
                  <a:srgbClr val="147B70"/>
                </a:solidFill>
                <a:latin typeface="Arial"/>
                <a:ea typeface="Arial"/>
                <a:cs typeface="Arial"/>
              </a:defRPr>
            </a:pPr>
            <a:r>
              <a:rPr sz="2550" b="1">
                <a:solidFill>
                  <a:srgbClr val="147B70"/>
                </a:solidFill>
                <a:latin typeface="Arial"/>
                <a:ea typeface="Arial"/>
                <a:cs typeface="Arial"/>
              </a:rPr>
              <a:t>One AST node kind</a:t>
            </a:r>
          </a:p>
        </p:txBody>
      </p:sp>
      <p:sp>
        <p:nvSpPr>
          <p:cNvPr id="10" name="Restricted printf additionally lowers explicit formatti">
            <a:extLst>
              <a:ext uri="{FF2B5EF4-FFF2-40B4-BE49-F238E27FC236}">
                <a16:creationId xmlns:a16="http://schemas.microsoft.com/office/drawing/2014/main" id="{81B15E1B-883F-4E8A-8FE2-5CC4FE99DA11}"/>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Restricted printf additionally lowers explicit formatting operations.</a:t>
            </a:r>
          </a:p>
        </p:txBody>
      </p:sp>
    </p:spTree>
    <p:extLst>
      <p:ext uri="{BB962C8B-B14F-4D97-AF65-F5344CB8AC3E}">
        <p14:creationId xmlns:p14="http://schemas.microsoft.com/office/powerpoint/2010/main" val="3761135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0" name="Structured blocks across syntax families">
            <a:extLst>
              <a:ext uri="{FF2B5EF4-FFF2-40B4-BE49-F238E27FC236}">
                <a16:creationId xmlns:a16="http://schemas.microsoft.com/office/drawing/2014/main" id="{8AB7D59F-A255-4F81-BBD1-215D83E953C4}"/>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Structured blocks across syntax families</a:t>
            </a:r>
          </a:p>
        </p:txBody>
      </p:sp>
      <p:sp>
        <p:nvSpPr>
          <p:cNvPr id="2" name="The parser tracks suites in their surrounding block con">
            <a:extLst>
              <a:ext uri="{FF2B5EF4-FFF2-40B4-BE49-F238E27FC236}">
                <a16:creationId xmlns:a16="http://schemas.microsoft.com/office/drawing/2014/main" id="{F8E25366-7DF0-4506-A5CE-2A4F17872A6E}"/>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The parser tracks suites in their surrounding block context</a:t>
            </a:r>
          </a:p>
        </p:txBody>
      </p:sp>
      <p:sp>
        <p:nvSpPr>
          <p:cNvPr id="3" name="11">
            <a:extLst>
              <a:ext uri="{FF2B5EF4-FFF2-40B4-BE49-F238E27FC236}">
                <a16:creationId xmlns:a16="http://schemas.microsoft.com/office/drawing/2014/main" id="{11459FA5-25A1-414F-A617-A16EB04B436F}"/>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11</a:t>
            </a:r>
          </a:p>
        </p:txBody>
      </p:sp>
      <p:sp>
        <p:nvSpPr>
          <p:cNvPr id="4" name="int score = 0;&#10;&#10;for (int i = 0; i &lt; 4; i++) {&#10;    if i ">
            <a:extLst>
              <a:ext uri="{FF2B5EF4-FFF2-40B4-BE49-F238E27FC236}">
                <a16:creationId xmlns:a16="http://schemas.microsoft.com/office/drawing/2014/main" id="{4F1F89BB-3DE4-45B8-8C53-A7BB24FEBC0C}"/>
              </a:ext>
            </a:extLst>
          </p:cNvPr>
          <p:cNvSpPr>
            <a:spLocks noGrp="1"/>
          </p:cNvSpPr>
          <p:nvPr/>
        </p:nvSpPr>
        <p:spPr>
          <a:xfrm>
            <a:off x="781050" y="2571750"/>
            <a:ext cx="9239250" cy="4429125"/>
          </a:xfrm>
          <a:prstGeom prst="rect">
            <a:avLst/>
          </a:prstGeom>
          <a:noFill/>
          <a:ln w="0">
            <a:noFill/>
          </a:ln>
        </p:spPr>
        <p:txBody>
          <a:bodyPr wrap="square" lIns="0" tIns="0" rIns="0" bIns="0" anchor="t">
            <a:noAutofit/>
          </a:bodyPr>
          <a:lstStyle>
            <a:defPPr algn="l">
              <a:defRPr sz="2475" b="0">
                <a:solidFill>
                  <a:srgbClr val="162237"/>
                </a:solidFill>
                <a:latin typeface="Courier New"/>
                <a:ea typeface="Courier New"/>
                <a:cs typeface="Courier New"/>
              </a:defRPr>
            </a:defPPr>
            <a:lvl1pPr algn="l">
              <a:buNone/>
              <a:defRPr sz="2475" b="0">
                <a:solidFill>
                  <a:srgbClr val="162237"/>
                </a:solidFill>
                <a:latin typeface="Courier New"/>
                <a:ea typeface="Courier New"/>
                <a:cs typeface="Courier New"/>
              </a:defRPr>
            </a:lvl1pPr>
            <a:lvl2pPr algn="l">
              <a:buNone/>
              <a:defRPr sz="2475" b="0">
                <a:solidFill>
                  <a:srgbClr val="162237"/>
                </a:solidFill>
                <a:latin typeface="Courier New"/>
                <a:ea typeface="Courier New"/>
                <a:cs typeface="Courier New"/>
              </a:defRPr>
            </a:lvl2pPr>
            <a:lvl3pPr algn="l">
              <a:buNone/>
              <a:defRPr sz="2475" b="0">
                <a:solidFill>
                  <a:srgbClr val="162237"/>
                </a:solidFill>
                <a:latin typeface="Courier New"/>
                <a:ea typeface="Courier New"/>
                <a:cs typeface="Courier New"/>
              </a:defRPr>
            </a:lvl3pPr>
            <a:lvl4pPr algn="l">
              <a:buNone/>
              <a:defRPr sz="2475" b="0">
                <a:solidFill>
                  <a:srgbClr val="162237"/>
                </a:solidFill>
                <a:latin typeface="Courier New"/>
                <a:ea typeface="Courier New"/>
                <a:cs typeface="Courier New"/>
              </a:defRPr>
            </a:lvl4pPr>
            <a:lvl5pPr algn="l">
              <a:buNone/>
              <a:defRPr sz="2475" b="0">
                <a:solidFill>
                  <a:srgbClr val="162237"/>
                </a:solidFill>
                <a:latin typeface="Courier New"/>
                <a:ea typeface="Courier New"/>
                <a:cs typeface="Courier New"/>
              </a:defRPr>
            </a:lvl5pPr>
            <a:lvl6pPr algn="l">
              <a:buNone/>
              <a:defRPr sz="2475" b="0">
                <a:solidFill>
                  <a:srgbClr val="162237"/>
                </a:solidFill>
                <a:latin typeface="Courier New"/>
                <a:ea typeface="Courier New"/>
                <a:cs typeface="Courier New"/>
              </a:defRPr>
            </a:lvl6pPr>
            <a:lvl7pPr algn="l">
              <a:buNone/>
              <a:defRPr sz="2475" b="0">
                <a:solidFill>
                  <a:srgbClr val="162237"/>
                </a:solidFill>
                <a:latin typeface="Courier New"/>
                <a:ea typeface="Courier New"/>
                <a:cs typeface="Courier New"/>
              </a:defRPr>
            </a:lvl7pPr>
            <a:lvl8pPr algn="l">
              <a:buNone/>
              <a:defRPr sz="2475" b="0">
                <a:solidFill>
                  <a:srgbClr val="162237"/>
                </a:solidFill>
                <a:latin typeface="Courier New"/>
                <a:ea typeface="Courier New"/>
                <a:cs typeface="Courier New"/>
              </a:defRPr>
            </a:lvl8pPr>
            <a:lvl9pPr algn="l">
              <a:buNone/>
              <a:defRPr sz="2475" b="0">
                <a:solidFill>
                  <a:srgbClr val="162237"/>
                </a:solidFill>
                <a:latin typeface="Courier New"/>
                <a:ea typeface="Courier New"/>
                <a:cs typeface="Courier New"/>
              </a:defRPr>
            </a:lvl9pPr>
          </a:lstStyle>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int score = 0;</a:t>
            </a:r>
          </a:p>
          <a:p>
            <a:endParaRPr sz="2475" b="0">
              <a:solidFill>
                <a:srgbClr val="162237"/>
              </a:solidFill>
              <a:latin typeface="Courier New"/>
              <a:ea typeface="Courier New"/>
              <a:cs typeface="Courier New"/>
            </a:endParaRP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for (int i = 0; i &lt; 4; i++) {</a:t>
            </a: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    if i % 2 == 0:</a:t>
            </a: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        score += i</a:t>
            </a: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    else:</a:t>
            </a: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        score += 10</a:t>
            </a: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a:t>
            </a:r>
          </a:p>
          <a:p>
            <a:endParaRPr sz="2475" b="0">
              <a:solidFill>
                <a:srgbClr val="162237"/>
              </a:solidFill>
              <a:latin typeface="Courier New"/>
              <a:ea typeface="Courier New"/>
              <a:cs typeface="Courier New"/>
            </a:endParaRP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print(score)</a:t>
            </a:r>
          </a:p>
        </p:txBody>
      </p:sp>
      <p:sp>
        <p:nvSpPr>
          <p:cNvPr id="5" name="C-style outer loop">
            <a:extLst>
              <a:ext uri="{FF2B5EF4-FFF2-40B4-BE49-F238E27FC236}">
                <a16:creationId xmlns:a16="http://schemas.microsoft.com/office/drawing/2014/main" id="{B6ED2312-68F0-4FF3-B206-35CB574E9ACF}"/>
              </a:ext>
            </a:extLst>
          </p:cNvPr>
          <p:cNvSpPr>
            <a:spLocks noGrp="1"/>
          </p:cNvSpPr>
          <p:nvPr/>
        </p:nvSpPr>
        <p:spPr>
          <a:xfrm>
            <a:off x="10668000" y="2905125"/>
            <a:ext cx="37147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C-style outer loop</a:t>
            </a:r>
          </a:p>
        </p:txBody>
      </p:sp>
      <p:sp>
        <p:nvSpPr>
          <p:cNvPr id="6" name="Braces delimit the loop body.">
            <a:extLst>
              <a:ext uri="{FF2B5EF4-FFF2-40B4-BE49-F238E27FC236}">
                <a16:creationId xmlns:a16="http://schemas.microsoft.com/office/drawing/2014/main" id="{089C2DB0-19E6-4863-B4CE-773266F90DEA}"/>
              </a:ext>
            </a:extLst>
          </p:cNvPr>
          <p:cNvSpPr>
            <a:spLocks noGrp="1"/>
          </p:cNvSpPr>
          <p:nvPr/>
        </p:nvSpPr>
        <p:spPr>
          <a:xfrm>
            <a:off x="10668000" y="3524250"/>
            <a:ext cx="37147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Braces delimit the loop body.</a:t>
            </a:r>
          </a:p>
        </p:txBody>
      </p:sp>
      <p:sp>
        <p:nvSpPr>
          <p:cNvPr id="7" name="Inner branch">
            <a:extLst>
              <a:ext uri="{FF2B5EF4-FFF2-40B4-BE49-F238E27FC236}">
                <a16:creationId xmlns:a16="http://schemas.microsoft.com/office/drawing/2014/main" id="{51A3B5E0-21FF-41D1-8C72-0EE07FF8A570}"/>
              </a:ext>
            </a:extLst>
          </p:cNvPr>
          <p:cNvSpPr>
            <a:spLocks noGrp="1"/>
          </p:cNvSpPr>
          <p:nvPr/>
        </p:nvSpPr>
        <p:spPr>
          <a:xfrm>
            <a:off x="10668000" y="5095875"/>
            <a:ext cx="37147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Inner branch</a:t>
            </a:r>
          </a:p>
        </p:txBody>
      </p:sp>
      <p:sp>
        <p:nvSpPr>
          <p:cNvPr id="8" name="Indentation delimits each suite.">
            <a:extLst>
              <a:ext uri="{FF2B5EF4-FFF2-40B4-BE49-F238E27FC236}">
                <a16:creationId xmlns:a16="http://schemas.microsoft.com/office/drawing/2014/main" id="{F823B87F-1181-4885-A915-58F295933944}"/>
              </a:ext>
            </a:extLst>
          </p:cNvPr>
          <p:cNvSpPr>
            <a:spLocks noGrp="1"/>
          </p:cNvSpPr>
          <p:nvPr/>
        </p:nvSpPr>
        <p:spPr>
          <a:xfrm>
            <a:off x="10668000" y="5715000"/>
            <a:ext cx="37147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Indentation delimits each suite.</a:t>
            </a:r>
          </a:p>
        </p:txBody>
      </p:sp>
      <p:sp>
        <p:nvSpPr>
          <p:cNvPr id="9" name="examples/mixed_nesting.poly prints 22.">
            <a:extLst>
              <a:ext uri="{FF2B5EF4-FFF2-40B4-BE49-F238E27FC236}">
                <a16:creationId xmlns:a16="http://schemas.microsoft.com/office/drawing/2014/main" id="{E29DC5E5-85A2-4350-BD8D-E7D8FF68DEBF}"/>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examples/mixed_nesting.poly prints 22.</a:t>
            </a:r>
          </a:p>
        </p:txBody>
      </p:sp>
    </p:spTree>
    <p:extLst>
      <p:ext uri="{BB962C8B-B14F-4D97-AF65-F5344CB8AC3E}">
        <p14:creationId xmlns:p14="http://schemas.microsoft.com/office/powerpoint/2010/main" val="79027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7" name="Semantic analysis and the symbol table">
            <a:extLst>
              <a:ext uri="{FF2B5EF4-FFF2-40B4-BE49-F238E27FC236}">
                <a16:creationId xmlns:a16="http://schemas.microsoft.com/office/drawing/2014/main" id="{41C81130-6461-4034-86CB-A32B3C26CCEA}"/>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Semantic analysis and the symbol table</a:t>
            </a:r>
          </a:p>
        </p:txBody>
      </p:sp>
      <p:sp>
        <p:nvSpPr>
          <p:cNvPr id="2" name="Parsing checks structure. Semantic analysis checks mean">
            <a:extLst>
              <a:ext uri="{FF2B5EF4-FFF2-40B4-BE49-F238E27FC236}">
                <a16:creationId xmlns:a16="http://schemas.microsoft.com/office/drawing/2014/main" id="{9F64321D-E02D-4601-B233-52B77714ACA6}"/>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Parsing checks structure. Semantic analysis checks meaning.</a:t>
            </a:r>
          </a:p>
        </p:txBody>
      </p:sp>
      <p:sp>
        <p:nvSpPr>
          <p:cNvPr id="3" name="12">
            <a:extLst>
              <a:ext uri="{FF2B5EF4-FFF2-40B4-BE49-F238E27FC236}">
                <a16:creationId xmlns:a16="http://schemas.microsoft.com/office/drawing/2014/main" id="{36AAA7FA-50CB-409C-BF4E-DFA7D64DBE3A}"/>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12</a:t>
            </a:r>
          </a:p>
        </p:txBody>
      </p:sp>
      <p:sp>
        <p:nvSpPr>
          <p:cNvPr id="4" name="Name resolution and type checking annotate the AST befo">
            <a:extLst>
              <a:ext uri="{FF2B5EF4-FFF2-40B4-BE49-F238E27FC236}">
                <a16:creationId xmlns:a16="http://schemas.microsoft.com/office/drawing/2014/main" id="{7140C3FB-3ADA-4661-8CED-BAAE5BF221F2}"/>
              </a:ext>
            </a:extLst>
          </p:cNvPr>
          <p:cNvSpPr>
            <a:spLocks noGrp="1"/>
          </p:cNvSpPr>
          <p:nvPr/>
        </p:nvSpPr>
        <p:spPr>
          <a:xfrm>
            <a:off x="781050" y="2552700"/>
            <a:ext cx="13620750" cy="619125"/>
          </a:xfrm>
          <a:prstGeom prst="rect">
            <a:avLst/>
          </a:prstGeom>
          <a:noFill/>
          <a:ln w="0">
            <a:noFill/>
          </a:ln>
        </p:spPr>
        <p:txBody>
          <a:bodyPr wrap="square" lIns="0" tIns="0" rIns="0" bIns="0" anchor="t">
            <a:noAutofit/>
          </a:bodyPr>
          <a:lstStyle>
            <a:defPPr algn="l">
              <a:defRPr sz="2475" b="0">
                <a:solidFill>
                  <a:srgbClr val="17273C"/>
                </a:solidFill>
                <a:latin typeface="Arial"/>
                <a:ea typeface="Arial"/>
                <a:cs typeface="Arial"/>
              </a:defRPr>
            </a:defPPr>
            <a:lvl1pPr algn="l">
              <a:buNone/>
              <a:defRPr sz="2475" b="0">
                <a:solidFill>
                  <a:srgbClr val="17273C"/>
                </a:solidFill>
                <a:latin typeface="Arial"/>
                <a:ea typeface="Arial"/>
                <a:cs typeface="Arial"/>
              </a:defRPr>
            </a:lvl1pPr>
            <a:lvl2pPr algn="l">
              <a:buNone/>
              <a:defRPr sz="2475" b="0">
                <a:solidFill>
                  <a:srgbClr val="17273C"/>
                </a:solidFill>
                <a:latin typeface="Arial"/>
                <a:ea typeface="Arial"/>
                <a:cs typeface="Arial"/>
              </a:defRPr>
            </a:lvl2pPr>
            <a:lvl3pPr algn="l">
              <a:buNone/>
              <a:defRPr sz="2475" b="0">
                <a:solidFill>
                  <a:srgbClr val="17273C"/>
                </a:solidFill>
                <a:latin typeface="Arial"/>
                <a:ea typeface="Arial"/>
                <a:cs typeface="Arial"/>
              </a:defRPr>
            </a:lvl3pPr>
            <a:lvl4pPr algn="l">
              <a:buNone/>
              <a:defRPr sz="2475" b="0">
                <a:solidFill>
                  <a:srgbClr val="17273C"/>
                </a:solidFill>
                <a:latin typeface="Arial"/>
                <a:ea typeface="Arial"/>
                <a:cs typeface="Arial"/>
              </a:defRPr>
            </a:lvl4pPr>
            <a:lvl5pPr algn="l">
              <a:buNone/>
              <a:defRPr sz="2475" b="0">
                <a:solidFill>
                  <a:srgbClr val="17273C"/>
                </a:solidFill>
                <a:latin typeface="Arial"/>
                <a:ea typeface="Arial"/>
                <a:cs typeface="Arial"/>
              </a:defRPr>
            </a:lvl5pPr>
            <a:lvl6pPr algn="l">
              <a:buNone/>
              <a:defRPr sz="2475" b="0">
                <a:solidFill>
                  <a:srgbClr val="17273C"/>
                </a:solidFill>
                <a:latin typeface="Arial"/>
                <a:ea typeface="Arial"/>
                <a:cs typeface="Arial"/>
              </a:defRPr>
            </a:lvl6pPr>
            <a:lvl7pPr algn="l">
              <a:buNone/>
              <a:defRPr sz="2475" b="0">
                <a:solidFill>
                  <a:srgbClr val="17273C"/>
                </a:solidFill>
                <a:latin typeface="Arial"/>
                <a:ea typeface="Arial"/>
                <a:cs typeface="Arial"/>
              </a:defRPr>
            </a:lvl7pPr>
            <a:lvl8pPr algn="l">
              <a:buNone/>
              <a:defRPr sz="2475" b="0">
                <a:solidFill>
                  <a:srgbClr val="17273C"/>
                </a:solidFill>
                <a:latin typeface="Arial"/>
                <a:ea typeface="Arial"/>
                <a:cs typeface="Arial"/>
              </a:defRPr>
            </a:lvl8pPr>
            <a:lvl9pPr algn="l">
              <a:buNone/>
              <a:defRPr sz="2475" b="0">
                <a:solidFill>
                  <a:srgbClr val="17273C"/>
                </a:solidFill>
                <a:latin typeface="Arial"/>
                <a:ea typeface="Arial"/>
                <a:cs typeface="Arial"/>
              </a:defRPr>
            </a:lvl9pPr>
          </a:lstStyle>
          <a:p>
            <a:pPr algn="l">
              <a:buNone/>
              <a:defRPr sz="2475" b="0">
                <a:solidFill>
                  <a:srgbClr val="17273C"/>
                </a:solidFill>
                <a:latin typeface="Arial"/>
                <a:ea typeface="Arial"/>
                <a:cs typeface="Arial"/>
              </a:defRPr>
            </a:pPr>
            <a:r>
              <a:rPr sz="2475" b="0">
                <a:solidFill>
                  <a:srgbClr val="17273C"/>
                </a:solidFill>
                <a:latin typeface="Arial"/>
                <a:ea typeface="Arial"/>
                <a:cs typeface="Arial"/>
              </a:rPr>
              <a:t>Name resolution and type checking annotate the AST before IR generation.</a:t>
            </a:r>
          </a:p>
        </p:txBody>
      </p:sp>
      <p:graphicFrame>
        <p:nvGraphicFramePr>
          <p:cNvPr id="5" name="Table 4">
            <a:extLst>
              <a:ext uri="{FF2B5EF4-FFF2-40B4-BE49-F238E27FC236}">
                <a16:creationId xmlns:a16="http://schemas.microsoft.com/office/drawing/2014/main" id="{6652FFA9-C4F6-4750-BB85-0FFFB7C1FB44}"/>
              </a:ext>
            </a:extLst>
          </p:cNvPr>
          <p:cNvGraphicFramePr/>
          <p:nvPr/>
        </p:nvGraphicFramePr>
        <p:xfrm>
          <a:off x="781050" y="3714750"/>
          <a:ext cx="13620750" cy="3333750"/>
        </p:xfrm>
        <a:graphic>
          <a:graphicData uri="http://schemas.openxmlformats.org/drawingml/2006/table">
            <a:tbl>
              <a:tblPr/>
              <a:tblGrid>
                <a:gridCol w="3238500">
                  <a:extLst>
                    <a:ext uri="{9D8B030D-6E8A-4147-A177-3AD203B41FA5}">
                      <a16:colId xmlns:a16="http://schemas.microsoft.com/office/drawing/2014/main" val="20000"/>
                    </a:ext>
                  </a:extLst>
                </a:gridCol>
                <a:gridCol w="3524250">
                  <a:extLst>
                    <a:ext uri="{9D8B030D-6E8A-4147-A177-3AD203B41FA5}">
                      <a16:colId xmlns:a16="http://schemas.microsoft.com/office/drawing/2014/main" val="20001"/>
                    </a:ext>
                  </a:extLst>
                </a:gridCol>
                <a:gridCol w="3619500">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55625">
                <a:tc>
                  <a:txBody>
                    <a:bodyPr/>
                    <a:lstStyle/>
                    <a:p>
                      <a:r>
                        <a:rPr sz="2250" b="1">
                          <a:solidFill>
                            <a:srgbClr val="17273C"/>
                          </a:solidFill>
                          <a:latin typeface="Arial"/>
                          <a:ea typeface="Arial"/>
                          <a:cs typeface="Arial"/>
                        </a:rPr>
                        <a:t>Binding</a:t>
                      </a:r>
                    </a:p>
                  </a:txBody>
                  <a:tcPr anchor="ctr">
                    <a:lnL w="7620">
                      <a:solidFill>
                        <a:srgbClr val="CDD3D9"/>
                      </a:solidFill>
                      <a:prstDash val="soli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250" b="1">
                          <a:solidFill>
                            <a:srgbClr val="17273C"/>
                          </a:solidFill>
                          <a:latin typeface="Arial"/>
                          <a:ea typeface="Arial"/>
                          <a:cs typeface="Arial"/>
                        </a:rPr>
                        <a:t>Checked type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250" b="1">
                          <a:solidFill>
                            <a:srgbClr val="17273C"/>
                          </a:solidFill>
                          <a:latin typeface="Arial"/>
                          <a:ea typeface="Arial"/>
                          <a:cs typeface="Arial"/>
                        </a:rPr>
                        <a:t>Role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250" b="1">
                          <a:solidFill>
                            <a:srgbClr val="17273C"/>
                          </a:solidFill>
                          <a:latin typeface="Arial"/>
                          <a:ea typeface="Arial"/>
                          <a:cs typeface="Arial"/>
                        </a:rPr>
                        <a:t>Storage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extLst>
                  <a:ext uri="{0D108BD9-81ED-4DB2-BD59-A6C34878D82A}">
                    <a16:rowId xmlns:a16="http://schemas.microsoft.com/office/drawing/2014/main" val="10000"/>
                  </a:ext>
                </a:extLst>
              </a:tr>
              <a:tr h="555625">
                <a:tc>
                  <a:txBody>
                    <a:bodyPr/>
                    <a:lstStyle/>
                    <a:p>
                      <a:r>
                        <a:rPr sz="2250" b="0">
                          <a:solidFill>
                            <a:srgbClr val="17273C"/>
                          </a:solidFill>
                          <a:latin typeface="Arial"/>
                          <a:ea typeface="Arial"/>
                          <a:cs typeface="Arial"/>
                        </a:rPr>
                        <a:t>bonus</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int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Immutable binding</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global slot 0</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1"/>
                  </a:ext>
                </a:extLst>
              </a:tr>
              <a:tr h="555625">
                <a:tc>
                  <a:txBody>
                    <a:bodyPr/>
                    <a:lstStyle/>
                    <a:p>
                      <a:r>
                        <a:rPr sz="2250" b="0">
                          <a:solidFill>
                            <a:srgbClr val="17273C"/>
                          </a:solidFill>
                          <a:latin typeface="Arial"/>
                          <a:ea typeface="Arial"/>
                          <a:cs typeface="Arial"/>
                        </a:rPr>
                        <a:t>values</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int[]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Array variable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global slot 1</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2"/>
                  </a:ext>
                </a:extLst>
              </a:tr>
              <a:tr h="555625">
                <a:tc>
                  <a:txBody>
                    <a:bodyPr/>
                    <a:lstStyle/>
                    <a:p>
                      <a:r>
                        <a:rPr sz="2250" b="0">
                          <a:solidFill>
                            <a:srgbClr val="17273C"/>
                          </a:solidFill>
                          <a:latin typeface="Arial"/>
                          <a:ea typeface="Arial"/>
                          <a:cs typeface="Arial"/>
                        </a:rPr>
                        <a:t>sum_values</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(int[]) to int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Function</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function ID 1</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3"/>
                  </a:ext>
                </a:extLst>
              </a:tr>
              <a:tr h="555625">
                <a:tc>
                  <a:txBody>
                    <a:bodyPr/>
                    <a:lstStyle/>
                    <a:p>
                      <a:r>
                        <a:rPr sz="2250" b="0">
                          <a:solidFill>
                            <a:srgbClr val="17273C"/>
                          </a:solidFill>
                          <a:latin typeface="Arial"/>
                          <a:ea typeface="Arial"/>
                          <a:cs typeface="Arial"/>
                        </a:rPr>
                        <a:t>items</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int[]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Parameter</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local slot 0</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4"/>
                  </a:ext>
                </a:extLst>
              </a:tr>
              <a:tr h="555625">
                <a:tc>
                  <a:txBody>
                    <a:bodyPr/>
                    <a:lstStyle/>
                    <a:p>
                      <a:r>
                        <a:rPr sz="2250" b="0">
                          <a:solidFill>
                            <a:srgbClr val="17273C"/>
                          </a:solidFill>
                          <a:latin typeface="Arial"/>
                          <a:ea typeface="Arial"/>
                          <a:cs typeface="Arial"/>
                        </a:rPr>
                        <a:t>total</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int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Local variable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local slot 1</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5"/>
                  </a:ext>
                </a:extLst>
              </a:tr>
            </a:tbl>
          </a:graphicData>
        </a:graphic>
      </p:graphicFrame>
      <p:sp>
        <p:nvSpPr>
          <p:cNvPr id="6" name="Selected actual symbols from p1_mixed.poly. The analyze">
            <a:extLst>
              <a:ext uri="{FF2B5EF4-FFF2-40B4-BE49-F238E27FC236}">
                <a16:creationId xmlns:a16="http://schemas.microsoft.com/office/drawing/2014/main" id="{3FEF1A1E-9C1D-4DE8-8F21-78C7A60D8A15}"/>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Selected actual symbols from p1_mixed.poly. The analyzer collects function signatures first.</a:t>
            </a:r>
          </a:p>
        </p:txBody>
      </p:sp>
    </p:spTree>
    <p:extLst>
      <p:ext uri="{BB962C8B-B14F-4D97-AF65-F5344CB8AC3E}">
        <p14:creationId xmlns:p14="http://schemas.microsoft.com/office/powerpoint/2010/main" val="18547143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6" name="Errors stop at the failing phase">
            <a:extLst>
              <a:ext uri="{FF2B5EF4-FFF2-40B4-BE49-F238E27FC236}">
                <a16:creationId xmlns:a16="http://schemas.microsoft.com/office/drawing/2014/main" id="{96AF9A38-D7B6-460A-91DE-DE05E458B9DB}"/>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Errors stop at the failing phase</a:t>
            </a:r>
          </a:p>
        </p:txBody>
      </p:sp>
      <p:sp>
        <p:nvSpPr>
          <p:cNvPr id="2" name="Earlier stage data remains available for inspection">
            <a:extLst>
              <a:ext uri="{FF2B5EF4-FFF2-40B4-BE49-F238E27FC236}">
                <a16:creationId xmlns:a16="http://schemas.microsoft.com/office/drawing/2014/main" id="{46D07A08-7F29-4D07-B045-BE3F4B2263B0}"/>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Earlier stage data remains available for inspection</a:t>
            </a:r>
          </a:p>
        </p:txBody>
      </p:sp>
      <p:sp>
        <p:nvSpPr>
          <p:cNvPr id="3" name="13">
            <a:extLst>
              <a:ext uri="{FF2B5EF4-FFF2-40B4-BE49-F238E27FC236}">
                <a16:creationId xmlns:a16="http://schemas.microsoft.com/office/drawing/2014/main" id="{CEA3DD15-9D34-4C5B-AADB-3151092F65A0}"/>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13</a:t>
            </a:r>
          </a:p>
        </p:txBody>
      </p:sp>
      <p:graphicFrame>
        <p:nvGraphicFramePr>
          <p:cNvPr id="4" name="Table 3">
            <a:extLst>
              <a:ext uri="{FF2B5EF4-FFF2-40B4-BE49-F238E27FC236}">
                <a16:creationId xmlns:a16="http://schemas.microsoft.com/office/drawing/2014/main" id="{2E948D05-5BF4-483B-B41C-FFF1AC76D899}"/>
              </a:ext>
            </a:extLst>
          </p:cNvPr>
          <p:cNvGraphicFramePr/>
          <p:nvPr/>
        </p:nvGraphicFramePr>
        <p:xfrm>
          <a:off x="781050" y="2714625"/>
          <a:ext cx="13620750" cy="3810000"/>
        </p:xfrm>
        <a:graphic>
          <a:graphicData uri="http://schemas.openxmlformats.org/drawingml/2006/table">
            <a:tbl>
              <a:tblPr/>
              <a:tblGrid>
                <a:gridCol w="4381500">
                  <a:extLst>
                    <a:ext uri="{9D8B030D-6E8A-4147-A177-3AD203B41FA5}">
                      <a16:colId xmlns:a16="http://schemas.microsoft.com/office/drawing/2014/main" val="20000"/>
                    </a:ext>
                  </a:extLst>
                </a:gridCol>
                <a:gridCol w="5048250">
                  <a:extLst>
                    <a:ext uri="{9D8B030D-6E8A-4147-A177-3AD203B41FA5}">
                      <a16:colId xmlns:a16="http://schemas.microsoft.com/office/drawing/2014/main" val="20001"/>
                    </a:ext>
                  </a:extLst>
                </a:gridCol>
                <a:gridCol w="4191000">
                  <a:extLst>
                    <a:ext uri="{9D8B030D-6E8A-4147-A177-3AD203B41FA5}">
                      <a16:colId xmlns:a16="http://schemas.microsoft.com/office/drawing/2014/main" val="20002"/>
                    </a:ext>
                  </a:extLst>
                </a:gridCol>
              </a:tblGrid>
              <a:tr h="952500">
                <a:tc>
                  <a:txBody>
                    <a:bodyPr/>
                    <a:lstStyle/>
                    <a:p>
                      <a:r>
                        <a:rPr sz="2175" b="1">
                          <a:solidFill>
                            <a:srgbClr val="17273C"/>
                          </a:solidFill>
                          <a:latin typeface="Arial"/>
                          <a:ea typeface="Arial"/>
                          <a:cs typeface="Arial"/>
                        </a:rPr>
                        <a:t>Source example</a:t>
                      </a:r>
                    </a:p>
                  </a:txBody>
                  <a:tcPr anchor="ctr">
                    <a:lnL w="7620">
                      <a:solidFill>
                        <a:srgbClr val="CDD3D9"/>
                      </a:solidFill>
                      <a:prstDash val="soli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175" b="1">
                          <a:solidFill>
                            <a:srgbClr val="17273C"/>
                          </a:solidFill>
                          <a:latin typeface="Arial"/>
                          <a:ea typeface="Arial"/>
                          <a:cs typeface="Arial"/>
                        </a:rPr>
                        <a:t>Diagnostic</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175" b="1">
                          <a:solidFill>
                            <a:srgbClr val="17273C"/>
                          </a:solidFill>
                          <a:latin typeface="Arial"/>
                          <a:ea typeface="Arial"/>
                          <a:cs typeface="Arial"/>
                        </a:rPr>
                        <a:t>Compilation result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extLst>
                  <a:ext uri="{0D108BD9-81ED-4DB2-BD59-A6C34878D82A}">
                    <a16:rowId xmlns:a16="http://schemas.microsoft.com/office/drawing/2014/main" val="10000"/>
                  </a:ext>
                </a:extLst>
              </a:tr>
              <a:tr h="952500">
                <a:tc>
                  <a:txBody>
                    <a:bodyPr/>
                    <a:lstStyle/>
                    <a:p>
                      <a:r>
                        <a:rPr sz="2175" b="0">
                          <a:solidFill>
                            <a:srgbClr val="17273C"/>
                          </a:solidFill>
                          <a:latin typeface="Arial"/>
                          <a:ea typeface="Arial"/>
                          <a:cs typeface="Arial"/>
                        </a:rPr>
                        <a:t>print(2 + )</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175" b="0">
                          <a:solidFill>
                            <a:srgbClr val="17273C"/>
                          </a:solidFill>
                          <a:latin typeface="Arial"/>
                          <a:ea typeface="Arial"/>
                          <a:cs typeface="Arial"/>
                        </a:rPr>
                        <a:t>P010: Expected an expression.</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175" b="0">
                          <a:solidFill>
                            <a:srgbClr val="17273C"/>
                          </a:solidFill>
                          <a:latin typeface="Arial"/>
                          <a:ea typeface="Arial"/>
                          <a:cs typeface="Arial"/>
                        </a:rPr>
                        <a:t>Parser stops. No completed AST.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1"/>
                  </a:ext>
                </a:extLst>
              </a:tr>
              <a:tr h="952500">
                <a:tc>
                  <a:txBody>
                    <a:bodyPr/>
                    <a:lstStyle/>
                    <a:p>
                      <a:r>
                        <a:rPr sz="2175" b="0">
                          <a:solidFill>
                            <a:srgbClr val="17273C"/>
                          </a:solidFill>
                          <a:latin typeface="Arial"/>
                          <a:ea typeface="Arial"/>
                          <a:cs typeface="Arial"/>
                        </a:rPr>
                        <a:t>count = 3</a:t>
                      </a:r>
                    </a:p>
                    <a:p>
                      <a:r>
                        <a:rPr sz="2175" b="0">
                          <a:solidFill>
                            <a:srgbClr val="17273C"/>
                          </a:solidFill>
                          <a:latin typeface="Arial"/>
                          <a:ea typeface="Arial"/>
                          <a:cs typeface="Arial"/>
                        </a:rPr>
                        <a:t>count = "three"</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175" b="0">
                          <a:solidFill>
                            <a:srgbClr val="17273C"/>
                          </a:solidFill>
                          <a:latin typeface="Arial"/>
                          <a:ea typeface="Arial"/>
                          <a:cs typeface="Arial"/>
                        </a:rPr>
                        <a:t>S004: Cannot use string</a:t>
                      </a:r>
                    </a:p>
                    <a:p>
                      <a:r>
                        <a:rPr sz="2175" b="0">
                          <a:solidFill>
                            <a:srgbClr val="17273C"/>
                          </a:solidFill>
                          <a:latin typeface="Arial"/>
                          <a:ea typeface="Arial"/>
                          <a:cs typeface="Arial"/>
                        </a:rPr>
                        <a:t>where int is required.</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175" b="0">
                          <a:solidFill>
                            <a:srgbClr val="17273C"/>
                          </a:solidFill>
                          <a:latin typeface="Arial"/>
                          <a:ea typeface="Arial"/>
                          <a:cs typeface="Arial"/>
                        </a:rPr>
                        <a:t>Semantic analysis stops.</a:t>
                      </a:r>
                    </a:p>
                    <a:p>
                      <a:r>
                        <a:rPr sz="2175" b="0">
                          <a:solidFill>
                            <a:srgbClr val="17273C"/>
                          </a:solidFill>
                          <a:latin typeface="Arial"/>
                          <a:ea typeface="Arial"/>
                          <a:cs typeface="Arial"/>
                        </a:rPr>
                        <a:t>No IR or bytecode.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2"/>
                  </a:ext>
                </a:extLst>
              </a:tr>
              <a:tr h="952500">
                <a:tc>
                  <a:txBody>
                    <a:bodyPr/>
                    <a:lstStyle/>
                    <a:p>
                      <a:r>
                        <a:rPr sz="2175" b="0">
                          <a:solidFill>
                            <a:srgbClr val="17273C"/>
                          </a:solidFill>
                          <a:latin typeface="Arial"/>
                          <a:ea typeface="Arial"/>
                          <a:cs typeface="Arial"/>
                        </a:rPr>
                        <a:t>print(1 / 0)</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175" b="0">
                          <a:solidFill>
                            <a:srgbClr val="17273C"/>
                          </a:solidFill>
                          <a:latin typeface="Arial"/>
                          <a:ea typeface="Arial"/>
                          <a:cs typeface="Arial"/>
                        </a:rPr>
                        <a:t>R004: Division or</a:t>
                      </a:r>
                    </a:p>
                    <a:p>
                      <a:r>
                        <a:rPr sz="2175" b="0">
                          <a:solidFill>
                            <a:srgbClr val="17273C"/>
                          </a:solidFill>
                          <a:latin typeface="Arial"/>
                          <a:ea typeface="Arial"/>
                          <a:cs typeface="Arial"/>
                        </a:rPr>
                        <a:t>remainder by zero.</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175" b="0">
                          <a:solidFill>
                            <a:srgbClr val="17273C"/>
                          </a:solidFill>
                          <a:latin typeface="Arial"/>
                          <a:ea typeface="Arial"/>
                          <a:cs typeface="Arial"/>
                        </a:rPr>
                        <a:t>Compilation succeeds.</a:t>
                      </a:r>
                    </a:p>
                    <a:p>
                      <a:r>
                        <a:rPr sz="2175" b="0">
                          <a:solidFill>
                            <a:srgbClr val="17273C"/>
                          </a:solidFill>
                          <a:latin typeface="Arial"/>
                          <a:ea typeface="Arial"/>
                          <a:cs typeface="Arial"/>
                        </a:rPr>
                        <a:t>The VM reports a runtime error.</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3"/>
                  </a:ext>
                </a:extLst>
              </a:tr>
            </a:tbl>
          </a:graphicData>
        </a:graphic>
      </p:graphicFrame>
      <p:sp>
        <p:nvSpPr>
          <p:cNvPr id="5" name="Diagnostics include filename, line, column and a source">
            <a:extLst>
              <a:ext uri="{FF2B5EF4-FFF2-40B4-BE49-F238E27FC236}">
                <a16:creationId xmlns:a16="http://schemas.microsoft.com/office/drawing/2014/main" id="{46424D0E-5627-4324-96E5-58B23697BBCC}"/>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Diagnostics include filename, line, column and a source excerpt.</a:t>
            </a:r>
          </a:p>
        </p:txBody>
      </p:sp>
    </p:spTree>
    <p:extLst>
      <p:ext uri="{BB962C8B-B14F-4D97-AF65-F5344CB8AC3E}">
        <p14:creationId xmlns:p14="http://schemas.microsoft.com/office/powerpoint/2010/main" val="4319812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9" name="Typed three-address intermediate code">
            <a:extLst>
              <a:ext uri="{FF2B5EF4-FFF2-40B4-BE49-F238E27FC236}">
                <a16:creationId xmlns:a16="http://schemas.microsoft.com/office/drawing/2014/main" id="{682ED1E2-083B-472C-8EE0-B107E3258BF9}"/>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Typed three-address intermediate code</a:t>
            </a:r>
          </a:p>
        </p:txBody>
      </p:sp>
      <p:sp>
        <p:nvSpPr>
          <p:cNvPr id="2" name="A common IR removes dependence on the original syntax">
            <a:extLst>
              <a:ext uri="{FF2B5EF4-FFF2-40B4-BE49-F238E27FC236}">
                <a16:creationId xmlns:a16="http://schemas.microsoft.com/office/drawing/2014/main" id="{F3912034-C660-4033-9D61-5D9BAC8875A5}"/>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A common IR removes dependence on the original syntax</a:t>
            </a:r>
          </a:p>
        </p:txBody>
      </p:sp>
      <p:sp>
        <p:nvSpPr>
          <p:cNvPr id="3" name="14">
            <a:extLst>
              <a:ext uri="{FF2B5EF4-FFF2-40B4-BE49-F238E27FC236}">
                <a16:creationId xmlns:a16="http://schemas.microsoft.com/office/drawing/2014/main" id="{7CDCFBF0-7362-40CD-9152-FFBF5D6C1D42}"/>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14</a:t>
            </a:r>
          </a:p>
        </p:txBody>
      </p:sp>
      <p:sp>
        <p:nvSpPr>
          <p:cNvPr id="4" name="print((2 + 3) * 4)">
            <a:extLst>
              <a:ext uri="{FF2B5EF4-FFF2-40B4-BE49-F238E27FC236}">
                <a16:creationId xmlns:a16="http://schemas.microsoft.com/office/drawing/2014/main" id="{48D170D8-FE34-4288-8EE7-A2B3334E9FD3}"/>
              </a:ext>
            </a:extLst>
          </p:cNvPr>
          <p:cNvSpPr>
            <a:spLocks noGrp="1"/>
          </p:cNvSpPr>
          <p:nvPr/>
        </p:nvSpPr>
        <p:spPr>
          <a:xfrm>
            <a:off x="781050" y="2667000"/>
            <a:ext cx="6191250" cy="619125"/>
          </a:xfrm>
          <a:prstGeom prst="rect">
            <a:avLst/>
          </a:prstGeom>
          <a:noFill/>
          <a:ln w="0">
            <a:noFill/>
          </a:ln>
        </p:spPr>
        <p:txBody>
          <a:bodyPr wrap="square" lIns="0" tIns="0" rIns="0" bIns="0" anchor="t">
            <a:noAutofit/>
          </a:bodyPr>
          <a:lstStyle>
            <a:defPPr algn="l">
              <a:defRPr sz="3225" b="0">
                <a:solidFill>
                  <a:srgbClr val="162237"/>
                </a:solidFill>
                <a:latin typeface="Courier New"/>
                <a:ea typeface="Courier New"/>
                <a:cs typeface="Courier New"/>
              </a:defRPr>
            </a:defPPr>
            <a:lvl1pPr algn="l">
              <a:buNone/>
              <a:defRPr sz="3225" b="0">
                <a:solidFill>
                  <a:srgbClr val="162237"/>
                </a:solidFill>
                <a:latin typeface="Courier New"/>
                <a:ea typeface="Courier New"/>
                <a:cs typeface="Courier New"/>
              </a:defRPr>
            </a:lvl1pPr>
            <a:lvl2pPr algn="l">
              <a:buNone/>
              <a:defRPr sz="3225" b="0">
                <a:solidFill>
                  <a:srgbClr val="162237"/>
                </a:solidFill>
                <a:latin typeface="Courier New"/>
                <a:ea typeface="Courier New"/>
                <a:cs typeface="Courier New"/>
              </a:defRPr>
            </a:lvl2pPr>
            <a:lvl3pPr algn="l">
              <a:buNone/>
              <a:defRPr sz="3225" b="0">
                <a:solidFill>
                  <a:srgbClr val="162237"/>
                </a:solidFill>
                <a:latin typeface="Courier New"/>
                <a:ea typeface="Courier New"/>
                <a:cs typeface="Courier New"/>
              </a:defRPr>
            </a:lvl3pPr>
            <a:lvl4pPr algn="l">
              <a:buNone/>
              <a:defRPr sz="3225" b="0">
                <a:solidFill>
                  <a:srgbClr val="162237"/>
                </a:solidFill>
                <a:latin typeface="Courier New"/>
                <a:ea typeface="Courier New"/>
                <a:cs typeface="Courier New"/>
              </a:defRPr>
            </a:lvl4pPr>
            <a:lvl5pPr algn="l">
              <a:buNone/>
              <a:defRPr sz="3225" b="0">
                <a:solidFill>
                  <a:srgbClr val="162237"/>
                </a:solidFill>
                <a:latin typeface="Courier New"/>
                <a:ea typeface="Courier New"/>
                <a:cs typeface="Courier New"/>
              </a:defRPr>
            </a:lvl5pPr>
            <a:lvl6pPr algn="l">
              <a:buNone/>
              <a:defRPr sz="3225" b="0">
                <a:solidFill>
                  <a:srgbClr val="162237"/>
                </a:solidFill>
                <a:latin typeface="Courier New"/>
                <a:ea typeface="Courier New"/>
                <a:cs typeface="Courier New"/>
              </a:defRPr>
            </a:lvl6pPr>
            <a:lvl7pPr algn="l">
              <a:buNone/>
              <a:defRPr sz="3225" b="0">
                <a:solidFill>
                  <a:srgbClr val="162237"/>
                </a:solidFill>
                <a:latin typeface="Courier New"/>
                <a:ea typeface="Courier New"/>
                <a:cs typeface="Courier New"/>
              </a:defRPr>
            </a:lvl7pPr>
            <a:lvl8pPr algn="l">
              <a:buNone/>
              <a:defRPr sz="3225" b="0">
                <a:solidFill>
                  <a:srgbClr val="162237"/>
                </a:solidFill>
                <a:latin typeface="Courier New"/>
                <a:ea typeface="Courier New"/>
                <a:cs typeface="Courier New"/>
              </a:defRPr>
            </a:lvl8pPr>
            <a:lvl9pPr algn="l">
              <a:buNone/>
              <a:defRPr sz="3225" b="0">
                <a:solidFill>
                  <a:srgbClr val="162237"/>
                </a:solidFill>
                <a:latin typeface="Courier New"/>
                <a:ea typeface="Courier New"/>
                <a:cs typeface="Courier New"/>
              </a:defRPr>
            </a:lvl9pPr>
          </a:lstStyle>
          <a:p>
            <a:pPr algn="l">
              <a:buNone/>
              <a:defRPr sz="3225" b="0">
                <a:solidFill>
                  <a:srgbClr val="162237"/>
                </a:solidFill>
                <a:latin typeface="Courier New"/>
                <a:ea typeface="Courier New"/>
                <a:cs typeface="Courier New"/>
              </a:defRPr>
            </a:pPr>
            <a:r>
              <a:rPr sz="3225" b="0">
                <a:solidFill>
                  <a:srgbClr val="162237"/>
                </a:solidFill>
                <a:latin typeface="Courier New"/>
                <a:ea typeface="Courier New"/>
                <a:cs typeface="Courier New"/>
              </a:rPr>
              <a:t>print((2 + 3) * 4)</a:t>
            </a:r>
          </a:p>
        </p:txBody>
      </p:sp>
      <p:sp>
        <p:nvSpPr>
          <p:cNvPr id="5" name="t0 = 2        : int&#10;t1 = 3        : int&#10;t2 = t0 + t1  :">
            <a:extLst>
              <a:ext uri="{FF2B5EF4-FFF2-40B4-BE49-F238E27FC236}">
                <a16:creationId xmlns:a16="http://schemas.microsoft.com/office/drawing/2014/main" id="{D817CBBF-E06D-4BCA-8276-A6CE012465B1}"/>
              </a:ext>
            </a:extLst>
          </p:cNvPr>
          <p:cNvSpPr>
            <a:spLocks noGrp="1"/>
          </p:cNvSpPr>
          <p:nvPr/>
        </p:nvSpPr>
        <p:spPr>
          <a:xfrm>
            <a:off x="8096250" y="2524125"/>
            <a:ext cx="6286500" cy="3714750"/>
          </a:xfrm>
          <a:prstGeom prst="rect">
            <a:avLst/>
          </a:prstGeom>
          <a:noFill/>
          <a:ln w="0">
            <a:noFill/>
          </a:ln>
        </p:spPr>
        <p:txBody>
          <a:bodyPr wrap="square" lIns="0" tIns="0" rIns="0" bIns="0" anchor="t">
            <a:noAutofit/>
          </a:bodyPr>
          <a:lstStyle>
            <a:defPPr algn="l">
              <a:defRPr sz="2775" b="0">
                <a:solidFill>
                  <a:srgbClr val="162237"/>
                </a:solidFill>
                <a:latin typeface="Courier New"/>
                <a:ea typeface="Courier New"/>
                <a:cs typeface="Courier New"/>
              </a:defRPr>
            </a:defPPr>
            <a:lvl1pPr algn="l">
              <a:buNone/>
              <a:defRPr sz="2775" b="0">
                <a:solidFill>
                  <a:srgbClr val="162237"/>
                </a:solidFill>
                <a:latin typeface="Courier New"/>
                <a:ea typeface="Courier New"/>
                <a:cs typeface="Courier New"/>
              </a:defRPr>
            </a:lvl1pPr>
            <a:lvl2pPr algn="l">
              <a:buNone/>
              <a:defRPr sz="2775" b="0">
                <a:solidFill>
                  <a:srgbClr val="162237"/>
                </a:solidFill>
                <a:latin typeface="Courier New"/>
                <a:ea typeface="Courier New"/>
                <a:cs typeface="Courier New"/>
              </a:defRPr>
            </a:lvl2pPr>
            <a:lvl3pPr algn="l">
              <a:buNone/>
              <a:defRPr sz="2775" b="0">
                <a:solidFill>
                  <a:srgbClr val="162237"/>
                </a:solidFill>
                <a:latin typeface="Courier New"/>
                <a:ea typeface="Courier New"/>
                <a:cs typeface="Courier New"/>
              </a:defRPr>
            </a:lvl3pPr>
            <a:lvl4pPr algn="l">
              <a:buNone/>
              <a:defRPr sz="2775" b="0">
                <a:solidFill>
                  <a:srgbClr val="162237"/>
                </a:solidFill>
                <a:latin typeface="Courier New"/>
                <a:ea typeface="Courier New"/>
                <a:cs typeface="Courier New"/>
              </a:defRPr>
            </a:lvl4pPr>
            <a:lvl5pPr algn="l">
              <a:buNone/>
              <a:defRPr sz="2775" b="0">
                <a:solidFill>
                  <a:srgbClr val="162237"/>
                </a:solidFill>
                <a:latin typeface="Courier New"/>
                <a:ea typeface="Courier New"/>
                <a:cs typeface="Courier New"/>
              </a:defRPr>
            </a:lvl5pPr>
            <a:lvl6pPr algn="l">
              <a:buNone/>
              <a:defRPr sz="2775" b="0">
                <a:solidFill>
                  <a:srgbClr val="162237"/>
                </a:solidFill>
                <a:latin typeface="Courier New"/>
                <a:ea typeface="Courier New"/>
                <a:cs typeface="Courier New"/>
              </a:defRPr>
            </a:lvl6pPr>
            <a:lvl7pPr algn="l">
              <a:buNone/>
              <a:defRPr sz="2775" b="0">
                <a:solidFill>
                  <a:srgbClr val="162237"/>
                </a:solidFill>
                <a:latin typeface="Courier New"/>
                <a:ea typeface="Courier New"/>
                <a:cs typeface="Courier New"/>
              </a:defRPr>
            </a:lvl7pPr>
            <a:lvl8pPr algn="l">
              <a:buNone/>
              <a:defRPr sz="2775" b="0">
                <a:solidFill>
                  <a:srgbClr val="162237"/>
                </a:solidFill>
                <a:latin typeface="Courier New"/>
                <a:ea typeface="Courier New"/>
                <a:cs typeface="Courier New"/>
              </a:defRPr>
            </a:lvl8pPr>
            <a:lvl9pPr algn="l">
              <a:buNone/>
              <a:defRPr sz="2775" b="0">
                <a:solidFill>
                  <a:srgbClr val="162237"/>
                </a:solidFill>
                <a:latin typeface="Courier New"/>
                <a:ea typeface="Courier New"/>
                <a:cs typeface="Courier New"/>
              </a:defRPr>
            </a:lvl9pPr>
          </a:lstStyle>
          <a:p>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t0 = 2        : int</a:t>
            </a:r>
          </a:p>
          <a:p>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t1 = 3        : int</a:t>
            </a:r>
          </a:p>
          <a:p>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t2 = t0 + t1  : int</a:t>
            </a:r>
          </a:p>
          <a:p>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t3 = 4        : int</a:t>
            </a:r>
          </a:p>
          <a:p>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t4 = t2 * t3  : int</a:t>
            </a:r>
          </a:p>
          <a:p>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output(t4)</a:t>
            </a:r>
          </a:p>
          <a:p>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return</a:t>
            </a:r>
          </a:p>
        </p:txBody>
      </p:sp>
      <p:sp>
        <p:nvSpPr>
          <p:cNvPr id="6" name="Explicit computation">
            <a:extLst>
              <a:ext uri="{FF2B5EF4-FFF2-40B4-BE49-F238E27FC236}">
                <a16:creationId xmlns:a16="http://schemas.microsoft.com/office/drawing/2014/main" id="{CEC389D7-AF01-4686-8C76-AA3D713C88E7}"/>
              </a:ext>
            </a:extLst>
          </p:cNvPr>
          <p:cNvSpPr>
            <a:spLocks noGrp="1"/>
          </p:cNvSpPr>
          <p:nvPr/>
        </p:nvSpPr>
        <p:spPr>
          <a:xfrm>
            <a:off x="781050" y="4238625"/>
            <a:ext cx="61912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Explicit computation</a:t>
            </a:r>
          </a:p>
        </p:txBody>
      </p:sp>
      <p:sp>
        <p:nvSpPr>
          <p:cNvPr id="7" name="Each arithmetic operation defines&#10;a typed temporary.">
            <a:extLst>
              <a:ext uri="{FF2B5EF4-FFF2-40B4-BE49-F238E27FC236}">
                <a16:creationId xmlns:a16="http://schemas.microsoft.com/office/drawing/2014/main" id="{EDEF90A2-8505-420F-96A7-3F2936D07431}"/>
              </a:ext>
            </a:extLst>
          </p:cNvPr>
          <p:cNvSpPr>
            <a:spLocks noGrp="1"/>
          </p:cNvSpPr>
          <p:nvPr/>
        </p:nvSpPr>
        <p:spPr>
          <a:xfrm>
            <a:off x="781050" y="4857750"/>
            <a:ext cx="61912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Each arithmetic operation defines</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a typed temporary.</a:t>
            </a:r>
          </a:p>
        </p:txBody>
      </p:sp>
      <p:sp>
        <p:nvSpPr>
          <p:cNvPr id="8" name="Readable rendering of the original IR. Every instructio">
            <a:extLst>
              <a:ext uri="{FF2B5EF4-FFF2-40B4-BE49-F238E27FC236}">
                <a16:creationId xmlns:a16="http://schemas.microsoft.com/office/drawing/2014/main" id="{C74B0B8E-56DA-4013-9996-B844CCBEAA5F}"/>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Readable rendering of the original IR. Every instruction also retains source metadata.</a:t>
            </a:r>
          </a:p>
        </p:txBody>
      </p:sp>
    </p:spTree>
    <p:extLst>
      <p:ext uri="{BB962C8B-B14F-4D97-AF65-F5344CB8AC3E}">
        <p14:creationId xmlns:p14="http://schemas.microsoft.com/office/powerpoint/2010/main" val="16971568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cxnSp>
        <p:nvCxnSpPr>
          <p:cNvPr id="22" name="Straight Arrow Connector 21">
            <a:extLst>
              <a:ext uri="{FF2B5EF4-FFF2-40B4-BE49-F238E27FC236}">
                <a16:creationId xmlns:a16="http://schemas.microsoft.com/office/drawing/2014/main" id="{F2352B87-E040-47EB-AD94-09CD220EECFE}"/>
              </a:ext>
            </a:extLst>
          </p:cNvPr>
          <p:cNvCxnSpPr>
            <a:stCxn id="13" idx="2"/>
            <a:endCxn id="16" idx="0"/>
          </p:cNvCxnSpPr>
          <p:nvPr/>
        </p:nvCxnSpPr>
        <p:spPr>
          <a:xfrm flipH="1">
            <a:off x="10668000" y="5715000"/>
            <a:ext cx="2333625" cy="714375"/>
          </a:xfrm>
          <a:prstGeom prst="straightConnector1">
            <a:avLst/>
          </a:prstGeom>
          <a:ln w="22860">
            <a:solidFill>
              <a:srgbClr val="2956D7"/>
            </a:solidFill>
            <a:prstDash val="solid"/>
            <a:tailEnd type="triangle" w="sm" len="sm"/>
          </a:ln>
        </p:spPr>
      </p:cxnSp>
      <p:cxnSp>
        <p:nvCxnSpPr>
          <p:cNvPr id="21" name="Straight Arrow Connector 20">
            <a:extLst>
              <a:ext uri="{FF2B5EF4-FFF2-40B4-BE49-F238E27FC236}">
                <a16:creationId xmlns:a16="http://schemas.microsoft.com/office/drawing/2014/main" id="{5E6B5F11-5DB8-4A3D-9A9D-B7845F76E12D}"/>
              </a:ext>
            </a:extLst>
          </p:cNvPr>
          <p:cNvCxnSpPr>
            <a:stCxn id="10" idx="2"/>
            <a:endCxn id="16" idx="0"/>
          </p:cNvCxnSpPr>
          <p:nvPr/>
        </p:nvCxnSpPr>
        <p:spPr>
          <a:xfrm>
            <a:off x="8334375" y="5715000"/>
            <a:ext cx="2333625" cy="714375"/>
          </a:xfrm>
          <a:prstGeom prst="straightConnector1">
            <a:avLst/>
          </a:prstGeom>
          <a:ln w="22860">
            <a:solidFill>
              <a:srgbClr val="2956D7"/>
            </a:solidFill>
            <a:prstDash val="solid"/>
            <a:tailEnd type="triangle" w="sm" len="sm"/>
          </a:ln>
        </p:spPr>
      </p:cxnSp>
      <p:cxnSp>
        <p:nvCxnSpPr>
          <p:cNvPr id="20" name="Straight Arrow Connector 19">
            <a:extLst>
              <a:ext uri="{FF2B5EF4-FFF2-40B4-BE49-F238E27FC236}">
                <a16:creationId xmlns:a16="http://schemas.microsoft.com/office/drawing/2014/main" id="{B8915EC5-69C9-48C6-8B54-681D0537A2D7}"/>
              </a:ext>
            </a:extLst>
          </p:cNvPr>
          <p:cNvCxnSpPr>
            <a:stCxn id="7" idx="2"/>
            <a:endCxn id="13" idx="0"/>
          </p:cNvCxnSpPr>
          <p:nvPr/>
        </p:nvCxnSpPr>
        <p:spPr>
          <a:xfrm>
            <a:off x="10668000" y="3810000"/>
            <a:ext cx="2333625" cy="666750"/>
          </a:xfrm>
          <a:prstGeom prst="straightConnector1">
            <a:avLst/>
          </a:prstGeom>
          <a:ln w="22860">
            <a:solidFill>
              <a:srgbClr val="C44632"/>
            </a:solidFill>
            <a:prstDash val="solid"/>
            <a:tailEnd type="triangle" w="sm" len="sm"/>
          </a:ln>
        </p:spPr>
      </p:cxnSp>
      <p:cxnSp>
        <p:nvCxnSpPr>
          <p:cNvPr id="19" name="Straight Arrow Connector 18">
            <a:extLst>
              <a:ext uri="{FF2B5EF4-FFF2-40B4-BE49-F238E27FC236}">
                <a16:creationId xmlns:a16="http://schemas.microsoft.com/office/drawing/2014/main" id="{21516076-0204-40C3-9979-4C47512377E4}"/>
              </a:ext>
            </a:extLst>
          </p:cNvPr>
          <p:cNvCxnSpPr>
            <a:stCxn id="7" idx="2"/>
            <a:endCxn id="10" idx="0"/>
          </p:cNvCxnSpPr>
          <p:nvPr/>
        </p:nvCxnSpPr>
        <p:spPr>
          <a:xfrm flipH="1">
            <a:off x="8334375" y="3810000"/>
            <a:ext cx="2333625" cy="666750"/>
          </a:xfrm>
          <a:prstGeom prst="straightConnector1">
            <a:avLst/>
          </a:prstGeom>
          <a:ln w="22860">
            <a:solidFill>
              <a:srgbClr val="147B70"/>
            </a:solidFill>
            <a:prstDash val="solid"/>
            <a:tailEnd type="triangle" w="sm" len="sm"/>
          </a:ln>
        </p:spPr>
      </p:cxnSp>
      <p:sp>
        <p:nvSpPr>
          <p:cNvPr id="23" name="Basic blocks and the control-flow graph">
            <a:extLst>
              <a:ext uri="{FF2B5EF4-FFF2-40B4-BE49-F238E27FC236}">
                <a16:creationId xmlns:a16="http://schemas.microsoft.com/office/drawing/2014/main" id="{BFF2F3A8-708F-444D-AD55-973E332C632E}"/>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Basic blocks and the control-flow graph</a:t>
            </a:r>
          </a:p>
        </p:txBody>
      </p:sp>
      <p:sp>
        <p:nvSpPr>
          <p:cNvPr id="2" name="A known branch exposes an unreachable path after simpli">
            <a:extLst>
              <a:ext uri="{FF2B5EF4-FFF2-40B4-BE49-F238E27FC236}">
                <a16:creationId xmlns:a16="http://schemas.microsoft.com/office/drawing/2014/main" id="{1DA97EBD-99B2-4F1D-8FFC-C0B93877F0D7}"/>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A known branch exposes an unreachable path after simplification</a:t>
            </a:r>
          </a:p>
        </p:txBody>
      </p:sp>
      <p:sp>
        <p:nvSpPr>
          <p:cNvPr id="3" name="15">
            <a:extLst>
              <a:ext uri="{FF2B5EF4-FFF2-40B4-BE49-F238E27FC236}">
                <a16:creationId xmlns:a16="http://schemas.microsoft.com/office/drawing/2014/main" id="{8095E28E-80EF-41A0-9AF0-E767F541E1D6}"/>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15</a:t>
            </a:r>
          </a:p>
        </p:txBody>
      </p:sp>
      <p:sp>
        <p:nvSpPr>
          <p:cNvPr id="4" name="if True:&#10;    print(1)&#10;else:&#10;    print(2)">
            <a:extLst>
              <a:ext uri="{FF2B5EF4-FFF2-40B4-BE49-F238E27FC236}">
                <a16:creationId xmlns:a16="http://schemas.microsoft.com/office/drawing/2014/main" id="{E3D4471A-DD6A-491A-8204-003AC7ED05E1}"/>
              </a:ext>
            </a:extLst>
          </p:cNvPr>
          <p:cNvSpPr>
            <a:spLocks noGrp="1"/>
          </p:cNvSpPr>
          <p:nvPr/>
        </p:nvSpPr>
        <p:spPr>
          <a:xfrm>
            <a:off x="781050" y="2876550"/>
            <a:ext cx="5143500" cy="2047875"/>
          </a:xfrm>
          <a:prstGeom prst="rect">
            <a:avLst/>
          </a:prstGeom>
          <a:noFill/>
          <a:ln w="0">
            <a:noFill/>
          </a:ln>
        </p:spPr>
        <p:txBody>
          <a:bodyPr wrap="square" lIns="0" tIns="0" rIns="0" bIns="0" anchor="t">
            <a:noAutofit/>
          </a:bodyPr>
          <a:lstStyle>
            <a:defPPr algn="l">
              <a:defRPr sz="2625" b="0">
                <a:solidFill>
                  <a:srgbClr val="162237"/>
                </a:solidFill>
                <a:latin typeface="Courier New"/>
                <a:ea typeface="Courier New"/>
                <a:cs typeface="Courier New"/>
              </a:defRPr>
            </a:defPPr>
            <a:lvl1pPr algn="l">
              <a:buNone/>
              <a:defRPr sz="2625" b="0">
                <a:solidFill>
                  <a:srgbClr val="162237"/>
                </a:solidFill>
                <a:latin typeface="Courier New"/>
                <a:ea typeface="Courier New"/>
                <a:cs typeface="Courier New"/>
              </a:defRPr>
            </a:lvl1pPr>
            <a:lvl2pPr algn="l">
              <a:buNone/>
              <a:defRPr sz="2625" b="0">
                <a:solidFill>
                  <a:srgbClr val="162237"/>
                </a:solidFill>
                <a:latin typeface="Courier New"/>
                <a:ea typeface="Courier New"/>
                <a:cs typeface="Courier New"/>
              </a:defRPr>
            </a:lvl2pPr>
            <a:lvl3pPr algn="l">
              <a:buNone/>
              <a:defRPr sz="2625" b="0">
                <a:solidFill>
                  <a:srgbClr val="162237"/>
                </a:solidFill>
                <a:latin typeface="Courier New"/>
                <a:ea typeface="Courier New"/>
                <a:cs typeface="Courier New"/>
              </a:defRPr>
            </a:lvl3pPr>
            <a:lvl4pPr algn="l">
              <a:buNone/>
              <a:defRPr sz="2625" b="0">
                <a:solidFill>
                  <a:srgbClr val="162237"/>
                </a:solidFill>
                <a:latin typeface="Courier New"/>
                <a:ea typeface="Courier New"/>
                <a:cs typeface="Courier New"/>
              </a:defRPr>
            </a:lvl4pPr>
            <a:lvl5pPr algn="l">
              <a:buNone/>
              <a:defRPr sz="2625" b="0">
                <a:solidFill>
                  <a:srgbClr val="162237"/>
                </a:solidFill>
                <a:latin typeface="Courier New"/>
                <a:ea typeface="Courier New"/>
                <a:cs typeface="Courier New"/>
              </a:defRPr>
            </a:lvl5pPr>
            <a:lvl6pPr algn="l">
              <a:buNone/>
              <a:defRPr sz="2625" b="0">
                <a:solidFill>
                  <a:srgbClr val="162237"/>
                </a:solidFill>
                <a:latin typeface="Courier New"/>
                <a:ea typeface="Courier New"/>
                <a:cs typeface="Courier New"/>
              </a:defRPr>
            </a:lvl6pPr>
            <a:lvl7pPr algn="l">
              <a:buNone/>
              <a:defRPr sz="2625" b="0">
                <a:solidFill>
                  <a:srgbClr val="162237"/>
                </a:solidFill>
                <a:latin typeface="Courier New"/>
                <a:ea typeface="Courier New"/>
                <a:cs typeface="Courier New"/>
              </a:defRPr>
            </a:lvl7pPr>
            <a:lvl8pPr algn="l">
              <a:buNone/>
              <a:defRPr sz="2625" b="0">
                <a:solidFill>
                  <a:srgbClr val="162237"/>
                </a:solidFill>
                <a:latin typeface="Courier New"/>
                <a:ea typeface="Courier New"/>
                <a:cs typeface="Courier New"/>
              </a:defRPr>
            </a:lvl8pPr>
            <a:lvl9pPr algn="l">
              <a:buNone/>
              <a:defRPr sz="2625" b="0">
                <a:solidFill>
                  <a:srgbClr val="162237"/>
                </a:solidFill>
                <a:latin typeface="Courier New"/>
                <a:ea typeface="Courier New"/>
                <a:cs typeface="Courier New"/>
              </a:defRPr>
            </a:lvl9pPr>
          </a:lstStyle>
          <a:p>
            <a:pPr algn="l">
              <a:buNone/>
              <a:defRPr sz="2625" b="0">
                <a:solidFill>
                  <a:srgbClr val="162237"/>
                </a:solidFill>
                <a:latin typeface="Courier New"/>
                <a:ea typeface="Courier New"/>
                <a:cs typeface="Courier New"/>
              </a:defRPr>
            </a:pPr>
            <a:r>
              <a:rPr sz="2625" b="0">
                <a:solidFill>
                  <a:srgbClr val="162237"/>
                </a:solidFill>
                <a:latin typeface="Courier New"/>
                <a:ea typeface="Courier New"/>
                <a:cs typeface="Courier New"/>
              </a:rPr>
              <a:t>if True:</a:t>
            </a:r>
          </a:p>
          <a:p>
            <a:pPr algn="l">
              <a:buNone/>
              <a:defRPr sz="2625" b="0">
                <a:solidFill>
                  <a:srgbClr val="162237"/>
                </a:solidFill>
                <a:latin typeface="Courier New"/>
                <a:ea typeface="Courier New"/>
                <a:cs typeface="Courier New"/>
              </a:defRPr>
            </a:pPr>
            <a:r>
              <a:rPr sz="2625" b="0">
                <a:solidFill>
                  <a:srgbClr val="162237"/>
                </a:solidFill>
                <a:latin typeface="Courier New"/>
                <a:ea typeface="Courier New"/>
                <a:cs typeface="Courier New"/>
              </a:rPr>
              <a:t>    print(1)</a:t>
            </a:r>
          </a:p>
          <a:p>
            <a:pPr algn="l">
              <a:buNone/>
              <a:defRPr sz="2625" b="0">
                <a:solidFill>
                  <a:srgbClr val="162237"/>
                </a:solidFill>
                <a:latin typeface="Courier New"/>
                <a:ea typeface="Courier New"/>
                <a:cs typeface="Courier New"/>
              </a:defRPr>
            </a:pPr>
            <a:r>
              <a:rPr sz="2625" b="0">
                <a:solidFill>
                  <a:srgbClr val="162237"/>
                </a:solidFill>
                <a:latin typeface="Courier New"/>
                <a:ea typeface="Courier New"/>
                <a:cs typeface="Courier New"/>
              </a:rPr>
              <a:t>else:</a:t>
            </a:r>
          </a:p>
          <a:p>
            <a:pPr algn="l">
              <a:buNone/>
              <a:defRPr sz="2625" b="0">
                <a:solidFill>
                  <a:srgbClr val="162237"/>
                </a:solidFill>
                <a:latin typeface="Courier New"/>
                <a:ea typeface="Courier New"/>
                <a:cs typeface="Courier New"/>
              </a:defRPr>
            </a:pPr>
            <a:r>
              <a:rPr sz="2625" b="0">
                <a:solidFill>
                  <a:srgbClr val="162237"/>
                </a:solidFill>
                <a:latin typeface="Courier New"/>
                <a:ea typeface="Courier New"/>
                <a:cs typeface="Courier New"/>
              </a:rPr>
              <a:t>    print(2)</a:t>
            </a:r>
          </a:p>
        </p:txBody>
      </p:sp>
      <p:sp>
        <p:nvSpPr>
          <p:cNvPr id="5" name="Before optimization">
            <a:extLst>
              <a:ext uri="{FF2B5EF4-FFF2-40B4-BE49-F238E27FC236}">
                <a16:creationId xmlns:a16="http://schemas.microsoft.com/office/drawing/2014/main" id="{A7B061CD-CCFF-4A5C-836D-E6AF91EBC141}"/>
              </a:ext>
            </a:extLst>
          </p:cNvPr>
          <p:cNvSpPr>
            <a:spLocks noGrp="1"/>
          </p:cNvSpPr>
          <p:nvPr/>
        </p:nvSpPr>
        <p:spPr>
          <a:xfrm>
            <a:off x="781050" y="5857875"/>
            <a:ext cx="5619750" cy="523875"/>
          </a:xfrm>
          <a:prstGeom prst="rect">
            <a:avLst/>
          </a:prstGeom>
          <a:noFill/>
          <a:ln w="0">
            <a:noFill/>
          </a:ln>
        </p:spPr>
        <p:txBody>
          <a:bodyPr wrap="square" lIns="0" tIns="0" rIns="0" bIns="0" anchor="t">
            <a:noAutofit/>
          </a:bodyPr>
          <a:lstStyle>
            <a:defPPr algn="l">
              <a:defRPr sz="2550" b="1">
                <a:solidFill>
                  <a:srgbClr val="2956D7"/>
                </a:solidFill>
                <a:latin typeface="Arial"/>
                <a:ea typeface="Arial"/>
                <a:cs typeface="Arial"/>
              </a:defRPr>
            </a:defPPr>
            <a:lvl1pPr algn="l">
              <a:buNone/>
              <a:defRPr sz="2550" b="1">
                <a:solidFill>
                  <a:srgbClr val="2956D7"/>
                </a:solidFill>
                <a:latin typeface="Arial"/>
                <a:ea typeface="Arial"/>
                <a:cs typeface="Arial"/>
              </a:defRPr>
            </a:lvl1pPr>
            <a:lvl2pPr algn="l">
              <a:buNone/>
              <a:defRPr sz="2550" b="1">
                <a:solidFill>
                  <a:srgbClr val="2956D7"/>
                </a:solidFill>
                <a:latin typeface="Arial"/>
                <a:ea typeface="Arial"/>
                <a:cs typeface="Arial"/>
              </a:defRPr>
            </a:lvl2pPr>
            <a:lvl3pPr algn="l">
              <a:buNone/>
              <a:defRPr sz="2550" b="1">
                <a:solidFill>
                  <a:srgbClr val="2956D7"/>
                </a:solidFill>
                <a:latin typeface="Arial"/>
                <a:ea typeface="Arial"/>
                <a:cs typeface="Arial"/>
              </a:defRPr>
            </a:lvl3pPr>
            <a:lvl4pPr algn="l">
              <a:buNone/>
              <a:defRPr sz="2550" b="1">
                <a:solidFill>
                  <a:srgbClr val="2956D7"/>
                </a:solidFill>
                <a:latin typeface="Arial"/>
                <a:ea typeface="Arial"/>
                <a:cs typeface="Arial"/>
              </a:defRPr>
            </a:lvl4pPr>
            <a:lvl5pPr algn="l">
              <a:buNone/>
              <a:defRPr sz="2550" b="1">
                <a:solidFill>
                  <a:srgbClr val="2956D7"/>
                </a:solidFill>
                <a:latin typeface="Arial"/>
                <a:ea typeface="Arial"/>
                <a:cs typeface="Arial"/>
              </a:defRPr>
            </a:lvl5pPr>
            <a:lvl6pPr algn="l">
              <a:buNone/>
              <a:defRPr sz="2550" b="1">
                <a:solidFill>
                  <a:srgbClr val="2956D7"/>
                </a:solidFill>
                <a:latin typeface="Arial"/>
                <a:ea typeface="Arial"/>
                <a:cs typeface="Arial"/>
              </a:defRPr>
            </a:lvl6pPr>
            <a:lvl7pPr algn="l">
              <a:buNone/>
              <a:defRPr sz="2550" b="1">
                <a:solidFill>
                  <a:srgbClr val="2956D7"/>
                </a:solidFill>
                <a:latin typeface="Arial"/>
                <a:ea typeface="Arial"/>
                <a:cs typeface="Arial"/>
              </a:defRPr>
            </a:lvl7pPr>
            <a:lvl8pPr algn="l">
              <a:buNone/>
              <a:defRPr sz="2550" b="1">
                <a:solidFill>
                  <a:srgbClr val="2956D7"/>
                </a:solidFill>
                <a:latin typeface="Arial"/>
                <a:ea typeface="Arial"/>
                <a:cs typeface="Arial"/>
              </a:defRPr>
            </a:lvl8pPr>
            <a:lvl9pPr algn="l">
              <a:buNone/>
              <a:defRPr sz="2550" b="1">
                <a:solidFill>
                  <a:srgbClr val="2956D7"/>
                </a:solidFill>
                <a:latin typeface="Arial"/>
                <a:ea typeface="Arial"/>
                <a:cs typeface="Arial"/>
              </a:defRPr>
            </a:lvl9pPr>
          </a:lstStyle>
          <a:p>
            <a:pPr algn="l">
              <a:buNone/>
              <a:defRPr sz="2550" b="1">
                <a:solidFill>
                  <a:srgbClr val="2956D7"/>
                </a:solidFill>
                <a:latin typeface="Arial"/>
                <a:ea typeface="Arial"/>
                <a:cs typeface="Arial"/>
              </a:defRPr>
            </a:pPr>
            <a:r>
              <a:rPr sz="2550" b="1">
                <a:solidFill>
                  <a:srgbClr val="2956D7"/>
                </a:solidFill>
                <a:latin typeface="Arial"/>
                <a:ea typeface="Arial"/>
                <a:cs typeface="Arial"/>
              </a:rPr>
              <a:t>Before optimization</a:t>
            </a:r>
          </a:p>
        </p:txBody>
      </p:sp>
      <p:sp>
        <p:nvSpPr>
          <p:cNvPr id="6" name="Both branch targets exist in the&#10;original control-flow ">
            <a:extLst>
              <a:ext uri="{FF2B5EF4-FFF2-40B4-BE49-F238E27FC236}">
                <a16:creationId xmlns:a16="http://schemas.microsoft.com/office/drawing/2014/main" id="{D8571E5B-04E3-4B76-A198-5DA41CDC6160}"/>
              </a:ext>
            </a:extLst>
          </p:cNvPr>
          <p:cNvSpPr>
            <a:spLocks noGrp="1"/>
          </p:cNvSpPr>
          <p:nvPr/>
        </p:nvSpPr>
        <p:spPr>
          <a:xfrm>
            <a:off x="781050" y="6457950"/>
            <a:ext cx="5619750" cy="85725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Both branch targets exist in the</a:t>
            </a:r>
          </a:p>
          <a:p>
            <a:pPr algn="l">
              <a:buNone/>
              <a:defRPr sz="2250" b="0">
                <a:solidFill>
                  <a:srgbClr val="596577"/>
                </a:solidFill>
                <a:latin typeface="Arial"/>
                <a:ea typeface="Arial"/>
                <a:cs typeface="Arial"/>
              </a:defRPr>
            </a:pPr>
            <a:r>
              <a:rPr sz="2250" b="0">
                <a:solidFill>
                  <a:srgbClr val="596577"/>
                </a:solidFill>
                <a:latin typeface="Arial"/>
                <a:ea typeface="Arial"/>
                <a:cs typeface="Arial"/>
              </a:rPr>
              <a:t>original control-flow graph.</a:t>
            </a:r>
          </a:p>
        </p:txBody>
      </p:sp>
      <p:sp>
        <p:nvSpPr>
          <p:cNvPr id="7" name="B0: condition">
            <a:extLst>
              <a:ext uri="{FF2B5EF4-FFF2-40B4-BE49-F238E27FC236}">
                <a16:creationId xmlns:a16="http://schemas.microsoft.com/office/drawing/2014/main" id="{5BD5E024-5975-4488-B163-62898A344F39}"/>
              </a:ext>
            </a:extLst>
          </p:cNvPr>
          <p:cNvSpPr>
            <a:spLocks noGrp="1"/>
          </p:cNvSpPr>
          <p:nvPr/>
        </p:nvSpPr>
        <p:spPr>
          <a:xfrm>
            <a:off x="9048750" y="2381250"/>
            <a:ext cx="3238500" cy="1428750"/>
          </a:xfrm>
          <a:prstGeom prst="rect">
            <a:avLst/>
          </a:prstGeom>
          <a:solidFill>
            <a:srgbClr val="DDF2EC"/>
          </a:solidFill>
          <a:ln w="16193">
            <a:solidFill>
              <a:srgbClr val="147B70"/>
            </a:solidFill>
          </a:ln>
        </p:spPr>
        <p:txBody>
          <a:bodyPr/>
          <a:lstStyle/>
          <a:p>
            <a:endParaRPr lang="en-US"/>
          </a:p>
        </p:txBody>
      </p:sp>
      <p:sp>
        <p:nvSpPr>
          <p:cNvPr id="8" name="B0: condition">
            <a:extLst>
              <a:ext uri="{FF2B5EF4-FFF2-40B4-BE49-F238E27FC236}">
                <a16:creationId xmlns:a16="http://schemas.microsoft.com/office/drawing/2014/main" id="{4602149E-BA2B-483E-A929-B4031A51946E}"/>
              </a:ext>
            </a:extLst>
          </p:cNvPr>
          <p:cNvSpPr>
            <a:spLocks noGrp="1"/>
          </p:cNvSpPr>
          <p:nvPr/>
        </p:nvSpPr>
        <p:spPr>
          <a:xfrm>
            <a:off x="9239250" y="2552700"/>
            <a:ext cx="285750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B0: condition</a:t>
            </a:r>
          </a:p>
        </p:txBody>
      </p:sp>
      <p:sp>
        <p:nvSpPr>
          <p:cNvPr id="9" name="t0 = True&#10;branch t0">
            <a:extLst>
              <a:ext uri="{FF2B5EF4-FFF2-40B4-BE49-F238E27FC236}">
                <a16:creationId xmlns:a16="http://schemas.microsoft.com/office/drawing/2014/main" id="{F89CAF4E-5BFB-4A2C-A18E-10C140038FFF}"/>
              </a:ext>
            </a:extLst>
          </p:cNvPr>
          <p:cNvSpPr>
            <a:spLocks noGrp="1"/>
          </p:cNvSpPr>
          <p:nvPr/>
        </p:nvSpPr>
        <p:spPr>
          <a:xfrm>
            <a:off x="9239250" y="3105150"/>
            <a:ext cx="2857500" cy="64770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t0 = True</a:t>
            </a:r>
          </a:p>
          <a:p>
            <a:pPr algn="l">
              <a:buNone/>
              <a:defRPr sz="1875" b="0">
                <a:solidFill>
                  <a:srgbClr val="596577"/>
                </a:solidFill>
                <a:latin typeface="Arial"/>
                <a:ea typeface="Arial"/>
                <a:cs typeface="Arial"/>
              </a:defRPr>
            </a:pPr>
            <a:r>
              <a:rPr sz="1875" b="0">
                <a:solidFill>
                  <a:srgbClr val="596577"/>
                </a:solidFill>
                <a:latin typeface="Arial"/>
                <a:ea typeface="Arial"/>
                <a:cs typeface="Arial"/>
              </a:rPr>
              <a:t>branch t0</a:t>
            </a:r>
          </a:p>
        </p:txBody>
      </p:sp>
      <p:sp>
        <p:nvSpPr>
          <p:cNvPr id="10" name="B1: true path">
            <a:extLst>
              <a:ext uri="{FF2B5EF4-FFF2-40B4-BE49-F238E27FC236}">
                <a16:creationId xmlns:a16="http://schemas.microsoft.com/office/drawing/2014/main" id="{54B607BA-F907-40F8-BA17-0514C5C57C27}"/>
              </a:ext>
            </a:extLst>
          </p:cNvPr>
          <p:cNvSpPr>
            <a:spLocks noGrp="1"/>
          </p:cNvSpPr>
          <p:nvPr/>
        </p:nvSpPr>
        <p:spPr>
          <a:xfrm>
            <a:off x="6762750" y="4476750"/>
            <a:ext cx="3143250" cy="1238250"/>
          </a:xfrm>
          <a:prstGeom prst="rect">
            <a:avLst/>
          </a:prstGeom>
          <a:solidFill>
            <a:srgbClr val="FFFFFF"/>
          </a:solidFill>
          <a:ln w="16193">
            <a:solidFill>
              <a:srgbClr val="CDD3D9"/>
            </a:solidFill>
          </a:ln>
        </p:spPr>
        <p:txBody>
          <a:bodyPr/>
          <a:lstStyle/>
          <a:p>
            <a:endParaRPr lang="en-US"/>
          </a:p>
        </p:txBody>
      </p:sp>
      <p:sp>
        <p:nvSpPr>
          <p:cNvPr id="11" name="B1: true path">
            <a:extLst>
              <a:ext uri="{FF2B5EF4-FFF2-40B4-BE49-F238E27FC236}">
                <a16:creationId xmlns:a16="http://schemas.microsoft.com/office/drawing/2014/main" id="{EE56AB2B-B1C3-42D8-B112-095EEED36ED5}"/>
              </a:ext>
            </a:extLst>
          </p:cNvPr>
          <p:cNvSpPr>
            <a:spLocks noGrp="1"/>
          </p:cNvSpPr>
          <p:nvPr/>
        </p:nvSpPr>
        <p:spPr>
          <a:xfrm>
            <a:off x="6953250" y="4648200"/>
            <a:ext cx="2762250" cy="533400"/>
          </a:xfrm>
          <a:prstGeom prst="rect">
            <a:avLst/>
          </a:prstGeom>
          <a:noFill/>
          <a:ln w="0">
            <a:noFill/>
          </a:ln>
        </p:spPr>
        <p:txBody>
          <a:bodyPr wrap="square" lIns="0" tIns="0" rIns="0" bIns="0" anchor="t">
            <a:noAutofit/>
          </a:bodyPr>
          <a:lstStyle>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a:pPr algn="l">
              <a:buNone/>
              <a:defRPr sz="2250" b="1">
                <a:solidFill>
                  <a:srgbClr val="17273C"/>
                </a:solidFill>
                <a:latin typeface="Arial"/>
                <a:ea typeface="Arial"/>
                <a:cs typeface="Arial"/>
              </a:defRPr>
            </a:pPr>
            <a:r>
              <a:rPr sz="2250" b="1">
                <a:solidFill>
                  <a:srgbClr val="17273C"/>
                </a:solidFill>
                <a:latin typeface="Arial"/>
                <a:ea typeface="Arial"/>
                <a:cs typeface="Arial"/>
              </a:rPr>
              <a:t>B1: true path</a:t>
            </a:r>
          </a:p>
        </p:txBody>
      </p:sp>
      <p:sp>
        <p:nvSpPr>
          <p:cNvPr id="12" name="output(1)">
            <a:extLst>
              <a:ext uri="{FF2B5EF4-FFF2-40B4-BE49-F238E27FC236}">
                <a16:creationId xmlns:a16="http://schemas.microsoft.com/office/drawing/2014/main" id="{96830722-0BF6-46FC-AEC8-5DFD386A3ABA}"/>
              </a:ext>
            </a:extLst>
          </p:cNvPr>
          <p:cNvSpPr>
            <a:spLocks noGrp="1"/>
          </p:cNvSpPr>
          <p:nvPr/>
        </p:nvSpPr>
        <p:spPr>
          <a:xfrm>
            <a:off x="6953250" y="5200650"/>
            <a:ext cx="2762250" cy="45720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output(1)</a:t>
            </a:r>
          </a:p>
        </p:txBody>
      </p:sp>
      <p:sp>
        <p:nvSpPr>
          <p:cNvPr id="13" name="B2: false path">
            <a:extLst>
              <a:ext uri="{FF2B5EF4-FFF2-40B4-BE49-F238E27FC236}">
                <a16:creationId xmlns:a16="http://schemas.microsoft.com/office/drawing/2014/main" id="{D508BF3A-F1F4-48B1-AB59-7F57F1961169}"/>
              </a:ext>
            </a:extLst>
          </p:cNvPr>
          <p:cNvSpPr>
            <a:spLocks noGrp="1"/>
          </p:cNvSpPr>
          <p:nvPr/>
        </p:nvSpPr>
        <p:spPr>
          <a:xfrm>
            <a:off x="11430000" y="4476750"/>
            <a:ext cx="3143250" cy="1238250"/>
          </a:xfrm>
          <a:prstGeom prst="rect">
            <a:avLst/>
          </a:prstGeom>
          <a:solidFill>
            <a:srgbClr val="FFFFFF"/>
          </a:solidFill>
          <a:ln w="16193">
            <a:solidFill>
              <a:srgbClr val="CDD3D9"/>
            </a:solidFill>
          </a:ln>
        </p:spPr>
        <p:txBody>
          <a:bodyPr/>
          <a:lstStyle/>
          <a:p>
            <a:endParaRPr lang="en-US"/>
          </a:p>
        </p:txBody>
      </p:sp>
      <p:sp>
        <p:nvSpPr>
          <p:cNvPr id="14" name="B2: false path">
            <a:extLst>
              <a:ext uri="{FF2B5EF4-FFF2-40B4-BE49-F238E27FC236}">
                <a16:creationId xmlns:a16="http://schemas.microsoft.com/office/drawing/2014/main" id="{810BCC03-52C7-4B4B-8329-960471AB94D4}"/>
              </a:ext>
            </a:extLst>
          </p:cNvPr>
          <p:cNvSpPr>
            <a:spLocks noGrp="1"/>
          </p:cNvSpPr>
          <p:nvPr/>
        </p:nvSpPr>
        <p:spPr>
          <a:xfrm>
            <a:off x="11620500" y="4648200"/>
            <a:ext cx="2762250" cy="533400"/>
          </a:xfrm>
          <a:prstGeom prst="rect">
            <a:avLst/>
          </a:prstGeom>
          <a:noFill/>
          <a:ln w="0">
            <a:noFill/>
          </a:ln>
        </p:spPr>
        <p:txBody>
          <a:bodyPr wrap="square" lIns="0" tIns="0" rIns="0" bIns="0" anchor="t">
            <a:noAutofit/>
          </a:bodyPr>
          <a:lstStyle>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a:pPr algn="l">
              <a:buNone/>
              <a:defRPr sz="2250" b="1">
                <a:solidFill>
                  <a:srgbClr val="17273C"/>
                </a:solidFill>
                <a:latin typeface="Arial"/>
                <a:ea typeface="Arial"/>
                <a:cs typeface="Arial"/>
              </a:defRPr>
            </a:pPr>
            <a:r>
              <a:rPr sz="2250" b="1">
                <a:solidFill>
                  <a:srgbClr val="17273C"/>
                </a:solidFill>
                <a:latin typeface="Arial"/>
                <a:ea typeface="Arial"/>
                <a:cs typeface="Arial"/>
              </a:rPr>
              <a:t>B2: false path</a:t>
            </a:r>
          </a:p>
        </p:txBody>
      </p:sp>
      <p:sp>
        <p:nvSpPr>
          <p:cNvPr id="15" name="output(2)">
            <a:extLst>
              <a:ext uri="{FF2B5EF4-FFF2-40B4-BE49-F238E27FC236}">
                <a16:creationId xmlns:a16="http://schemas.microsoft.com/office/drawing/2014/main" id="{573B2DF3-1E81-46B9-8D4B-2AF78E44A572}"/>
              </a:ext>
            </a:extLst>
          </p:cNvPr>
          <p:cNvSpPr>
            <a:spLocks noGrp="1"/>
          </p:cNvSpPr>
          <p:nvPr/>
        </p:nvSpPr>
        <p:spPr>
          <a:xfrm>
            <a:off x="11620500" y="5200650"/>
            <a:ext cx="2762250" cy="45720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output(2)</a:t>
            </a:r>
          </a:p>
        </p:txBody>
      </p:sp>
      <p:sp>
        <p:nvSpPr>
          <p:cNvPr id="16" name="B3: exit">
            <a:extLst>
              <a:ext uri="{FF2B5EF4-FFF2-40B4-BE49-F238E27FC236}">
                <a16:creationId xmlns:a16="http://schemas.microsoft.com/office/drawing/2014/main" id="{B032833A-16BB-4AA3-B2FB-E608CDCF9C6D}"/>
              </a:ext>
            </a:extLst>
          </p:cNvPr>
          <p:cNvSpPr>
            <a:spLocks noGrp="1"/>
          </p:cNvSpPr>
          <p:nvPr/>
        </p:nvSpPr>
        <p:spPr>
          <a:xfrm>
            <a:off x="9048750" y="6429375"/>
            <a:ext cx="3238500" cy="1143000"/>
          </a:xfrm>
          <a:prstGeom prst="rect">
            <a:avLst/>
          </a:prstGeom>
          <a:solidFill>
            <a:srgbClr val="FFFFFF"/>
          </a:solidFill>
          <a:ln w="16193">
            <a:solidFill>
              <a:srgbClr val="CDD3D9"/>
            </a:solidFill>
          </a:ln>
        </p:spPr>
        <p:txBody>
          <a:bodyPr/>
          <a:lstStyle/>
          <a:p>
            <a:endParaRPr lang="en-US"/>
          </a:p>
        </p:txBody>
      </p:sp>
      <p:sp>
        <p:nvSpPr>
          <p:cNvPr id="17" name="B3: exit">
            <a:extLst>
              <a:ext uri="{FF2B5EF4-FFF2-40B4-BE49-F238E27FC236}">
                <a16:creationId xmlns:a16="http://schemas.microsoft.com/office/drawing/2014/main" id="{6A614BC1-CF62-457A-A0B7-CEE3367E5089}"/>
              </a:ext>
            </a:extLst>
          </p:cNvPr>
          <p:cNvSpPr>
            <a:spLocks noGrp="1"/>
          </p:cNvSpPr>
          <p:nvPr/>
        </p:nvSpPr>
        <p:spPr>
          <a:xfrm>
            <a:off x="9239250" y="6600825"/>
            <a:ext cx="2857500" cy="533400"/>
          </a:xfrm>
          <a:prstGeom prst="rect">
            <a:avLst/>
          </a:prstGeom>
          <a:noFill/>
          <a:ln w="0">
            <a:noFill/>
          </a:ln>
        </p:spPr>
        <p:txBody>
          <a:bodyPr wrap="square" lIns="0" tIns="0" rIns="0" bIns="0" anchor="t">
            <a:noAutofit/>
          </a:bodyPr>
          <a:lstStyle>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a:pPr algn="l">
              <a:buNone/>
              <a:defRPr sz="2250" b="1">
                <a:solidFill>
                  <a:srgbClr val="17273C"/>
                </a:solidFill>
                <a:latin typeface="Arial"/>
                <a:ea typeface="Arial"/>
                <a:cs typeface="Arial"/>
              </a:defRPr>
            </a:pPr>
            <a:r>
              <a:rPr sz="2250" b="1">
                <a:solidFill>
                  <a:srgbClr val="17273C"/>
                </a:solidFill>
                <a:latin typeface="Arial"/>
                <a:ea typeface="Arial"/>
                <a:cs typeface="Arial"/>
              </a:rPr>
              <a:t>B3: exit</a:t>
            </a:r>
          </a:p>
        </p:txBody>
      </p:sp>
      <p:sp>
        <p:nvSpPr>
          <p:cNvPr id="18" name="return">
            <a:extLst>
              <a:ext uri="{FF2B5EF4-FFF2-40B4-BE49-F238E27FC236}">
                <a16:creationId xmlns:a16="http://schemas.microsoft.com/office/drawing/2014/main" id="{5347210A-F864-46AB-9621-01B66E61A564}"/>
              </a:ext>
            </a:extLst>
          </p:cNvPr>
          <p:cNvSpPr>
            <a:spLocks noGrp="1"/>
          </p:cNvSpPr>
          <p:nvPr/>
        </p:nvSpPr>
        <p:spPr>
          <a:xfrm>
            <a:off x="9239250" y="7153275"/>
            <a:ext cx="2857500" cy="36195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return</a:t>
            </a:r>
          </a:p>
        </p:txBody>
      </p:sp>
    </p:spTree>
    <p:extLst>
      <p:ext uri="{BB962C8B-B14F-4D97-AF65-F5344CB8AC3E}">
        <p14:creationId xmlns:p14="http://schemas.microsoft.com/office/powerpoint/2010/main" val="1841371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0" name="Liveness and next-use analysis">
            <a:extLst>
              <a:ext uri="{FF2B5EF4-FFF2-40B4-BE49-F238E27FC236}">
                <a16:creationId xmlns:a16="http://schemas.microsoft.com/office/drawing/2014/main" id="{78E3705B-4E48-4388-ABF2-925333029776}"/>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Liveness and next-use analysis</a:t>
            </a:r>
          </a:p>
        </p:txBody>
      </p:sp>
      <p:sp>
        <p:nvSpPr>
          <p:cNvPr id="2" name="The optimizer needs evidence before deleting a temporar">
            <a:extLst>
              <a:ext uri="{FF2B5EF4-FFF2-40B4-BE49-F238E27FC236}">
                <a16:creationId xmlns:a16="http://schemas.microsoft.com/office/drawing/2014/main" id="{7C46F441-FB99-4C75-A9B4-0D7198EA1798}"/>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The optimizer needs evidence before deleting a temporary definition</a:t>
            </a:r>
          </a:p>
        </p:txBody>
      </p:sp>
      <p:sp>
        <p:nvSpPr>
          <p:cNvPr id="3" name="16">
            <a:extLst>
              <a:ext uri="{FF2B5EF4-FFF2-40B4-BE49-F238E27FC236}">
                <a16:creationId xmlns:a16="http://schemas.microsoft.com/office/drawing/2014/main" id="{3B7F2F09-6879-4408-AC1B-A9511F7838F4}"/>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16</a:t>
            </a:r>
          </a:p>
        </p:txBody>
      </p:sp>
      <p:sp>
        <p:nvSpPr>
          <p:cNvPr id="4" name="OUT[B] = union of IN[S]&#10;         for each successor S&#10;&#10;">
            <a:extLst>
              <a:ext uri="{FF2B5EF4-FFF2-40B4-BE49-F238E27FC236}">
                <a16:creationId xmlns:a16="http://schemas.microsoft.com/office/drawing/2014/main" id="{6DD8C3A2-8B5E-4DDB-9955-7AC3F981CE45}"/>
              </a:ext>
            </a:extLst>
          </p:cNvPr>
          <p:cNvSpPr>
            <a:spLocks noGrp="1"/>
          </p:cNvSpPr>
          <p:nvPr/>
        </p:nvSpPr>
        <p:spPr>
          <a:xfrm>
            <a:off x="781050" y="2714625"/>
            <a:ext cx="8286750" cy="2571750"/>
          </a:xfrm>
          <a:prstGeom prst="rect">
            <a:avLst/>
          </a:prstGeom>
          <a:noFill/>
          <a:ln w="0">
            <a:noFill/>
          </a:ln>
        </p:spPr>
        <p:txBody>
          <a:bodyPr wrap="square" lIns="0" tIns="0" rIns="0" bIns="0" anchor="t">
            <a:noAutofit/>
          </a:bodyPr>
          <a:lstStyle>
            <a:defPPr algn="l">
              <a:defRPr sz="2850" b="0">
                <a:solidFill>
                  <a:srgbClr val="162237"/>
                </a:solidFill>
                <a:latin typeface="Courier New"/>
                <a:ea typeface="Courier New"/>
                <a:cs typeface="Courier New"/>
              </a:defRPr>
            </a:defPPr>
            <a:lvl1pPr algn="l">
              <a:buNone/>
              <a:defRPr sz="2850" b="0">
                <a:solidFill>
                  <a:srgbClr val="162237"/>
                </a:solidFill>
                <a:latin typeface="Courier New"/>
                <a:ea typeface="Courier New"/>
                <a:cs typeface="Courier New"/>
              </a:defRPr>
            </a:lvl1pPr>
            <a:lvl2pPr algn="l">
              <a:buNone/>
              <a:defRPr sz="2850" b="0">
                <a:solidFill>
                  <a:srgbClr val="162237"/>
                </a:solidFill>
                <a:latin typeface="Courier New"/>
                <a:ea typeface="Courier New"/>
                <a:cs typeface="Courier New"/>
              </a:defRPr>
            </a:lvl2pPr>
            <a:lvl3pPr algn="l">
              <a:buNone/>
              <a:defRPr sz="2850" b="0">
                <a:solidFill>
                  <a:srgbClr val="162237"/>
                </a:solidFill>
                <a:latin typeface="Courier New"/>
                <a:ea typeface="Courier New"/>
                <a:cs typeface="Courier New"/>
              </a:defRPr>
            </a:lvl3pPr>
            <a:lvl4pPr algn="l">
              <a:buNone/>
              <a:defRPr sz="2850" b="0">
                <a:solidFill>
                  <a:srgbClr val="162237"/>
                </a:solidFill>
                <a:latin typeface="Courier New"/>
                <a:ea typeface="Courier New"/>
                <a:cs typeface="Courier New"/>
              </a:defRPr>
            </a:lvl4pPr>
            <a:lvl5pPr algn="l">
              <a:buNone/>
              <a:defRPr sz="2850" b="0">
                <a:solidFill>
                  <a:srgbClr val="162237"/>
                </a:solidFill>
                <a:latin typeface="Courier New"/>
                <a:ea typeface="Courier New"/>
                <a:cs typeface="Courier New"/>
              </a:defRPr>
            </a:lvl5pPr>
            <a:lvl6pPr algn="l">
              <a:buNone/>
              <a:defRPr sz="2850" b="0">
                <a:solidFill>
                  <a:srgbClr val="162237"/>
                </a:solidFill>
                <a:latin typeface="Courier New"/>
                <a:ea typeface="Courier New"/>
                <a:cs typeface="Courier New"/>
              </a:defRPr>
            </a:lvl6pPr>
            <a:lvl7pPr algn="l">
              <a:buNone/>
              <a:defRPr sz="2850" b="0">
                <a:solidFill>
                  <a:srgbClr val="162237"/>
                </a:solidFill>
                <a:latin typeface="Courier New"/>
                <a:ea typeface="Courier New"/>
                <a:cs typeface="Courier New"/>
              </a:defRPr>
            </a:lvl7pPr>
            <a:lvl8pPr algn="l">
              <a:buNone/>
              <a:defRPr sz="2850" b="0">
                <a:solidFill>
                  <a:srgbClr val="162237"/>
                </a:solidFill>
                <a:latin typeface="Courier New"/>
                <a:ea typeface="Courier New"/>
                <a:cs typeface="Courier New"/>
              </a:defRPr>
            </a:lvl8pPr>
            <a:lvl9pPr algn="l">
              <a:buNone/>
              <a:defRPr sz="2850" b="0">
                <a:solidFill>
                  <a:srgbClr val="162237"/>
                </a:solidFill>
                <a:latin typeface="Courier New"/>
                <a:ea typeface="Courier New"/>
                <a:cs typeface="Courier New"/>
              </a:defRPr>
            </a:lvl9pPr>
          </a:lstStyle>
          <a:p>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OUT[B] = union of IN[S]</a:t>
            </a:r>
          </a:p>
          <a:p>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         for each successor S</a:t>
            </a:r>
          </a:p>
          <a:p>
            <a:endParaRPr sz="2850" b="0">
              <a:solidFill>
                <a:srgbClr val="162237"/>
              </a:solidFill>
              <a:latin typeface="Courier New"/>
              <a:ea typeface="Courier New"/>
              <a:cs typeface="Courier New"/>
            </a:endParaRPr>
          </a:p>
          <a:p>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IN[B]  = USE[B] union</a:t>
            </a:r>
          </a:p>
          <a:p>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         (OUT[B] - DEF[B])</a:t>
            </a:r>
          </a:p>
        </p:txBody>
      </p:sp>
      <p:sp>
        <p:nvSpPr>
          <p:cNvPr id="5" name="Backward fixed point">
            <a:extLst>
              <a:ext uri="{FF2B5EF4-FFF2-40B4-BE49-F238E27FC236}">
                <a16:creationId xmlns:a16="http://schemas.microsoft.com/office/drawing/2014/main" id="{165EEACA-C62A-4E52-90C5-435E913C5B54}"/>
              </a:ext>
            </a:extLst>
          </p:cNvPr>
          <p:cNvSpPr>
            <a:spLocks noGrp="1"/>
          </p:cNvSpPr>
          <p:nvPr/>
        </p:nvSpPr>
        <p:spPr>
          <a:xfrm>
            <a:off x="10001250" y="2762250"/>
            <a:ext cx="438150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Backward fixed point</a:t>
            </a:r>
          </a:p>
        </p:txBody>
      </p:sp>
      <p:sp>
        <p:nvSpPr>
          <p:cNvPr id="6" name="A worklist revisits affected&#10;predecessor blocks.">
            <a:extLst>
              <a:ext uri="{FF2B5EF4-FFF2-40B4-BE49-F238E27FC236}">
                <a16:creationId xmlns:a16="http://schemas.microsoft.com/office/drawing/2014/main" id="{EEF3EF54-B42B-4E6F-9CB3-FF6D298568E9}"/>
              </a:ext>
            </a:extLst>
          </p:cNvPr>
          <p:cNvSpPr>
            <a:spLocks noGrp="1"/>
          </p:cNvSpPr>
          <p:nvPr/>
        </p:nvSpPr>
        <p:spPr>
          <a:xfrm>
            <a:off x="10001250" y="3381375"/>
            <a:ext cx="438150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A worklist revisits affected</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predecessor blocks.</a:t>
            </a:r>
          </a:p>
        </p:txBody>
      </p:sp>
      <p:sp>
        <p:nvSpPr>
          <p:cNvPr id="7" name="Next-use analysis">
            <a:extLst>
              <a:ext uri="{FF2B5EF4-FFF2-40B4-BE49-F238E27FC236}">
                <a16:creationId xmlns:a16="http://schemas.microsoft.com/office/drawing/2014/main" id="{7B7199A6-EC4A-4385-ADF5-FCCED14D5A69}"/>
              </a:ext>
            </a:extLst>
          </p:cNvPr>
          <p:cNvSpPr>
            <a:spLocks noGrp="1"/>
          </p:cNvSpPr>
          <p:nvPr/>
        </p:nvSpPr>
        <p:spPr>
          <a:xfrm>
            <a:off x="10001250" y="5143500"/>
            <a:ext cx="438150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Next-use analysis</a:t>
            </a:r>
          </a:p>
        </p:txBody>
      </p:sp>
      <p:sp>
        <p:nvSpPr>
          <p:cNvPr id="8" name="A reverse scan distinguishes&#10;overwritten temporary defi">
            <a:extLst>
              <a:ext uri="{FF2B5EF4-FFF2-40B4-BE49-F238E27FC236}">
                <a16:creationId xmlns:a16="http://schemas.microsoft.com/office/drawing/2014/main" id="{E4A79468-764F-4D51-932B-803F3F723E18}"/>
              </a:ext>
            </a:extLst>
          </p:cNvPr>
          <p:cNvSpPr>
            <a:spLocks noGrp="1"/>
          </p:cNvSpPr>
          <p:nvPr/>
        </p:nvSpPr>
        <p:spPr>
          <a:xfrm>
            <a:off x="10001250" y="5762625"/>
            <a:ext cx="438150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A reverse scan distinguishes</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overwritten temporary definitions.</a:t>
            </a:r>
          </a:p>
        </p:txBody>
      </p:sp>
      <p:sp>
        <p:nvSpPr>
          <p:cNvPr id="9" name="The current optimizer uses these facts to remove safe u">
            <a:extLst>
              <a:ext uri="{FF2B5EF4-FFF2-40B4-BE49-F238E27FC236}">
                <a16:creationId xmlns:a16="http://schemas.microsoft.com/office/drawing/2014/main" id="{69D00541-077A-4762-9BDF-8D551173200D}"/>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The current optimizer uses these facts to remove safe unused CONST definitions.</a:t>
            </a:r>
          </a:p>
        </p:txBody>
      </p:sp>
    </p:spTree>
    <p:extLst>
      <p:ext uri="{BB962C8B-B14F-4D97-AF65-F5344CB8AC3E}">
        <p14:creationId xmlns:p14="http://schemas.microsoft.com/office/powerpoint/2010/main" val="261586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7" name="Implemented IR optimizations">
            <a:extLst>
              <a:ext uri="{FF2B5EF4-FFF2-40B4-BE49-F238E27FC236}">
                <a16:creationId xmlns:a16="http://schemas.microsoft.com/office/drawing/2014/main" id="{846EF2A6-D50D-4D8A-B8E4-8F1044D3F842}"/>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Implemented IR optimizations</a:t>
            </a:r>
          </a:p>
        </p:txBody>
      </p:sp>
      <p:sp>
        <p:nvSpPr>
          <p:cNvPr id="2" name="Conservative transformations preserve observable behavi">
            <a:extLst>
              <a:ext uri="{FF2B5EF4-FFF2-40B4-BE49-F238E27FC236}">
                <a16:creationId xmlns:a16="http://schemas.microsoft.com/office/drawing/2014/main" id="{DC6FAD3B-3EEE-470F-9C71-4026BB0E7A6C}"/>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Conservative transformations preserve observable behavior</a:t>
            </a:r>
          </a:p>
        </p:txBody>
      </p:sp>
      <p:sp>
        <p:nvSpPr>
          <p:cNvPr id="3" name="17">
            <a:extLst>
              <a:ext uri="{FF2B5EF4-FFF2-40B4-BE49-F238E27FC236}">
                <a16:creationId xmlns:a16="http://schemas.microsoft.com/office/drawing/2014/main" id="{D27C8CE0-F9D7-4684-935C-5C4B378723CB}"/>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17</a:t>
            </a:r>
          </a:p>
        </p:txBody>
      </p:sp>
      <p:sp>
        <p:nvSpPr>
          <p:cNvPr id="4" name="01">
            <a:extLst>
              <a:ext uri="{FF2B5EF4-FFF2-40B4-BE49-F238E27FC236}">
                <a16:creationId xmlns:a16="http://schemas.microsoft.com/office/drawing/2014/main" id="{F1443AD0-ECCD-4B5B-B7D9-9C8F14C69DDC}"/>
              </a:ext>
            </a:extLst>
          </p:cNvPr>
          <p:cNvSpPr>
            <a:spLocks noGrp="1"/>
          </p:cNvSpPr>
          <p:nvPr/>
        </p:nvSpPr>
        <p:spPr>
          <a:xfrm>
            <a:off x="781050" y="2628900"/>
            <a:ext cx="952500" cy="571500"/>
          </a:xfrm>
          <a:prstGeom prst="rect">
            <a:avLst/>
          </a:prstGeom>
          <a:noFill/>
          <a:ln w="0">
            <a:noFill/>
          </a:ln>
        </p:spPr>
        <p:txBody>
          <a:bodyPr wrap="square" lIns="0" tIns="0" rIns="0" bIns="0" anchor="t">
            <a:noAutofit/>
          </a:bodyPr>
          <a:lstStyle>
            <a:defPPr algn="l">
              <a:defRPr sz="3375" b="1">
                <a:solidFill>
                  <a:srgbClr val="2956D7"/>
                </a:solidFill>
                <a:latin typeface="Arial"/>
                <a:ea typeface="Arial"/>
                <a:cs typeface="Arial"/>
              </a:defRPr>
            </a:defPPr>
            <a:lvl1pPr algn="l">
              <a:buNone/>
              <a:defRPr sz="3375" b="1">
                <a:solidFill>
                  <a:srgbClr val="2956D7"/>
                </a:solidFill>
                <a:latin typeface="Arial"/>
                <a:ea typeface="Arial"/>
                <a:cs typeface="Arial"/>
              </a:defRPr>
            </a:lvl1pPr>
            <a:lvl2pPr algn="l">
              <a:buNone/>
              <a:defRPr sz="3375" b="1">
                <a:solidFill>
                  <a:srgbClr val="2956D7"/>
                </a:solidFill>
                <a:latin typeface="Arial"/>
                <a:ea typeface="Arial"/>
                <a:cs typeface="Arial"/>
              </a:defRPr>
            </a:lvl2pPr>
            <a:lvl3pPr algn="l">
              <a:buNone/>
              <a:defRPr sz="3375" b="1">
                <a:solidFill>
                  <a:srgbClr val="2956D7"/>
                </a:solidFill>
                <a:latin typeface="Arial"/>
                <a:ea typeface="Arial"/>
                <a:cs typeface="Arial"/>
              </a:defRPr>
            </a:lvl3pPr>
            <a:lvl4pPr algn="l">
              <a:buNone/>
              <a:defRPr sz="3375" b="1">
                <a:solidFill>
                  <a:srgbClr val="2956D7"/>
                </a:solidFill>
                <a:latin typeface="Arial"/>
                <a:ea typeface="Arial"/>
                <a:cs typeface="Arial"/>
              </a:defRPr>
            </a:lvl4pPr>
            <a:lvl5pPr algn="l">
              <a:buNone/>
              <a:defRPr sz="3375" b="1">
                <a:solidFill>
                  <a:srgbClr val="2956D7"/>
                </a:solidFill>
                <a:latin typeface="Arial"/>
                <a:ea typeface="Arial"/>
                <a:cs typeface="Arial"/>
              </a:defRPr>
            </a:lvl5pPr>
            <a:lvl6pPr algn="l">
              <a:buNone/>
              <a:defRPr sz="3375" b="1">
                <a:solidFill>
                  <a:srgbClr val="2956D7"/>
                </a:solidFill>
                <a:latin typeface="Arial"/>
                <a:ea typeface="Arial"/>
                <a:cs typeface="Arial"/>
              </a:defRPr>
            </a:lvl6pPr>
            <a:lvl7pPr algn="l">
              <a:buNone/>
              <a:defRPr sz="3375" b="1">
                <a:solidFill>
                  <a:srgbClr val="2956D7"/>
                </a:solidFill>
                <a:latin typeface="Arial"/>
                <a:ea typeface="Arial"/>
                <a:cs typeface="Arial"/>
              </a:defRPr>
            </a:lvl7pPr>
            <a:lvl8pPr algn="l">
              <a:buNone/>
              <a:defRPr sz="3375" b="1">
                <a:solidFill>
                  <a:srgbClr val="2956D7"/>
                </a:solidFill>
                <a:latin typeface="Arial"/>
                <a:ea typeface="Arial"/>
                <a:cs typeface="Arial"/>
              </a:defRPr>
            </a:lvl8pPr>
            <a:lvl9pPr algn="l">
              <a:buNone/>
              <a:defRPr sz="3375" b="1">
                <a:solidFill>
                  <a:srgbClr val="2956D7"/>
                </a:solidFill>
                <a:latin typeface="Arial"/>
                <a:ea typeface="Arial"/>
                <a:cs typeface="Arial"/>
              </a:defRPr>
            </a:lvl9pPr>
          </a:lstStyle>
          <a:p>
            <a:pPr algn="l">
              <a:buNone/>
              <a:defRPr sz="3375" b="1">
                <a:solidFill>
                  <a:srgbClr val="2956D7"/>
                </a:solidFill>
                <a:latin typeface="Arial"/>
                <a:ea typeface="Arial"/>
                <a:cs typeface="Arial"/>
              </a:defRPr>
            </a:pPr>
            <a:r>
              <a:rPr sz="3375" b="1">
                <a:solidFill>
                  <a:srgbClr val="2956D7"/>
                </a:solidFill>
                <a:latin typeface="Arial"/>
                <a:ea typeface="Arial"/>
                <a:cs typeface="Arial"/>
              </a:rPr>
              <a:t>01</a:t>
            </a:r>
          </a:p>
        </p:txBody>
      </p:sp>
      <p:sp>
        <p:nvSpPr>
          <p:cNvPr id="5" name="Local constant folding">
            <a:extLst>
              <a:ext uri="{FF2B5EF4-FFF2-40B4-BE49-F238E27FC236}">
                <a16:creationId xmlns:a16="http://schemas.microsoft.com/office/drawing/2014/main" id="{A9F2FFE2-E603-403A-96FF-9421755E492C}"/>
              </a:ext>
            </a:extLst>
          </p:cNvPr>
          <p:cNvSpPr>
            <a:spLocks noGrp="1"/>
          </p:cNvSpPr>
          <p:nvPr/>
        </p:nvSpPr>
        <p:spPr>
          <a:xfrm>
            <a:off x="2095500" y="2628900"/>
            <a:ext cx="11906250" cy="495300"/>
          </a:xfrm>
          <a:prstGeom prst="rect">
            <a:avLst/>
          </a:prstGeom>
          <a:noFill/>
          <a:ln w="0">
            <a:noFill/>
          </a:ln>
        </p:spPr>
        <p:txBody>
          <a:bodyPr wrap="square" lIns="0" tIns="0" rIns="0" bIns="0" anchor="t">
            <a:noAutofit/>
          </a:bodyPr>
          <a:lstStyle>
            <a:defPPr algn="l">
              <a:defRPr sz="2700" b="1">
                <a:solidFill>
                  <a:srgbClr val="17273C"/>
                </a:solidFill>
                <a:latin typeface="Arial"/>
                <a:ea typeface="Arial"/>
                <a:cs typeface="Arial"/>
              </a:defRPr>
            </a:defPPr>
            <a:lvl1pPr algn="l">
              <a:buNone/>
              <a:defRPr sz="2700" b="1">
                <a:solidFill>
                  <a:srgbClr val="17273C"/>
                </a:solidFill>
                <a:latin typeface="Arial"/>
                <a:ea typeface="Arial"/>
                <a:cs typeface="Arial"/>
              </a:defRPr>
            </a:lvl1pPr>
            <a:lvl2pPr algn="l">
              <a:buNone/>
              <a:defRPr sz="2700" b="1">
                <a:solidFill>
                  <a:srgbClr val="17273C"/>
                </a:solidFill>
                <a:latin typeface="Arial"/>
                <a:ea typeface="Arial"/>
                <a:cs typeface="Arial"/>
              </a:defRPr>
            </a:lvl2pPr>
            <a:lvl3pPr algn="l">
              <a:buNone/>
              <a:defRPr sz="2700" b="1">
                <a:solidFill>
                  <a:srgbClr val="17273C"/>
                </a:solidFill>
                <a:latin typeface="Arial"/>
                <a:ea typeface="Arial"/>
                <a:cs typeface="Arial"/>
              </a:defRPr>
            </a:lvl3pPr>
            <a:lvl4pPr algn="l">
              <a:buNone/>
              <a:defRPr sz="2700" b="1">
                <a:solidFill>
                  <a:srgbClr val="17273C"/>
                </a:solidFill>
                <a:latin typeface="Arial"/>
                <a:ea typeface="Arial"/>
                <a:cs typeface="Arial"/>
              </a:defRPr>
            </a:lvl4pPr>
            <a:lvl5pPr algn="l">
              <a:buNone/>
              <a:defRPr sz="2700" b="1">
                <a:solidFill>
                  <a:srgbClr val="17273C"/>
                </a:solidFill>
                <a:latin typeface="Arial"/>
                <a:ea typeface="Arial"/>
                <a:cs typeface="Arial"/>
              </a:defRPr>
            </a:lvl5pPr>
            <a:lvl6pPr algn="l">
              <a:buNone/>
              <a:defRPr sz="2700" b="1">
                <a:solidFill>
                  <a:srgbClr val="17273C"/>
                </a:solidFill>
                <a:latin typeface="Arial"/>
                <a:ea typeface="Arial"/>
                <a:cs typeface="Arial"/>
              </a:defRPr>
            </a:lvl6pPr>
            <a:lvl7pPr algn="l">
              <a:buNone/>
              <a:defRPr sz="2700" b="1">
                <a:solidFill>
                  <a:srgbClr val="17273C"/>
                </a:solidFill>
                <a:latin typeface="Arial"/>
                <a:ea typeface="Arial"/>
                <a:cs typeface="Arial"/>
              </a:defRPr>
            </a:lvl7pPr>
            <a:lvl8pPr algn="l">
              <a:buNone/>
              <a:defRPr sz="2700" b="1">
                <a:solidFill>
                  <a:srgbClr val="17273C"/>
                </a:solidFill>
                <a:latin typeface="Arial"/>
                <a:ea typeface="Arial"/>
                <a:cs typeface="Arial"/>
              </a:defRPr>
            </a:lvl8pPr>
            <a:lvl9pPr algn="l">
              <a:buNone/>
              <a:defRPr sz="2700" b="1">
                <a:solidFill>
                  <a:srgbClr val="17273C"/>
                </a:solidFill>
                <a:latin typeface="Arial"/>
                <a:ea typeface="Arial"/>
                <a:cs typeface="Arial"/>
              </a:defRPr>
            </a:lvl9pPr>
          </a:lstStyle>
          <a:p>
            <a:pPr algn="l">
              <a:buNone/>
              <a:defRPr sz="2700" b="1">
                <a:solidFill>
                  <a:srgbClr val="17273C"/>
                </a:solidFill>
                <a:latin typeface="Arial"/>
                <a:ea typeface="Arial"/>
                <a:cs typeface="Arial"/>
              </a:defRPr>
            </a:pPr>
            <a:r>
              <a:rPr sz="2700" b="1">
                <a:solidFill>
                  <a:srgbClr val="17273C"/>
                </a:solidFill>
                <a:latin typeface="Arial"/>
                <a:ea typeface="Arial"/>
                <a:cs typeface="Arial"/>
              </a:rPr>
              <a:t>Local constant folding</a:t>
            </a:r>
          </a:p>
        </p:txBody>
      </p:sp>
      <p:sp>
        <p:nvSpPr>
          <p:cNvPr id="6" name="Compute proven primitive operations during compilation.">
            <a:extLst>
              <a:ext uri="{FF2B5EF4-FFF2-40B4-BE49-F238E27FC236}">
                <a16:creationId xmlns:a16="http://schemas.microsoft.com/office/drawing/2014/main" id="{88D92089-A4C0-4FBB-8CAF-E5F20A6EFC0B}"/>
              </a:ext>
            </a:extLst>
          </p:cNvPr>
          <p:cNvSpPr>
            <a:spLocks noGrp="1"/>
          </p:cNvSpPr>
          <p:nvPr/>
        </p:nvSpPr>
        <p:spPr>
          <a:xfrm>
            <a:off x="2095500" y="3152775"/>
            <a:ext cx="11906250" cy="523875"/>
          </a:xfrm>
          <a:prstGeom prst="rect">
            <a:avLst/>
          </a:prstGeom>
          <a:noFill/>
          <a:ln w="0">
            <a:noFill/>
          </a:ln>
        </p:spPr>
        <p:txBody>
          <a:bodyPr wrap="square" lIns="0" tIns="0" rIns="0" bIns="0" anchor="t">
            <a:noAutofit/>
          </a:bodyPr>
          <a:lstStyle>
            <a:defPPr algn="l">
              <a:defRPr sz="2175" b="0">
                <a:solidFill>
                  <a:srgbClr val="596577"/>
                </a:solidFill>
                <a:latin typeface="Arial"/>
                <a:ea typeface="Arial"/>
                <a:cs typeface="Arial"/>
              </a:defRPr>
            </a:defPPr>
            <a:lvl1pPr algn="l">
              <a:buNone/>
              <a:defRPr sz="2175" b="0">
                <a:solidFill>
                  <a:srgbClr val="596577"/>
                </a:solidFill>
                <a:latin typeface="Arial"/>
                <a:ea typeface="Arial"/>
                <a:cs typeface="Arial"/>
              </a:defRPr>
            </a:lvl1pPr>
            <a:lvl2pPr algn="l">
              <a:buNone/>
              <a:defRPr sz="2175" b="0">
                <a:solidFill>
                  <a:srgbClr val="596577"/>
                </a:solidFill>
                <a:latin typeface="Arial"/>
                <a:ea typeface="Arial"/>
                <a:cs typeface="Arial"/>
              </a:defRPr>
            </a:lvl2pPr>
            <a:lvl3pPr algn="l">
              <a:buNone/>
              <a:defRPr sz="2175" b="0">
                <a:solidFill>
                  <a:srgbClr val="596577"/>
                </a:solidFill>
                <a:latin typeface="Arial"/>
                <a:ea typeface="Arial"/>
                <a:cs typeface="Arial"/>
              </a:defRPr>
            </a:lvl3pPr>
            <a:lvl4pPr algn="l">
              <a:buNone/>
              <a:defRPr sz="2175" b="0">
                <a:solidFill>
                  <a:srgbClr val="596577"/>
                </a:solidFill>
                <a:latin typeface="Arial"/>
                <a:ea typeface="Arial"/>
                <a:cs typeface="Arial"/>
              </a:defRPr>
            </a:lvl4pPr>
            <a:lvl5pPr algn="l">
              <a:buNone/>
              <a:defRPr sz="2175" b="0">
                <a:solidFill>
                  <a:srgbClr val="596577"/>
                </a:solidFill>
                <a:latin typeface="Arial"/>
                <a:ea typeface="Arial"/>
                <a:cs typeface="Arial"/>
              </a:defRPr>
            </a:lvl5pPr>
            <a:lvl6pPr algn="l">
              <a:buNone/>
              <a:defRPr sz="2175" b="0">
                <a:solidFill>
                  <a:srgbClr val="596577"/>
                </a:solidFill>
                <a:latin typeface="Arial"/>
                <a:ea typeface="Arial"/>
                <a:cs typeface="Arial"/>
              </a:defRPr>
            </a:lvl6pPr>
            <a:lvl7pPr algn="l">
              <a:buNone/>
              <a:defRPr sz="2175" b="0">
                <a:solidFill>
                  <a:srgbClr val="596577"/>
                </a:solidFill>
                <a:latin typeface="Arial"/>
                <a:ea typeface="Arial"/>
                <a:cs typeface="Arial"/>
              </a:defRPr>
            </a:lvl7pPr>
            <a:lvl8pPr algn="l">
              <a:buNone/>
              <a:defRPr sz="2175" b="0">
                <a:solidFill>
                  <a:srgbClr val="596577"/>
                </a:solidFill>
                <a:latin typeface="Arial"/>
                <a:ea typeface="Arial"/>
                <a:cs typeface="Arial"/>
              </a:defRPr>
            </a:lvl8pPr>
            <a:lvl9pPr algn="l">
              <a:buNone/>
              <a:defRPr sz="2175" b="0">
                <a:solidFill>
                  <a:srgbClr val="596577"/>
                </a:solidFill>
                <a:latin typeface="Arial"/>
                <a:ea typeface="Arial"/>
                <a:cs typeface="Arial"/>
              </a:defRPr>
            </a:lvl9pPr>
          </a:lstStyle>
          <a:p>
            <a:pPr algn="l">
              <a:buNone/>
              <a:defRPr sz="2175" b="0">
                <a:solidFill>
                  <a:srgbClr val="596577"/>
                </a:solidFill>
                <a:latin typeface="Arial"/>
                <a:ea typeface="Arial"/>
                <a:cs typeface="Arial"/>
              </a:defRPr>
            </a:pPr>
            <a:r>
              <a:rPr sz="2175" b="0">
                <a:solidFill>
                  <a:srgbClr val="596577"/>
                </a:solidFill>
                <a:latin typeface="Arial"/>
                <a:ea typeface="Arial"/>
                <a:cs typeface="Arial"/>
              </a:rPr>
              <a:t>Compute proven primitive operations during compilation.</a:t>
            </a:r>
          </a:p>
        </p:txBody>
      </p:sp>
      <p:sp>
        <p:nvSpPr>
          <p:cNvPr id="7" name="02">
            <a:extLst>
              <a:ext uri="{FF2B5EF4-FFF2-40B4-BE49-F238E27FC236}">
                <a16:creationId xmlns:a16="http://schemas.microsoft.com/office/drawing/2014/main" id="{6EED7877-633A-4ED3-95D3-30466697F97B}"/>
              </a:ext>
            </a:extLst>
          </p:cNvPr>
          <p:cNvSpPr>
            <a:spLocks noGrp="1"/>
          </p:cNvSpPr>
          <p:nvPr/>
        </p:nvSpPr>
        <p:spPr>
          <a:xfrm>
            <a:off x="781050" y="3829050"/>
            <a:ext cx="952500" cy="571500"/>
          </a:xfrm>
          <a:prstGeom prst="rect">
            <a:avLst/>
          </a:prstGeom>
          <a:noFill/>
          <a:ln w="0">
            <a:noFill/>
          </a:ln>
        </p:spPr>
        <p:txBody>
          <a:bodyPr wrap="square" lIns="0" tIns="0" rIns="0" bIns="0" anchor="t">
            <a:noAutofit/>
          </a:bodyPr>
          <a:lstStyle>
            <a:defPPr algn="l">
              <a:defRPr sz="3375" b="1">
                <a:solidFill>
                  <a:srgbClr val="2956D7"/>
                </a:solidFill>
                <a:latin typeface="Arial"/>
                <a:ea typeface="Arial"/>
                <a:cs typeface="Arial"/>
              </a:defRPr>
            </a:defPPr>
            <a:lvl1pPr algn="l">
              <a:buNone/>
              <a:defRPr sz="3375" b="1">
                <a:solidFill>
                  <a:srgbClr val="2956D7"/>
                </a:solidFill>
                <a:latin typeface="Arial"/>
                <a:ea typeface="Arial"/>
                <a:cs typeface="Arial"/>
              </a:defRPr>
            </a:lvl1pPr>
            <a:lvl2pPr algn="l">
              <a:buNone/>
              <a:defRPr sz="3375" b="1">
                <a:solidFill>
                  <a:srgbClr val="2956D7"/>
                </a:solidFill>
                <a:latin typeface="Arial"/>
                <a:ea typeface="Arial"/>
                <a:cs typeface="Arial"/>
              </a:defRPr>
            </a:lvl2pPr>
            <a:lvl3pPr algn="l">
              <a:buNone/>
              <a:defRPr sz="3375" b="1">
                <a:solidFill>
                  <a:srgbClr val="2956D7"/>
                </a:solidFill>
                <a:latin typeface="Arial"/>
                <a:ea typeface="Arial"/>
                <a:cs typeface="Arial"/>
              </a:defRPr>
            </a:lvl3pPr>
            <a:lvl4pPr algn="l">
              <a:buNone/>
              <a:defRPr sz="3375" b="1">
                <a:solidFill>
                  <a:srgbClr val="2956D7"/>
                </a:solidFill>
                <a:latin typeface="Arial"/>
                <a:ea typeface="Arial"/>
                <a:cs typeface="Arial"/>
              </a:defRPr>
            </a:lvl4pPr>
            <a:lvl5pPr algn="l">
              <a:buNone/>
              <a:defRPr sz="3375" b="1">
                <a:solidFill>
                  <a:srgbClr val="2956D7"/>
                </a:solidFill>
                <a:latin typeface="Arial"/>
                <a:ea typeface="Arial"/>
                <a:cs typeface="Arial"/>
              </a:defRPr>
            </a:lvl5pPr>
            <a:lvl6pPr algn="l">
              <a:buNone/>
              <a:defRPr sz="3375" b="1">
                <a:solidFill>
                  <a:srgbClr val="2956D7"/>
                </a:solidFill>
                <a:latin typeface="Arial"/>
                <a:ea typeface="Arial"/>
                <a:cs typeface="Arial"/>
              </a:defRPr>
            </a:lvl6pPr>
            <a:lvl7pPr algn="l">
              <a:buNone/>
              <a:defRPr sz="3375" b="1">
                <a:solidFill>
                  <a:srgbClr val="2956D7"/>
                </a:solidFill>
                <a:latin typeface="Arial"/>
                <a:ea typeface="Arial"/>
                <a:cs typeface="Arial"/>
              </a:defRPr>
            </a:lvl7pPr>
            <a:lvl8pPr algn="l">
              <a:buNone/>
              <a:defRPr sz="3375" b="1">
                <a:solidFill>
                  <a:srgbClr val="2956D7"/>
                </a:solidFill>
                <a:latin typeface="Arial"/>
                <a:ea typeface="Arial"/>
                <a:cs typeface="Arial"/>
              </a:defRPr>
            </a:lvl8pPr>
            <a:lvl9pPr algn="l">
              <a:buNone/>
              <a:defRPr sz="3375" b="1">
                <a:solidFill>
                  <a:srgbClr val="2956D7"/>
                </a:solidFill>
                <a:latin typeface="Arial"/>
                <a:ea typeface="Arial"/>
                <a:cs typeface="Arial"/>
              </a:defRPr>
            </a:lvl9pPr>
          </a:lstStyle>
          <a:p>
            <a:pPr algn="l">
              <a:buNone/>
              <a:defRPr sz="3375" b="1">
                <a:solidFill>
                  <a:srgbClr val="2956D7"/>
                </a:solidFill>
                <a:latin typeface="Arial"/>
                <a:ea typeface="Arial"/>
                <a:cs typeface="Arial"/>
              </a:defRPr>
            </a:pPr>
            <a:r>
              <a:rPr sz="3375" b="1">
                <a:solidFill>
                  <a:srgbClr val="2956D7"/>
                </a:solidFill>
                <a:latin typeface="Arial"/>
                <a:ea typeface="Arial"/>
                <a:cs typeface="Arial"/>
              </a:rPr>
              <a:t>02</a:t>
            </a:r>
          </a:p>
        </p:txBody>
      </p:sp>
      <p:sp>
        <p:nvSpPr>
          <p:cNvPr id="8" name="Constant branch simplification">
            <a:extLst>
              <a:ext uri="{FF2B5EF4-FFF2-40B4-BE49-F238E27FC236}">
                <a16:creationId xmlns:a16="http://schemas.microsoft.com/office/drawing/2014/main" id="{0A2C9154-91CA-44C5-AAF8-DA571D926955}"/>
              </a:ext>
            </a:extLst>
          </p:cNvPr>
          <p:cNvSpPr>
            <a:spLocks noGrp="1"/>
          </p:cNvSpPr>
          <p:nvPr/>
        </p:nvSpPr>
        <p:spPr>
          <a:xfrm>
            <a:off x="2095500" y="3829050"/>
            <a:ext cx="11906250" cy="495300"/>
          </a:xfrm>
          <a:prstGeom prst="rect">
            <a:avLst/>
          </a:prstGeom>
          <a:noFill/>
          <a:ln w="0">
            <a:noFill/>
          </a:ln>
        </p:spPr>
        <p:txBody>
          <a:bodyPr wrap="square" lIns="0" tIns="0" rIns="0" bIns="0" anchor="t">
            <a:noAutofit/>
          </a:bodyPr>
          <a:lstStyle>
            <a:defPPr algn="l">
              <a:defRPr sz="2700" b="1">
                <a:solidFill>
                  <a:srgbClr val="17273C"/>
                </a:solidFill>
                <a:latin typeface="Arial"/>
                <a:ea typeface="Arial"/>
                <a:cs typeface="Arial"/>
              </a:defRPr>
            </a:defPPr>
            <a:lvl1pPr algn="l">
              <a:buNone/>
              <a:defRPr sz="2700" b="1">
                <a:solidFill>
                  <a:srgbClr val="17273C"/>
                </a:solidFill>
                <a:latin typeface="Arial"/>
                <a:ea typeface="Arial"/>
                <a:cs typeface="Arial"/>
              </a:defRPr>
            </a:lvl1pPr>
            <a:lvl2pPr algn="l">
              <a:buNone/>
              <a:defRPr sz="2700" b="1">
                <a:solidFill>
                  <a:srgbClr val="17273C"/>
                </a:solidFill>
                <a:latin typeface="Arial"/>
                <a:ea typeface="Arial"/>
                <a:cs typeface="Arial"/>
              </a:defRPr>
            </a:lvl2pPr>
            <a:lvl3pPr algn="l">
              <a:buNone/>
              <a:defRPr sz="2700" b="1">
                <a:solidFill>
                  <a:srgbClr val="17273C"/>
                </a:solidFill>
                <a:latin typeface="Arial"/>
                <a:ea typeface="Arial"/>
                <a:cs typeface="Arial"/>
              </a:defRPr>
            </a:lvl3pPr>
            <a:lvl4pPr algn="l">
              <a:buNone/>
              <a:defRPr sz="2700" b="1">
                <a:solidFill>
                  <a:srgbClr val="17273C"/>
                </a:solidFill>
                <a:latin typeface="Arial"/>
                <a:ea typeface="Arial"/>
                <a:cs typeface="Arial"/>
              </a:defRPr>
            </a:lvl4pPr>
            <a:lvl5pPr algn="l">
              <a:buNone/>
              <a:defRPr sz="2700" b="1">
                <a:solidFill>
                  <a:srgbClr val="17273C"/>
                </a:solidFill>
                <a:latin typeface="Arial"/>
                <a:ea typeface="Arial"/>
                <a:cs typeface="Arial"/>
              </a:defRPr>
            </a:lvl5pPr>
            <a:lvl6pPr algn="l">
              <a:buNone/>
              <a:defRPr sz="2700" b="1">
                <a:solidFill>
                  <a:srgbClr val="17273C"/>
                </a:solidFill>
                <a:latin typeface="Arial"/>
                <a:ea typeface="Arial"/>
                <a:cs typeface="Arial"/>
              </a:defRPr>
            </a:lvl6pPr>
            <a:lvl7pPr algn="l">
              <a:buNone/>
              <a:defRPr sz="2700" b="1">
                <a:solidFill>
                  <a:srgbClr val="17273C"/>
                </a:solidFill>
                <a:latin typeface="Arial"/>
                <a:ea typeface="Arial"/>
                <a:cs typeface="Arial"/>
              </a:defRPr>
            </a:lvl7pPr>
            <a:lvl8pPr algn="l">
              <a:buNone/>
              <a:defRPr sz="2700" b="1">
                <a:solidFill>
                  <a:srgbClr val="17273C"/>
                </a:solidFill>
                <a:latin typeface="Arial"/>
                <a:ea typeface="Arial"/>
                <a:cs typeface="Arial"/>
              </a:defRPr>
            </a:lvl8pPr>
            <a:lvl9pPr algn="l">
              <a:buNone/>
              <a:defRPr sz="2700" b="1">
                <a:solidFill>
                  <a:srgbClr val="17273C"/>
                </a:solidFill>
                <a:latin typeface="Arial"/>
                <a:ea typeface="Arial"/>
                <a:cs typeface="Arial"/>
              </a:defRPr>
            </a:lvl9pPr>
          </a:lstStyle>
          <a:p>
            <a:pPr algn="l">
              <a:buNone/>
              <a:defRPr sz="2700" b="1">
                <a:solidFill>
                  <a:srgbClr val="17273C"/>
                </a:solidFill>
                <a:latin typeface="Arial"/>
                <a:ea typeface="Arial"/>
                <a:cs typeface="Arial"/>
              </a:defRPr>
            </a:pPr>
            <a:r>
              <a:rPr sz="2700" b="1">
                <a:solidFill>
                  <a:srgbClr val="17273C"/>
                </a:solidFill>
                <a:latin typeface="Arial"/>
                <a:ea typeface="Arial"/>
                <a:cs typeface="Arial"/>
              </a:rPr>
              <a:t>Constant branch simplification</a:t>
            </a:r>
          </a:p>
        </p:txBody>
      </p:sp>
      <p:sp>
        <p:nvSpPr>
          <p:cNvPr id="9" name="Replace a known Boolean branch with a direct jump.">
            <a:extLst>
              <a:ext uri="{FF2B5EF4-FFF2-40B4-BE49-F238E27FC236}">
                <a16:creationId xmlns:a16="http://schemas.microsoft.com/office/drawing/2014/main" id="{43816C2E-8774-49D4-B8AD-278B0C1612E2}"/>
              </a:ext>
            </a:extLst>
          </p:cNvPr>
          <p:cNvSpPr>
            <a:spLocks noGrp="1"/>
          </p:cNvSpPr>
          <p:nvPr/>
        </p:nvSpPr>
        <p:spPr>
          <a:xfrm>
            <a:off x="2095500" y="4352925"/>
            <a:ext cx="11906250" cy="523875"/>
          </a:xfrm>
          <a:prstGeom prst="rect">
            <a:avLst/>
          </a:prstGeom>
          <a:noFill/>
          <a:ln w="0">
            <a:noFill/>
          </a:ln>
        </p:spPr>
        <p:txBody>
          <a:bodyPr wrap="square" lIns="0" tIns="0" rIns="0" bIns="0" anchor="t">
            <a:noAutofit/>
          </a:bodyPr>
          <a:lstStyle>
            <a:defPPr algn="l">
              <a:defRPr sz="2175" b="0">
                <a:solidFill>
                  <a:srgbClr val="596577"/>
                </a:solidFill>
                <a:latin typeface="Arial"/>
                <a:ea typeface="Arial"/>
                <a:cs typeface="Arial"/>
              </a:defRPr>
            </a:defPPr>
            <a:lvl1pPr algn="l">
              <a:buNone/>
              <a:defRPr sz="2175" b="0">
                <a:solidFill>
                  <a:srgbClr val="596577"/>
                </a:solidFill>
                <a:latin typeface="Arial"/>
                <a:ea typeface="Arial"/>
                <a:cs typeface="Arial"/>
              </a:defRPr>
            </a:lvl1pPr>
            <a:lvl2pPr algn="l">
              <a:buNone/>
              <a:defRPr sz="2175" b="0">
                <a:solidFill>
                  <a:srgbClr val="596577"/>
                </a:solidFill>
                <a:latin typeface="Arial"/>
                <a:ea typeface="Arial"/>
                <a:cs typeface="Arial"/>
              </a:defRPr>
            </a:lvl2pPr>
            <a:lvl3pPr algn="l">
              <a:buNone/>
              <a:defRPr sz="2175" b="0">
                <a:solidFill>
                  <a:srgbClr val="596577"/>
                </a:solidFill>
                <a:latin typeface="Arial"/>
                <a:ea typeface="Arial"/>
                <a:cs typeface="Arial"/>
              </a:defRPr>
            </a:lvl3pPr>
            <a:lvl4pPr algn="l">
              <a:buNone/>
              <a:defRPr sz="2175" b="0">
                <a:solidFill>
                  <a:srgbClr val="596577"/>
                </a:solidFill>
                <a:latin typeface="Arial"/>
                <a:ea typeface="Arial"/>
                <a:cs typeface="Arial"/>
              </a:defRPr>
            </a:lvl4pPr>
            <a:lvl5pPr algn="l">
              <a:buNone/>
              <a:defRPr sz="2175" b="0">
                <a:solidFill>
                  <a:srgbClr val="596577"/>
                </a:solidFill>
                <a:latin typeface="Arial"/>
                <a:ea typeface="Arial"/>
                <a:cs typeface="Arial"/>
              </a:defRPr>
            </a:lvl5pPr>
            <a:lvl6pPr algn="l">
              <a:buNone/>
              <a:defRPr sz="2175" b="0">
                <a:solidFill>
                  <a:srgbClr val="596577"/>
                </a:solidFill>
                <a:latin typeface="Arial"/>
                <a:ea typeface="Arial"/>
                <a:cs typeface="Arial"/>
              </a:defRPr>
            </a:lvl6pPr>
            <a:lvl7pPr algn="l">
              <a:buNone/>
              <a:defRPr sz="2175" b="0">
                <a:solidFill>
                  <a:srgbClr val="596577"/>
                </a:solidFill>
                <a:latin typeface="Arial"/>
                <a:ea typeface="Arial"/>
                <a:cs typeface="Arial"/>
              </a:defRPr>
            </a:lvl7pPr>
            <a:lvl8pPr algn="l">
              <a:buNone/>
              <a:defRPr sz="2175" b="0">
                <a:solidFill>
                  <a:srgbClr val="596577"/>
                </a:solidFill>
                <a:latin typeface="Arial"/>
                <a:ea typeface="Arial"/>
                <a:cs typeface="Arial"/>
              </a:defRPr>
            </a:lvl8pPr>
            <a:lvl9pPr algn="l">
              <a:buNone/>
              <a:defRPr sz="2175" b="0">
                <a:solidFill>
                  <a:srgbClr val="596577"/>
                </a:solidFill>
                <a:latin typeface="Arial"/>
                <a:ea typeface="Arial"/>
                <a:cs typeface="Arial"/>
              </a:defRPr>
            </a:lvl9pPr>
          </a:lstStyle>
          <a:p>
            <a:pPr algn="l">
              <a:buNone/>
              <a:defRPr sz="2175" b="0">
                <a:solidFill>
                  <a:srgbClr val="596577"/>
                </a:solidFill>
                <a:latin typeface="Arial"/>
                <a:ea typeface="Arial"/>
                <a:cs typeface="Arial"/>
              </a:defRPr>
            </a:pPr>
            <a:r>
              <a:rPr sz="2175" b="0">
                <a:solidFill>
                  <a:srgbClr val="596577"/>
                </a:solidFill>
                <a:latin typeface="Arial"/>
                <a:ea typeface="Arial"/>
                <a:cs typeface="Arial"/>
              </a:rPr>
              <a:t>Replace a known Boolean branch with a direct jump.</a:t>
            </a:r>
          </a:p>
        </p:txBody>
      </p:sp>
      <p:sp>
        <p:nvSpPr>
          <p:cNvPr id="10" name="03">
            <a:extLst>
              <a:ext uri="{FF2B5EF4-FFF2-40B4-BE49-F238E27FC236}">
                <a16:creationId xmlns:a16="http://schemas.microsoft.com/office/drawing/2014/main" id="{6A94AC02-7116-4281-BEB7-A840E2B8A153}"/>
              </a:ext>
            </a:extLst>
          </p:cNvPr>
          <p:cNvSpPr>
            <a:spLocks noGrp="1"/>
          </p:cNvSpPr>
          <p:nvPr/>
        </p:nvSpPr>
        <p:spPr>
          <a:xfrm>
            <a:off x="781050" y="5029200"/>
            <a:ext cx="952500" cy="571500"/>
          </a:xfrm>
          <a:prstGeom prst="rect">
            <a:avLst/>
          </a:prstGeom>
          <a:noFill/>
          <a:ln w="0">
            <a:noFill/>
          </a:ln>
        </p:spPr>
        <p:txBody>
          <a:bodyPr wrap="square" lIns="0" tIns="0" rIns="0" bIns="0" anchor="t">
            <a:noAutofit/>
          </a:bodyPr>
          <a:lstStyle>
            <a:defPPr algn="l">
              <a:defRPr sz="3375" b="1">
                <a:solidFill>
                  <a:srgbClr val="2956D7"/>
                </a:solidFill>
                <a:latin typeface="Arial"/>
                <a:ea typeface="Arial"/>
                <a:cs typeface="Arial"/>
              </a:defRPr>
            </a:defPPr>
            <a:lvl1pPr algn="l">
              <a:buNone/>
              <a:defRPr sz="3375" b="1">
                <a:solidFill>
                  <a:srgbClr val="2956D7"/>
                </a:solidFill>
                <a:latin typeface="Arial"/>
                <a:ea typeface="Arial"/>
                <a:cs typeface="Arial"/>
              </a:defRPr>
            </a:lvl1pPr>
            <a:lvl2pPr algn="l">
              <a:buNone/>
              <a:defRPr sz="3375" b="1">
                <a:solidFill>
                  <a:srgbClr val="2956D7"/>
                </a:solidFill>
                <a:latin typeface="Arial"/>
                <a:ea typeface="Arial"/>
                <a:cs typeface="Arial"/>
              </a:defRPr>
            </a:lvl2pPr>
            <a:lvl3pPr algn="l">
              <a:buNone/>
              <a:defRPr sz="3375" b="1">
                <a:solidFill>
                  <a:srgbClr val="2956D7"/>
                </a:solidFill>
                <a:latin typeface="Arial"/>
                <a:ea typeface="Arial"/>
                <a:cs typeface="Arial"/>
              </a:defRPr>
            </a:lvl3pPr>
            <a:lvl4pPr algn="l">
              <a:buNone/>
              <a:defRPr sz="3375" b="1">
                <a:solidFill>
                  <a:srgbClr val="2956D7"/>
                </a:solidFill>
                <a:latin typeface="Arial"/>
                <a:ea typeface="Arial"/>
                <a:cs typeface="Arial"/>
              </a:defRPr>
            </a:lvl4pPr>
            <a:lvl5pPr algn="l">
              <a:buNone/>
              <a:defRPr sz="3375" b="1">
                <a:solidFill>
                  <a:srgbClr val="2956D7"/>
                </a:solidFill>
                <a:latin typeface="Arial"/>
                <a:ea typeface="Arial"/>
                <a:cs typeface="Arial"/>
              </a:defRPr>
            </a:lvl5pPr>
            <a:lvl6pPr algn="l">
              <a:buNone/>
              <a:defRPr sz="3375" b="1">
                <a:solidFill>
                  <a:srgbClr val="2956D7"/>
                </a:solidFill>
                <a:latin typeface="Arial"/>
                <a:ea typeface="Arial"/>
                <a:cs typeface="Arial"/>
              </a:defRPr>
            </a:lvl6pPr>
            <a:lvl7pPr algn="l">
              <a:buNone/>
              <a:defRPr sz="3375" b="1">
                <a:solidFill>
                  <a:srgbClr val="2956D7"/>
                </a:solidFill>
                <a:latin typeface="Arial"/>
                <a:ea typeface="Arial"/>
                <a:cs typeface="Arial"/>
              </a:defRPr>
            </a:lvl7pPr>
            <a:lvl8pPr algn="l">
              <a:buNone/>
              <a:defRPr sz="3375" b="1">
                <a:solidFill>
                  <a:srgbClr val="2956D7"/>
                </a:solidFill>
                <a:latin typeface="Arial"/>
                <a:ea typeface="Arial"/>
                <a:cs typeface="Arial"/>
              </a:defRPr>
            </a:lvl8pPr>
            <a:lvl9pPr algn="l">
              <a:buNone/>
              <a:defRPr sz="3375" b="1">
                <a:solidFill>
                  <a:srgbClr val="2956D7"/>
                </a:solidFill>
                <a:latin typeface="Arial"/>
                <a:ea typeface="Arial"/>
                <a:cs typeface="Arial"/>
              </a:defRPr>
            </a:lvl9pPr>
          </a:lstStyle>
          <a:p>
            <a:pPr algn="l">
              <a:buNone/>
              <a:defRPr sz="3375" b="1">
                <a:solidFill>
                  <a:srgbClr val="2956D7"/>
                </a:solidFill>
                <a:latin typeface="Arial"/>
                <a:ea typeface="Arial"/>
                <a:cs typeface="Arial"/>
              </a:defRPr>
            </a:pPr>
            <a:r>
              <a:rPr sz="3375" b="1">
                <a:solidFill>
                  <a:srgbClr val="2956D7"/>
                </a:solidFill>
                <a:latin typeface="Arial"/>
                <a:ea typeface="Arial"/>
                <a:cs typeface="Arial"/>
              </a:rPr>
              <a:t>03</a:t>
            </a:r>
          </a:p>
        </p:txBody>
      </p:sp>
      <p:sp>
        <p:nvSpPr>
          <p:cNvPr id="11" name="Unreachable block removal">
            <a:extLst>
              <a:ext uri="{FF2B5EF4-FFF2-40B4-BE49-F238E27FC236}">
                <a16:creationId xmlns:a16="http://schemas.microsoft.com/office/drawing/2014/main" id="{2345377C-654D-40F9-9E13-0260803D1668}"/>
              </a:ext>
            </a:extLst>
          </p:cNvPr>
          <p:cNvSpPr>
            <a:spLocks noGrp="1"/>
          </p:cNvSpPr>
          <p:nvPr/>
        </p:nvSpPr>
        <p:spPr>
          <a:xfrm>
            <a:off x="2095500" y="5029200"/>
            <a:ext cx="11906250" cy="495300"/>
          </a:xfrm>
          <a:prstGeom prst="rect">
            <a:avLst/>
          </a:prstGeom>
          <a:noFill/>
          <a:ln w="0">
            <a:noFill/>
          </a:ln>
        </p:spPr>
        <p:txBody>
          <a:bodyPr wrap="square" lIns="0" tIns="0" rIns="0" bIns="0" anchor="t">
            <a:noAutofit/>
          </a:bodyPr>
          <a:lstStyle>
            <a:defPPr algn="l">
              <a:defRPr sz="2700" b="1">
                <a:solidFill>
                  <a:srgbClr val="17273C"/>
                </a:solidFill>
                <a:latin typeface="Arial"/>
                <a:ea typeface="Arial"/>
                <a:cs typeface="Arial"/>
              </a:defRPr>
            </a:defPPr>
            <a:lvl1pPr algn="l">
              <a:buNone/>
              <a:defRPr sz="2700" b="1">
                <a:solidFill>
                  <a:srgbClr val="17273C"/>
                </a:solidFill>
                <a:latin typeface="Arial"/>
                <a:ea typeface="Arial"/>
                <a:cs typeface="Arial"/>
              </a:defRPr>
            </a:lvl1pPr>
            <a:lvl2pPr algn="l">
              <a:buNone/>
              <a:defRPr sz="2700" b="1">
                <a:solidFill>
                  <a:srgbClr val="17273C"/>
                </a:solidFill>
                <a:latin typeface="Arial"/>
                <a:ea typeface="Arial"/>
                <a:cs typeface="Arial"/>
              </a:defRPr>
            </a:lvl2pPr>
            <a:lvl3pPr algn="l">
              <a:buNone/>
              <a:defRPr sz="2700" b="1">
                <a:solidFill>
                  <a:srgbClr val="17273C"/>
                </a:solidFill>
                <a:latin typeface="Arial"/>
                <a:ea typeface="Arial"/>
                <a:cs typeface="Arial"/>
              </a:defRPr>
            </a:lvl3pPr>
            <a:lvl4pPr algn="l">
              <a:buNone/>
              <a:defRPr sz="2700" b="1">
                <a:solidFill>
                  <a:srgbClr val="17273C"/>
                </a:solidFill>
                <a:latin typeface="Arial"/>
                <a:ea typeface="Arial"/>
                <a:cs typeface="Arial"/>
              </a:defRPr>
            </a:lvl4pPr>
            <a:lvl5pPr algn="l">
              <a:buNone/>
              <a:defRPr sz="2700" b="1">
                <a:solidFill>
                  <a:srgbClr val="17273C"/>
                </a:solidFill>
                <a:latin typeface="Arial"/>
                <a:ea typeface="Arial"/>
                <a:cs typeface="Arial"/>
              </a:defRPr>
            </a:lvl5pPr>
            <a:lvl6pPr algn="l">
              <a:buNone/>
              <a:defRPr sz="2700" b="1">
                <a:solidFill>
                  <a:srgbClr val="17273C"/>
                </a:solidFill>
                <a:latin typeface="Arial"/>
                <a:ea typeface="Arial"/>
                <a:cs typeface="Arial"/>
              </a:defRPr>
            </a:lvl6pPr>
            <a:lvl7pPr algn="l">
              <a:buNone/>
              <a:defRPr sz="2700" b="1">
                <a:solidFill>
                  <a:srgbClr val="17273C"/>
                </a:solidFill>
                <a:latin typeface="Arial"/>
                <a:ea typeface="Arial"/>
                <a:cs typeface="Arial"/>
              </a:defRPr>
            </a:lvl7pPr>
            <a:lvl8pPr algn="l">
              <a:buNone/>
              <a:defRPr sz="2700" b="1">
                <a:solidFill>
                  <a:srgbClr val="17273C"/>
                </a:solidFill>
                <a:latin typeface="Arial"/>
                <a:ea typeface="Arial"/>
                <a:cs typeface="Arial"/>
              </a:defRPr>
            </a:lvl8pPr>
            <a:lvl9pPr algn="l">
              <a:buNone/>
              <a:defRPr sz="2700" b="1">
                <a:solidFill>
                  <a:srgbClr val="17273C"/>
                </a:solidFill>
                <a:latin typeface="Arial"/>
                <a:ea typeface="Arial"/>
                <a:cs typeface="Arial"/>
              </a:defRPr>
            </a:lvl9pPr>
          </a:lstStyle>
          <a:p>
            <a:pPr algn="l">
              <a:buNone/>
              <a:defRPr sz="2700" b="1">
                <a:solidFill>
                  <a:srgbClr val="17273C"/>
                </a:solidFill>
                <a:latin typeface="Arial"/>
                <a:ea typeface="Arial"/>
                <a:cs typeface="Arial"/>
              </a:defRPr>
            </a:pPr>
            <a:r>
              <a:rPr sz="2700" b="1">
                <a:solidFill>
                  <a:srgbClr val="17273C"/>
                </a:solidFill>
                <a:latin typeface="Arial"/>
                <a:ea typeface="Arial"/>
                <a:cs typeface="Arial"/>
              </a:rPr>
              <a:t>Unreachable block removal</a:t>
            </a:r>
          </a:p>
        </p:txBody>
      </p:sp>
      <p:sp>
        <p:nvSpPr>
          <p:cNvPr id="12" name="Discard blocks that have no path from function entry.">
            <a:extLst>
              <a:ext uri="{FF2B5EF4-FFF2-40B4-BE49-F238E27FC236}">
                <a16:creationId xmlns:a16="http://schemas.microsoft.com/office/drawing/2014/main" id="{D25DA9C4-5A7F-4574-B356-34FE5A23CFFD}"/>
              </a:ext>
            </a:extLst>
          </p:cNvPr>
          <p:cNvSpPr>
            <a:spLocks noGrp="1"/>
          </p:cNvSpPr>
          <p:nvPr/>
        </p:nvSpPr>
        <p:spPr>
          <a:xfrm>
            <a:off x="2095500" y="5553075"/>
            <a:ext cx="11906250" cy="523875"/>
          </a:xfrm>
          <a:prstGeom prst="rect">
            <a:avLst/>
          </a:prstGeom>
          <a:noFill/>
          <a:ln w="0">
            <a:noFill/>
          </a:ln>
        </p:spPr>
        <p:txBody>
          <a:bodyPr wrap="square" lIns="0" tIns="0" rIns="0" bIns="0" anchor="t">
            <a:noAutofit/>
          </a:bodyPr>
          <a:lstStyle>
            <a:defPPr algn="l">
              <a:defRPr sz="2175" b="0">
                <a:solidFill>
                  <a:srgbClr val="596577"/>
                </a:solidFill>
                <a:latin typeface="Arial"/>
                <a:ea typeface="Arial"/>
                <a:cs typeface="Arial"/>
              </a:defRPr>
            </a:defPPr>
            <a:lvl1pPr algn="l">
              <a:buNone/>
              <a:defRPr sz="2175" b="0">
                <a:solidFill>
                  <a:srgbClr val="596577"/>
                </a:solidFill>
                <a:latin typeface="Arial"/>
                <a:ea typeface="Arial"/>
                <a:cs typeface="Arial"/>
              </a:defRPr>
            </a:lvl1pPr>
            <a:lvl2pPr algn="l">
              <a:buNone/>
              <a:defRPr sz="2175" b="0">
                <a:solidFill>
                  <a:srgbClr val="596577"/>
                </a:solidFill>
                <a:latin typeface="Arial"/>
                <a:ea typeface="Arial"/>
                <a:cs typeface="Arial"/>
              </a:defRPr>
            </a:lvl2pPr>
            <a:lvl3pPr algn="l">
              <a:buNone/>
              <a:defRPr sz="2175" b="0">
                <a:solidFill>
                  <a:srgbClr val="596577"/>
                </a:solidFill>
                <a:latin typeface="Arial"/>
                <a:ea typeface="Arial"/>
                <a:cs typeface="Arial"/>
              </a:defRPr>
            </a:lvl3pPr>
            <a:lvl4pPr algn="l">
              <a:buNone/>
              <a:defRPr sz="2175" b="0">
                <a:solidFill>
                  <a:srgbClr val="596577"/>
                </a:solidFill>
                <a:latin typeface="Arial"/>
                <a:ea typeface="Arial"/>
                <a:cs typeface="Arial"/>
              </a:defRPr>
            </a:lvl4pPr>
            <a:lvl5pPr algn="l">
              <a:buNone/>
              <a:defRPr sz="2175" b="0">
                <a:solidFill>
                  <a:srgbClr val="596577"/>
                </a:solidFill>
                <a:latin typeface="Arial"/>
                <a:ea typeface="Arial"/>
                <a:cs typeface="Arial"/>
              </a:defRPr>
            </a:lvl5pPr>
            <a:lvl6pPr algn="l">
              <a:buNone/>
              <a:defRPr sz="2175" b="0">
                <a:solidFill>
                  <a:srgbClr val="596577"/>
                </a:solidFill>
                <a:latin typeface="Arial"/>
                <a:ea typeface="Arial"/>
                <a:cs typeface="Arial"/>
              </a:defRPr>
            </a:lvl6pPr>
            <a:lvl7pPr algn="l">
              <a:buNone/>
              <a:defRPr sz="2175" b="0">
                <a:solidFill>
                  <a:srgbClr val="596577"/>
                </a:solidFill>
                <a:latin typeface="Arial"/>
                <a:ea typeface="Arial"/>
                <a:cs typeface="Arial"/>
              </a:defRPr>
            </a:lvl7pPr>
            <a:lvl8pPr algn="l">
              <a:buNone/>
              <a:defRPr sz="2175" b="0">
                <a:solidFill>
                  <a:srgbClr val="596577"/>
                </a:solidFill>
                <a:latin typeface="Arial"/>
                <a:ea typeface="Arial"/>
                <a:cs typeface="Arial"/>
              </a:defRPr>
            </a:lvl8pPr>
            <a:lvl9pPr algn="l">
              <a:buNone/>
              <a:defRPr sz="2175" b="0">
                <a:solidFill>
                  <a:srgbClr val="596577"/>
                </a:solidFill>
                <a:latin typeface="Arial"/>
                <a:ea typeface="Arial"/>
                <a:cs typeface="Arial"/>
              </a:defRPr>
            </a:lvl9pPr>
          </a:lstStyle>
          <a:p>
            <a:pPr algn="l">
              <a:buNone/>
              <a:defRPr sz="2175" b="0">
                <a:solidFill>
                  <a:srgbClr val="596577"/>
                </a:solidFill>
                <a:latin typeface="Arial"/>
                <a:ea typeface="Arial"/>
                <a:cs typeface="Arial"/>
              </a:defRPr>
            </a:pPr>
            <a:r>
              <a:rPr sz="2175" b="0">
                <a:solidFill>
                  <a:srgbClr val="596577"/>
                </a:solidFill>
                <a:latin typeface="Arial"/>
                <a:ea typeface="Arial"/>
                <a:cs typeface="Arial"/>
              </a:rPr>
              <a:t>Discard blocks that have no path from function entry.</a:t>
            </a:r>
          </a:p>
        </p:txBody>
      </p:sp>
      <p:sp>
        <p:nvSpPr>
          <p:cNvPr id="13" name="04">
            <a:extLst>
              <a:ext uri="{FF2B5EF4-FFF2-40B4-BE49-F238E27FC236}">
                <a16:creationId xmlns:a16="http://schemas.microsoft.com/office/drawing/2014/main" id="{1EA4AEF7-9BAA-469F-8D32-67CFF1E2B6D4}"/>
              </a:ext>
            </a:extLst>
          </p:cNvPr>
          <p:cNvSpPr>
            <a:spLocks noGrp="1"/>
          </p:cNvSpPr>
          <p:nvPr/>
        </p:nvSpPr>
        <p:spPr>
          <a:xfrm>
            <a:off x="781050" y="6229350"/>
            <a:ext cx="952500" cy="571500"/>
          </a:xfrm>
          <a:prstGeom prst="rect">
            <a:avLst/>
          </a:prstGeom>
          <a:noFill/>
          <a:ln w="0">
            <a:noFill/>
          </a:ln>
        </p:spPr>
        <p:txBody>
          <a:bodyPr wrap="square" lIns="0" tIns="0" rIns="0" bIns="0" anchor="t">
            <a:noAutofit/>
          </a:bodyPr>
          <a:lstStyle>
            <a:defPPr algn="l">
              <a:defRPr sz="3375" b="1">
                <a:solidFill>
                  <a:srgbClr val="2956D7"/>
                </a:solidFill>
                <a:latin typeface="Arial"/>
                <a:ea typeface="Arial"/>
                <a:cs typeface="Arial"/>
              </a:defRPr>
            </a:defPPr>
            <a:lvl1pPr algn="l">
              <a:buNone/>
              <a:defRPr sz="3375" b="1">
                <a:solidFill>
                  <a:srgbClr val="2956D7"/>
                </a:solidFill>
                <a:latin typeface="Arial"/>
                <a:ea typeface="Arial"/>
                <a:cs typeface="Arial"/>
              </a:defRPr>
            </a:lvl1pPr>
            <a:lvl2pPr algn="l">
              <a:buNone/>
              <a:defRPr sz="3375" b="1">
                <a:solidFill>
                  <a:srgbClr val="2956D7"/>
                </a:solidFill>
                <a:latin typeface="Arial"/>
                <a:ea typeface="Arial"/>
                <a:cs typeface="Arial"/>
              </a:defRPr>
            </a:lvl2pPr>
            <a:lvl3pPr algn="l">
              <a:buNone/>
              <a:defRPr sz="3375" b="1">
                <a:solidFill>
                  <a:srgbClr val="2956D7"/>
                </a:solidFill>
                <a:latin typeface="Arial"/>
                <a:ea typeface="Arial"/>
                <a:cs typeface="Arial"/>
              </a:defRPr>
            </a:lvl3pPr>
            <a:lvl4pPr algn="l">
              <a:buNone/>
              <a:defRPr sz="3375" b="1">
                <a:solidFill>
                  <a:srgbClr val="2956D7"/>
                </a:solidFill>
                <a:latin typeface="Arial"/>
                <a:ea typeface="Arial"/>
                <a:cs typeface="Arial"/>
              </a:defRPr>
            </a:lvl4pPr>
            <a:lvl5pPr algn="l">
              <a:buNone/>
              <a:defRPr sz="3375" b="1">
                <a:solidFill>
                  <a:srgbClr val="2956D7"/>
                </a:solidFill>
                <a:latin typeface="Arial"/>
                <a:ea typeface="Arial"/>
                <a:cs typeface="Arial"/>
              </a:defRPr>
            </a:lvl5pPr>
            <a:lvl6pPr algn="l">
              <a:buNone/>
              <a:defRPr sz="3375" b="1">
                <a:solidFill>
                  <a:srgbClr val="2956D7"/>
                </a:solidFill>
                <a:latin typeface="Arial"/>
                <a:ea typeface="Arial"/>
                <a:cs typeface="Arial"/>
              </a:defRPr>
            </a:lvl6pPr>
            <a:lvl7pPr algn="l">
              <a:buNone/>
              <a:defRPr sz="3375" b="1">
                <a:solidFill>
                  <a:srgbClr val="2956D7"/>
                </a:solidFill>
                <a:latin typeface="Arial"/>
                <a:ea typeface="Arial"/>
                <a:cs typeface="Arial"/>
              </a:defRPr>
            </a:lvl7pPr>
            <a:lvl8pPr algn="l">
              <a:buNone/>
              <a:defRPr sz="3375" b="1">
                <a:solidFill>
                  <a:srgbClr val="2956D7"/>
                </a:solidFill>
                <a:latin typeface="Arial"/>
                <a:ea typeface="Arial"/>
                <a:cs typeface="Arial"/>
              </a:defRPr>
            </a:lvl8pPr>
            <a:lvl9pPr algn="l">
              <a:buNone/>
              <a:defRPr sz="3375" b="1">
                <a:solidFill>
                  <a:srgbClr val="2956D7"/>
                </a:solidFill>
                <a:latin typeface="Arial"/>
                <a:ea typeface="Arial"/>
                <a:cs typeface="Arial"/>
              </a:defRPr>
            </a:lvl9pPr>
          </a:lstStyle>
          <a:p>
            <a:pPr algn="l">
              <a:buNone/>
              <a:defRPr sz="3375" b="1">
                <a:solidFill>
                  <a:srgbClr val="2956D7"/>
                </a:solidFill>
                <a:latin typeface="Arial"/>
                <a:ea typeface="Arial"/>
                <a:cs typeface="Arial"/>
              </a:defRPr>
            </a:pPr>
            <a:r>
              <a:rPr sz="3375" b="1">
                <a:solidFill>
                  <a:srgbClr val="2956D7"/>
                </a:solidFill>
                <a:latin typeface="Arial"/>
                <a:ea typeface="Arial"/>
                <a:cs typeface="Arial"/>
              </a:rPr>
              <a:t>04</a:t>
            </a:r>
          </a:p>
        </p:txBody>
      </p:sp>
      <p:sp>
        <p:nvSpPr>
          <p:cNvPr id="14" name="Dead constant removal">
            <a:extLst>
              <a:ext uri="{FF2B5EF4-FFF2-40B4-BE49-F238E27FC236}">
                <a16:creationId xmlns:a16="http://schemas.microsoft.com/office/drawing/2014/main" id="{4F2DA147-2180-46DC-B9E3-47466A266B16}"/>
              </a:ext>
            </a:extLst>
          </p:cNvPr>
          <p:cNvSpPr>
            <a:spLocks noGrp="1"/>
          </p:cNvSpPr>
          <p:nvPr/>
        </p:nvSpPr>
        <p:spPr>
          <a:xfrm>
            <a:off x="2095500" y="6229350"/>
            <a:ext cx="11906250" cy="495300"/>
          </a:xfrm>
          <a:prstGeom prst="rect">
            <a:avLst/>
          </a:prstGeom>
          <a:noFill/>
          <a:ln w="0">
            <a:noFill/>
          </a:ln>
        </p:spPr>
        <p:txBody>
          <a:bodyPr wrap="square" lIns="0" tIns="0" rIns="0" bIns="0" anchor="t">
            <a:noAutofit/>
          </a:bodyPr>
          <a:lstStyle>
            <a:defPPr algn="l">
              <a:defRPr sz="2700" b="1">
                <a:solidFill>
                  <a:srgbClr val="17273C"/>
                </a:solidFill>
                <a:latin typeface="Arial"/>
                <a:ea typeface="Arial"/>
                <a:cs typeface="Arial"/>
              </a:defRPr>
            </a:defPPr>
            <a:lvl1pPr algn="l">
              <a:buNone/>
              <a:defRPr sz="2700" b="1">
                <a:solidFill>
                  <a:srgbClr val="17273C"/>
                </a:solidFill>
                <a:latin typeface="Arial"/>
                <a:ea typeface="Arial"/>
                <a:cs typeface="Arial"/>
              </a:defRPr>
            </a:lvl1pPr>
            <a:lvl2pPr algn="l">
              <a:buNone/>
              <a:defRPr sz="2700" b="1">
                <a:solidFill>
                  <a:srgbClr val="17273C"/>
                </a:solidFill>
                <a:latin typeface="Arial"/>
                <a:ea typeface="Arial"/>
                <a:cs typeface="Arial"/>
              </a:defRPr>
            </a:lvl2pPr>
            <a:lvl3pPr algn="l">
              <a:buNone/>
              <a:defRPr sz="2700" b="1">
                <a:solidFill>
                  <a:srgbClr val="17273C"/>
                </a:solidFill>
                <a:latin typeface="Arial"/>
                <a:ea typeface="Arial"/>
                <a:cs typeface="Arial"/>
              </a:defRPr>
            </a:lvl3pPr>
            <a:lvl4pPr algn="l">
              <a:buNone/>
              <a:defRPr sz="2700" b="1">
                <a:solidFill>
                  <a:srgbClr val="17273C"/>
                </a:solidFill>
                <a:latin typeface="Arial"/>
                <a:ea typeface="Arial"/>
                <a:cs typeface="Arial"/>
              </a:defRPr>
            </a:lvl4pPr>
            <a:lvl5pPr algn="l">
              <a:buNone/>
              <a:defRPr sz="2700" b="1">
                <a:solidFill>
                  <a:srgbClr val="17273C"/>
                </a:solidFill>
                <a:latin typeface="Arial"/>
                <a:ea typeface="Arial"/>
                <a:cs typeface="Arial"/>
              </a:defRPr>
            </a:lvl5pPr>
            <a:lvl6pPr algn="l">
              <a:buNone/>
              <a:defRPr sz="2700" b="1">
                <a:solidFill>
                  <a:srgbClr val="17273C"/>
                </a:solidFill>
                <a:latin typeface="Arial"/>
                <a:ea typeface="Arial"/>
                <a:cs typeface="Arial"/>
              </a:defRPr>
            </a:lvl6pPr>
            <a:lvl7pPr algn="l">
              <a:buNone/>
              <a:defRPr sz="2700" b="1">
                <a:solidFill>
                  <a:srgbClr val="17273C"/>
                </a:solidFill>
                <a:latin typeface="Arial"/>
                <a:ea typeface="Arial"/>
                <a:cs typeface="Arial"/>
              </a:defRPr>
            </a:lvl7pPr>
            <a:lvl8pPr algn="l">
              <a:buNone/>
              <a:defRPr sz="2700" b="1">
                <a:solidFill>
                  <a:srgbClr val="17273C"/>
                </a:solidFill>
                <a:latin typeface="Arial"/>
                <a:ea typeface="Arial"/>
                <a:cs typeface="Arial"/>
              </a:defRPr>
            </a:lvl8pPr>
            <a:lvl9pPr algn="l">
              <a:buNone/>
              <a:defRPr sz="2700" b="1">
                <a:solidFill>
                  <a:srgbClr val="17273C"/>
                </a:solidFill>
                <a:latin typeface="Arial"/>
                <a:ea typeface="Arial"/>
                <a:cs typeface="Arial"/>
              </a:defRPr>
            </a:lvl9pPr>
          </a:lstStyle>
          <a:p>
            <a:pPr algn="l">
              <a:buNone/>
              <a:defRPr sz="2700" b="1">
                <a:solidFill>
                  <a:srgbClr val="17273C"/>
                </a:solidFill>
                <a:latin typeface="Arial"/>
                <a:ea typeface="Arial"/>
                <a:cs typeface="Arial"/>
              </a:defRPr>
            </a:pPr>
            <a:r>
              <a:rPr sz="2700" b="1">
                <a:solidFill>
                  <a:srgbClr val="17273C"/>
                </a:solidFill>
                <a:latin typeface="Arial"/>
                <a:ea typeface="Arial"/>
                <a:cs typeface="Arial"/>
              </a:rPr>
              <a:t>Dead constant removal</a:t>
            </a:r>
          </a:p>
        </p:txBody>
      </p:sp>
      <p:sp>
        <p:nvSpPr>
          <p:cNvPr id="15" name="Remove unused CONST definitions using liveness and next">
            <a:extLst>
              <a:ext uri="{FF2B5EF4-FFF2-40B4-BE49-F238E27FC236}">
                <a16:creationId xmlns:a16="http://schemas.microsoft.com/office/drawing/2014/main" id="{EAD4E184-E0A1-4605-BC64-9B602CD2CDAE}"/>
              </a:ext>
            </a:extLst>
          </p:cNvPr>
          <p:cNvSpPr>
            <a:spLocks noGrp="1"/>
          </p:cNvSpPr>
          <p:nvPr/>
        </p:nvSpPr>
        <p:spPr>
          <a:xfrm>
            <a:off x="2095500" y="6753225"/>
            <a:ext cx="11906250" cy="523875"/>
          </a:xfrm>
          <a:prstGeom prst="rect">
            <a:avLst/>
          </a:prstGeom>
          <a:noFill/>
          <a:ln w="0">
            <a:noFill/>
          </a:ln>
        </p:spPr>
        <p:txBody>
          <a:bodyPr wrap="square" lIns="0" tIns="0" rIns="0" bIns="0" anchor="t">
            <a:noAutofit/>
          </a:bodyPr>
          <a:lstStyle>
            <a:defPPr algn="l">
              <a:defRPr sz="2175" b="0">
                <a:solidFill>
                  <a:srgbClr val="596577"/>
                </a:solidFill>
                <a:latin typeface="Arial"/>
                <a:ea typeface="Arial"/>
                <a:cs typeface="Arial"/>
              </a:defRPr>
            </a:defPPr>
            <a:lvl1pPr algn="l">
              <a:buNone/>
              <a:defRPr sz="2175" b="0">
                <a:solidFill>
                  <a:srgbClr val="596577"/>
                </a:solidFill>
                <a:latin typeface="Arial"/>
                <a:ea typeface="Arial"/>
                <a:cs typeface="Arial"/>
              </a:defRPr>
            </a:lvl1pPr>
            <a:lvl2pPr algn="l">
              <a:buNone/>
              <a:defRPr sz="2175" b="0">
                <a:solidFill>
                  <a:srgbClr val="596577"/>
                </a:solidFill>
                <a:latin typeface="Arial"/>
                <a:ea typeface="Arial"/>
                <a:cs typeface="Arial"/>
              </a:defRPr>
            </a:lvl2pPr>
            <a:lvl3pPr algn="l">
              <a:buNone/>
              <a:defRPr sz="2175" b="0">
                <a:solidFill>
                  <a:srgbClr val="596577"/>
                </a:solidFill>
                <a:latin typeface="Arial"/>
                <a:ea typeface="Arial"/>
                <a:cs typeface="Arial"/>
              </a:defRPr>
            </a:lvl3pPr>
            <a:lvl4pPr algn="l">
              <a:buNone/>
              <a:defRPr sz="2175" b="0">
                <a:solidFill>
                  <a:srgbClr val="596577"/>
                </a:solidFill>
                <a:latin typeface="Arial"/>
                <a:ea typeface="Arial"/>
                <a:cs typeface="Arial"/>
              </a:defRPr>
            </a:lvl4pPr>
            <a:lvl5pPr algn="l">
              <a:buNone/>
              <a:defRPr sz="2175" b="0">
                <a:solidFill>
                  <a:srgbClr val="596577"/>
                </a:solidFill>
                <a:latin typeface="Arial"/>
                <a:ea typeface="Arial"/>
                <a:cs typeface="Arial"/>
              </a:defRPr>
            </a:lvl5pPr>
            <a:lvl6pPr algn="l">
              <a:buNone/>
              <a:defRPr sz="2175" b="0">
                <a:solidFill>
                  <a:srgbClr val="596577"/>
                </a:solidFill>
                <a:latin typeface="Arial"/>
                <a:ea typeface="Arial"/>
                <a:cs typeface="Arial"/>
              </a:defRPr>
            </a:lvl6pPr>
            <a:lvl7pPr algn="l">
              <a:buNone/>
              <a:defRPr sz="2175" b="0">
                <a:solidFill>
                  <a:srgbClr val="596577"/>
                </a:solidFill>
                <a:latin typeface="Arial"/>
                <a:ea typeface="Arial"/>
                <a:cs typeface="Arial"/>
              </a:defRPr>
            </a:lvl7pPr>
            <a:lvl8pPr algn="l">
              <a:buNone/>
              <a:defRPr sz="2175" b="0">
                <a:solidFill>
                  <a:srgbClr val="596577"/>
                </a:solidFill>
                <a:latin typeface="Arial"/>
                <a:ea typeface="Arial"/>
                <a:cs typeface="Arial"/>
              </a:defRPr>
            </a:lvl8pPr>
            <a:lvl9pPr algn="l">
              <a:buNone/>
              <a:defRPr sz="2175" b="0">
                <a:solidFill>
                  <a:srgbClr val="596577"/>
                </a:solidFill>
                <a:latin typeface="Arial"/>
                <a:ea typeface="Arial"/>
                <a:cs typeface="Arial"/>
              </a:defRPr>
            </a:lvl9pPr>
          </a:lstStyle>
          <a:p>
            <a:pPr algn="l">
              <a:buNone/>
              <a:defRPr sz="2175" b="0">
                <a:solidFill>
                  <a:srgbClr val="596577"/>
                </a:solidFill>
                <a:latin typeface="Arial"/>
                <a:ea typeface="Arial"/>
                <a:cs typeface="Arial"/>
              </a:defRPr>
            </a:pPr>
            <a:r>
              <a:rPr sz="2175" b="0">
                <a:solidFill>
                  <a:srgbClr val="596577"/>
                </a:solidFill>
                <a:latin typeface="Arial"/>
                <a:ea typeface="Arial"/>
                <a:cs typeface="Arial"/>
              </a:rPr>
              <a:t>Remove unused CONST definitions using liveness and next use.</a:t>
            </a:r>
          </a:p>
        </p:txBody>
      </p:sp>
      <p:sp>
        <p:nvSpPr>
          <p:cNvPr id="16" name="Reachable calls, stores, output and potentially failing">
            <a:extLst>
              <a:ext uri="{FF2B5EF4-FFF2-40B4-BE49-F238E27FC236}">
                <a16:creationId xmlns:a16="http://schemas.microsoft.com/office/drawing/2014/main" id="{6EF715DA-E881-46D8-9000-E06596CB1606}"/>
              </a:ext>
            </a:extLst>
          </p:cNvPr>
          <p:cNvSpPr>
            <a:spLocks noGrp="1"/>
          </p:cNvSpPr>
          <p:nvPr/>
        </p:nvSpPr>
        <p:spPr>
          <a:xfrm>
            <a:off x="781050" y="76104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Reachable calls, stores, output and potentially failing operations remain.</a:t>
            </a:r>
          </a:p>
        </p:txBody>
      </p:sp>
    </p:spTree>
    <p:extLst>
      <p:ext uri="{BB962C8B-B14F-4D97-AF65-F5344CB8AC3E}">
        <p14:creationId xmlns:p14="http://schemas.microsoft.com/office/powerpoint/2010/main" val="416294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01D31"/>
        </a:solidFill>
        <a:effectLst/>
      </p:bgPr>
    </p:bg>
    <p:spTree>
      <p:nvGrpSpPr>
        <p:cNvPr id="1" name=""/>
        <p:cNvGrpSpPr/>
        <p:nvPr/>
      </p:nvGrpSpPr>
      <p:grpSpPr>
        <a:xfrm>
          <a:off x="0" y="0"/>
          <a:ext cx="0" cy="0"/>
          <a:chOff x="0" y="0"/>
          <a:chExt cx="0" cy="0"/>
        </a:xfrm>
      </p:grpSpPr>
      <p:sp>
        <p:nvSpPr>
          <p:cNvPr id="8" name="Optimization result: 17 instructions become 5">
            <a:extLst>
              <a:ext uri="{FF2B5EF4-FFF2-40B4-BE49-F238E27FC236}">
                <a16:creationId xmlns:a16="http://schemas.microsoft.com/office/drawing/2014/main" id="{F98958E7-09F8-4B32-AA22-DE5EEAD4D0A2}"/>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FFFFFF"/>
                </a:solidFill>
                <a:latin typeface="Arial"/>
                <a:ea typeface="Arial"/>
                <a:cs typeface="Arial"/>
              </a:defRPr>
            </a:defPPr>
            <a:lvl1pPr algn="l">
              <a:buNone/>
              <a:defRPr sz="4350" b="1">
                <a:solidFill>
                  <a:srgbClr val="FFFFFF"/>
                </a:solidFill>
                <a:latin typeface="Arial"/>
                <a:ea typeface="Arial"/>
                <a:cs typeface="Arial"/>
              </a:defRPr>
            </a:lvl1pPr>
            <a:lvl2pPr algn="l">
              <a:buNone/>
              <a:defRPr sz="4350" b="1">
                <a:solidFill>
                  <a:srgbClr val="FFFFFF"/>
                </a:solidFill>
                <a:latin typeface="Arial"/>
                <a:ea typeface="Arial"/>
                <a:cs typeface="Arial"/>
              </a:defRPr>
            </a:lvl2pPr>
            <a:lvl3pPr algn="l">
              <a:buNone/>
              <a:defRPr sz="4350" b="1">
                <a:solidFill>
                  <a:srgbClr val="FFFFFF"/>
                </a:solidFill>
                <a:latin typeface="Arial"/>
                <a:ea typeface="Arial"/>
                <a:cs typeface="Arial"/>
              </a:defRPr>
            </a:lvl3pPr>
            <a:lvl4pPr algn="l">
              <a:buNone/>
              <a:defRPr sz="4350" b="1">
                <a:solidFill>
                  <a:srgbClr val="FFFFFF"/>
                </a:solidFill>
                <a:latin typeface="Arial"/>
                <a:ea typeface="Arial"/>
                <a:cs typeface="Arial"/>
              </a:defRPr>
            </a:lvl4pPr>
            <a:lvl5pPr algn="l">
              <a:buNone/>
              <a:defRPr sz="4350" b="1">
                <a:solidFill>
                  <a:srgbClr val="FFFFFF"/>
                </a:solidFill>
                <a:latin typeface="Arial"/>
                <a:ea typeface="Arial"/>
                <a:cs typeface="Arial"/>
              </a:defRPr>
            </a:lvl5pPr>
            <a:lvl6pPr algn="l">
              <a:buNone/>
              <a:defRPr sz="4350" b="1">
                <a:solidFill>
                  <a:srgbClr val="FFFFFF"/>
                </a:solidFill>
                <a:latin typeface="Arial"/>
                <a:ea typeface="Arial"/>
                <a:cs typeface="Arial"/>
              </a:defRPr>
            </a:lvl6pPr>
            <a:lvl7pPr algn="l">
              <a:buNone/>
              <a:defRPr sz="4350" b="1">
                <a:solidFill>
                  <a:srgbClr val="FFFFFF"/>
                </a:solidFill>
                <a:latin typeface="Arial"/>
                <a:ea typeface="Arial"/>
                <a:cs typeface="Arial"/>
              </a:defRPr>
            </a:lvl7pPr>
            <a:lvl8pPr algn="l">
              <a:buNone/>
              <a:defRPr sz="4350" b="1">
                <a:solidFill>
                  <a:srgbClr val="FFFFFF"/>
                </a:solidFill>
                <a:latin typeface="Arial"/>
                <a:ea typeface="Arial"/>
                <a:cs typeface="Arial"/>
              </a:defRPr>
            </a:lvl8pPr>
            <a:lvl9pPr algn="l">
              <a:buNone/>
              <a:defRPr sz="4350" b="1">
                <a:solidFill>
                  <a:srgbClr val="FFFFFF"/>
                </a:solidFill>
                <a:latin typeface="Arial"/>
                <a:ea typeface="Arial"/>
                <a:cs typeface="Arial"/>
              </a:defRPr>
            </a:lvl9pPr>
          </a:lstStyle>
          <a:p>
            <a:pPr algn="l">
              <a:buNone/>
              <a:defRPr sz="4350" b="1">
                <a:solidFill>
                  <a:srgbClr val="FFFFFF"/>
                </a:solidFill>
                <a:latin typeface="Arial"/>
                <a:ea typeface="Arial"/>
                <a:cs typeface="Arial"/>
              </a:defRPr>
            </a:pPr>
            <a:r>
              <a:rPr sz="4350" b="1">
                <a:solidFill>
                  <a:srgbClr val="FFFFFF"/>
                </a:solidFill>
                <a:latin typeface="Arial"/>
                <a:ea typeface="Arial"/>
                <a:cs typeface="Arial"/>
              </a:rPr>
              <a:t>Optimization result: 17 instructions become 5</a:t>
            </a:r>
          </a:p>
        </p:txBody>
      </p:sp>
      <p:sp>
        <p:nvSpPr>
          <p:cNvPr id="2" name="print((2 + 3) * 4) produces 20 in both runs">
            <a:extLst>
              <a:ext uri="{FF2B5EF4-FFF2-40B4-BE49-F238E27FC236}">
                <a16:creationId xmlns:a16="http://schemas.microsoft.com/office/drawing/2014/main" id="{2A67CC93-988A-431D-9429-35048BA5BE2F}"/>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B5C7DE"/>
                </a:solidFill>
                <a:latin typeface="Arial"/>
                <a:ea typeface="Arial"/>
                <a:cs typeface="Arial"/>
              </a:defRPr>
            </a:defPPr>
            <a:lvl1pPr algn="l">
              <a:buNone/>
              <a:defRPr sz="2250" b="0">
                <a:solidFill>
                  <a:srgbClr val="B5C7DE"/>
                </a:solidFill>
                <a:latin typeface="Arial"/>
                <a:ea typeface="Arial"/>
                <a:cs typeface="Arial"/>
              </a:defRPr>
            </a:lvl1pPr>
            <a:lvl2pPr algn="l">
              <a:buNone/>
              <a:defRPr sz="2250" b="0">
                <a:solidFill>
                  <a:srgbClr val="B5C7DE"/>
                </a:solidFill>
                <a:latin typeface="Arial"/>
                <a:ea typeface="Arial"/>
                <a:cs typeface="Arial"/>
              </a:defRPr>
            </a:lvl2pPr>
            <a:lvl3pPr algn="l">
              <a:buNone/>
              <a:defRPr sz="2250" b="0">
                <a:solidFill>
                  <a:srgbClr val="B5C7DE"/>
                </a:solidFill>
                <a:latin typeface="Arial"/>
                <a:ea typeface="Arial"/>
                <a:cs typeface="Arial"/>
              </a:defRPr>
            </a:lvl3pPr>
            <a:lvl4pPr algn="l">
              <a:buNone/>
              <a:defRPr sz="2250" b="0">
                <a:solidFill>
                  <a:srgbClr val="B5C7DE"/>
                </a:solidFill>
                <a:latin typeface="Arial"/>
                <a:ea typeface="Arial"/>
                <a:cs typeface="Arial"/>
              </a:defRPr>
            </a:lvl4pPr>
            <a:lvl5pPr algn="l">
              <a:buNone/>
              <a:defRPr sz="2250" b="0">
                <a:solidFill>
                  <a:srgbClr val="B5C7DE"/>
                </a:solidFill>
                <a:latin typeface="Arial"/>
                <a:ea typeface="Arial"/>
                <a:cs typeface="Arial"/>
              </a:defRPr>
            </a:lvl5pPr>
            <a:lvl6pPr algn="l">
              <a:buNone/>
              <a:defRPr sz="2250" b="0">
                <a:solidFill>
                  <a:srgbClr val="B5C7DE"/>
                </a:solidFill>
                <a:latin typeface="Arial"/>
                <a:ea typeface="Arial"/>
                <a:cs typeface="Arial"/>
              </a:defRPr>
            </a:lvl6pPr>
            <a:lvl7pPr algn="l">
              <a:buNone/>
              <a:defRPr sz="2250" b="0">
                <a:solidFill>
                  <a:srgbClr val="B5C7DE"/>
                </a:solidFill>
                <a:latin typeface="Arial"/>
                <a:ea typeface="Arial"/>
                <a:cs typeface="Arial"/>
              </a:defRPr>
            </a:lvl7pPr>
            <a:lvl8pPr algn="l">
              <a:buNone/>
              <a:defRPr sz="2250" b="0">
                <a:solidFill>
                  <a:srgbClr val="B5C7DE"/>
                </a:solidFill>
                <a:latin typeface="Arial"/>
                <a:ea typeface="Arial"/>
                <a:cs typeface="Arial"/>
              </a:defRPr>
            </a:lvl8pPr>
            <a:lvl9pPr algn="l">
              <a:buNone/>
              <a:defRPr sz="2250" b="0">
                <a:solidFill>
                  <a:srgbClr val="B5C7DE"/>
                </a:solidFill>
                <a:latin typeface="Arial"/>
                <a:ea typeface="Arial"/>
                <a:cs typeface="Arial"/>
              </a:defRPr>
            </a:lvl9pPr>
          </a:lstStyle>
          <a:p>
            <a:pPr algn="l">
              <a:buNone/>
              <a:defRPr sz="2250" b="0">
                <a:solidFill>
                  <a:srgbClr val="B5C7DE"/>
                </a:solidFill>
                <a:latin typeface="Arial"/>
                <a:ea typeface="Arial"/>
                <a:cs typeface="Arial"/>
              </a:defRPr>
            </a:pPr>
            <a:r>
              <a:rPr sz="2250" b="0">
                <a:solidFill>
                  <a:srgbClr val="B5C7DE"/>
                </a:solidFill>
                <a:latin typeface="Arial"/>
                <a:ea typeface="Arial"/>
                <a:cs typeface="Arial"/>
              </a:rPr>
              <a:t>print((2 + 3) * 4) produces 20 in both runs</a:t>
            </a:r>
          </a:p>
        </p:txBody>
      </p:sp>
      <p:sp>
        <p:nvSpPr>
          <p:cNvPr id="3" name="18">
            <a:extLst>
              <a:ext uri="{FF2B5EF4-FFF2-40B4-BE49-F238E27FC236}">
                <a16:creationId xmlns:a16="http://schemas.microsoft.com/office/drawing/2014/main" id="{1918D3A4-0BE9-4848-8E0C-348657E7D9E3}"/>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B5C7DE"/>
                </a:solidFill>
                <a:latin typeface="Arial"/>
                <a:ea typeface="Arial"/>
                <a:cs typeface="Arial"/>
              </a:defRPr>
            </a:defPPr>
            <a:lvl1pPr algn="r">
              <a:buNone/>
              <a:defRPr sz="1500" b="0">
                <a:solidFill>
                  <a:srgbClr val="B5C7DE"/>
                </a:solidFill>
                <a:latin typeface="Arial"/>
                <a:ea typeface="Arial"/>
                <a:cs typeface="Arial"/>
              </a:defRPr>
            </a:lvl1pPr>
            <a:lvl2pPr algn="r">
              <a:buNone/>
              <a:defRPr sz="1500" b="0">
                <a:solidFill>
                  <a:srgbClr val="B5C7DE"/>
                </a:solidFill>
                <a:latin typeface="Arial"/>
                <a:ea typeface="Arial"/>
                <a:cs typeface="Arial"/>
              </a:defRPr>
            </a:lvl2pPr>
            <a:lvl3pPr algn="r">
              <a:buNone/>
              <a:defRPr sz="1500" b="0">
                <a:solidFill>
                  <a:srgbClr val="B5C7DE"/>
                </a:solidFill>
                <a:latin typeface="Arial"/>
                <a:ea typeface="Arial"/>
                <a:cs typeface="Arial"/>
              </a:defRPr>
            </a:lvl3pPr>
            <a:lvl4pPr algn="r">
              <a:buNone/>
              <a:defRPr sz="1500" b="0">
                <a:solidFill>
                  <a:srgbClr val="B5C7DE"/>
                </a:solidFill>
                <a:latin typeface="Arial"/>
                <a:ea typeface="Arial"/>
                <a:cs typeface="Arial"/>
              </a:defRPr>
            </a:lvl4pPr>
            <a:lvl5pPr algn="r">
              <a:buNone/>
              <a:defRPr sz="1500" b="0">
                <a:solidFill>
                  <a:srgbClr val="B5C7DE"/>
                </a:solidFill>
                <a:latin typeface="Arial"/>
                <a:ea typeface="Arial"/>
                <a:cs typeface="Arial"/>
              </a:defRPr>
            </a:lvl5pPr>
            <a:lvl6pPr algn="r">
              <a:buNone/>
              <a:defRPr sz="1500" b="0">
                <a:solidFill>
                  <a:srgbClr val="B5C7DE"/>
                </a:solidFill>
                <a:latin typeface="Arial"/>
                <a:ea typeface="Arial"/>
                <a:cs typeface="Arial"/>
              </a:defRPr>
            </a:lvl6pPr>
            <a:lvl7pPr algn="r">
              <a:buNone/>
              <a:defRPr sz="1500" b="0">
                <a:solidFill>
                  <a:srgbClr val="B5C7DE"/>
                </a:solidFill>
                <a:latin typeface="Arial"/>
                <a:ea typeface="Arial"/>
                <a:cs typeface="Arial"/>
              </a:defRPr>
            </a:lvl7pPr>
            <a:lvl8pPr algn="r">
              <a:buNone/>
              <a:defRPr sz="1500" b="0">
                <a:solidFill>
                  <a:srgbClr val="B5C7DE"/>
                </a:solidFill>
                <a:latin typeface="Arial"/>
                <a:ea typeface="Arial"/>
                <a:cs typeface="Arial"/>
              </a:defRPr>
            </a:lvl8pPr>
            <a:lvl9pPr algn="r">
              <a:buNone/>
              <a:defRPr sz="1500" b="0">
                <a:solidFill>
                  <a:srgbClr val="B5C7DE"/>
                </a:solidFill>
                <a:latin typeface="Arial"/>
                <a:ea typeface="Arial"/>
                <a:cs typeface="Arial"/>
              </a:defRPr>
            </a:lvl9pPr>
          </a:lstStyle>
          <a:p>
            <a:pPr algn="r">
              <a:buNone/>
              <a:defRPr sz="1500" b="0">
                <a:solidFill>
                  <a:srgbClr val="B5C7DE"/>
                </a:solidFill>
                <a:latin typeface="Arial"/>
                <a:ea typeface="Arial"/>
                <a:cs typeface="Arial"/>
              </a:defRPr>
            </a:pPr>
            <a:r>
              <a:rPr sz="1500" b="0">
                <a:solidFill>
                  <a:srgbClr val="B5C7DE"/>
                </a:solidFill>
                <a:latin typeface="Arial"/>
                <a:ea typeface="Arial"/>
                <a:cs typeface="Arial"/>
              </a:rPr>
              <a:t>18</a:t>
            </a:r>
          </a:p>
        </p:txBody>
      </p:sp>
      <p:graphicFrame>
        <p:nvGraphicFramePr>
          <p:cNvPr id="4" name="Chart">
            <a:extLst>
              <a:ext uri="{FF2B5EF4-FFF2-40B4-BE49-F238E27FC236}">
                <a16:creationId xmlns:a16="http://schemas.microsoft.com/office/drawing/2014/main" id="{88970B09-DD7C-469C-9348-84DA480B7737}"/>
              </a:ext>
            </a:extLst>
          </p:cNvPr>
          <p:cNvGraphicFramePr/>
          <p:nvPr/>
        </p:nvGraphicFramePr>
        <p:xfrm>
          <a:off x="666750" y="2762250"/>
          <a:ext cx="9906000" cy="4191000"/>
        </p:xfrm>
        <a:graphic>
          <a:graphicData uri="http://schemas.openxmlformats.org/drawingml/2006/chart">
            <c:chart xmlns:c="http://schemas.openxmlformats.org/drawingml/2006/chart" xmlns:r="http://schemas.openxmlformats.org/officeDocument/2006/relationships" r:id="rId3"/>
          </a:graphicData>
        </a:graphic>
      </p:graphicFrame>
      <p:sp>
        <p:nvSpPr>
          <p:cNvPr id="5" name="70.6%">
            <a:extLst>
              <a:ext uri="{FF2B5EF4-FFF2-40B4-BE49-F238E27FC236}">
                <a16:creationId xmlns:a16="http://schemas.microsoft.com/office/drawing/2014/main" id="{7DF6AEF6-0C47-4B80-B111-A7E3AB5EC94D}"/>
              </a:ext>
            </a:extLst>
          </p:cNvPr>
          <p:cNvSpPr>
            <a:spLocks noGrp="1"/>
          </p:cNvSpPr>
          <p:nvPr/>
        </p:nvSpPr>
        <p:spPr>
          <a:xfrm>
            <a:off x="11334750" y="3238500"/>
            <a:ext cx="3333750" cy="1143000"/>
          </a:xfrm>
          <a:prstGeom prst="rect">
            <a:avLst/>
          </a:prstGeom>
          <a:noFill/>
          <a:ln w="0">
            <a:noFill/>
          </a:ln>
        </p:spPr>
        <p:txBody>
          <a:bodyPr wrap="square" lIns="0" tIns="0" rIns="0" bIns="0" anchor="t">
            <a:noAutofit/>
          </a:bodyPr>
          <a:lstStyle>
            <a:defPPr algn="l">
              <a:defRPr sz="5775" b="1">
                <a:solidFill>
                  <a:srgbClr val="76D9C3"/>
                </a:solidFill>
                <a:latin typeface="Arial"/>
                <a:ea typeface="Arial"/>
                <a:cs typeface="Arial"/>
              </a:defRPr>
            </a:defPPr>
            <a:lvl1pPr algn="l">
              <a:buNone/>
              <a:defRPr sz="5775" b="1">
                <a:solidFill>
                  <a:srgbClr val="76D9C3"/>
                </a:solidFill>
                <a:latin typeface="Arial"/>
                <a:ea typeface="Arial"/>
                <a:cs typeface="Arial"/>
              </a:defRPr>
            </a:lvl1pPr>
            <a:lvl2pPr algn="l">
              <a:buNone/>
              <a:defRPr sz="5775" b="1">
                <a:solidFill>
                  <a:srgbClr val="76D9C3"/>
                </a:solidFill>
                <a:latin typeface="Arial"/>
                <a:ea typeface="Arial"/>
                <a:cs typeface="Arial"/>
              </a:defRPr>
            </a:lvl2pPr>
            <a:lvl3pPr algn="l">
              <a:buNone/>
              <a:defRPr sz="5775" b="1">
                <a:solidFill>
                  <a:srgbClr val="76D9C3"/>
                </a:solidFill>
                <a:latin typeface="Arial"/>
                <a:ea typeface="Arial"/>
                <a:cs typeface="Arial"/>
              </a:defRPr>
            </a:lvl3pPr>
            <a:lvl4pPr algn="l">
              <a:buNone/>
              <a:defRPr sz="5775" b="1">
                <a:solidFill>
                  <a:srgbClr val="76D9C3"/>
                </a:solidFill>
                <a:latin typeface="Arial"/>
                <a:ea typeface="Arial"/>
                <a:cs typeface="Arial"/>
              </a:defRPr>
            </a:lvl4pPr>
            <a:lvl5pPr algn="l">
              <a:buNone/>
              <a:defRPr sz="5775" b="1">
                <a:solidFill>
                  <a:srgbClr val="76D9C3"/>
                </a:solidFill>
                <a:latin typeface="Arial"/>
                <a:ea typeface="Arial"/>
                <a:cs typeface="Arial"/>
              </a:defRPr>
            </a:lvl5pPr>
            <a:lvl6pPr algn="l">
              <a:buNone/>
              <a:defRPr sz="5775" b="1">
                <a:solidFill>
                  <a:srgbClr val="76D9C3"/>
                </a:solidFill>
                <a:latin typeface="Arial"/>
                <a:ea typeface="Arial"/>
                <a:cs typeface="Arial"/>
              </a:defRPr>
            </a:lvl6pPr>
            <a:lvl7pPr algn="l">
              <a:buNone/>
              <a:defRPr sz="5775" b="1">
                <a:solidFill>
                  <a:srgbClr val="76D9C3"/>
                </a:solidFill>
                <a:latin typeface="Arial"/>
                <a:ea typeface="Arial"/>
                <a:cs typeface="Arial"/>
              </a:defRPr>
            </a:lvl7pPr>
            <a:lvl8pPr algn="l">
              <a:buNone/>
              <a:defRPr sz="5775" b="1">
                <a:solidFill>
                  <a:srgbClr val="76D9C3"/>
                </a:solidFill>
                <a:latin typeface="Arial"/>
                <a:ea typeface="Arial"/>
                <a:cs typeface="Arial"/>
              </a:defRPr>
            </a:lvl8pPr>
            <a:lvl9pPr algn="l">
              <a:buNone/>
              <a:defRPr sz="5775" b="1">
                <a:solidFill>
                  <a:srgbClr val="76D9C3"/>
                </a:solidFill>
                <a:latin typeface="Arial"/>
                <a:ea typeface="Arial"/>
                <a:cs typeface="Arial"/>
              </a:defRPr>
            </a:lvl9pPr>
          </a:lstStyle>
          <a:p>
            <a:pPr algn="l">
              <a:buNone/>
              <a:defRPr sz="5775" b="1">
                <a:solidFill>
                  <a:srgbClr val="76D9C3"/>
                </a:solidFill>
                <a:latin typeface="Arial"/>
                <a:ea typeface="Arial"/>
                <a:cs typeface="Arial"/>
              </a:defRPr>
            </a:pPr>
            <a:r>
              <a:rPr sz="5775" b="1">
                <a:solidFill>
                  <a:srgbClr val="76D9C3"/>
                </a:solidFill>
                <a:latin typeface="Arial"/>
                <a:ea typeface="Arial"/>
                <a:cs typeface="Arial"/>
              </a:rPr>
              <a:t>70.6%</a:t>
            </a:r>
          </a:p>
        </p:txBody>
      </p:sp>
      <p:sp>
        <p:nvSpPr>
          <p:cNvPr id="6" name="fewer executed&#10;instructions in&#10;this example">
            <a:extLst>
              <a:ext uri="{FF2B5EF4-FFF2-40B4-BE49-F238E27FC236}">
                <a16:creationId xmlns:a16="http://schemas.microsoft.com/office/drawing/2014/main" id="{22FC2A1B-BB7D-4742-87B7-58B2A044128B}"/>
              </a:ext>
            </a:extLst>
          </p:cNvPr>
          <p:cNvSpPr>
            <a:spLocks noGrp="1"/>
          </p:cNvSpPr>
          <p:nvPr/>
        </p:nvSpPr>
        <p:spPr>
          <a:xfrm>
            <a:off x="11382375" y="4667250"/>
            <a:ext cx="3238500" cy="1714500"/>
          </a:xfrm>
          <a:prstGeom prst="rect">
            <a:avLst/>
          </a:prstGeom>
          <a:noFill/>
          <a:ln w="0">
            <a:noFill/>
          </a:ln>
        </p:spPr>
        <p:txBody>
          <a:bodyPr wrap="square" lIns="0" tIns="0" rIns="0" bIns="0" anchor="t">
            <a:noAutofit/>
          </a:bodyPr>
          <a:lstStyle>
            <a:defPPr algn="l">
              <a:defRPr sz="2475" b="0">
                <a:solidFill>
                  <a:srgbClr val="FFFFFF"/>
                </a:solidFill>
                <a:latin typeface="Arial"/>
                <a:ea typeface="Arial"/>
                <a:cs typeface="Arial"/>
              </a:defRPr>
            </a:defPPr>
            <a:lvl1pPr algn="l">
              <a:buNone/>
              <a:defRPr sz="2475" b="0">
                <a:solidFill>
                  <a:srgbClr val="FFFFFF"/>
                </a:solidFill>
                <a:latin typeface="Arial"/>
                <a:ea typeface="Arial"/>
                <a:cs typeface="Arial"/>
              </a:defRPr>
            </a:lvl1pPr>
            <a:lvl2pPr algn="l">
              <a:buNone/>
              <a:defRPr sz="2475" b="0">
                <a:solidFill>
                  <a:srgbClr val="FFFFFF"/>
                </a:solidFill>
                <a:latin typeface="Arial"/>
                <a:ea typeface="Arial"/>
                <a:cs typeface="Arial"/>
              </a:defRPr>
            </a:lvl2pPr>
            <a:lvl3pPr algn="l">
              <a:buNone/>
              <a:defRPr sz="2475" b="0">
                <a:solidFill>
                  <a:srgbClr val="FFFFFF"/>
                </a:solidFill>
                <a:latin typeface="Arial"/>
                <a:ea typeface="Arial"/>
                <a:cs typeface="Arial"/>
              </a:defRPr>
            </a:lvl3pPr>
            <a:lvl4pPr algn="l">
              <a:buNone/>
              <a:defRPr sz="2475" b="0">
                <a:solidFill>
                  <a:srgbClr val="FFFFFF"/>
                </a:solidFill>
                <a:latin typeface="Arial"/>
                <a:ea typeface="Arial"/>
                <a:cs typeface="Arial"/>
              </a:defRPr>
            </a:lvl4pPr>
            <a:lvl5pPr algn="l">
              <a:buNone/>
              <a:defRPr sz="2475" b="0">
                <a:solidFill>
                  <a:srgbClr val="FFFFFF"/>
                </a:solidFill>
                <a:latin typeface="Arial"/>
                <a:ea typeface="Arial"/>
                <a:cs typeface="Arial"/>
              </a:defRPr>
            </a:lvl5pPr>
            <a:lvl6pPr algn="l">
              <a:buNone/>
              <a:defRPr sz="2475" b="0">
                <a:solidFill>
                  <a:srgbClr val="FFFFFF"/>
                </a:solidFill>
                <a:latin typeface="Arial"/>
                <a:ea typeface="Arial"/>
                <a:cs typeface="Arial"/>
              </a:defRPr>
            </a:lvl6pPr>
            <a:lvl7pPr algn="l">
              <a:buNone/>
              <a:defRPr sz="2475" b="0">
                <a:solidFill>
                  <a:srgbClr val="FFFFFF"/>
                </a:solidFill>
                <a:latin typeface="Arial"/>
                <a:ea typeface="Arial"/>
                <a:cs typeface="Arial"/>
              </a:defRPr>
            </a:lvl7pPr>
            <a:lvl8pPr algn="l">
              <a:buNone/>
              <a:defRPr sz="2475" b="0">
                <a:solidFill>
                  <a:srgbClr val="FFFFFF"/>
                </a:solidFill>
                <a:latin typeface="Arial"/>
                <a:ea typeface="Arial"/>
                <a:cs typeface="Arial"/>
              </a:defRPr>
            </a:lvl8pPr>
            <a:lvl9pPr algn="l">
              <a:buNone/>
              <a:defRPr sz="2475" b="0">
                <a:solidFill>
                  <a:srgbClr val="FFFFFF"/>
                </a:solidFill>
                <a:latin typeface="Arial"/>
                <a:ea typeface="Arial"/>
                <a:cs typeface="Arial"/>
              </a:defRPr>
            </a:lvl9pPr>
          </a:lstStyle>
          <a:p>
            <a:pPr algn="l">
              <a:buNone/>
              <a:defRPr sz="2475" b="0">
                <a:solidFill>
                  <a:srgbClr val="FFFFFF"/>
                </a:solidFill>
                <a:latin typeface="Arial"/>
                <a:ea typeface="Arial"/>
                <a:cs typeface="Arial"/>
              </a:defRPr>
            </a:pPr>
            <a:r>
              <a:rPr sz="2475" b="0">
                <a:solidFill>
                  <a:srgbClr val="FFFFFF"/>
                </a:solidFill>
                <a:latin typeface="Arial"/>
                <a:ea typeface="Arial"/>
                <a:cs typeface="Arial"/>
              </a:rPr>
              <a:t>fewer executed</a:t>
            </a:r>
          </a:p>
          <a:p>
            <a:pPr algn="l">
              <a:buNone/>
              <a:defRPr sz="2475" b="0">
                <a:solidFill>
                  <a:srgbClr val="FFFFFF"/>
                </a:solidFill>
                <a:latin typeface="Arial"/>
                <a:ea typeface="Arial"/>
                <a:cs typeface="Arial"/>
              </a:defRPr>
            </a:pPr>
            <a:r>
              <a:rPr sz="2475" b="0">
                <a:solidFill>
                  <a:srgbClr val="FFFFFF"/>
                </a:solidFill>
                <a:latin typeface="Arial"/>
                <a:ea typeface="Arial"/>
                <a:cs typeface="Arial"/>
              </a:rPr>
              <a:t>instructions in</a:t>
            </a:r>
          </a:p>
          <a:p>
            <a:pPr algn="l">
              <a:buNone/>
              <a:defRPr sz="2475" b="0">
                <a:solidFill>
                  <a:srgbClr val="FFFFFF"/>
                </a:solidFill>
                <a:latin typeface="Arial"/>
                <a:ea typeface="Arial"/>
                <a:cs typeface="Arial"/>
              </a:defRPr>
            </a:pPr>
            <a:r>
              <a:rPr sz="2475" b="0">
                <a:solidFill>
                  <a:srgbClr val="FFFFFF"/>
                </a:solidFill>
                <a:latin typeface="Arial"/>
                <a:ea typeface="Arial"/>
                <a:cs typeface="Arial"/>
              </a:rPr>
              <a:t>this example</a:t>
            </a:r>
          </a:p>
        </p:txBody>
      </p:sp>
      <p:sp>
        <p:nvSpPr>
          <p:cNvPr id="7" name="Instruction counts measure this example. They do not es">
            <a:extLst>
              <a:ext uri="{FF2B5EF4-FFF2-40B4-BE49-F238E27FC236}">
                <a16:creationId xmlns:a16="http://schemas.microsoft.com/office/drawing/2014/main" id="{9E7D6562-06E5-4B30-8839-03B022D6F1DE}"/>
              </a:ext>
            </a:extLst>
          </p:cNvPr>
          <p:cNvSpPr>
            <a:spLocks noGrp="1"/>
          </p:cNvSpPr>
          <p:nvPr/>
        </p:nvSpPr>
        <p:spPr>
          <a:xfrm>
            <a:off x="781050" y="7505700"/>
            <a:ext cx="13525500" cy="552450"/>
          </a:xfrm>
          <a:prstGeom prst="rect">
            <a:avLst/>
          </a:prstGeom>
          <a:noFill/>
          <a:ln w="0">
            <a:noFill/>
          </a:ln>
        </p:spPr>
        <p:txBody>
          <a:bodyPr wrap="square" lIns="0" tIns="0" rIns="0" bIns="0" anchor="t">
            <a:noAutofit/>
          </a:bodyPr>
          <a:lstStyle>
            <a:defPPr algn="l">
              <a:defRPr sz="2025" b="0">
                <a:solidFill>
                  <a:srgbClr val="B5C7DE"/>
                </a:solidFill>
                <a:latin typeface="Arial"/>
                <a:ea typeface="Arial"/>
                <a:cs typeface="Arial"/>
              </a:defRPr>
            </a:defPPr>
            <a:lvl1pPr algn="l">
              <a:buNone/>
              <a:defRPr sz="2025" b="0">
                <a:solidFill>
                  <a:srgbClr val="B5C7DE"/>
                </a:solidFill>
                <a:latin typeface="Arial"/>
                <a:ea typeface="Arial"/>
                <a:cs typeface="Arial"/>
              </a:defRPr>
            </a:lvl1pPr>
            <a:lvl2pPr algn="l">
              <a:buNone/>
              <a:defRPr sz="2025" b="0">
                <a:solidFill>
                  <a:srgbClr val="B5C7DE"/>
                </a:solidFill>
                <a:latin typeface="Arial"/>
                <a:ea typeface="Arial"/>
                <a:cs typeface="Arial"/>
              </a:defRPr>
            </a:lvl2pPr>
            <a:lvl3pPr algn="l">
              <a:buNone/>
              <a:defRPr sz="2025" b="0">
                <a:solidFill>
                  <a:srgbClr val="B5C7DE"/>
                </a:solidFill>
                <a:latin typeface="Arial"/>
                <a:ea typeface="Arial"/>
                <a:cs typeface="Arial"/>
              </a:defRPr>
            </a:lvl3pPr>
            <a:lvl4pPr algn="l">
              <a:buNone/>
              <a:defRPr sz="2025" b="0">
                <a:solidFill>
                  <a:srgbClr val="B5C7DE"/>
                </a:solidFill>
                <a:latin typeface="Arial"/>
                <a:ea typeface="Arial"/>
                <a:cs typeface="Arial"/>
              </a:defRPr>
            </a:lvl4pPr>
            <a:lvl5pPr algn="l">
              <a:buNone/>
              <a:defRPr sz="2025" b="0">
                <a:solidFill>
                  <a:srgbClr val="B5C7DE"/>
                </a:solidFill>
                <a:latin typeface="Arial"/>
                <a:ea typeface="Arial"/>
                <a:cs typeface="Arial"/>
              </a:defRPr>
            </a:lvl5pPr>
            <a:lvl6pPr algn="l">
              <a:buNone/>
              <a:defRPr sz="2025" b="0">
                <a:solidFill>
                  <a:srgbClr val="B5C7DE"/>
                </a:solidFill>
                <a:latin typeface="Arial"/>
                <a:ea typeface="Arial"/>
                <a:cs typeface="Arial"/>
              </a:defRPr>
            </a:lvl6pPr>
            <a:lvl7pPr algn="l">
              <a:buNone/>
              <a:defRPr sz="2025" b="0">
                <a:solidFill>
                  <a:srgbClr val="B5C7DE"/>
                </a:solidFill>
                <a:latin typeface="Arial"/>
                <a:ea typeface="Arial"/>
                <a:cs typeface="Arial"/>
              </a:defRPr>
            </a:lvl7pPr>
            <a:lvl8pPr algn="l">
              <a:buNone/>
              <a:defRPr sz="2025" b="0">
                <a:solidFill>
                  <a:srgbClr val="B5C7DE"/>
                </a:solidFill>
                <a:latin typeface="Arial"/>
                <a:ea typeface="Arial"/>
                <a:cs typeface="Arial"/>
              </a:defRPr>
            </a:lvl8pPr>
            <a:lvl9pPr algn="l">
              <a:buNone/>
              <a:defRPr sz="2025" b="0">
                <a:solidFill>
                  <a:srgbClr val="B5C7DE"/>
                </a:solidFill>
                <a:latin typeface="Arial"/>
                <a:ea typeface="Arial"/>
                <a:cs typeface="Arial"/>
              </a:defRPr>
            </a:lvl9pPr>
          </a:lstStyle>
          <a:p>
            <a:pPr algn="l">
              <a:buNone/>
              <a:defRPr sz="2025" b="0">
                <a:solidFill>
                  <a:srgbClr val="B5C7DE"/>
                </a:solidFill>
                <a:latin typeface="Arial"/>
                <a:ea typeface="Arial"/>
                <a:cs typeface="Arial"/>
              </a:defRPr>
            </a:pPr>
            <a:r>
              <a:rPr sz="2025" b="0">
                <a:solidFill>
                  <a:srgbClr val="B5C7DE"/>
                </a:solidFill>
                <a:latin typeface="Arial"/>
                <a:ea typeface="Arial"/>
                <a:cs typeface="Arial"/>
              </a:rPr>
              <a:t>Instruction counts measure this example. They do not establish a general timing speedup.</a:t>
            </a:r>
          </a:p>
        </p:txBody>
      </p:sp>
    </p:spTree>
    <p:extLst>
      <p:ext uri="{BB962C8B-B14F-4D97-AF65-F5344CB8AC3E}">
        <p14:creationId xmlns:p14="http://schemas.microsoft.com/office/powerpoint/2010/main" val="709079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1" name="Bytecode generation">
            <a:extLst>
              <a:ext uri="{FF2B5EF4-FFF2-40B4-BE49-F238E27FC236}">
                <a16:creationId xmlns:a16="http://schemas.microsoft.com/office/drawing/2014/main" id="{EF98F7E0-25F5-47AF-9631-2FC7205E08C3}"/>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Bytecode generation</a:t>
            </a:r>
          </a:p>
        </p:txBody>
      </p:sp>
      <p:sp>
        <p:nvSpPr>
          <p:cNvPr id="2" name="The code generator lowers IR into stack-machine instruc">
            <a:extLst>
              <a:ext uri="{FF2B5EF4-FFF2-40B4-BE49-F238E27FC236}">
                <a16:creationId xmlns:a16="http://schemas.microsoft.com/office/drawing/2014/main" id="{FCE07640-1CAD-4016-B237-E6250C2BC996}"/>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The code generator lowers IR into stack-machine instructions</a:t>
            </a:r>
          </a:p>
        </p:txBody>
      </p:sp>
      <p:sp>
        <p:nvSpPr>
          <p:cNvPr id="3" name="19">
            <a:extLst>
              <a:ext uri="{FF2B5EF4-FFF2-40B4-BE49-F238E27FC236}">
                <a16:creationId xmlns:a16="http://schemas.microsoft.com/office/drawing/2014/main" id="{0008CB9B-1CDD-44BE-AF7F-3EA51432703B}"/>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19</a:t>
            </a:r>
          </a:p>
        </p:txBody>
      </p:sp>
      <p:sp>
        <p:nvSpPr>
          <p:cNvPr id="4" name="t2 = t0 + t1">
            <a:extLst>
              <a:ext uri="{FF2B5EF4-FFF2-40B4-BE49-F238E27FC236}">
                <a16:creationId xmlns:a16="http://schemas.microsoft.com/office/drawing/2014/main" id="{A61EB169-D0B3-4B74-AB8D-044547FD9794}"/>
              </a:ext>
            </a:extLst>
          </p:cNvPr>
          <p:cNvSpPr>
            <a:spLocks noGrp="1"/>
          </p:cNvSpPr>
          <p:nvPr/>
        </p:nvSpPr>
        <p:spPr>
          <a:xfrm>
            <a:off x="781050" y="2809875"/>
            <a:ext cx="6572250" cy="809625"/>
          </a:xfrm>
          <a:prstGeom prst="rect">
            <a:avLst/>
          </a:prstGeom>
          <a:noFill/>
          <a:ln w="0">
            <a:noFill/>
          </a:ln>
        </p:spPr>
        <p:txBody>
          <a:bodyPr wrap="square" lIns="0" tIns="0" rIns="0" bIns="0" anchor="t">
            <a:noAutofit/>
          </a:bodyPr>
          <a:lstStyle>
            <a:defPPr algn="l">
              <a:defRPr sz="3675" b="0">
                <a:solidFill>
                  <a:srgbClr val="162237"/>
                </a:solidFill>
                <a:latin typeface="Courier New"/>
                <a:ea typeface="Courier New"/>
                <a:cs typeface="Courier New"/>
              </a:defRPr>
            </a:defPPr>
            <a:lvl1pPr algn="l">
              <a:buNone/>
              <a:defRPr sz="3675" b="0">
                <a:solidFill>
                  <a:srgbClr val="162237"/>
                </a:solidFill>
                <a:latin typeface="Courier New"/>
                <a:ea typeface="Courier New"/>
                <a:cs typeface="Courier New"/>
              </a:defRPr>
            </a:lvl1pPr>
            <a:lvl2pPr algn="l">
              <a:buNone/>
              <a:defRPr sz="3675" b="0">
                <a:solidFill>
                  <a:srgbClr val="162237"/>
                </a:solidFill>
                <a:latin typeface="Courier New"/>
                <a:ea typeface="Courier New"/>
                <a:cs typeface="Courier New"/>
              </a:defRPr>
            </a:lvl2pPr>
            <a:lvl3pPr algn="l">
              <a:buNone/>
              <a:defRPr sz="3675" b="0">
                <a:solidFill>
                  <a:srgbClr val="162237"/>
                </a:solidFill>
                <a:latin typeface="Courier New"/>
                <a:ea typeface="Courier New"/>
                <a:cs typeface="Courier New"/>
              </a:defRPr>
            </a:lvl3pPr>
            <a:lvl4pPr algn="l">
              <a:buNone/>
              <a:defRPr sz="3675" b="0">
                <a:solidFill>
                  <a:srgbClr val="162237"/>
                </a:solidFill>
                <a:latin typeface="Courier New"/>
                <a:ea typeface="Courier New"/>
                <a:cs typeface="Courier New"/>
              </a:defRPr>
            </a:lvl4pPr>
            <a:lvl5pPr algn="l">
              <a:buNone/>
              <a:defRPr sz="3675" b="0">
                <a:solidFill>
                  <a:srgbClr val="162237"/>
                </a:solidFill>
                <a:latin typeface="Courier New"/>
                <a:ea typeface="Courier New"/>
                <a:cs typeface="Courier New"/>
              </a:defRPr>
            </a:lvl5pPr>
            <a:lvl6pPr algn="l">
              <a:buNone/>
              <a:defRPr sz="3675" b="0">
                <a:solidFill>
                  <a:srgbClr val="162237"/>
                </a:solidFill>
                <a:latin typeface="Courier New"/>
                <a:ea typeface="Courier New"/>
                <a:cs typeface="Courier New"/>
              </a:defRPr>
            </a:lvl6pPr>
            <a:lvl7pPr algn="l">
              <a:buNone/>
              <a:defRPr sz="3675" b="0">
                <a:solidFill>
                  <a:srgbClr val="162237"/>
                </a:solidFill>
                <a:latin typeface="Courier New"/>
                <a:ea typeface="Courier New"/>
                <a:cs typeface="Courier New"/>
              </a:defRPr>
            </a:lvl7pPr>
            <a:lvl8pPr algn="l">
              <a:buNone/>
              <a:defRPr sz="3675" b="0">
                <a:solidFill>
                  <a:srgbClr val="162237"/>
                </a:solidFill>
                <a:latin typeface="Courier New"/>
                <a:ea typeface="Courier New"/>
                <a:cs typeface="Courier New"/>
              </a:defRPr>
            </a:lvl8pPr>
            <a:lvl9pPr algn="l">
              <a:buNone/>
              <a:defRPr sz="3675" b="0">
                <a:solidFill>
                  <a:srgbClr val="162237"/>
                </a:solidFill>
                <a:latin typeface="Courier New"/>
                <a:ea typeface="Courier New"/>
                <a:cs typeface="Courier New"/>
              </a:defRPr>
            </a:lvl9pPr>
          </a:lstStyle>
          <a:p>
            <a:pPr algn="l">
              <a:buNone/>
              <a:defRPr sz="3675" b="0">
                <a:solidFill>
                  <a:srgbClr val="162237"/>
                </a:solidFill>
                <a:latin typeface="Courier New"/>
                <a:ea typeface="Courier New"/>
                <a:cs typeface="Courier New"/>
              </a:defRPr>
            </a:pPr>
            <a:r>
              <a:rPr sz="3675" b="0">
                <a:solidFill>
                  <a:srgbClr val="162237"/>
                </a:solidFill>
                <a:latin typeface="Courier New"/>
                <a:ea typeface="Courier New"/>
                <a:cs typeface="Courier New"/>
              </a:rPr>
              <a:t>t2 = t0 + t1</a:t>
            </a:r>
          </a:p>
        </p:txBody>
      </p:sp>
      <p:sp>
        <p:nvSpPr>
          <p:cNvPr id="5" name="Typed three-address IR">
            <a:extLst>
              <a:ext uri="{FF2B5EF4-FFF2-40B4-BE49-F238E27FC236}">
                <a16:creationId xmlns:a16="http://schemas.microsoft.com/office/drawing/2014/main" id="{195E576E-049C-4BB1-871F-DFAE8034719A}"/>
              </a:ext>
            </a:extLst>
          </p:cNvPr>
          <p:cNvSpPr>
            <a:spLocks noGrp="1"/>
          </p:cNvSpPr>
          <p:nvPr/>
        </p:nvSpPr>
        <p:spPr>
          <a:xfrm>
            <a:off x="781050" y="3810000"/>
            <a:ext cx="6191250" cy="523875"/>
          </a:xfrm>
          <a:prstGeom prst="rect">
            <a:avLst/>
          </a:prstGeom>
          <a:noFill/>
          <a:ln w="0">
            <a:noFill/>
          </a:ln>
        </p:spPr>
        <p:txBody>
          <a:bodyPr wrap="square" lIns="0" tIns="0" rIns="0" bIns="0" anchor="t">
            <a:noAutofit/>
          </a:bodyPr>
          <a:lstStyle>
            <a:defPPr algn="l">
              <a:defRPr sz="2325" b="0">
                <a:solidFill>
                  <a:srgbClr val="596577"/>
                </a:solidFill>
                <a:latin typeface="Arial"/>
                <a:ea typeface="Arial"/>
                <a:cs typeface="Arial"/>
              </a:defRPr>
            </a:defPPr>
            <a:lvl1pPr algn="l">
              <a:buNone/>
              <a:defRPr sz="2325" b="0">
                <a:solidFill>
                  <a:srgbClr val="596577"/>
                </a:solidFill>
                <a:latin typeface="Arial"/>
                <a:ea typeface="Arial"/>
                <a:cs typeface="Arial"/>
              </a:defRPr>
            </a:lvl1pPr>
            <a:lvl2pPr algn="l">
              <a:buNone/>
              <a:defRPr sz="2325" b="0">
                <a:solidFill>
                  <a:srgbClr val="596577"/>
                </a:solidFill>
                <a:latin typeface="Arial"/>
                <a:ea typeface="Arial"/>
                <a:cs typeface="Arial"/>
              </a:defRPr>
            </a:lvl2pPr>
            <a:lvl3pPr algn="l">
              <a:buNone/>
              <a:defRPr sz="2325" b="0">
                <a:solidFill>
                  <a:srgbClr val="596577"/>
                </a:solidFill>
                <a:latin typeface="Arial"/>
                <a:ea typeface="Arial"/>
                <a:cs typeface="Arial"/>
              </a:defRPr>
            </a:lvl3pPr>
            <a:lvl4pPr algn="l">
              <a:buNone/>
              <a:defRPr sz="2325" b="0">
                <a:solidFill>
                  <a:srgbClr val="596577"/>
                </a:solidFill>
                <a:latin typeface="Arial"/>
                <a:ea typeface="Arial"/>
                <a:cs typeface="Arial"/>
              </a:defRPr>
            </a:lvl4pPr>
            <a:lvl5pPr algn="l">
              <a:buNone/>
              <a:defRPr sz="2325" b="0">
                <a:solidFill>
                  <a:srgbClr val="596577"/>
                </a:solidFill>
                <a:latin typeface="Arial"/>
                <a:ea typeface="Arial"/>
                <a:cs typeface="Arial"/>
              </a:defRPr>
            </a:lvl5pPr>
            <a:lvl6pPr algn="l">
              <a:buNone/>
              <a:defRPr sz="2325" b="0">
                <a:solidFill>
                  <a:srgbClr val="596577"/>
                </a:solidFill>
                <a:latin typeface="Arial"/>
                <a:ea typeface="Arial"/>
                <a:cs typeface="Arial"/>
              </a:defRPr>
            </a:lvl6pPr>
            <a:lvl7pPr algn="l">
              <a:buNone/>
              <a:defRPr sz="2325" b="0">
                <a:solidFill>
                  <a:srgbClr val="596577"/>
                </a:solidFill>
                <a:latin typeface="Arial"/>
                <a:ea typeface="Arial"/>
                <a:cs typeface="Arial"/>
              </a:defRPr>
            </a:lvl7pPr>
            <a:lvl8pPr algn="l">
              <a:buNone/>
              <a:defRPr sz="2325" b="0">
                <a:solidFill>
                  <a:srgbClr val="596577"/>
                </a:solidFill>
                <a:latin typeface="Arial"/>
                <a:ea typeface="Arial"/>
                <a:cs typeface="Arial"/>
              </a:defRPr>
            </a:lvl8pPr>
            <a:lvl9pPr algn="l">
              <a:buNone/>
              <a:defRPr sz="2325" b="0">
                <a:solidFill>
                  <a:srgbClr val="596577"/>
                </a:solidFill>
                <a:latin typeface="Arial"/>
                <a:ea typeface="Arial"/>
                <a:cs typeface="Arial"/>
              </a:defRPr>
            </a:lvl9pPr>
          </a:lstStyle>
          <a:p>
            <a:pPr algn="l">
              <a:buNone/>
              <a:defRPr sz="2325" b="0">
                <a:solidFill>
                  <a:srgbClr val="596577"/>
                </a:solidFill>
                <a:latin typeface="Arial"/>
                <a:ea typeface="Arial"/>
                <a:cs typeface="Arial"/>
              </a:defRPr>
            </a:pPr>
            <a:r>
              <a:rPr sz="2325" b="0">
                <a:solidFill>
                  <a:srgbClr val="596577"/>
                </a:solidFill>
                <a:latin typeface="Arial"/>
                <a:ea typeface="Arial"/>
                <a:cs typeface="Arial"/>
              </a:rPr>
              <a:t>Typed three-address IR</a:t>
            </a:r>
          </a:p>
        </p:txBody>
      </p:sp>
      <p:sp>
        <p:nvSpPr>
          <p:cNvPr id="6" name="LOAD_LOCAL  &lt;slot of t0&gt;&#10;LOAD_LOCAL  &lt;slot of t1&gt;&#10;BINAR">
            <a:extLst>
              <a:ext uri="{FF2B5EF4-FFF2-40B4-BE49-F238E27FC236}">
                <a16:creationId xmlns:a16="http://schemas.microsoft.com/office/drawing/2014/main" id="{52D3BB62-1F0B-45DA-A3C3-9147E0FA0694}"/>
              </a:ext>
            </a:extLst>
          </p:cNvPr>
          <p:cNvSpPr>
            <a:spLocks noGrp="1"/>
          </p:cNvSpPr>
          <p:nvPr/>
        </p:nvSpPr>
        <p:spPr>
          <a:xfrm>
            <a:off x="8096250" y="2762250"/>
            <a:ext cx="6381750" cy="2238375"/>
          </a:xfrm>
          <a:prstGeom prst="rect">
            <a:avLst/>
          </a:prstGeom>
          <a:noFill/>
          <a:ln w="0">
            <a:noFill/>
          </a:ln>
        </p:spPr>
        <p:txBody>
          <a:bodyPr wrap="square" lIns="0" tIns="0" rIns="0" bIns="0" anchor="t">
            <a:noAutofit/>
          </a:bodyPr>
          <a:lstStyle>
            <a:defPPr algn="l">
              <a:defRPr sz="2475" b="0">
                <a:solidFill>
                  <a:srgbClr val="162237"/>
                </a:solidFill>
                <a:latin typeface="Courier New"/>
                <a:ea typeface="Courier New"/>
                <a:cs typeface="Courier New"/>
              </a:defRPr>
            </a:defPPr>
            <a:lvl1pPr algn="l">
              <a:buNone/>
              <a:defRPr sz="2475" b="0">
                <a:solidFill>
                  <a:srgbClr val="162237"/>
                </a:solidFill>
                <a:latin typeface="Courier New"/>
                <a:ea typeface="Courier New"/>
                <a:cs typeface="Courier New"/>
              </a:defRPr>
            </a:lvl1pPr>
            <a:lvl2pPr algn="l">
              <a:buNone/>
              <a:defRPr sz="2475" b="0">
                <a:solidFill>
                  <a:srgbClr val="162237"/>
                </a:solidFill>
                <a:latin typeface="Courier New"/>
                <a:ea typeface="Courier New"/>
                <a:cs typeface="Courier New"/>
              </a:defRPr>
            </a:lvl2pPr>
            <a:lvl3pPr algn="l">
              <a:buNone/>
              <a:defRPr sz="2475" b="0">
                <a:solidFill>
                  <a:srgbClr val="162237"/>
                </a:solidFill>
                <a:latin typeface="Courier New"/>
                <a:ea typeface="Courier New"/>
                <a:cs typeface="Courier New"/>
              </a:defRPr>
            </a:lvl3pPr>
            <a:lvl4pPr algn="l">
              <a:buNone/>
              <a:defRPr sz="2475" b="0">
                <a:solidFill>
                  <a:srgbClr val="162237"/>
                </a:solidFill>
                <a:latin typeface="Courier New"/>
                <a:ea typeface="Courier New"/>
                <a:cs typeface="Courier New"/>
              </a:defRPr>
            </a:lvl4pPr>
            <a:lvl5pPr algn="l">
              <a:buNone/>
              <a:defRPr sz="2475" b="0">
                <a:solidFill>
                  <a:srgbClr val="162237"/>
                </a:solidFill>
                <a:latin typeface="Courier New"/>
                <a:ea typeface="Courier New"/>
                <a:cs typeface="Courier New"/>
              </a:defRPr>
            </a:lvl5pPr>
            <a:lvl6pPr algn="l">
              <a:buNone/>
              <a:defRPr sz="2475" b="0">
                <a:solidFill>
                  <a:srgbClr val="162237"/>
                </a:solidFill>
                <a:latin typeface="Courier New"/>
                <a:ea typeface="Courier New"/>
                <a:cs typeface="Courier New"/>
              </a:defRPr>
            </a:lvl6pPr>
            <a:lvl7pPr algn="l">
              <a:buNone/>
              <a:defRPr sz="2475" b="0">
                <a:solidFill>
                  <a:srgbClr val="162237"/>
                </a:solidFill>
                <a:latin typeface="Courier New"/>
                <a:ea typeface="Courier New"/>
                <a:cs typeface="Courier New"/>
              </a:defRPr>
            </a:lvl7pPr>
            <a:lvl8pPr algn="l">
              <a:buNone/>
              <a:defRPr sz="2475" b="0">
                <a:solidFill>
                  <a:srgbClr val="162237"/>
                </a:solidFill>
                <a:latin typeface="Courier New"/>
                <a:ea typeface="Courier New"/>
                <a:cs typeface="Courier New"/>
              </a:defRPr>
            </a:lvl8pPr>
            <a:lvl9pPr algn="l">
              <a:buNone/>
              <a:defRPr sz="2475" b="0">
                <a:solidFill>
                  <a:srgbClr val="162237"/>
                </a:solidFill>
                <a:latin typeface="Courier New"/>
                <a:ea typeface="Courier New"/>
                <a:cs typeface="Courier New"/>
              </a:defRPr>
            </a:lvl9pPr>
          </a:lstStyle>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LOAD_LOCAL  &lt;slot of t0&gt;</a:t>
            </a: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LOAD_LOCAL  &lt;slot of t1&gt;</a:t>
            </a: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BINARY      "+"</a:t>
            </a:r>
          </a:p>
          <a:p>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STORE_LOCAL &lt;slot of t2&gt;</a:t>
            </a:r>
          </a:p>
        </p:txBody>
      </p:sp>
      <p:sp>
        <p:nvSpPr>
          <p:cNvPr id="7" name="Storage allocation">
            <a:extLst>
              <a:ext uri="{FF2B5EF4-FFF2-40B4-BE49-F238E27FC236}">
                <a16:creationId xmlns:a16="http://schemas.microsoft.com/office/drawing/2014/main" id="{87A5E165-4904-4E62-9E1E-A61D8F6819CD}"/>
              </a:ext>
            </a:extLst>
          </p:cNvPr>
          <p:cNvSpPr>
            <a:spLocks noGrp="1"/>
          </p:cNvSpPr>
          <p:nvPr/>
        </p:nvSpPr>
        <p:spPr>
          <a:xfrm>
            <a:off x="781050" y="5476875"/>
            <a:ext cx="61912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Storage allocation</a:t>
            </a:r>
          </a:p>
        </p:txBody>
      </p:sp>
      <p:sp>
        <p:nvSpPr>
          <p:cNvPr id="8" name="Declared local slots come first.&#10;IR temporaries use add">
            <a:extLst>
              <a:ext uri="{FF2B5EF4-FFF2-40B4-BE49-F238E27FC236}">
                <a16:creationId xmlns:a16="http://schemas.microsoft.com/office/drawing/2014/main" id="{5375086D-AFB2-4BEB-95D8-1031533ECB75}"/>
              </a:ext>
            </a:extLst>
          </p:cNvPr>
          <p:cNvSpPr>
            <a:spLocks noGrp="1"/>
          </p:cNvSpPr>
          <p:nvPr/>
        </p:nvSpPr>
        <p:spPr>
          <a:xfrm>
            <a:off x="781050" y="6096000"/>
            <a:ext cx="61912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Declared local slots come first.</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IR temporaries use additional slots.</a:t>
            </a:r>
          </a:p>
        </p:txBody>
      </p:sp>
      <p:sp>
        <p:nvSpPr>
          <p:cNvPr id="9" name="Instruction emission">
            <a:extLst>
              <a:ext uri="{FF2B5EF4-FFF2-40B4-BE49-F238E27FC236}">
                <a16:creationId xmlns:a16="http://schemas.microsoft.com/office/drawing/2014/main" id="{6139E2F2-B5AE-459A-BB51-7C9A41336A9A}"/>
              </a:ext>
            </a:extLst>
          </p:cNvPr>
          <p:cNvSpPr>
            <a:spLocks noGrp="1"/>
          </p:cNvSpPr>
          <p:nvPr/>
        </p:nvSpPr>
        <p:spPr>
          <a:xfrm>
            <a:off x="8096250" y="5476875"/>
            <a:ext cx="61912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Instruction emission</a:t>
            </a:r>
          </a:p>
        </p:txBody>
      </p:sp>
      <p:sp>
        <p:nvSpPr>
          <p:cNvPr id="10" name="Constants, calls, output and array&#10;operations have expl">
            <a:extLst>
              <a:ext uri="{FF2B5EF4-FFF2-40B4-BE49-F238E27FC236}">
                <a16:creationId xmlns:a16="http://schemas.microsoft.com/office/drawing/2014/main" id="{504A48DE-C6BA-4D9B-BF6A-196F95ACD605}"/>
              </a:ext>
            </a:extLst>
          </p:cNvPr>
          <p:cNvSpPr>
            <a:spLocks noGrp="1"/>
          </p:cNvSpPr>
          <p:nvPr/>
        </p:nvSpPr>
        <p:spPr>
          <a:xfrm>
            <a:off x="8096250" y="6096000"/>
            <a:ext cx="61912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Constants, calls, output and array</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operations have explicit lowering rules.</a:t>
            </a:r>
          </a:p>
        </p:txBody>
      </p:sp>
    </p:spTree>
    <p:extLst>
      <p:ext uri="{BB962C8B-B14F-4D97-AF65-F5344CB8AC3E}">
        <p14:creationId xmlns:p14="http://schemas.microsoft.com/office/powerpoint/2010/main" val="4777974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2" name="Backpatching jump targets">
            <a:extLst>
              <a:ext uri="{FF2B5EF4-FFF2-40B4-BE49-F238E27FC236}">
                <a16:creationId xmlns:a16="http://schemas.microsoft.com/office/drawing/2014/main" id="{F907C319-EC97-44A8-A591-8220C89AF2F9}"/>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Backpatching jump targets</a:t>
            </a:r>
          </a:p>
        </p:txBody>
      </p:sp>
      <p:sp>
        <p:nvSpPr>
          <p:cNvPr id="2" name="Symbolic labels become absolute instruction indexes">
            <a:extLst>
              <a:ext uri="{FF2B5EF4-FFF2-40B4-BE49-F238E27FC236}">
                <a16:creationId xmlns:a16="http://schemas.microsoft.com/office/drawing/2014/main" id="{3CEBEE7D-F42F-4850-B889-A7174FA0E96E}"/>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Symbolic labels become absolute instruction indexes</a:t>
            </a:r>
          </a:p>
        </p:txBody>
      </p:sp>
      <p:sp>
        <p:nvSpPr>
          <p:cNvPr id="3" name="20">
            <a:extLst>
              <a:ext uri="{FF2B5EF4-FFF2-40B4-BE49-F238E27FC236}">
                <a16:creationId xmlns:a16="http://schemas.microsoft.com/office/drawing/2014/main" id="{3A01DB40-98F6-4CA8-835C-4B1ED503075E}"/>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20</a:t>
            </a:r>
          </a:p>
        </p:txBody>
      </p:sp>
      <p:sp>
        <p:nvSpPr>
          <p:cNvPr id="4" name="BRANCH condition, L_true, L_false&#10;&#10;LABEL L_true&#10;    ...">
            <a:extLst>
              <a:ext uri="{FF2B5EF4-FFF2-40B4-BE49-F238E27FC236}">
                <a16:creationId xmlns:a16="http://schemas.microsoft.com/office/drawing/2014/main" id="{412D02C0-C48C-48C9-9CFC-504E09E84CE2}"/>
              </a:ext>
            </a:extLst>
          </p:cNvPr>
          <p:cNvSpPr>
            <a:spLocks noGrp="1"/>
          </p:cNvSpPr>
          <p:nvPr/>
        </p:nvSpPr>
        <p:spPr>
          <a:xfrm>
            <a:off x="781050" y="2857500"/>
            <a:ext cx="7810500" cy="3238500"/>
          </a:xfrm>
          <a:prstGeom prst="rect">
            <a:avLst/>
          </a:prstGeom>
          <a:noFill/>
          <a:ln w="0">
            <a:noFill/>
          </a:ln>
        </p:spPr>
        <p:txBody>
          <a:bodyPr wrap="square" lIns="0" tIns="0" rIns="0" bIns="0" anchor="t">
            <a:noAutofit/>
          </a:bodyPr>
          <a:lstStyle>
            <a:defPPr algn="l">
              <a:defRPr sz="2400" b="0">
                <a:solidFill>
                  <a:srgbClr val="162237"/>
                </a:solidFill>
                <a:latin typeface="Courier New"/>
                <a:ea typeface="Courier New"/>
                <a:cs typeface="Courier New"/>
              </a:defRPr>
            </a:defPPr>
            <a:lvl1pPr algn="l">
              <a:buNone/>
              <a:defRPr sz="2400" b="0">
                <a:solidFill>
                  <a:srgbClr val="162237"/>
                </a:solidFill>
                <a:latin typeface="Courier New"/>
                <a:ea typeface="Courier New"/>
                <a:cs typeface="Courier New"/>
              </a:defRPr>
            </a:lvl1pPr>
            <a:lvl2pPr algn="l">
              <a:buNone/>
              <a:defRPr sz="2400" b="0">
                <a:solidFill>
                  <a:srgbClr val="162237"/>
                </a:solidFill>
                <a:latin typeface="Courier New"/>
                <a:ea typeface="Courier New"/>
                <a:cs typeface="Courier New"/>
              </a:defRPr>
            </a:lvl2pPr>
            <a:lvl3pPr algn="l">
              <a:buNone/>
              <a:defRPr sz="2400" b="0">
                <a:solidFill>
                  <a:srgbClr val="162237"/>
                </a:solidFill>
                <a:latin typeface="Courier New"/>
                <a:ea typeface="Courier New"/>
                <a:cs typeface="Courier New"/>
              </a:defRPr>
            </a:lvl3pPr>
            <a:lvl4pPr algn="l">
              <a:buNone/>
              <a:defRPr sz="2400" b="0">
                <a:solidFill>
                  <a:srgbClr val="162237"/>
                </a:solidFill>
                <a:latin typeface="Courier New"/>
                <a:ea typeface="Courier New"/>
                <a:cs typeface="Courier New"/>
              </a:defRPr>
            </a:lvl4pPr>
            <a:lvl5pPr algn="l">
              <a:buNone/>
              <a:defRPr sz="2400" b="0">
                <a:solidFill>
                  <a:srgbClr val="162237"/>
                </a:solidFill>
                <a:latin typeface="Courier New"/>
                <a:ea typeface="Courier New"/>
                <a:cs typeface="Courier New"/>
              </a:defRPr>
            </a:lvl5pPr>
            <a:lvl6pPr algn="l">
              <a:buNone/>
              <a:defRPr sz="2400" b="0">
                <a:solidFill>
                  <a:srgbClr val="162237"/>
                </a:solidFill>
                <a:latin typeface="Courier New"/>
                <a:ea typeface="Courier New"/>
                <a:cs typeface="Courier New"/>
              </a:defRPr>
            </a:lvl6pPr>
            <a:lvl7pPr algn="l">
              <a:buNone/>
              <a:defRPr sz="2400" b="0">
                <a:solidFill>
                  <a:srgbClr val="162237"/>
                </a:solidFill>
                <a:latin typeface="Courier New"/>
                <a:ea typeface="Courier New"/>
                <a:cs typeface="Courier New"/>
              </a:defRPr>
            </a:lvl7pPr>
            <a:lvl8pPr algn="l">
              <a:buNone/>
              <a:defRPr sz="2400" b="0">
                <a:solidFill>
                  <a:srgbClr val="162237"/>
                </a:solidFill>
                <a:latin typeface="Courier New"/>
                <a:ea typeface="Courier New"/>
                <a:cs typeface="Courier New"/>
              </a:defRPr>
            </a:lvl8pPr>
            <a:lvl9pPr algn="l">
              <a:buNone/>
              <a:defRPr sz="2400" b="0">
                <a:solidFill>
                  <a:srgbClr val="162237"/>
                </a:solidFill>
                <a:latin typeface="Courier New"/>
                <a:ea typeface="Courier New"/>
                <a:cs typeface="Courier New"/>
              </a:defRPr>
            </a:lvl9pPr>
          </a:lstStyle>
          <a:p>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BRANCH condition, L_true, L_false</a:t>
            </a:r>
          </a:p>
          <a:p>
            <a:endParaRPr sz="2400" b="0">
              <a:solidFill>
                <a:srgbClr val="162237"/>
              </a:solidFill>
              <a:latin typeface="Courier New"/>
              <a:ea typeface="Courier New"/>
              <a:cs typeface="Courier New"/>
            </a:endParaRPr>
          </a:p>
          <a:p>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LABEL L_true</a:t>
            </a:r>
          </a:p>
          <a:p>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    ...</a:t>
            </a:r>
          </a:p>
          <a:p>
            <a:endParaRPr sz="2400" b="0">
              <a:solidFill>
                <a:srgbClr val="162237"/>
              </a:solidFill>
              <a:latin typeface="Courier New"/>
              <a:ea typeface="Courier New"/>
              <a:cs typeface="Courier New"/>
            </a:endParaRPr>
          </a:p>
          <a:p>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LABEL L_false</a:t>
            </a:r>
          </a:p>
          <a:p>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    ...</a:t>
            </a:r>
          </a:p>
        </p:txBody>
      </p:sp>
      <p:sp>
        <p:nvSpPr>
          <p:cNvPr id="5" name="First pass">
            <a:extLst>
              <a:ext uri="{FF2B5EF4-FFF2-40B4-BE49-F238E27FC236}">
                <a16:creationId xmlns:a16="http://schemas.microsoft.com/office/drawing/2014/main" id="{CAAC0F0C-5F52-4107-B986-1556CBCD1FAC}"/>
              </a:ext>
            </a:extLst>
          </p:cNvPr>
          <p:cNvSpPr>
            <a:spLocks noGrp="1"/>
          </p:cNvSpPr>
          <p:nvPr/>
        </p:nvSpPr>
        <p:spPr>
          <a:xfrm>
            <a:off x="9906000" y="2667000"/>
            <a:ext cx="44767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First pass</a:t>
            </a:r>
          </a:p>
        </p:txBody>
      </p:sp>
      <p:sp>
        <p:nvSpPr>
          <p:cNvPr id="6" name="Emit instructions and record&#10;unresolved jump positions.">
            <a:extLst>
              <a:ext uri="{FF2B5EF4-FFF2-40B4-BE49-F238E27FC236}">
                <a16:creationId xmlns:a16="http://schemas.microsoft.com/office/drawing/2014/main" id="{23CB2AC2-C68D-40F6-B70C-AC9882C0F3F1}"/>
              </a:ext>
            </a:extLst>
          </p:cNvPr>
          <p:cNvSpPr>
            <a:spLocks noGrp="1"/>
          </p:cNvSpPr>
          <p:nvPr/>
        </p:nvSpPr>
        <p:spPr>
          <a:xfrm>
            <a:off x="9906000" y="3286125"/>
            <a:ext cx="44767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Emit instructions and record</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unresolved jump positions.</a:t>
            </a:r>
          </a:p>
        </p:txBody>
      </p:sp>
      <p:sp>
        <p:nvSpPr>
          <p:cNvPr id="7" name="Label map">
            <a:extLst>
              <a:ext uri="{FF2B5EF4-FFF2-40B4-BE49-F238E27FC236}">
                <a16:creationId xmlns:a16="http://schemas.microsoft.com/office/drawing/2014/main" id="{F1FCDF38-4F75-45C9-BCEF-A732C474DCFE}"/>
              </a:ext>
            </a:extLst>
          </p:cNvPr>
          <p:cNvSpPr>
            <a:spLocks noGrp="1"/>
          </p:cNvSpPr>
          <p:nvPr/>
        </p:nvSpPr>
        <p:spPr>
          <a:xfrm>
            <a:off x="9906000" y="4429125"/>
            <a:ext cx="44767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Label map</a:t>
            </a:r>
          </a:p>
        </p:txBody>
      </p:sp>
      <p:sp>
        <p:nvSpPr>
          <p:cNvPr id="8" name="Record the instruction index&#10;associated with each label">
            <a:extLst>
              <a:ext uri="{FF2B5EF4-FFF2-40B4-BE49-F238E27FC236}">
                <a16:creationId xmlns:a16="http://schemas.microsoft.com/office/drawing/2014/main" id="{FCC761D0-02AC-418F-A3F3-3345A0A63B6F}"/>
              </a:ext>
            </a:extLst>
          </p:cNvPr>
          <p:cNvSpPr>
            <a:spLocks noGrp="1"/>
          </p:cNvSpPr>
          <p:nvPr/>
        </p:nvSpPr>
        <p:spPr>
          <a:xfrm>
            <a:off x="9906000" y="5048250"/>
            <a:ext cx="44767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Record the instruction index</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associated with each label.</a:t>
            </a:r>
          </a:p>
        </p:txBody>
      </p:sp>
      <p:sp>
        <p:nvSpPr>
          <p:cNvPr id="9" name="Patch pass">
            <a:extLst>
              <a:ext uri="{FF2B5EF4-FFF2-40B4-BE49-F238E27FC236}">
                <a16:creationId xmlns:a16="http://schemas.microsoft.com/office/drawing/2014/main" id="{CA55304C-9319-4281-98C9-25CB3554B2A0}"/>
              </a:ext>
            </a:extLst>
          </p:cNvPr>
          <p:cNvSpPr>
            <a:spLocks noGrp="1"/>
          </p:cNvSpPr>
          <p:nvPr/>
        </p:nvSpPr>
        <p:spPr>
          <a:xfrm>
            <a:off x="9906000" y="6191250"/>
            <a:ext cx="44767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Patch pass</a:t>
            </a:r>
          </a:p>
        </p:txBody>
      </p:sp>
      <p:sp>
        <p:nvSpPr>
          <p:cNvPr id="10" name="Replace each placeholder target&#10;with its resolved numer">
            <a:extLst>
              <a:ext uri="{FF2B5EF4-FFF2-40B4-BE49-F238E27FC236}">
                <a16:creationId xmlns:a16="http://schemas.microsoft.com/office/drawing/2014/main" id="{86B647D4-365F-4471-85DE-7847C5C11D79}"/>
              </a:ext>
            </a:extLst>
          </p:cNvPr>
          <p:cNvSpPr>
            <a:spLocks noGrp="1"/>
          </p:cNvSpPr>
          <p:nvPr/>
        </p:nvSpPr>
        <p:spPr>
          <a:xfrm>
            <a:off x="9906000" y="6810375"/>
            <a:ext cx="44767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Replace each placeholder target</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with its resolved numeric index.</a:t>
            </a:r>
          </a:p>
        </p:txBody>
      </p:sp>
      <p:sp>
        <p:nvSpPr>
          <p:cNvPr id="11" name="Code generation handles both conditional and unconditio">
            <a:extLst>
              <a:ext uri="{FF2B5EF4-FFF2-40B4-BE49-F238E27FC236}">
                <a16:creationId xmlns:a16="http://schemas.microsoft.com/office/drawing/2014/main" id="{ED9CD182-5FEA-4E84-B63A-E3541A9C452C}"/>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Code generation handles both conditional and unconditional jumps.</a:t>
            </a:r>
          </a:p>
        </p:txBody>
      </p:sp>
    </p:spTree>
    <p:extLst>
      <p:ext uri="{BB962C8B-B14F-4D97-AF65-F5344CB8AC3E}">
        <p14:creationId xmlns:p14="http://schemas.microsoft.com/office/powerpoint/2010/main" val="6433019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0" name="A reusable bytecode artifact">
            <a:extLst>
              <a:ext uri="{FF2B5EF4-FFF2-40B4-BE49-F238E27FC236}">
                <a16:creationId xmlns:a16="http://schemas.microsoft.com/office/drawing/2014/main" id="{91EFD8AF-0A90-4CAC-BE16-2B079764194A}"/>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A reusable bytecode artifact</a:t>
            </a:r>
          </a:p>
        </p:txBody>
      </p:sp>
      <p:sp>
        <p:nvSpPr>
          <p:cNvPr id="2" name="The .pbc file separates compilation from execution">
            <a:extLst>
              <a:ext uri="{FF2B5EF4-FFF2-40B4-BE49-F238E27FC236}">
                <a16:creationId xmlns:a16="http://schemas.microsoft.com/office/drawing/2014/main" id="{BC670A6A-CDB8-426C-B426-41062E1EB8A5}"/>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The .pbc file separates compilation from execution</a:t>
            </a:r>
          </a:p>
        </p:txBody>
      </p:sp>
      <p:sp>
        <p:nvSpPr>
          <p:cNvPr id="3" name="21">
            <a:extLst>
              <a:ext uri="{FF2B5EF4-FFF2-40B4-BE49-F238E27FC236}">
                <a16:creationId xmlns:a16="http://schemas.microsoft.com/office/drawing/2014/main" id="{1456D7F4-99B4-4A2A-AA28-9C0F5087DCFB}"/>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21</a:t>
            </a:r>
          </a:p>
        </p:txBody>
      </p:sp>
      <p:sp>
        <p:nvSpPr>
          <p:cNvPr id="4" name="format: &quot;polyglot-bytecode&quot;&#10;version: 3&#10;entry: 0&#10;constan">
            <a:extLst>
              <a:ext uri="{FF2B5EF4-FFF2-40B4-BE49-F238E27FC236}">
                <a16:creationId xmlns:a16="http://schemas.microsoft.com/office/drawing/2014/main" id="{FB26AF48-AB71-4A15-A943-BDE926F03894}"/>
              </a:ext>
            </a:extLst>
          </p:cNvPr>
          <p:cNvSpPr>
            <a:spLocks noGrp="1"/>
          </p:cNvSpPr>
          <p:nvPr/>
        </p:nvSpPr>
        <p:spPr>
          <a:xfrm>
            <a:off x="781050" y="2714625"/>
            <a:ext cx="7524750" cy="3143250"/>
          </a:xfrm>
          <a:prstGeom prst="rect">
            <a:avLst/>
          </a:prstGeom>
          <a:noFill/>
          <a:ln w="0">
            <a:noFill/>
          </a:ln>
        </p:spPr>
        <p:txBody>
          <a:bodyPr wrap="square" lIns="0" tIns="0" rIns="0" bIns="0" anchor="t">
            <a:noAutofit/>
          </a:bodyPr>
          <a:lstStyle>
            <a:defPPr algn="l">
              <a:defRPr sz="2550" b="0">
                <a:solidFill>
                  <a:srgbClr val="162237"/>
                </a:solidFill>
                <a:latin typeface="Courier New"/>
                <a:ea typeface="Courier New"/>
                <a:cs typeface="Courier New"/>
              </a:defRPr>
            </a:defPPr>
            <a:lvl1pPr algn="l">
              <a:buNone/>
              <a:defRPr sz="2550" b="0">
                <a:solidFill>
                  <a:srgbClr val="162237"/>
                </a:solidFill>
                <a:latin typeface="Courier New"/>
                <a:ea typeface="Courier New"/>
                <a:cs typeface="Courier New"/>
              </a:defRPr>
            </a:lvl1pPr>
            <a:lvl2pPr algn="l">
              <a:buNone/>
              <a:defRPr sz="2550" b="0">
                <a:solidFill>
                  <a:srgbClr val="162237"/>
                </a:solidFill>
                <a:latin typeface="Courier New"/>
                <a:ea typeface="Courier New"/>
                <a:cs typeface="Courier New"/>
              </a:defRPr>
            </a:lvl2pPr>
            <a:lvl3pPr algn="l">
              <a:buNone/>
              <a:defRPr sz="2550" b="0">
                <a:solidFill>
                  <a:srgbClr val="162237"/>
                </a:solidFill>
                <a:latin typeface="Courier New"/>
                <a:ea typeface="Courier New"/>
                <a:cs typeface="Courier New"/>
              </a:defRPr>
            </a:lvl3pPr>
            <a:lvl4pPr algn="l">
              <a:buNone/>
              <a:defRPr sz="2550" b="0">
                <a:solidFill>
                  <a:srgbClr val="162237"/>
                </a:solidFill>
                <a:latin typeface="Courier New"/>
                <a:ea typeface="Courier New"/>
                <a:cs typeface="Courier New"/>
              </a:defRPr>
            </a:lvl4pPr>
            <a:lvl5pPr algn="l">
              <a:buNone/>
              <a:defRPr sz="2550" b="0">
                <a:solidFill>
                  <a:srgbClr val="162237"/>
                </a:solidFill>
                <a:latin typeface="Courier New"/>
                <a:ea typeface="Courier New"/>
                <a:cs typeface="Courier New"/>
              </a:defRPr>
            </a:lvl5pPr>
            <a:lvl6pPr algn="l">
              <a:buNone/>
              <a:defRPr sz="2550" b="0">
                <a:solidFill>
                  <a:srgbClr val="162237"/>
                </a:solidFill>
                <a:latin typeface="Courier New"/>
                <a:ea typeface="Courier New"/>
                <a:cs typeface="Courier New"/>
              </a:defRPr>
            </a:lvl6pPr>
            <a:lvl7pPr algn="l">
              <a:buNone/>
              <a:defRPr sz="2550" b="0">
                <a:solidFill>
                  <a:srgbClr val="162237"/>
                </a:solidFill>
                <a:latin typeface="Courier New"/>
                <a:ea typeface="Courier New"/>
                <a:cs typeface="Courier New"/>
              </a:defRPr>
            </a:lvl7pPr>
            <a:lvl8pPr algn="l">
              <a:buNone/>
              <a:defRPr sz="2550" b="0">
                <a:solidFill>
                  <a:srgbClr val="162237"/>
                </a:solidFill>
                <a:latin typeface="Courier New"/>
                <a:ea typeface="Courier New"/>
                <a:cs typeface="Courier New"/>
              </a:defRPr>
            </a:lvl8pPr>
            <a:lvl9pPr algn="l">
              <a:buNone/>
              <a:defRPr sz="2550" b="0">
                <a:solidFill>
                  <a:srgbClr val="162237"/>
                </a:solidFill>
                <a:latin typeface="Courier New"/>
                <a:ea typeface="Courier New"/>
                <a:cs typeface="Courier New"/>
              </a:defRPr>
            </a:lvl9pPr>
          </a:lstStyle>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format: "polyglot-bytecode"</a:t>
            </a:r>
          </a:p>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version: 3</a:t>
            </a:r>
          </a:p>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entry: 0</a:t>
            </a:r>
          </a:p>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constants: [...]</a:t>
            </a:r>
          </a:p>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global_count: ...</a:t>
            </a:r>
          </a:p>
          <a:p>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functions: [...]</a:t>
            </a:r>
          </a:p>
        </p:txBody>
      </p:sp>
      <p:sp>
        <p:nvSpPr>
          <p:cNvPr id="5" name="Portable representation">
            <a:extLst>
              <a:ext uri="{FF2B5EF4-FFF2-40B4-BE49-F238E27FC236}">
                <a16:creationId xmlns:a16="http://schemas.microsoft.com/office/drawing/2014/main" id="{1D66163B-4A87-4A62-A259-3C428FF5EBD4}"/>
              </a:ext>
            </a:extLst>
          </p:cNvPr>
          <p:cNvSpPr>
            <a:spLocks noGrp="1"/>
          </p:cNvSpPr>
          <p:nvPr/>
        </p:nvSpPr>
        <p:spPr>
          <a:xfrm>
            <a:off x="9144000" y="2667000"/>
            <a:ext cx="533400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Portable representation</a:t>
            </a:r>
          </a:p>
        </p:txBody>
      </p:sp>
      <p:sp>
        <p:nvSpPr>
          <p:cNvPr id="6" name="UTF-8 JSON stores opcodes, operands,&#10;function signature">
            <a:extLst>
              <a:ext uri="{FF2B5EF4-FFF2-40B4-BE49-F238E27FC236}">
                <a16:creationId xmlns:a16="http://schemas.microsoft.com/office/drawing/2014/main" id="{4593DC17-11F0-4222-BE67-4AFF9A07AAF9}"/>
              </a:ext>
            </a:extLst>
          </p:cNvPr>
          <p:cNvSpPr>
            <a:spLocks noGrp="1"/>
          </p:cNvSpPr>
          <p:nvPr/>
        </p:nvSpPr>
        <p:spPr>
          <a:xfrm>
            <a:off x="9144000" y="3286125"/>
            <a:ext cx="533400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UTF-8 JSON stores opcodes, operands,</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function signatures and source maps.</a:t>
            </a:r>
          </a:p>
        </p:txBody>
      </p:sp>
      <p:sp>
        <p:nvSpPr>
          <p:cNvPr id="7" name="Validated input">
            <a:extLst>
              <a:ext uri="{FF2B5EF4-FFF2-40B4-BE49-F238E27FC236}">
                <a16:creationId xmlns:a16="http://schemas.microsoft.com/office/drawing/2014/main" id="{6B83DBA7-9A7E-4ACD-913B-BF1290D6AF51}"/>
              </a:ext>
            </a:extLst>
          </p:cNvPr>
          <p:cNvSpPr>
            <a:spLocks noGrp="1"/>
          </p:cNvSpPr>
          <p:nvPr/>
        </p:nvSpPr>
        <p:spPr>
          <a:xfrm>
            <a:off x="9144000" y="5191125"/>
            <a:ext cx="533400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Validated input</a:t>
            </a:r>
          </a:p>
        </p:txBody>
      </p:sp>
      <p:sp>
        <p:nvSpPr>
          <p:cNvPr id="8" name="The loader checks structure, targets,&#10;slots and operand">
            <a:extLst>
              <a:ext uri="{FF2B5EF4-FFF2-40B4-BE49-F238E27FC236}">
                <a16:creationId xmlns:a16="http://schemas.microsoft.com/office/drawing/2014/main" id="{3917583E-C070-4E7E-A152-484FD8450C4A}"/>
              </a:ext>
            </a:extLst>
          </p:cNvPr>
          <p:cNvSpPr>
            <a:spLocks noGrp="1"/>
          </p:cNvSpPr>
          <p:nvPr/>
        </p:nvSpPr>
        <p:spPr>
          <a:xfrm>
            <a:off x="9144000" y="5810250"/>
            <a:ext cx="533400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The loader checks structure, targets,</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slots and operand-stack consistency.</a:t>
            </a:r>
          </a:p>
        </p:txBody>
      </p:sp>
      <p:sp>
        <p:nvSpPr>
          <p:cNvPr id="9" name="The VM can execute a valid artifact without reading the">
            <a:extLst>
              <a:ext uri="{FF2B5EF4-FFF2-40B4-BE49-F238E27FC236}">
                <a16:creationId xmlns:a16="http://schemas.microsoft.com/office/drawing/2014/main" id="{3A186674-D443-49D0-92A1-3C47070926A2}"/>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The VM can execute a valid artifact without reading the original source file.</a:t>
            </a:r>
          </a:p>
        </p:txBody>
      </p:sp>
    </p:spTree>
    <p:extLst>
      <p:ext uri="{BB962C8B-B14F-4D97-AF65-F5344CB8AC3E}">
        <p14:creationId xmlns:p14="http://schemas.microsoft.com/office/powerpoint/2010/main" val="15209545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6" name="Execution on the stack VM">
            <a:extLst>
              <a:ext uri="{FF2B5EF4-FFF2-40B4-BE49-F238E27FC236}">
                <a16:creationId xmlns:a16="http://schemas.microsoft.com/office/drawing/2014/main" id="{57E51B57-5469-4BA1-9DA1-A734406304B1}"/>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Execution on the stack VM</a:t>
            </a:r>
          </a:p>
        </p:txBody>
      </p:sp>
      <p:sp>
        <p:nvSpPr>
          <p:cNvPr id="2" name="The optimized expression uses one constant and five ins">
            <a:extLst>
              <a:ext uri="{FF2B5EF4-FFF2-40B4-BE49-F238E27FC236}">
                <a16:creationId xmlns:a16="http://schemas.microsoft.com/office/drawing/2014/main" id="{387B62FC-5E8A-4428-97A6-E90CBCAC848E}"/>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The optimized expression uses one constant and five instructions</a:t>
            </a:r>
          </a:p>
        </p:txBody>
      </p:sp>
      <p:sp>
        <p:nvSpPr>
          <p:cNvPr id="3" name="22">
            <a:extLst>
              <a:ext uri="{FF2B5EF4-FFF2-40B4-BE49-F238E27FC236}">
                <a16:creationId xmlns:a16="http://schemas.microsoft.com/office/drawing/2014/main" id="{1BC57B80-5F26-427D-AA72-5D937C903E1F}"/>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22</a:t>
            </a:r>
          </a:p>
        </p:txBody>
      </p:sp>
      <p:graphicFrame>
        <p:nvGraphicFramePr>
          <p:cNvPr id="4" name="Table 3">
            <a:extLst>
              <a:ext uri="{FF2B5EF4-FFF2-40B4-BE49-F238E27FC236}">
                <a16:creationId xmlns:a16="http://schemas.microsoft.com/office/drawing/2014/main" id="{D9C7C264-A139-4597-A909-056D0A35395D}"/>
              </a:ext>
            </a:extLst>
          </p:cNvPr>
          <p:cNvGraphicFramePr/>
          <p:nvPr/>
        </p:nvGraphicFramePr>
        <p:xfrm>
          <a:off x="781050" y="2667000"/>
          <a:ext cx="13620750" cy="4095750"/>
        </p:xfrm>
        <a:graphic>
          <a:graphicData uri="http://schemas.openxmlformats.org/drawingml/2006/table">
            <a:tbl>
              <a:tblPr/>
              <a:tblGrid>
                <a:gridCol w="4476750">
                  <a:extLst>
                    <a:ext uri="{9D8B030D-6E8A-4147-A177-3AD203B41FA5}">
                      <a16:colId xmlns:a16="http://schemas.microsoft.com/office/drawing/2014/main" val="20000"/>
                    </a:ext>
                  </a:extLst>
                </a:gridCol>
                <a:gridCol w="4762500">
                  <a:extLst>
                    <a:ext uri="{9D8B030D-6E8A-4147-A177-3AD203B41FA5}">
                      <a16:colId xmlns:a16="http://schemas.microsoft.com/office/drawing/2014/main" val="20001"/>
                    </a:ext>
                  </a:extLst>
                </a:gridCol>
                <a:gridCol w="4381500">
                  <a:extLst>
                    <a:ext uri="{9D8B030D-6E8A-4147-A177-3AD203B41FA5}">
                      <a16:colId xmlns:a16="http://schemas.microsoft.com/office/drawing/2014/main" val="20002"/>
                    </a:ext>
                  </a:extLst>
                </a:gridCol>
              </a:tblGrid>
              <a:tr h="682625">
                <a:tc>
                  <a:txBody>
                    <a:bodyPr/>
                    <a:lstStyle/>
                    <a:p>
                      <a:r>
                        <a:rPr sz="2250" b="1">
                          <a:solidFill>
                            <a:srgbClr val="17273C"/>
                          </a:solidFill>
                          <a:latin typeface="Arial"/>
                          <a:ea typeface="Arial"/>
                          <a:cs typeface="Arial"/>
                        </a:rPr>
                        <a:t>Instruction</a:t>
                      </a:r>
                    </a:p>
                  </a:txBody>
                  <a:tcPr anchor="ctr">
                    <a:lnL w="7620">
                      <a:solidFill>
                        <a:srgbClr val="CDD3D9"/>
                      </a:solidFill>
                      <a:prstDash val="soli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250" b="1">
                          <a:solidFill>
                            <a:srgbClr val="17273C"/>
                          </a:solidFill>
                          <a:latin typeface="Arial"/>
                          <a:ea typeface="Arial"/>
                          <a:cs typeface="Arial"/>
                        </a:rPr>
                        <a:t>Operand stack after execution</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a:lstStyle/>
                    <a:p>
                      <a:r>
                        <a:rPr sz="2250" b="1">
                          <a:solidFill>
                            <a:srgbClr val="17273C"/>
                          </a:solidFill>
                          <a:latin typeface="Arial"/>
                          <a:ea typeface="Arial"/>
                          <a:cs typeface="Arial"/>
                        </a:rPr>
                        <a:t>Effect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extLst>
                  <a:ext uri="{0D108BD9-81ED-4DB2-BD59-A6C34878D82A}">
                    <a16:rowId xmlns:a16="http://schemas.microsoft.com/office/drawing/2014/main" val="10000"/>
                  </a:ext>
                </a:extLst>
              </a:tr>
              <a:tr h="682625">
                <a:tc>
                  <a:txBody>
                    <a:bodyPr/>
                    <a:lstStyle/>
                    <a:p>
                      <a:r>
                        <a:rPr sz="2250" b="0">
                          <a:solidFill>
                            <a:srgbClr val="17273C"/>
                          </a:solidFill>
                          <a:latin typeface="Arial"/>
                          <a:ea typeface="Arial"/>
                          <a:cs typeface="Arial"/>
                        </a:rPr>
                        <a:t>CONST 0</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[20]</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Push constant pool entry 0</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1"/>
                  </a:ext>
                </a:extLst>
              </a:tr>
              <a:tr h="682625">
                <a:tc>
                  <a:txBody>
                    <a:bodyPr/>
                    <a:lstStyle/>
                    <a:p>
                      <a:r>
                        <a:rPr sz="2250" b="0">
                          <a:solidFill>
                            <a:srgbClr val="17273C"/>
                          </a:solidFill>
                          <a:latin typeface="Arial"/>
                          <a:ea typeface="Arial"/>
                          <a:cs typeface="Arial"/>
                        </a:rPr>
                        <a:t>STORE_LOCAL 4</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Save 20 in temporary slot 4</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2"/>
                  </a:ext>
                </a:extLst>
              </a:tr>
              <a:tr h="682625">
                <a:tc>
                  <a:txBody>
                    <a:bodyPr/>
                    <a:lstStyle/>
                    <a:p>
                      <a:r>
                        <a:rPr sz="2250" b="0">
                          <a:solidFill>
                            <a:srgbClr val="17273C"/>
                          </a:solidFill>
                          <a:latin typeface="Arial"/>
                          <a:ea typeface="Arial"/>
                          <a:cs typeface="Arial"/>
                        </a:rPr>
                        <a:t>LOAD_LOCAL 4</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[20]</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Load the saved value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3"/>
                  </a:ext>
                </a:extLst>
              </a:tr>
              <a:tr h="682625">
                <a:tc>
                  <a:txBody>
                    <a:bodyPr/>
                    <a:lstStyle/>
                    <a:p>
                      <a:r>
                        <a:rPr sz="2250" b="0">
                          <a:solidFill>
                            <a:srgbClr val="17273C"/>
                          </a:solidFill>
                          <a:latin typeface="Arial"/>
                          <a:ea typeface="Arial"/>
                          <a:cs typeface="Arial"/>
                        </a:rPr>
                        <a:t>OUTPUT 1, "", "\n"</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Print 20 and a newline</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4"/>
                  </a:ext>
                </a:extLst>
              </a:tr>
              <a:tr h="682625">
                <a:tc>
                  <a:txBody>
                    <a:bodyPr/>
                    <a:lstStyle/>
                    <a:p>
                      <a:r>
                        <a:rPr sz="2250" b="0">
                          <a:solidFill>
                            <a:srgbClr val="17273C"/>
                          </a:solidFill>
                          <a:latin typeface="Arial"/>
                          <a:ea typeface="Arial"/>
                          <a:cs typeface="Arial"/>
                        </a:rPr>
                        <a:t>RETURN_VOID</a:t>
                      </a:r>
                    </a:p>
                  </a:txBody>
                  <a:tcPr anchor="ctr">
                    <a:lnL w="7620">
                      <a:solidFill>
                        <a:srgbClr val="CDD3D9"/>
                      </a:solidFill>
                      <a:prstDash val="soli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tc>
                  <a:txBody>
                    <a:bodyPr/>
                    <a:lstStyle/>
                    <a:p>
                      <a:r>
                        <a:rPr sz="2250" b="0">
                          <a:solidFill>
                            <a:srgbClr val="17273C"/>
                          </a:solidFill>
                          <a:latin typeface="Arial"/>
                          <a:ea typeface="Arial"/>
                          <a:cs typeface="Arial"/>
                        </a:rPr>
                        <a:t>Finish the main function</a:t>
                      </a:r>
                    </a:p>
                  </a:txBody>
                  <a:tcPr anchor="ctr">
                    <a:lnL w="7620" cap="flat" cmpd="sng" algn="ctr">
                      <a:solidFill>
                        <a:srgbClr val="CDD3D9"/>
                      </a:solidFill>
                      <a:prstDash val="solid"/>
                      <a:round/>
                      <a:headEnd type="none" w="med" len="med"/>
                      <a:tailEnd type="none" w="med" len="med"/>
                    </a:lnL>
                    <a:lnR w="7620">
                      <a:solidFill>
                        <a:srgbClr val="CDD3D9"/>
                      </a:solidFill>
                      <a:prstDash val="solid"/>
                    </a:lnR>
                    <a:lnT w="7620" cap="flat" cmpd="sng" algn="ctr">
                      <a:solidFill>
                        <a:srgbClr val="CDD3D9"/>
                      </a:solidFill>
                      <a:prstDash val="solid"/>
                      <a:round/>
                      <a:headEnd type="none" w="med" len="med"/>
                      <a:tailEnd type="none" w="med" len="med"/>
                    </a:lnT>
                    <a:lnB w="7620">
                      <a:solidFill>
                        <a:srgbClr val="CDD3D9"/>
                      </a:solidFill>
                      <a:prstDash val="solid"/>
                    </a:lnB>
                    <a:solidFill>
                      <a:srgbClr val="F7F5F0"/>
                    </a:solidFill>
                  </a:tcPr>
                </a:tc>
                <a:extLst>
                  <a:ext uri="{0D108BD9-81ED-4DB2-BD59-A6C34878D82A}">
                    <a16:rowId xmlns:a16="http://schemas.microsoft.com/office/drawing/2014/main" val="10005"/>
                  </a:ext>
                </a:extLst>
              </a:tr>
            </a:tbl>
          </a:graphicData>
        </a:graphic>
      </p:graphicFrame>
      <p:sp>
        <p:nvSpPr>
          <p:cNvPr id="5" name="The VM executes our instruction set and maintains its o">
            <a:extLst>
              <a:ext uri="{FF2B5EF4-FFF2-40B4-BE49-F238E27FC236}">
                <a16:creationId xmlns:a16="http://schemas.microsoft.com/office/drawing/2014/main" id="{CB6629F5-15D7-40EE-8060-0526588AF945}"/>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The VM executes our instruction set and maintains its own instruction pointer.</a:t>
            </a:r>
          </a:p>
        </p:txBody>
      </p:sp>
    </p:spTree>
    <p:extLst>
      <p:ext uri="{BB962C8B-B14F-4D97-AF65-F5344CB8AC3E}">
        <p14:creationId xmlns:p14="http://schemas.microsoft.com/office/powerpoint/2010/main" val="7561023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cxnSp>
        <p:nvCxnSpPr>
          <p:cNvPr id="14" name="Straight Arrow Connector 13">
            <a:extLst>
              <a:ext uri="{FF2B5EF4-FFF2-40B4-BE49-F238E27FC236}">
                <a16:creationId xmlns:a16="http://schemas.microsoft.com/office/drawing/2014/main" id="{61C39A2B-07D9-4562-A7BA-72BE8422A608}"/>
              </a:ext>
            </a:extLst>
          </p:cNvPr>
          <p:cNvCxnSpPr>
            <a:stCxn id="7" idx="3"/>
            <a:endCxn id="10" idx="1"/>
          </p:cNvCxnSpPr>
          <p:nvPr/>
        </p:nvCxnSpPr>
        <p:spPr>
          <a:xfrm>
            <a:off x="10191750" y="3905250"/>
            <a:ext cx="571500" cy="0"/>
          </a:xfrm>
          <a:prstGeom prst="straightConnector1">
            <a:avLst/>
          </a:prstGeom>
          <a:ln w="22860">
            <a:solidFill>
              <a:srgbClr val="2956D7"/>
            </a:solidFill>
            <a:prstDash val="solid"/>
            <a:tailEnd type="triangle" w="sm" len="sm"/>
          </a:ln>
        </p:spPr>
      </p:cxnSp>
      <p:cxnSp>
        <p:nvCxnSpPr>
          <p:cNvPr id="13" name="Straight Arrow Connector 12">
            <a:extLst>
              <a:ext uri="{FF2B5EF4-FFF2-40B4-BE49-F238E27FC236}">
                <a16:creationId xmlns:a16="http://schemas.microsoft.com/office/drawing/2014/main" id="{F97C3171-61F4-49EC-B813-A9FD4D71288F}"/>
              </a:ext>
            </a:extLst>
          </p:cNvPr>
          <p:cNvCxnSpPr>
            <a:stCxn id="4" idx="3"/>
            <a:endCxn id="7" idx="1"/>
          </p:cNvCxnSpPr>
          <p:nvPr/>
        </p:nvCxnSpPr>
        <p:spPr>
          <a:xfrm>
            <a:off x="5334000" y="3905250"/>
            <a:ext cx="571500" cy="0"/>
          </a:xfrm>
          <a:prstGeom prst="straightConnector1">
            <a:avLst/>
          </a:prstGeom>
          <a:ln w="22860">
            <a:solidFill>
              <a:srgbClr val="2956D7"/>
            </a:solidFill>
            <a:prstDash val="solid"/>
            <a:tailEnd type="triangle" w="sm" len="sm"/>
          </a:ln>
        </p:spPr>
      </p:cxnSp>
      <p:sp>
        <p:nvSpPr>
          <p:cNvPr id="20" name="Function calls and activation records">
            <a:extLst>
              <a:ext uri="{FF2B5EF4-FFF2-40B4-BE49-F238E27FC236}">
                <a16:creationId xmlns:a16="http://schemas.microsoft.com/office/drawing/2014/main" id="{8C2B050B-AE8F-47CC-8A2B-232326A521CD}"/>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Function calls and activation records</a:t>
            </a:r>
          </a:p>
        </p:txBody>
      </p:sp>
      <p:sp>
        <p:nvSpPr>
          <p:cNvPr id="2" name="Each call owns a separate frame">
            <a:extLst>
              <a:ext uri="{FF2B5EF4-FFF2-40B4-BE49-F238E27FC236}">
                <a16:creationId xmlns:a16="http://schemas.microsoft.com/office/drawing/2014/main" id="{B71AECB1-0A05-43C8-AECE-02BC8D9F0524}"/>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Each call owns a separate frame</a:t>
            </a:r>
          </a:p>
        </p:txBody>
      </p:sp>
      <p:sp>
        <p:nvSpPr>
          <p:cNvPr id="3" name="23">
            <a:extLst>
              <a:ext uri="{FF2B5EF4-FFF2-40B4-BE49-F238E27FC236}">
                <a16:creationId xmlns:a16="http://schemas.microsoft.com/office/drawing/2014/main" id="{5CBD4EBC-3EB2-407C-B4B2-ADFDC6B7E30B}"/>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23</a:t>
            </a:r>
          </a:p>
        </p:txBody>
      </p:sp>
      <p:sp>
        <p:nvSpPr>
          <p:cNvPr id="4" name="Frame: &lt;main&gt;">
            <a:extLst>
              <a:ext uri="{FF2B5EF4-FFF2-40B4-BE49-F238E27FC236}">
                <a16:creationId xmlns:a16="http://schemas.microsoft.com/office/drawing/2014/main" id="{C9C00A12-80F1-481C-8178-475627D3F7D8}"/>
              </a:ext>
            </a:extLst>
          </p:cNvPr>
          <p:cNvSpPr>
            <a:spLocks noGrp="1"/>
          </p:cNvSpPr>
          <p:nvPr/>
        </p:nvSpPr>
        <p:spPr>
          <a:xfrm>
            <a:off x="762000" y="3048000"/>
            <a:ext cx="4572000" cy="1714500"/>
          </a:xfrm>
          <a:prstGeom prst="rect">
            <a:avLst/>
          </a:prstGeom>
          <a:solidFill>
            <a:srgbClr val="FFFFFF"/>
          </a:solidFill>
          <a:ln w="16193">
            <a:solidFill>
              <a:srgbClr val="CDD3D9"/>
            </a:solidFill>
          </a:ln>
        </p:spPr>
        <p:txBody>
          <a:bodyPr/>
          <a:lstStyle/>
          <a:p>
            <a:endParaRPr lang="en-US"/>
          </a:p>
        </p:txBody>
      </p:sp>
      <p:sp>
        <p:nvSpPr>
          <p:cNvPr id="5" name="Frame: &lt;main&gt;">
            <a:extLst>
              <a:ext uri="{FF2B5EF4-FFF2-40B4-BE49-F238E27FC236}">
                <a16:creationId xmlns:a16="http://schemas.microsoft.com/office/drawing/2014/main" id="{3C9F041A-9FDD-4E69-8332-59C98A97505A}"/>
              </a:ext>
            </a:extLst>
          </p:cNvPr>
          <p:cNvSpPr>
            <a:spLocks noGrp="1"/>
          </p:cNvSpPr>
          <p:nvPr/>
        </p:nvSpPr>
        <p:spPr>
          <a:xfrm>
            <a:off x="952500" y="3219450"/>
            <a:ext cx="419100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Frame: &lt;main&gt;</a:t>
            </a:r>
          </a:p>
        </p:txBody>
      </p:sp>
      <p:sp>
        <p:nvSpPr>
          <p:cNvPr id="6" name="locals, ip, operand stack, callsite">
            <a:extLst>
              <a:ext uri="{FF2B5EF4-FFF2-40B4-BE49-F238E27FC236}">
                <a16:creationId xmlns:a16="http://schemas.microsoft.com/office/drawing/2014/main" id="{7C3119B6-708B-4632-AD6F-39C6FCEB3E43}"/>
              </a:ext>
            </a:extLst>
          </p:cNvPr>
          <p:cNvSpPr>
            <a:spLocks noGrp="1"/>
          </p:cNvSpPr>
          <p:nvPr/>
        </p:nvSpPr>
        <p:spPr>
          <a:xfrm>
            <a:off x="952500" y="3771900"/>
            <a:ext cx="4191000" cy="93345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locals, ip, operand stack, callsite</a:t>
            </a:r>
          </a:p>
        </p:txBody>
      </p:sp>
      <p:sp>
        <p:nvSpPr>
          <p:cNvPr id="7" name="Frame: twice(3)">
            <a:extLst>
              <a:ext uri="{FF2B5EF4-FFF2-40B4-BE49-F238E27FC236}">
                <a16:creationId xmlns:a16="http://schemas.microsoft.com/office/drawing/2014/main" id="{18B3B358-E598-4EE9-A08B-3A984DCD1AEE}"/>
              </a:ext>
            </a:extLst>
          </p:cNvPr>
          <p:cNvSpPr>
            <a:spLocks noGrp="1"/>
          </p:cNvSpPr>
          <p:nvPr/>
        </p:nvSpPr>
        <p:spPr>
          <a:xfrm>
            <a:off x="5905500" y="3048000"/>
            <a:ext cx="4286250" cy="1714500"/>
          </a:xfrm>
          <a:prstGeom prst="rect">
            <a:avLst/>
          </a:prstGeom>
          <a:solidFill>
            <a:srgbClr val="DDF2EC"/>
          </a:solidFill>
          <a:ln w="16193">
            <a:solidFill>
              <a:srgbClr val="147B70"/>
            </a:solidFill>
          </a:ln>
        </p:spPr>
        <p:txBody>
          <a:bodyPr/>
          <a:lstStyle/>
          <a:p>
            <a:endParaRPr lang="en-US"/>
          </a:p>
        </p:txBody>
      </p:sp>
      <p:sp>
        <p:nvSpPr>
          <p:cNvPr id="8" name="Frame: twice(3)">
            <a:extLst>
              <a:ext uri="{FF2B5EF4-FFF2-40B4-BE49-F238E27FC236}">
                <a16:creationId xmlns:a16="http://schemas.microsoft.com/office/drawing/2014/main" id="{E82F884F-E4E7-4852-8EDD-A6E820AD0168}"/>
              </a:ext>
            </a:extLst>
          </p:cNvPr>
          <p:cNvSpPr>
            <a:spLocks noGrp="1"/>
          </p:cNvSpPr>
          <p:nvPr/>
        </p:nvSpPr>
        <p:spPr>
          <a:xfrm>
            <a:off x="6096000" y="3219450"/>
            <a:ext cx="390525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Frame: twice(3)</a:t>
            </a:r>
          </a:p>
        </p:txBody>
      </p:sp>
      <p:sp>
        <p:nvSpPr>
          <p:cNvPr id="9" name="parameter value = 3&#10;local and temporary slots">
            <a:extLst>
              <a:ext uri="{FF2B5EF4-FFF2-40B4-BE49-F238E27FC236}">
                <a16:creationId xmlns:a16="http://schemas.microsoft.com/office/drawing/2014/main" id="{EB5FAFD9-4268-45ED-82F5-AA12FD8BA7AC}"/>
              </a:ext>
            </a:extLst>
          </p:cNvPr>
          <p:cNvSpPr>
            <a:spLocks noGrp="1"/>
          </p:cNvSpPr>
          <p:nvPr/>
        </p:nvSpPr>
        <p:spPr>
          <a:xfrm>
            <a:off x="6096000" y="3771900"/>
            <a:ext cx="3905250" cy="93345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parameter value = 3</a:t>
            </a:r>
          </a:p>
          <a:p>
            <a:pPr algn="l">
              <a:buNone/>
              <a:defRPr sz="1875" b="0">
                <a:solidFill>
                  <a:srgbClr val="596577"/>
                </a:solidFill>
                <a:latin typeface="Arial"/>
                <a:ea typeface="Arial"/>
                <a:cs typeface="Arial"/>
              </a:defRPr>
            </a:pPr>
            <a:r>
              <a:rPr sz="1875" b="0">
                <a:solidFill>
                  <a:srgbClr val="596577"/>
                </a:solidFill>
                <a:latin typeface="Arial"/>
                <a:ea typeface="Arial"/>
                <a:cs typeface="Arial"/>
              </a:rPr>
              <a:t>local and temporary slots</a:t>
            </a:r>
          </a:p>
        </p:txBody>
      </p:sp>
      <p:sp>
        <p:nvSpPr>
          <p:cNvPr id="10" name="Frame: add(3, 3)">
            <a:extLst>
              <a:ext uri="{FF2B5EF4-FFF2-40B4-BE49-F238E27FC236}">
                <a16:creationId xmlns:a16="http://schemas.microsoft.com/office/drawing/2014/main" id="{C2762E9B-D225-4651-B8AB-413440F5A10C}"/>
              </a:ext>
            </a:extLst>
          </p:cNvPr>
          <p:cNvSpPr>
            <a:spLocks noGrp="1"/>
          </p:cNvSpPr>
          <p:nvPr/>
        </p:nvSpPr>
        <p:spPr>
          <a:xfrm>
            <a:off x="10763250" y="3048000"/>
            <a:ext cx="3714750" cy="1714500"/>
          </a:xfrm>
          <a:prstGeom prst="rect">
            <a:avLst/>
          </a:prstGeom>
          <a:solidFill>
            <a:srgbClr val="FFFFFF"/>
          </a:solidFill>
          <a:ln w="16193">
            <a:solidFill>
              <a:srgbClr val="CDD3D9"/>
            </a:solidFill>
          </a:ln>
        </p:spPr>
        <p:txBody>
          <a:bodyPr/>
          <a:lstStyle/>
          <a:p>
            <a:endParaRPr lang="en-US"/>
          </a:p>
        </p:txBody>
      </p:sp>
      <p:sp>
        <p:nvSpPr>
          <p:cNvPr id="11" name="Frame: add(3, 3)">
            <a:extLst>
              <a:ext uri="{FF2B5EF4-FFF2-40B4-BE49-F238E27FC236}">
                <a16:creationId xmlns:a16="http://schemas.microsoft.com/office/drawing/2014/main" id="{56ED52E6-5B56-453B-9B31-6C50F069995B}"/>
              </a:ext>
            </a:extLst>
          </p:cNvPr>
          <p:cNvSpPr>
            <a:spLocks noGrp="1"/>
          </p:cNvSpPr>
          <p:nvPr/>
        </p:nvSpPr>
        <p:spPr>
          <a:xfrm>
            <a:off x="10953750" y="3219450"/>
            <a:ext cx="333375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Frame: add(3, 3)</a:t>
            </a:r>
          </a:p>
        </p:txBody>
      </p:sp>
      <p:sp>
        <p:nvSpPr>
          <p:cNvPr id="12" name="parameters a = 3, b = 3&#10;returns 6">
            <a:extLst>
              <a:ext uri="{FF2B5EF4-FFF2-40B4-BE49-F238E27FC236}">
                <a16:creationId xmlns:a16="http://schemas.microsoft.com/office/drawing/2014/main" id="{C4771D63-1CCF-4058-8ED7-552FB4846C1C}"/>
              </a:ext>
            </a:extLst>
          </p:cNvPr>
          <p:cNvSpPr>
            <a:spLocks noGrp="1"/>
          </p:cNvSpPr>
          <p:nvPr/>
        </p:nvSpPr>
        <p:spPr>
          <a:xfrm>
            <a:off x="10953750" y="3771900"/>
            <a:ext cx="3333750" cy="93345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parameters a = 3, b = 3</a:t>
            </a:r>
          </a:p>
          <a:p>
            <a:pPr algn="l">
              <a:buNone/>
              <a:defRPr sz="1875" b="0">
                <a:solidFill>
                  <a:srgbClr val="596577"/>
                </a:solidFill>
                <a:latin typeface="Arial"/>
                <a:ea typeface="Arial"/>
                <a:cs typeface="Arial"/>
              </a:defRPr>
            </a:pPr>
            <a:r>
              <a:rPr sz="1875" b="0">
                <a:solidFill>
                  <a:srgbClr val="596577"/>
                </a:solidFill>
                <a:latin typeface="Arial"/>
                <a:ea typeface="Arial"/>
                <a:cs typeface="Arial"/>
              </a:rPr>
              <a:t>returns 6</a:t>
            </a:r>
          </a:p>
        </p:txBody>
      </p:sp>
      <p:sp>
        <p:nvSpPr>
          <p:cNvPr id="15" name="Call sequence">
            <a:extLst>
              <a:ext uri="{FF2B5EF4-FFF2-40B4-BE49-F238E27FC236}">
                <a16:creationId xmlns:a16="http://schemas.microsoft.com/office/drawing/2014/main" id="{6E09B0B6-EF62-4FD7-B6B3-61B1E9318670}"/>
              </a:ext>
            </a:extLst>
          </p:cNvPr>
          <p:cNvSpPr>
            <a:spLocks noGrp="1"/>
          </p:cNvSpPr>
          <p:nvPr/>
        </p:nvSpPr>
        <p:spPr>
          <a:xfrm>
            <a:off x="781050" y="5715000"/>
            <a:ext cx="61912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Call sequence</a:t>
            </a:r>
          </a:p>
        </p:txBody>
      </p:sp>
      <p:sp>
        <p:nvSpPr>
          <p:cNvPr id="16" name="Evaluate arguments, create a frame,&#10;then execute the ca">
            <a:extLst>
              <a:ext uri="{FF2B5EF4-FFF2-40B4-BE49-F238E27FC236}">
                <a16:creationId xmlns:a16="http://schemas.microsoft.com/office/drawing/2014/main" id="{4BB3A023-E03E-44BE-9A09-45145F6B310C}"/>
              </a:ext>
            </a:extLst>
          </p:cNvPr>
          <p:cNvSpPr>
            <a:spLocks noGrp="1"/>
          </p:cNvSpPr>
          <p:nvPr/>
        </p:nvSpPr>
        <p:spPr>
          <a:xfrm>
            <a:off x="781050" y="6334125"/>
            <a:ext cx="61912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Evaluate arguments, create a frame,</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then execute the callee.</a:t>
            </a:r>
          </a:p>
        </p:txBody>
      </p:sp>
      <p:sp>
        <p:nvSpPr>
          <p:cNvPr id="17" name="Return sequence">
            <a:extLst>
              <a:ext uri="{FF2B5EF4-FFF2-40B4-BE49-F238E27FC236}">
                <a16:creationId xmlns:a16="http://schemas.microsoft.com/office/drawing/2014/main" id="{DA327C72-F9CB-430B-819E-8EB6DC095CE6}"/>
              </a:ext>
            </a:extLst>
          </p:cNvPr>
          <p:cNvSpPr>
            <a:spLocks noGrp="1"/>
          </p:cNvSpPr>
          <p:nvPr/>
        </p:nvSpPr>
        <p:spPr>
          <a:xfrm>
            <a:off x="8096250" y="5715000"/>
            <a:ext cx="61912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Return sequence</a:t>
            </a:r>
          </a:p>
        </p:txBody>
      </p:sp>
      <p:sp>
        <p:nvSpPr>
          <p:cNvPr id="18" name="Restore the caller and push&#10;the returned value onto its">
            <a:extLst>
              <a:ext uri="{FF2B5EF4-FFF2-40B4-BE49-F238E27FC236}">
                <a16:creationId xmlns:a16="http://schemas.microsoft.com/office/drawing/2014/main" id="{2EEC6A6D-2A2A-4BCC-96DD-2E8FDC1768AE}"/>
              </a:ext>
            </a:extLst>
          </p:cNvPr>
          <p:cNvSpPr>
            <a:spLocks noGrp="1"/>
          </p:cNvSpPr>
          <p:nvPr/>
        </p:nvSpPr>
        <p:spPr>
          <a:xfrm>
            <a:off x="8096250" y="6334125"/>
            <a:ext cx="61912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Restore the caller and push</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the returned value onto its stack.</a:t>
            </a:r>
          </a:p>
        </p:txBody>
      </p:sp>
      <p:sp>
        <p:nvSpPr>
          <p:cNvPr id="19" name="Default VM limits: 1,000,000 steps, recursion 64, 64 Ki">
            <a:extLst>
              <a:ext uri="{FF2B5EF4-FFF2-40B4-BE49-F238E27FC236}">
                <a16:creationId xmlns:a16="http://schemas.microsoft.com/office/drawing/2014/main" id="{F457A247-B2C0-4024-8CE0-96D4130771D1}"/>
              </a:ext>
            </a:extLst>
          </p:cNvPr>
          <p:cNvSpPr>
            <a:spLocks noGrp="1"/>
          </p:cNvSpPr>
          <p:nvPr/>
        </p:nvSpPr>
        <p:spPr>
          <a:xfrm>
            <a:off x="781050" y="7620000"/>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Default VM limits: 1,000,000 steps, recursion 64, 64 KiB output and 5 seconds.</a:t>
            </a:r>
          </a:p>
        </p:txBody>
      </p:sp>
    </p:spTree>
    <p:extLst>
      <p:ext uri="{BB962C8B-B14F-4D97-AF65-F5344CB8AC3E}">
        <p14:creationId xmlns:p14="http://schemas.microsoft.com/office/powerpoint/2010/main" val="17079915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0" name="Arrays and iteration lowering">
            <a:extLst>
              <a:ext uri="{FF2B5EF4-FFF2-40B4-BE49-F238E27FC236}">
                <a16:creationId xmlns:a16="http://schemas.microsoft.com/office/drawing/2014/main" id="{D3F6E111-3F34-442D-B13E-FB3AF9C0C4B6}"/>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Arrays and iteration lowering</a:t>
            </a:r>
          </a:p>
        </p:txBody>
      </p:sp>
      <p:sp>
        <p:nvSpPr>
          <p:cNvPr id="2" name="A Java-style declaration can feed a Python-style loop">
            <a:extLst>
              <a:ext uri="{FF2B5EF4-FFF2-40B4-BE49-F238E27FC236}">
                <a16:creationId xmlns:a16="http://schemas.microsoft.com/office/drawing/2014/main" id="{B69416F0-FE20-4E64-B8AE-CC3F3E13254C}"/>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A Java-style declaration can feed a Python-style loop</a:t>
            </a:r>
          </a:p>
        </p:txBody>
      </p:sp>
      <p:sp>
        <p:nvSpPr>
          <p:cNvPr id="3" name="24">
            <a:extLst>
              <a:ext uri="{FF2B5EF4-FFF2-40B4-BE49-F238E27FC236}">
                <a16:creationId xmlns:a16="http://schemas.microsoft.com/office/drawing/2014/main" id="{47B22D16-D1A3-4EF9-8BAC-E537317836D1}"/>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24</a:t>
            </a:r>
          </a:p>
        </p:txBody>
      </p:sp>
      <p:sp>
        <p:nvSpPr>
          <p:cNvPr id="4" name="int[] arr = {1, 2, 3};&#10;&#10;for num in arr:&#10;    print(num)">
            <a:extLst>
              <a:ext uri="{FF2B5EF4-FFF2-40B4-BE49-F238E27FC236}">
                <a16:creationId xmlns:a16="http://schemas.microsoft.com/office/drawing/2014/main" id="{4CA99725-55BC-490D-9013-9E9C96520A4A}"/>
              </a:ext>
            </a:extLst>
          </p:cNvPr>
          <p:cNvSpPr>
            <a:spLocks noGrp="1"/>
          </p:cNvSpPr>
          <p:nvPr/>
        </p:nvSpPr>
        <p:spPr>
          <a:xfrm>
            <a:off x="781050" y="2762250"/>
            <a:ext cx="7715250" cy="2286000"/>
          </a:xfrm>
          <a:prstGeom prst="rect">
            <a:avLst/>
          </a:prstGeom>
          <a:noFill/>
          <a:ln w="0">
            <a:noFill/>
          </a:ln>
        </p:spPr>
        <p:txBody>
          <a:bodyPr wrap="square" lIns="0" tIns="0" rIns="0" bIns="0" anchor="t">
            <a:noAutofit/>
          </a:bodyPr>
          <a:lstStyle>
            <a:defPPr algn="l">
              <a:defRPr sz="2850" b="0">
                <a:solidFill>
                  <a:srgbClr val="162237"/>
                </a:solidFill>
                <a:latin typeface="Courier New"/>
                <a:ea typeface="Courier New"/>
                <a:cs typeface="Courier New"/>
              </a:defRPr>
            </a:defPPr>
            <a:lvl1pPr algn="l">
              <a:buNone/>
              <a:defRPr sz="2850" b="0">
                <a:solidFill>
                  <a:srgbClr val="162237"/>
                </a:solidFill>
                <a:latin typeface="Courier New"/>
                <a:ea typeface="Courier New"/>
                <a:cs typeface="Courier New"/>
              </a:defRPr>
            </a:lvl1pPr>
            <a:lvl2pPr algn="l">
              <a:buNone/>
              <a:defRPr sz="2850" b="0">
                <a:solidFill>
                  <a:srgbClr val="162237"/>
                </a:solidFill>
                <a:latin typeface="Courier New"/>
                <a:ea typeface="Courier New"/>
                <a:cs typeface="Courier New"/>
              </a:defRPr>
            </a:lvl2pPr>
            <a:lvl3pPr algn="l">
              <a:buNone/>
              <a:defRPr sz="2850" b="0">
                <a:solidFill>
                  <a:srgbClr val="162237"/>
                </a:solidFill>
                <a:latin typeface="Courier New"/>
                <a:ea typeface="Courier New"/>
                <a:cs typeface="Courier New"/>
              </a:defRPr>
            </a:lvl3pPr>
            <a:lvl4pPr algn="l">
              <a:buNone/>
              <a:defRPr sz="2850" b="0">
                <a:solidFill>
                  <a:srgbClr val="162237"/>
                </a:solidFill>
                <a:latin typeface="Courier New"/>
                <a:ea typeface="Courier New"/>
                <a:cs typeface="Courier New"/>
              </a:defRPr>
            </a:lvl4pPr>
            <a:lvl5pPr algn="l">
              <a:buNone/>
              <a:defRPr sz="2850" b="0">
                <a:solidFill>
                  <a:srgbClr val="162237"/>
                </a:solidFill>
                <a:latin typeface="Courier New"/>
                <a:ea typeface="Courier New"/>
                <a:cs typeface="Courier New"/>
              </a:defRPr>
            </a:lvl5pPr>
            <a:lvl6pPr algn="l">
              <a:buNone/>
              <a:defRPr sz="2850" b="0">
                <a:solidFill>
                  <a:srgbClr val="162237"/>
                </a:solidFill>
                <a:latin typeface="Courier New"/>
                <a:ea typeface="Courier New"/>
                <a:cs typeface="Courier New"/>
              </a:defRPr>
            </a:lvl6pPr>
            <a:lvl7pPr algn="l">
              <a:buNone/>
              <a:defRPr sz="2850" b="0">
                <a:solidFill>
                  <a:srgbClr val="162237"/>
                </a:solidFill>
                <a:latin typeface="Courier New"/>
                <a:ea typeface="Courier New"/>
                <a:cs typeface="Courier New"/>
              </a:defRPr>
            </a:lvl7pPr>
            <a:lvl8pPr algn="l">
              <a:buNone/>
              <a:defRPr sz="2850" b="0">
                <a:solidFill>
                  <a:srgbClr val="162237"/>
                </a:solidFill>
                <a:latin typeface="Courier New"/>
                <a:ea typeface="Courier New"/>
                <a:cs typeface="Courier New"/>
              </a:defRPr>
            </a:lvl8pPr>
            <a:lvl9pPr algn="l">
              <a:buNone/>
              <a:defRPr sz="2850" b="0">
                <a:solidFill>
                  <a:srgbClr val="162237"/>
                </a:solidFill>
                <a:latin typeface="Courier New"/>
                <a:ea typeface="Courier New"/>
                <a:cs typeface="Courier New"/>
              </a:defRPr>
            </a:lvl9pPr>
          </a:lstStyle>
          <a:p>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int[] arr = {1, 2, 3};</a:t>
            </a:r>
          </a:p>
          <a:p>
            <a:endParaRPr sz="2850" b="0">
              <a:solidFill>
                <a:srgbClr val="162237"/>
              </a:solidFill>
              <a:latin typeface="Courier New"/>
              <a:ea typeface="Courier New"/>
              <a:cs typeface="Courier New"/>
            </a:endParaRPr>
          </a:p>
          <a:p>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for num in arr:</a:t>
            </a:r>
          </a:p>
          <a:p>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    print(num)</a:t>
            </a:r>
          </a:p>
        </p:txBody>
      </p:sp>
      <p:sp>
        <p:nvSpPr>
          <p:cNvPr id="5" name="Shared representation">
            <a:extLst>
              <a:ext uri="{FF2B5EF4-FFF2-40B4-BE49-F238E27FC236}">
                <a16:creationId xmlns:a16="http://schemas.microsoft.com/office/drawing/2014/main" id="{C436DE0F-805A-4820-AC59-B42B78A95114}"/>
              </a:ext>
            </a:extLst>
          </p:cNvPr>
          <p:cNvSpPr>
            <a:spLocks noGrp="1"/>
          </p:cNvSpPr>
          <p:nvPr/>
        </p:nvSpPr>
        <p:spPr>
          <a:xfrm>
            <a:off x="9334500" y="2667000"/>
            <a:ext cx="50482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Shared representation</a:t>
            </a:r>
          </a:p>
        </p:txBody>
      </p:sp>
      <p:sp>
        <p:nvSpPr>
          <p:cNvPr id="6" name="int[] has one fixed element type.&#10;Array references cros">
            <a:extLst>
              <a:ext uri="{FF2B5EF4-FFF2-40B4-BE49-F238E27FC236}">
                <a16:creationId xmlns:a16="http://schemas.microsoft.com/office/drawing/2014/main" id="{F3FA698A-BEC1-4427-A7A9-E3DB186D4562}"/>
              </a:ext>
            </a:extLst>
          </p:cNvPr>
          <p:cNvSpPr>
            <a:spLocks noGrp="1"/>
          </p:cNvSpPr>
          <p:nvPr/>
        </p:nvSpPr>
        <p:spPr>
          <a:xfrm>
            <a:off x="9334500" y="3286125"/>
            <a:ext cx="50482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int[] has one fixed element type.</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Array references cross function calls.</a:t>
            </a:r>
          </a:p>
        </p:txBody>
      </p:sp>
      <p:sp>
        <p:nvSpPr>
          <p:cNvPr id="7" name="Loop lowering">
            <a:extLst>
              <a:ext uri="{FF2B5EF4-FFF2-40B4-BE49-F238E27FC236}">
                <a16:creationId xmlns:a16="http://schemas.microsoft.com/office/drawing/2014/main" id="{7476F8C4-9E10-42C4-B675-F43DE562F5F3}"/>
              </a:ext>
            </a:extLst>
          </p:cNvPr>
          <p:cNvSpPr>
            <a:spLocks noGrp="1"/>
          </p:cNvSpPr>
          <p:nvPr/>
        </p:nvSpPr>
        <p:spPr>
          <a:xfrm>
            <a:off x="9334500" y="5095875"/>
            <a:ext cx="5048250" cy="495300"/>
          </a:xfrm>
          <a:prstGeom prst="rect">
            <a:avLst/>
          </a:prstGeom>
          <a:noFill/>
          <a:ln w="0">
            <a:noFill/>
          </a:ln>
        </p:spPr>
        <p:txBody>
          <a:bodyPr wrap="square" lIns="0" tIns="0" rIns="0" bIns="0" anchor="t">
            <a:noAutofit/>
          </a:bodyPr>
          <a:lstStyle>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a:pPr algn="l">
              <a:buNone/>
              <a:defRPr sz="2700" b="1">
                <a:solidFill>
                  <a:srgbClr val="2956D7"/>
                </a:solidFill>
                <a:latin typeface="Arial"/>
                <a:ea typeface="Arial"/>
                <a:cs typeface="Arial"/>
              </a:defRPr>
            </a:pPr>
            <a:r>
              <a:rPr sz="2700" b="1">
                <a:solidFill>
                  <a:srgbClr val="2956D7"/>
                </a:solidFill>
                <a:latin typeface="Arial"/>
                <a:ea typeface="Arial"/>
                <a:cs typeface="Arial"/>
              </a:rPr>
              <a:t>Loop lowering</a:t>
            </a:r>
          </a:p>
        </p:txBody>
      </p:sp>
      <p:sp>
        <p:nvSpPr>
          <p:cNvPr id="8" name="Capture the array once, compute length,&#10;and iterate usi">
            <a:extLst>
              <a:ext uri="{FF2B5EF4-FFF2-40B4-BE49-F238E27FC236}">
                <a16:creationId xmlns:a16="http://schemas.microsoft.com/office/drawing/2014/main" id="{C4D297D5-7A2E-4160-A9A9-2CB3C4158495}"/>
              </a:ext>
            </a:extLst>
          </p:cNvPr>
          <p:cNvSpPr>
            <a:spLocks noGrp="1"/>
          </p:cNvSpPr>
          <p:nvPr/>
        </p:nvSpPr>
        <p:spPr>
          <a:xfrm>
            <a:off x="9334500" y="5715000"/>
            <a:ext cx="5048250" cy="1285875"/>
          </a:xfrm>
          <a:prstGeom prst="rect">
            <a:avLst/>
          </a:prstGeom>
          <a:noFill/>
          <a:ln w="0">
            <a:noFill/>
          </a:ln>
        </p:spPr>
        <p:txBody>
          <a:bodyPr wrap="square" lIns="0" tIns="0" rIns="0" bIns="0" anchor="t">
            <a:noAutofit/>
          </a:bodyPr>
          <a:lstStyle>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a:pPr algn="l">
              <a:buNone/>
              <a:defRPr sz="2400" b="0">
                <a:solidFill>
                  <a:srgbClr val="17273C"/>
                </a:solidFill>
                <a:latin typeface="Arial"/>
                <a:ea typeface="Arial"/>
                <a:cs typeface="Arial"/>
              </a:defRPr>
            </a:pPr>
            <a:r>
              <a:rPr sz="2400" b="0">
                <a:solidFill>
                  <a:srgbClr val="17273C"/>
                </a:solidFill>
                <a:latin typeface="Arial"/>
                <a:ea typeface="Arial"/>
                <a:cs typeface="Arial"/>
              </a:rPr>
              <a:t>Capture the array once, compute length,</a:t>
            </a:r>
          </a:p>
          <a:p>
            <a:pPr algn="l">
              <a:buNone/>
              <a:defRPr sz="2400" b="0">
                <a:solidFill>
                  <a:srgbClr val="17273C"/>
                </a:solidFill>
                <a:latin typeface="Arial"/>
                <a:ea typeface="Arial"/>
                <a:cs typeface="Arial"/>
              </a:defRPr>
            </a:pPr>
            <a:r>
              <a:rPr sz="2400" b="0">
                <a:solidFill>
                  <a:srgbClr val="17273C"/>
                </a:solidFill>
                <a:latin typeface="Arial"/>
                <a:ea typeface="Arial"/>
                <a:cs typeface="Arial"/>
              </a:rPr>
              <a:t>and iterate using an internal index.</a:t>
            </a:r>
          </a:p>
        </p:txBody>
      </p:sp>
      <p:sp>
        <p:nvSpPr>
          <p:cNvPr id="9" name="ARRAY_GET and ARRAY_SET enforce index types, bounds and">
            <a:extLst>
              <a:ext uri="{FF2B5EF4-FFF2-40B4-BE49-F238E27FC236}">
                <a16:creationId xmlns:a16="http://schemas.microsoft.com/office/drawing/2014/main" id="{802871F9-BFDF-40F4-8556-4393EB2A177A}"/>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ARRAY_GET and ARRAY_SET enforce index types, bounds and element types at runtime.</a:t>
            </a:r>
          </a:p>
        </p:txBody>
      </p:sp>
    </p:spTree>
    <p:extLst>
      <p:ext uri="{BB962C8B-B14F-4D97-AF65-F5344CB8AC3E}">
        <p14:creationId xmlns:p14="http://schemas.microsoft.com/office/powerpoint/2010/main" val="12096775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5" name="The working compiler workspace">
            <a:extLst>
              <a:ext uri="{FF2B5EF4-FFF2-40B4-BE49-F238E27FC236}">
                <a16:creationId xmlns:a16="http://schemas.microsoft.com/office/drawing/2014/main" id="{1E4DE019-3FFD-4350-BE4F-447AD134E764}"/>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The working compiler workspace</a:t>
            </a:r>
          </a:p>
        </p:txBody>
      </p:sp>
      <p:sp>
        <p:nvSpPr>
          <p:cNvPr id="2" name="25">
            <a:extLst>
              <a:ext uri="{FF2B5EF4-FFF2-40B4-BE49-F238E27FC236}">
                <a16:creationId xmlns:a16="http://schemas.microsoft.com/office/drawing/2014/main" id="{870F5F2B-4B4F-4113-8B39-6CC5384ACAB5}"/>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25</a:t>
            </a:r>
          </a:p>
        </p:txBody>
      </p:sp>
      <p:pic>
        <p:nvPicPr>
          <p:cNvPr id="3" name="Picture 2">
            <a:extLst>
              <a:ext uri="{FF2B5EF4-FFF2-40B4-BE49-F238E27FC236}">
                <a16:creationId xmlns:a16="http://schemas.microsoft.com/office/drawing/2014/main" id="{F80E275F-CB22-46C9-A8A3-1C6C30596BDF}"/>
              </a:ext>
            </a:extLst>
          </p:cNvPr>
          <p:cNvPicPr>
            <a:picLocks noChangeAspect="1"/>
          </p:cNvPicPr>
          <p:nvPr/>
        </p:nvPicPr>
        <p:blipFill>
          <a:blip r:embed="rId3"/>
          <a:stretch/>
        </p:blipFill>
        <p:spPr>
          <a:xfrm>
            <a:off x="2512817" y="1685925"/>
            <a:ext cx="10214365" cy="5743575"/>
          </a:xfrm>
          <a:prstGeom prst="rect">
            <a:avLst/>
          </a:prstGeom>
        </p:spPr>
      </p:pic>
      <p:sp>
        <p:nvSpPr>
          <p:cNvPr id="4" name="Actual stage representations, mixed source and program ">
            <a:extLst>
              <a:ext uri="{FF2B5EF4-FFF2-40B4-BE49-F238E27FC236}">
                <a16:creationId xmlns:a16="http://schemas.microsoft.com/office/drawing/2014/main" id="{45C27230-B8BE-4500-AC33-4FEEB82E7111}"/>
              </a:ext>
            </a:extLst>
          </p:cNvPr>
          <p:cNvSpPr>
            <a:spLocks noGrp="1"/>
          </p:cNvSpPr>
          <p:nvPr/>
        </p:nvSpPr>
        <p:spPr>
          <a:xfrm>
            <a:off x="781050" y="75723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Actual stage representations, mixed source and program output in one workspace.</a:t>
            </a:r>
          </a:p>
        </p:txBody>
      </p:sp>
    </p:spTree>
    <p:extLst>
      <p:ext uri="{BB962C8B-B14F-4D97-AF65-F5344CB8AC3E}">
        <p14:creationId xmlns:p14="http://schemas.microsoft.com/office/powerpoint/2010/main" val="3313803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6" name="The AST inspector shows semantic structure">
            <a:extLst>
              <a:ext uri="{FF2B5EF4-FFF2-40B4-BE49-F238E27FC236}">
                <a16:creationId xmlns:a16="http://schemas.microsoft.com/office/drawing/2014/main" id="{B9625FC7-9BD1-49D4-B82D-68933245AA14}"/>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The AST inspector shows semantic structure</a:t>
            </a:r>
          </a:p>
        </p:txBody>
      </p:sp>
      <p:sp>
        <p:nvSpPr>
          <p:cNvPr id="2" name="print((2 + 3) * 4)">
            <a:extLst>
              <a:ext uri="{FF2B5EF4-FFF2-40B4-BE49-F238E27FC236}">
                <a16:creationId xmlns:a16="http://schemas.microsoft.com/office/drawing/2014/main" id="{2D3751F7-E596-471A-955C-07979E0F7636}"/>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print((2 + 3) * 4)</a:t>
            </a:r>
          </a:p>
        </p:txBody>
      </p:sp>
      <p:sp>
        <p:nvSpPr>
          <p:cNvPr id="3" name="26">
            <a:extLst>
              <a:ext uri="{FF2B5EF4-FFF2-40B4-BE49-F238E27FC236}">
                <a16:creationId xmlns:a16="http://schemas.microsoft.com/office/drawing/2014/main" id="{63142AAF-21C6-49B0-BE3E-D519A645248D}"/>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26</a:t>
            </a:r>
          </a:p>
        </p:txBody>
      </p:sp>
      <p:pic>
        <p:nvPicPr>
          <p:cNvPr id="4" name="Picture 3">
            <a:extLst>
              <a:ext uri="{FF2B5EF4-FFF2-40B4-BE49-F238E27FC236}">
                <a16:creationId xmlns:a16="http://schemas.microsoft.com/office/drawing/2014/main" id="{920A47E6-494D-44B0-A254-6B0B9594D071}"/>
              </a:ext>
            </a:extLst>
          </p:cNvPr>
          <p:cNvPicPr>
            <a:picLocks noChangeAspect="1"/>
          </p:cNvPicPr>
          <p:nvPr/>
        </p:nvPicPr>
        <p:blipFill>
          <a:blip r:embed="rId3"/>
          <a:stretch/>
        </p:blipFill>
        <p:spPr>
          <a:xfrm>
            <a:off x="762000" y="2675697"/>
            <a:ext cx="13716000" cy="3697357"/>
          </a:xfrm>
          <a:prstGeom prst="rect">
            <a:avLst/>
          </a:prstGeom>
        </p:spPr>
      </p:pic>
      <p:sp>
        <p:nvSpPr>
          <p:cNvPr id="5" name="Parent-child edges follow the compiler AST. Checked typ">
            <a:extLst>
              <a:ext uri="{FF2B5EF4-FFF2-40B4-BE49-F238E27FC236}">
                <a16:creationId xmlns:a16="http://schemas.microsoft.com/office/drawing/2014/main" id="{CE027E8D-FF4D-4232-86F2-2F1B94E5BFEE}"/>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Parent-child edges follow the compiler AST. Checked types and source links stay attached.</a:t>
            </a:r>
          </a:p>
        </p:txBody>
      </p:sp>
    </p:spTree>
    <p:extLst>
      <p:ext uri="{BB962C8B-B14F-4D97-AF65-F5344CB8AC3E}">
        <p14:creationId xmlns:p14="http://schemas.microsoft.com/office/powerpoint/2010/main" val="13791291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8" name="Diagnostics in the IDE">
            <a:extLst>
              <a:ext uri="{FF2B5EF4-FFF2-40B4-BE49-F238E27FC236}">
                <a16:creationId xmlns:a16="http://schemas.microsoft.com/office/drawing/2014/main" id="{70D8BAB3-EA42-4939-898B-891A56921CED}"/>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Diagnostics in the IDE</a:t>
            </a:r>
          </a:p>
        </p:txBody>
      </p:sp>
      <p:sp>
        <p:nvSpPr>
          <p:cNvPr id="2" name="27">
            <a:extLst>
              <a:ext uri="{FF2B5EF4-FFF2-40B4-BE49-F238E27FC236}">
                <a16:creationId xmlns:a16="http://schemas.microsoft.com/office/drawing/2014/main" id="{95720B07-F85C-4536-9C7A-76488C086389}"/>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27</a:t>
            </a:r>
          </a:p>
        </p:txBody>
      </p:sp>
      <p:pic>
        <p:nvPicPr>
          <p:cNvPr id="3" name="Picture 2">
            <a:extLst>
              <a:ext uri="{FF2B5EF4-FFF2-40B4-BE49-F238E27FC236}">
                <a16:creationId xmlns:a16="http://schemas.microsoft.com/office/drawing/2014/main" id="{17E7D346-0BDE-4F07-A03A-50227DBAEB22}"/>
              </a:ext>
            </a:extLst>
          </p:cNvPr>
          <p:cNvPicPr>
            <a:picLocks noChangeAspect="1"/>
          </p:cNvPicPr>
          <p:nvPr/>
        </p:nvPicPr>
        <p:blipFill>
          <a:blip r:embed="rId3"/>
          <a:stretch/>
        </p:blipFill>
        <p:spPr>
          <a:xfrm>
            <a:off x="762000" y="2438569"/>
            <a:ext cx="13716000" cy="647363"/>
          </a:xfrm>
          <a:prstGeom prst="rect">
            <a:avLst/>
          </a:prstGeom>
        </p:spPr>
      </p:pic>
      <p:sp>
        <p:nvSpPr>
          <p:cNvPr id="4" name="count = 3&#10;count = &quot;three&quot;">
            <a:extLst>
              <a:ext uri="{FF2B5EF4-FFF2-40B4-BE49-F238E27FC236}">
                <a16:creationId xmlns:a16="http://schemas.microsoft.com/office/drawing/2014/main" id="{F99475AF-3DCF-4399-962F-AE9E5E520521}"/>
              </a:ext>
            </a:extLst>
          </p:cNvPr>
          <p:cNvSpPr>
            <a:spLocks noGrp="1"/>
          </p:cNvSpPr>
          <p:nvPr/>
        </p:nvSpPr>
        <p:spPr>
          <a:xfrm>
            <a:off x="781050" y="3905250"/>
            <a:ext cx="6667500" cy="1238250"/>
          </a:xfrm>
          <a:prstGeom prst="rect">
            <a:avLst/>
          </a:prstGeom>
          <a:noFill/>
          <a:ln w="0">
            <a:noFill/>
          </a:ln>
        </p:spPr>
        <p:txBody>
          <a:bodyPr wrap="square" lIns="0" tIns="0" rIns="0" bIns="0" anchor="t">
            <a:noAutofit/>
          </a:bodyPr>
          <a:lstStyle>
            <a:defPPr algn="l">
              <a:defRPr sz="3225" b="0">
                <a:solidFill>
                  <a:srgbClr val="162237"/>
                </a:solidFill>
                <a:latin typeface="Courier New"/>
                <a:ea typeface="Courier New"/>
                <a:cs typeface="Courier New"/>
              </a:defRPr>
            </a:defPPr>
            <a:lvl1pPr algn="l">
              <a:buNone/>
              <a:defRPr sz="3225" b="0">
                <a:solidFill>
                  <a:srgbClr val="162237"/>
                </a:solidFill>
                <a:latin typeface="Courier New"/>
                <a:ea typeface="Courier New"/>
                <a:cs typeface="Courier New"/>
              </a:defRPr>
            </a:lvl1pPr>
            <a:lvl2pPr algn="l">
              <a:buNone/>
              <a:defRPr sz="3225" b="0">
                <a:solidFill>
                  <a:srgbClr val="162237"/>
                </a:solidFill>
                <a:latin typeface="Courier New"/>
                <a:ea typeface="Courier New"/>
                <a:cs typeface="Courier New"/>
              </a:defRPr>
            </a:lvl2pPr>
            <a:lvl3pPr algn="l">
              <a:buNone/>
              <a:defRPr sz="3225" b="0">
                <a:solidFill>
                  <a:srgbClr val="162237"/>
                </a:solidFill>
                <a:latin typeface="Courier New"/>
                <a:ea typeface="Courier New"/>
                <a:cs typeface="Courier New"/>
              </a:defRPr>
            </a:lvl3pPr>
            <a:lvl4pPr algn="l">
              <a:buNone/>
              <a:defRPr sz="3225" b="0">
                <a:solidFill>
                  <a:srgbClr val="162237"/>
                </a:solidFill>
                <a:latin typeface="Courier New"/>
                <a:ea typeface="Courier New"/>
                <a:cs typeface="Courier New"/>
              </a:defRPr>
            </a:lvl4pPr>
            <a:lvl5pPr algn="l">
              <a:buNone/>
              <a:defRPr sz="3225" b="0">
                <a:solidFill>
                  <a:srgbClr val="162237"/>
                </a:solidFill>
                <a:latin typeface="Courier New"/>
                <a:ea typeface="Courier New"/>
                <a:cs typeface="Courier New"/>
              </a:defRPr>
            </a:lvl5pPr>
            <a:lvl6pPr algn="l">
              <a:buNone/>
              <a:defRPr sz="3225" b="0">
                <a:solidFill>
                  <a:srgbClr val="162237"/>
                </a:solidFill>
                <a:latin typeface="Courier New"/>
                <a:ea typeface="Courier New"/>
                <a:cs typeface="Courier New"/>
              </a:defRPr>
            </a:lvl6pPr>
            <a:lvl7pPr algn="l">
              <a:buNone/>
              <a:defRPr sz="3225" b="0">
                <a:solidFill>
                  <a:srgbClr val="162237"/>
                </a:solidFill>
                <a:latin typeface="Courier New"/>
                <a:ea typeface="Courier New"/>
                <a:cs typeface="Courier New"/>
              </a:defRPr>
            </a:lvl7pPr>
            <a:lvl8pPr algn="l">
              <a:buNone/>
              <a:defRPr sz="3225" b="0">
                <a:solidFill>
                  <a:srgbClr val="162237"/>
                </a:solidFill>
                <a:latin typeface="Courier New"/>
                <a:ea typeface="Courier New"/>
                <a:cs typeface="Courier New"/>
              </a:defRPr>
            </a:lvl8pPr>
            <a:lvl9pPr algn="l">
              <a:buNone/>
              <a:defRPr sz="3225" b="0">
                <a:solidFill>
                  <a:srgbClr val="162237"/>
                </a:solidFill>
                <a:latin typeface="Courier New"/>
                <a:ea typeface="Courier New"/>
                <a:cs typeface="Courier New"/>
              </a:defRPr>
            </a:lvl9pPr>
          </a:lstStyle>
          <a:p>
            <a:pPr algn="l">
              <a:buNone/>
              <a:defRPr sz="3225" b="0">
                <a:solidFill>
                  <a:srgbClr val="162237"/>
                </a:solidFill>
                <a:latin typeface="Courier New"/>
                <a:ea typeface="Courier New"/>
                <a:cs typeface="Courier New"/>
              </a:defRPr>
            </a:pPr>
            <a:r>
              <a:rPr sz="3225" b="0">
                <a:solidFill>
                  <a:srgbClr val="162237"/>
                </a:solidFill>
                <a:latin typeface="Courier New"/>
                <a:ea typeface="Courier New"/>
                <a:cs typeface="Courier New"/>
              </a:rPr>
              <a:t>count = 3</a:t>
            </a:r>
          </a:p>
          <a:p>
            <a:pPr algn="l">
              <a:buNone/>
              <a:defRPr sz="3225" b="0">
                <a:solidFill>
                  <a:srgbClr val="162237"/>
                </a:solidFill>
                <a:latin typeface="Courier New"/>
                <a:ea typeface="Courier New"/>
                <a:cs typeface="Courier New"/>
              </a:defRPr>
            </a:pPr>
            <a:r>
              <a:rPr sz="3225" b="0">
                <a:solidFill>
                  <a:srgbClr val="162237"/>
                </a:solidFill>
                <a:latin typeface="Courier New"/>
                <a:ea typeface="Courier New"/>
                <a:cs typeface="Courier New"/>
              </a:rPr>
              <a:t>count = "three"</a:t>
            </a:r>
          </a:p>
        </p:txBody>
      </p:sp>
      <p:sp>
        <p:nvSpPr>
          <p:cNvPr id="5" name="Tokens and AST available&#10;Semantic analysis stopped&#10;IR, ">
            <a:extLst>
              <a:ext uri="{FF2B5EF4-FFF2-40B4-BE49-F238E27FC236}">
                <a16:creationId xmlns:a16="http://schemas.microsoft.com/office/drawing/2014/main" id="{E84508AD-5F89-4076-A75F-A9A2DBB0ECBC}"/>
              </a:ext>
            </a:extLst>
          </p:cNvPr>
          <p:cNvSpPr>
            <a:spLocks noGrp="1"/>
          </p:cNvSpPr>
          <p:nvPr/>
        </p:nvSpPr>
        <p:spPr>
          <a:xfrm>
            <a:off x="8858250" y="3829050"/>
            <a:ext cx="5619750" cy="1381125"/>
          </a:xfrm>
          <a:prstGeom prst="rect">
            <a:avLst/>
          </a:prstGeom>
          <a:noFill/>
          <a:ln w="0">
            <a:noFill/>
          </a:ln>
        </p:spPr>
        <p:txBody>
          <a:bodyPr wrap="square" lIns="0" tIns="0" rIns="0" bIns="0" anchor="t">
            <a:noAutofit/>
          </a:bodyPr>
          <a:lstStyle>
            <a:defPPr algn="l">
              <a:defRPr sz="2400" b="0">
                <a:solidFill>
                  <a:srgbClr val="596577"/>
                </a:solidFill>
                <a:latin typeface="Arial"/>
                <a:ea typeface="Arial"/>
                <a:cs typeface="Arial"/>
              </a:defRPr>
            </a:defPPr>
            <a:lvl1pPr algn="l">
              <a:buNone/>
              <a:defRPr sz="2400" b="0">
                <a:solidFill>
                  <a:srgbClr val="596577"/>
                </a:solidFill>
                <a:latin typeface="Arial"/>
                <a:ea typeface="Arial"/>
                <a:cs typeface="Arial"/>
              </a:defRPr>
            </a:lvl1pPr>
            <a:lvl2pPr algn="l">
              <a:buNone/>
              <a:defRPr sz="2400" b="0">
                <a:solidFill>
                  <a:srgbClr val="596577"/>
                </a:solidFill>
                <a:latin typeface="Arial"/>
                <a:ea typeface="Arial"/>
                <a:cs typeface="Arial"/>
              </a:defRPr>
            </a:lvl2pPr>
            <a:lvl3pPr algn="l">
              <a:buNone/>
              <a:defRPr sz="2400" b="0">
                <a:solidFill>
                  <a:srgbClr val="596577"/>
                </a:solidFill>
                <a:latin typeface="Arial"/>
                <a:ea typeface="Arial"/>
                <a:cs typeface="Arial"/>
              </a:defRPr>
            </a:lvl3pPr>
            <a:lvl4pPr algn="l">
              <a:buNone/>
              <a:defRPr sz="2400" b="0">
                <a:solidFill>
                  <a:srgbClr val="596577"/>
                </a:solidFill>
                <a:latin typeface="Arial"/>
                <a:ea typeface="Arial"/>
                <a:cs typeface="Arial"/>
              </a:defRPr>
            </a:lvl4pPr>
            <a:lvl5pPr algn="l">
              <a:buNone/>
              <a:defRPr sz="2400" b="0">
                <a:solidFill>
                  <a:srgbClr val="596577"/>
                </a:solidFill>
                <a:latin typeface="Arial"/>
                <a:ea typeface="Arial"/>
                <a:cs typeface="Arial"/>
              </a:defRPr>
            </a:lvl5pPr>
            <a:lvl6pPr algn="l">
              <a:buNone/>
              <a:defRPr sz="2400" b="0">
                <a:solidFill>
                  <a:srgbClr val="596577"/>
                </a:solidFill>
                <a:latin typeface="Arial"/>
                <a:ea typeface="Arial"/>
                <a:cs typeface="Arial"/>
              </a:defRPr>
            </a:lvl6pPr>
            <a:lvl7pPr algn="l">
              <a:buNone/>
              <a:defRPr sz="2400" b="0">
                <a:solidFill>
                  <a:srgbClr val="596577"/>
                </a:solidFill>
                <a:latin typeface="Arial"/>
                <a:ea typeface="Arial"/>
                <a:cs typeface="Arial"/>
              </a:defRPr>
            </a:lvl7pPr>
            <a:lvl8pPr algn="l">
              <a:buNone/>
              <a:defRPr sz="2400" b="0">
                <a:solidFill>
                  <a:srgbClr val="596577"/>
                </a:solidFill>
                <a:latin typeface="Arial"/>
                <a:ea typeface="Arial"/>
                <a:cs typeface="Arial"/>
              </a:defRPr>
            </a:lvl8pPr>
            <a:lvl9pPr algn="l">
              <a:buNone/>
              <a:defRPr sz="2400" b="0">
                <a:solidFill>
                  <a:srgbClr val="596577"/>
                </a:solidFill>
                <a:latin typeface="Arial"/>
                <a:ea typeface="Arial"/>
                <a:cs typeface="Arial"/>
              </a:defRPr>
            </a:lvl9pPr>
          </a:lstStyle>
          <a:p>
            <a:pPr algn="l">
              <a:buNone/>
              <a:defRPr sz="2400" b="0">
                <a:solidFill>
                  <a:srgbClr val="596577"/>
                </a:solidFill>
                <a:latin typeface="Arial"/>
                <a:ea typeface="Arial"/>
                <a:cs typeface="Arial"/>
              </a:defRPr>
            </a:pPr>
            <a:r>
              <a:rPr sz="2400" b="0">
                <a:solidFill>
                  <a:srgbClr val="596577"/>
                </a:solidFill>
                <a:latin typeface="Arial"/>
                <a:ea typeface="Arial"/>
                <a:cs typeface="Arial"/>
              </a:rPr>
              <a:t>Tokens and AST available</a:t>
            </a:r>
          </a:p>
          <a:p>
            <a:pPr algn="l">
              <a:buNone/>
              <a:defRPr sz="2400" b="0">
                <a:solidFill>
                  <a:srgbClr val="596577"/>
                </a:solidFill>
                <a:latin typeface="Arial"/>
                <a:ea typeface="Arial"/>
                <a:cs typeface="Arial"/>
              </a:defRPr>
            </a:pPr>
            <a:r>
              <a:rPr sz="2400" b="0">
                <a:solidFill>
                  <a:srgbClr val="596577"/>
                </a:solidFill>
                <a:latin typeface="Arial"/>
                <a:ea typeface="Arial"/>
                <a:cs typeface="Arial"/>
              </a:rPr>
              <a:t>Semantic analysis stopped</a:t>
            </a:r>
          </a:p>
          <a:p>
            <a:pPr algn="l">
              <a:buNone/>
              <a:defRPr sz="2400" b="0">
                <a:solidFill>
                  <a:srgbClr val="596577"/>
                </a:solidFill>
                <a:latin typeface="Arial"/>
                <a:ea typeface="Arial"/>
                <a:cs typeface="Arial"/>
              </a:defRPr>
            </a:pPr>
            <a:r>
              <a:rPr sz="2400" b="0">
                <a:solidFill>
                  <a:srgbClr val="596577"/>
                </a:solidFill>
                <a:latin typeface="Arial"/>
                <a:ea typeface="Arial"/>
                <a:cs typeface="Arial"/>
              </a:rPr>
              <a:t>IR, bytecode and VM blocked</a:t>
            </a:r>
          </a:p>
        </p:txBody>
      </p:sp>
      <p:pic>
        <p:nvPicPr>
          <p:cNvPr id="6" name="Picture 5">
            <a:extLst>
              <a:ext uri="{FF2B5EF4-FFF2-40B4-BE49-F238E27FC236}">
                <a16:creationId xmlns:a16="http://schemas.microsoft.com/office/drawing/2014/main" id="{548B081A-0F01-48E7-9A52-412247842D35}"/>
              </a:ext>
            </a:extLst>
          </p:cNvPr>
          <p:cNvPicPr>
            <a:picLocks noChangeAspect="1"/>
          </p:cNvPicPr>
          <p:nvPr/>
        </p:nvPicPr>
        <p:blipFill>
          <a:blip r:embed="rId4"/>
          <a:stretch/>
        </p:blipFill>
        <p:spPr>
          <a:xfrm>
            <a:off x="1431823" y="5524500"/>
            <a:ext cx="12376355" cy="1809750"/>
          </a:xfrm>
          <a:prstGeom prst="rect">
            <a:avLst/>
          </a:prstGeom>
        </p:spPr>
      </p:pic>
      <p:sp>
        <p:nvSpPr>
          <p:cNvPr id="7" name="S004 at line 2: Cannot use string where int is required">
            <a:extLst>
              <a:ext uri="{FF2B5EF4-FFF2-40B4-BE49-F238E27FC236}">
                <a16:creationId xmlns:a16="http://schemas.microsoft.com/office/drawing/2014/main" id="{06243238-67EC-4A6C-B658-C828151EFC4B}"/>
              </a:ext>
            </a:extLst>
          </p:cNvPr>
          <p:cNvSpPr>
            <a:spLocks noGrp="1"/>
          </p:cNvSpPr>
          <p:nvPr/>
        </p:nvSpPr>
        <p:spPr>
          <a:xfrm>
            <a:off x="781050" y="7581900"/>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S004 at line 2: Cannot use string where int is required.</a:t>
            </a:r>
          </a:p>
        </p:txBody>
      </p:sp>
    </p:spTree>
    <p:extLst>
      <p:ext uri="{BB962C8B-B14F-4D97-AF65-F5344CB8AC3E}">
        <p14:creationId xmlns:p14="http://schemas.microsoft.com/office/powerpoint/2010/main" val="8735677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6B0A1D84-42FA-4E49-8BEE-2DF013333848}"/>
              </a:ext>
            </a:extLst>
          </p:cNvPr>
          <p:cNvCxnSpPr>
            <a:stCxn id="13" idx="2"/>
            <a:endCxn id="16" idx="0"/>
          </p:cNvCxnSpPr>
          <p:nvPr/>
        </p:nvCxnSpPr>
        <p:spPr>
          <a:xfrm>
            <a:off x="11049000" y="4857750"/>
            <a:ext cx="261938" cy="857250"/>
          </a:xfrm>
          <a:prstGeom prst="straightConnector1">
            <a:avLst/>
          </a:prstGeom>
          <a:ln w="22860">
            <a:solidFill>
              <a:srgbClr val="2956D7"/>
            </a:solidFill>
            <a:prstDash val="solid"/>
            <a:tailEnd type="triangle" w="sm" len="sm"/>
          </a:ln>
        </p:spPr>
      </p:cxnSp>
      <p:cxnSp>
        <p:nvCxnSpPr>
          <p:cNvPr id="11" name="Straight Arrow Connector 10">
            <a:extLst>
              <a:ext uri="{FF2B5EF4-FFF2-40B4-BE49-F238E27FC236}">
                <a16:creationId xmlns:a16="http://schemas.microsoft.com/office/drawing/2014/main" id="{9FE82FE2-AF65-4EC9-BC3A-F14D3B16C27A}"/>
              </a:ext>
            </a:extLst>
          </p:cNvPr>
          <p:cNvCxnSpPr>
            <a:stCxn id="5" idx="2"/>
            <a:endCxn id="8" idx="0"/>
          </p:cNvCxnSpPr>
          <p:nvPr/>
        </p:nvCxnSpPr>
        <p:spPr>
          <a:xfrm>
            <a:off x="2781300" y="4857750"/>
            <a:ext cx="952500" cy="857250"/>
          </a:xfrm>
          <a:prstGeom prst="straightConnector1">
            <a:avLst/>
          </a:prstGeom>
          <a:ln w="22860">
            <a:solidFill>
              <a:srgbClr val="2956D7"/>
            </a:solidFill>
            <a:prstDash val="solid"/>
            <a:tailEnd type="triangle" w="sm" len="sm"/>
          </a:ln>
        </p:spPr>
      </p:cxnSp>
      <p:sp>
        <p:nvSpPr>
          <p:cNvPr id="21" name="Technology stack and execution modes">
            <a:extLst>
              <a:ext uri="{FF2B5EF4-FFF2-40B4-BE49-F238E27FC236}">
                <a16:creationId xmlns:a16="http://schemas.microsoft.com/office/drawing/2014/main" id="{AB3C5101-6244-4408-A25A-E3C7F822C0F0}"/>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a:pPr algn="l">
              <a:buNone/>
              <a:defRPr sz="4350" b="1">
                <a:solidFill>
                  <a:srgbClr val="17273C"/>
                </a:solidFill>
                <a:latin typeface="Arial"/>
                <a:ea typeface="Arial"/>
                <a:cs typeface="Arial"/>
              </a:defRPr>
            </a:pPr>
            <a:r>
              <a:rPr sz="4350" b="1">
                <a:solidFill>
                  <a:srgbClr val="17273C"/>
                </a:solidFill>
                <a:latin typeface="Arial"/>
                <a:ea typeface="Arial"/>
                <a:cs typeface="Arial"/>
              </a:rPr>
              <a:t>Technology stack and execution modes</a:t>
            </a:r>
          </a:p>
        </p:txBody>
      </p:sp>
      <p:sp>
        <p:nvSpPr>
          <p:cNvPr id="2" name="The same Python compiler supports two delivery paths">
            <a:extLst>
              <a:ext uri="{FF2B5EF4-FFF2-40B4-BE49-F238E27FC236}">
                <a16:creationId xmlns:a16="http://schemas.microsoft.com/office/drawing/2014/main" id="{7781B00E-6D33-405E-AFD2-6B721EC5D99D}"/>
              </a:ext>
            </a:extLst>
          </p:cNvPr>
          <p:cNvSpPr>
            <a:spLocks noGrp="1"/>
          </p:cNvSpPr>
          <p:nvPr/>
        </p:nvSpPr>
        <p:spPr>
          <a:xfrm>
            <a:off x="781050" y="1581150"/>
            <a:ext cx="13573125" cy="609600"/>
          </a:xfrm>
          <a:prstGeom prst="rect">
            <a:avLst/>
          </a:prstGeom>
          <a:noFill/>
          <a:ln w="0">
            <a:noFill/>
          </a:ln>
        </p:spPr>
        <p:txBody>
          <a:bodyPr wrap="square" lIns="0" tIns="0" rIns="0" bIns="0" anchor="t">
            <a:noAutofit/>
          </a:bodyPr>
          <a:lstStyle>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a:pPr algn="l">
              <a:buNone/>
              <a:defRPr sz="2250" b="0">
                <a:solidFill>
                  <a:srgbClr val="596577"/>
                </a:solidFill>
                <a:latin typeface="Arial"/>
                <a:ea typeface="Arial"/>
                <a:cs typeface="Arial"/>
              </a:defRPr>
            </a:pPr>
            <a:r>
              <a:rPr sz="2250" b="0">
                <a:solidFill>
                  <a:srgbClr val="596577"/>
                </a:solidFill>
                <a:latin typeface="Arial"/>
                <a:ea typeface="Arial"/>
                <a:cs typeface="Arial"/>
              </a:rPr>
              <a:t>The same Python compiler supports two delivery paths</a:t>
            </a:r>
          </a:p>
        </p:txBody>
      </p:sp>
      <p:sp>
        <p:nvSpPr>
          <p:cNvPr id="3" name="28">
            <a:extLst>
              <a:ext uri="{FF2B5EF4-FFF2-40B4-BE49-F238E27FC236}">
                <a16:creationId xmlns:a16="http://schemas.microsoft.com/office/drawing/2014/main" id="{20F5974A-F224-46BA-8CD8-BBCF3BF9495D}"/>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a:pPr algn="r">
              <a:buNone/>
              <a:defRPr sz="1500" b="0">
                <a:solidFill>
                  <a:srgbClr val="596577"/>
                </a:solidFill>
                <a:latin typeface="Arial"/>
                <a:ea typeface="Arial"/>
                <a:cs typeface="Arial"/>
              </a:defRPr>
            </a:pPr>
            <a:r>
              <a:rPr sz="1500" b="0">
                <a:solidFill>
                  <a:srgbClr val="596577"/>
                </a:solidFill>
                <a:latin typeface="Arial"/>
                <a:ea typeface="Arial"/>
                <a:cs typeface="Arial"/>
              </a:rPr>
              <a:t>28</a:t>
            </a:r>
          </a:p>
        </p:txBody>
      </p:sp>
      <p:sp>
        <p:nvSpPr>
          <p:cNvPr id="4" name="Local application">
            <a:extLst>
              <a:ext uri="{FF2B5EF4-FFF2-40B4-BE49-F238E27FC236}">
                <a16:creationId xmlns:a16="http://schemas.microsoft.com/office/drawing/2014/main" id="{591C6593-8D74-484F-AE47-0B8794E0088B}"/>
              </a:ext>
            </a:extLst>
          </p:cNvPr>
          <p:cNvSpPr>
            <a:spLocks noGrp="1"/>
          </p:cNvSpPr>
          <p:nvPr/>
        </p:nvSpPr>
        <p:spPr>
          <a:xfrm>
            <a:off x="781050" y="2667000"/>
            <a:ext cx="6000750" cy="533400"/>
          </a:xfrm>
          <a:prstGeom prst="rect">
            <a:avLst/>
          </a:prstGeom>
          <a:noFill/>
          <a:ln w="0">
            <a:noFill/>
          </a:ln>
        </p:spPr>
        <p:txBody>
          <a:bodyPr wrap="square" lIns="0" tIns="0" rIns="0" bIns="0" anchor="t">
            <a:noAutofit/>
          </a:bodyPr>
          <a:lstStyle>
            <a:defPPr algn="l">
              <a:defRPr sz="3000" b="1">
                <a:solidFill>
                  <a:srgbClr val="2956D7"/>
                </a:solidFill>
                <a:latin typeface="Arial"/>
                <a:ea typeface="Arial"/>
                <a:cs typeface="Arial"/>
              </a:defRPr>
            </a:defPPr>
            <a:lvl1pPr algn="l">
              <a:buNone/>
              <a:defRPr sz="3000" b="1">
                <a:solidFill>
                  <a:srgbClr val="2956D7"/>
                </a:solidFill>
                <a:latin typeface="Arial"/>
                <a:ea typeface="Arial"/>
                <a:cs typeface="Arial"/>
              </a:defRPr>
            </a:lvl1pPr>
            <a:lvl2pPr algn="l">
              <a:buNone/>
              <a:defRPr sz="3000" b="1">
                <a:solidFill>
                  <a:srgbClr val="2956D7"/>
                </a:solidFill>
                <a:latin typeface="Arial"/>
                <a:ea typeface="Arial"/>
                <a:cs typeface="Arial"/>
              </a:defRPr>
            </a:lvl2pPr>
            <a:lvl3pPr algn="l">
              <a:buNone/>
              <a:defRPr sz="3000" b="1">
                <a:solidFill>
                  <a:srgbClr val="2956D7"/>
                </a:solidFill>
                <a:latin typeface="Arial"/>
                <a:ea typeface="Arial"/>
                <a:cs typeface="Arial"/>
              </a:defRPr>
            </a:lvl3pPr>
            <a:lvl4pPr algn="l">
              <a:buNone/>
              <a:defRPr sz="3000" b="1">
                <a:solidFill>
                  <a:srgbClr val="2956D7"/>
                </a:solidFill>
                <a:latin typeface="Arial"/>
                <a:ea typeface="Arial"/>
                <a:cs typeface="Arial"/>
              </a:defRPr>
            </a:lvl4pPr>
            <a:lvl5pPr algn="l">
              <a:buNone/>
              <a:defRPr sz="3000" b="1">
                <a:solidFill>
                  <a:srgbClr val="2956D7"/>
                </a:solidFill>
                <a:latin typeface="Arial"/>
                <a:ea typeface="Arial"/>
                <a:cs typeface="Arial"/>
              </a:defRPr>
            </a:lvl5pPr>
            <a:lvl6pPr algn="l">
              <a:buNone/>
              <a:defRPr sz="3000" b="1">
                <a:solidFill>
                  <a:srgbClr val="2956D7"/>
                </a:solidFill>
                <a:latin typeface="Arial"/>
                <a:ea typeface="Arial"/>
                <a:cs typeface="Arial"/>
              </a:defRPr>
            </a:lvl6pPr>
            <a:lvl7pPr algn="l">
              <a:buNone/>
              <a:defRPr sz="3000" b="1">
                <a:solidFill>
                  <a:srgbClr val="2956D7"/>
                </a:solidFill>
                <a:latin typeface="Arial"/>
                <a:ea typeface="Arial"/>
                <a:cs typeface="Arial"/>
              </a:defRPr>
            </a:lvl7pPr>
            <a:lvl8pPr algn="l">
              <a:buNone/>
              <a:defRPr sz="3000" b="1">
                <a:solidFill>
                  <a:srgbClr val="2956D7"/>
                </a:solidFill>
                <a:latin typeface="Arial"/>
                <a:ea typeface="Arial"/>
                <a:cs typeface="Arial"/>
              </a:defRPr>
            </a:lvl8pPr>
            <a:lvl9pPr algn="l">
              <a:buNone/>
              <a:defRPr sz="3000" b="1">
                <a:solidFill>
                  <a:srgbClr val="2956D7"/>
                </a:solidFill>
                <a:latin typeface="Arial"/>
                <a:ea typeface="Arial"/>
                <a:cs typeface="Arial"/>
              </a:defRPr>
            </a:lvl9pPr>
          </a:lstStyle>
          <a:p>
            <a:pPr algn="l">
              <a:buNone/>
              <a:defRPr sz="3000" b="1">
                <a:solidFill>
                  <a:srgbClr val="2956D7"/>
                </a:solidFill>
                <a:latin typeface="Arial"/>
                <a:ea typeface="Arial"/>
                <a:cs typeface="Arial"/>
              </a:defRPr>
            </a:pPr>
            <a:r>
              <a:rPr sz="3000" b="1">
                <a:solidFill>
                  <a:srgbClr val="2956D7"/>
                </a:solidFill>
                <a:latin typeface="Arial"/>
                <a:ea typeface="Arial"/>
                <a:cs typeface="Arial"/>
              </a:rPr>
              <a:t>Local application</a:t>
            </a:r>
          </a:p>
        </p:txBody>
      </p:sp>
      <p:sp>
        <p:nvSpPr>
          <p:cNvPr id="5" name="Browser UI">
            <a:extLst>
              <a:ext uri="{FF2B5EF4-FFF2-40B4-BE49-F238E27FC236}">
                <a16:creationId xmlns:a16="http://schemas.microsoft.com/office/drawing/2014/main" id="{0862B7E5-0633-4CF6-9EB4-0D47B7F71E17}"/>
              </a:ext>
            </a:extLst>
          </p:cNvPr>
          <p:cNvSpPr>
            <a:spLocks noGrp="1"/>
          </p:cNvSpPr>
          <p:nvPr/>
        </p:nvSpPr>
        <p:spPr>
          <a:xfrm>
            <a:off x="781050" y="3619500"/>
            <a:ext cx="4000500" cy="1238250"/>
          </a:xfrm>
          <a:prstGeom prst="rect">
            <a:avLst/>
          </a:prstGeom>
          <a:solidFill>
            <a:srgbClr val="FFFFFF"/>
          </a:solidFill>
          <a:ln w="16193">
            <a:solidFill>
              <a:srgbClr val="CDD3D9"/>
            </a:solidFill>
          </a:ln>
        </p:spPr>
        <p:txBody>
          <a:bodyPr/>
          <a:lstStyle/>
          <a:p>
            <a:endParaRPr lang="en-US"/>
          </a:p>
        </p:txBody>
      </p:sp>
      <p:sp>
        <p:nvSpPr>
          <p:cNvPr id="6" name="Browser UI">
            <a:extLst>
              <a:ext uri="{FF2B5EF4-FFF2-40B4-BE49-F238E27FC236}">
                <a16:creationId xmlns:a16="http://schemas.microsoft.com/office/drawing/2014/main" id="{E573A2EF-39FE-4832-B6E2-6813BDF4E313}"/>
              </a:ext>
            </a:extLst>
          </p:cNvPr>
          <p:cNvSpPr>
            <a:spLocks noGrp="1"/>
          </p:cNvSpPr>
          <p:nvPr/>
        </p:nvSpPr>
        <p:spPr>
          <a:xfrm>
            <a:off x="971550" y="3790950"/>
            <a:ext cx="361950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Browser UI</a:t>
            </a:r>
          </a:p>
        </p:txBody>
      </p:sp>
      <p:sp>
        <p:nvSpPr>
          <p:cNvPr id="7" name="HTML / CSS / JavaScript">
            <a:extLst>
              <a:ext uri="{FF2B5EF4-FFF2-40B4-BE49-F238E27FC236}">
                <a16:creationId xmlns:a16="http://schemas.microsoft.com/office/drawing/2014/main" id="{247F6D1B-CFCC-4A5E-B664-AA22DF21EA55}"/>
              </a:ext>
            </a:extLst>
          </p:cNvPr>
          <p:cNvSpPr>
            <a:spLocks noGrp="1"/>
          </p:cNvSpPr>
          <p:nvPr/>
        </p:nvSpPr>
        <p:spPr>
          <a:xfrm>
            <a:off x="971550" y="4343400"/>
            <a:ext cx="3619500" cy="45720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HTML / CSS / JavaScript</a:t>
            </a:r>
          </a:p>
        </p:txBody>
      </p:sp>
      <p:sp>
        <p:nvSpPr>
          <p:cNvPr id="8" name="Python HTTP worker">
            <a:extLst>
              <a:ext uri="{FF2B5EF4-FFF2-40B4-BE49-F238E27FC236}">
                <a16:creationId xmlns:a16="http://schemas.microsoft.com/office/drawing/2014/main" id="{40613A50-0ACC-4FC2-8D7B-4762093D7194}"/>
              </a:ext>
            </a:extLst>
          </p:cNvPr>
          <p:cNvSpPr>
            <a:spLocks noGrp="1"/>
          </p:cNvSpPr>
          <p:nvPr/>
        </p:nvSpPr>
        <p:spPr>
          <a:xfrm>
            <a:off x="781050" y="5715000"/>
            <a:ext cx="5905500" cy="1333500"/>
          </a:xfrm>
          <a:prstGeom prst="rect">
            <a:avLst/>
          </a:prstGeom>
          <a:solidFill>
            <a:srgbClr val="DDF2EC"/>
          </a:solidFill>
          <a:ln w="16193">
            <a:solidFill>
              <a:srgbClr val="147B70"/>
            </a:solidFill>
          </a:ln>
        </p:spPr>
        <p:txBody>
          <a:bodyPr/>
          <a:lstStyle/>
          <a:p>
            <a:endParaRPr lang="en-US"/>
          </a:p>
        </p:txBody>
      </p:sp>
      <p:sp>
        <p:nvSpPr>
          <p:cNvPr id="9" name="Python HTTP worker">
            <a:extLst>
              <a:ext uri="{FF2B5EF4-FFF2-40B4-BE49-F238E27FC236}">
                <a16:creationId xmlns:a16="http://schemas.microsoft.com/office/drawing/2014/main" id="{F116CDB8-927E-4B45-962F-35F8DD006410}"/>
              </a:ext>
            </a:extLst>
          </p:cNvPr>
          <p:cNvSpPr>
            <a:spLocks noGrp="1"/>
          </p:cNvSpPr>
          <p:nvPr/>
        </p:nvSpPr>
        <p:spPr>
          <a:xfrm>
            <a:off x="971550" y="5886450"/>
            <a:ext cx="552450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Python HTTP worker</a:t>
            </a:r>
          </a:p>
        </p:txBody>
      </p:sp>
      <p:sp>
        <p:nvSpPr>
          <p:cNvPr id="10" name="Shared compiler + custom VM">
            <a:extLst>
              <a:ext uri="{FF2B5EF4-FFF2-40B4-BE49-F238E27FC236}">
                <a16:creationId xmlns:a16="http://schemas.microsoft.com/office/drawing/2014/main" id="{B2C69FCC-5CA0-48D2-8EEB-B4552498ADE2}"/>
              </a:ext>
            </a:extLst>
          </p:cNvPr>
          <p:cNvSpPr>
            <a:spLocks noGrp="1"/>
          </p:cNvSpPr>
          <p:nvPr/>
        </p:nvSpPr>
        <p:spPr>
          <a:xfrm>
            <a:off x="971550" y="6438900"/>
            <a:ext cx="5524500" cy="55245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Shared compiler + custom VM</a:t>
            </a:r>
          </a:p>
        </p:txBody>
      </p:sp>
      <p:sp>
        <p:nvSpPr>
          <p:cNvPr id="12" name="Static browser build">
            <a:extLst>
              <a:ext uri="{FF2B5EF4-FFF2-40B4-BE49-F238E27FC236}">
                <a16:creationId xmlns:a16="http://schemas.microsoft.com/office/drawing/2014/main" id="{B21A98FF-E40A-4776-8063-6AF9EBC55402}"/>
              </a:ext>
            </a:extLst>
          </p:cNvPr>
          <p:cNvSpPr>
            <a:spLocks noGrp="1"/>
          </p:cNvSpPr>
          <p:nvPr/>
        </p:nvSpPr>
        <p:spPr>
          <a:xfrm>
            <a:off x="8143875" y="2667000"/>
            <a:ext cx="6286500" cy="533400"/>
          </a:xfrm>
          <a:prstGeom prst="rect">
            <a:avLst/>
          </a:prstGeom>
          <a:noFill/>
          <a:ln w="0">
            <a:noFill/>
          </a:ln>
        </p:spPr>
        <p:txBody>
          <a:bodyPr wrap="square" lIns="0" tIns="0" rIns="0" bIns="0" anchor="t">
            <a:noAutofit/>
          </a:bodyPr>
          <a:lstStyle>
            <a:defPPr algn="l">
              <a:defRPr sz="3000" b="1">
                <a:solidFill>
                  <a:srgbClr val="2956D7"/>
                </a:solidFill>
                <a:latin typeface="Arial"/>
                <a:ea typeface="Arial"/>
                <a:cs typeface="Arial"/>
              </a:defRPr>
            </a:defPPr>
            <a:lvl1pPr algn="l">
              <a:buNone/>
              <a:defRPr sz="3000" b="1">
                <a:solidFill>
                  <a:srgbClr val="2956D7"/>
                </a:solidFill>
                <a:latin typeface="Arial"/>
                <a:ea typeface="Arial"/>
                <a:cs typeface="Arial"/>
              </a:defRPr>
            </a:lvl1pPr>
            <a:lvl2pPr algn="l">
              <a:buNone/>
              <a:defRPr sz="3000" b="1">
                <a:solidFill>
                  <a:srgbClr val="2956D7"/>
                </a:solidFill>
                <a:latin typeface="Arial"/>
                <a:ea typeface="Arial"/>
                <a:cs typeface="Arial"/>
              </a:defRPr>
            </a:lvl2pPr>
            <a:lvl3pPr algn="l">
              <a:buNone/>
              <a:defRPr sz="3000" b="1">
                <a:solidFill>
                  <a:srgbClr val="2956D7"/>
                </a:solidFill>
                <a:latin typeface="Arial"/>
                <a:ea typeface="Arial"/>
                <a:cs typeface="Arial"/>
              </a:defRPr>
            </a:lvl3pPr>
            <a:lvl4pPr algn="l">
              <a:buNone/>
              <a:defRPr sz="3000" b="1">
                <a:solidFill>
                  <a:srgbClr val="2956D7"/>
                </a:solidFill>
                <a:latin typeface="Arial"/>
                <a:ea typeface="Arial"/>
                <a:cs typeface="Arial"/>
              </a:defRPr>
            </a:lvl4pPr>
            <a:lvl5pPr algn="l">
              <a:buNone/>
              <a:defRPr sz="3000" b="1">
                <a:solidFill>
                  <a:srgbClr val="2956D7"/>
                </a:solidFill>
                <a:latin typeface="Arial"/>
                <a:ea typeface="Arial"/>
                <a:cs typeface="Arial"/>
              </a:defRPr>
            </a:lvl5pPr>
            <a:lvl6pPr algn="l">
              <a:buNone/>
              <a:defRPr sz="3000" b="1">
                <a:solidFill>
                  <a:srgbClr val="2956D7"/>
                </a:solidFill>
                <a:latin typeface="Arial"/>
                <a:ea typeface="Arial"/>
                <a:cs typeface="Arial"/>
              </a:defRPr>
            </a:lvl6pPr>
            <a:lvl7pPr algn="l">
              <a:buNone/>
              <a:defRPr sz="3000" b="1">
                <a:solidFill>
                  <a:srgbClr val="2956D7"/>
                </a:solidFill>
                <a:latin typeface="Arial"/>
                <a:ea typeface="Arial"/>
                <a:cs typeface="Arial"/>
              </a:defRPr>
            </a:lvl7pPr>
            <a:lvl8pPr algn="l">
              <a:buNone/>
              <a:defRPr sz="3000" b="1">
                <a:solidFill>
                  <a:srgbClr val="2956D7"/>
                </a:solidFill>
                <a:latin typeface="Arial"/>
                <a:ea typeface="Arial"/>
                <a:cs typeface="Arial"/>
              </a:defRPr>
            </a:lvl8pPr>
            <a:lvl9pPr algn="l">
              <a:buNone/>
              <a:defRPr sz="3000" b="1">
                <a:solidFill>
                  <a:srgbClr val="2956D7"/>
                </a:solidFill>
                <a:latin typeface="Arial"/>
                <a:ea typeface="Arial"/>
                <a:cs typeface="Arial"/>
              </a:defRPr>
            </a:lvl9pPr>
          </a:lstStyle>
          <a:p>
            <a:pPr algn="l">
              <a:buNone/>
              <a:defRPr sz="3000" b="1">
                <a:solidFill>
                  <a:srgbClr val="2956D7"/>
                </a:solidFill>
                <a:latin typeface="Arial"/>
                <a:ea typeface="Arial"/>
                <a:cs typeface="Arial"/>
              </a:defRPr>
            </a:pPr>
            <a:r>
              <a:rPr sz="3000" b="1">
                <a:solidFill>
                  <a:srgbClr val="2956D7"/>
                </a:solidFill>
                <a:latin typeface="Arial"/>
                <a:ea typeface="Arial"/>
                <a:cs typeface="Arial"/>
              </a:rPr>
              <a:t>Static browser build</a:t>
            </a:r>
          </a:p>
        </p:txBody>
      </p:sp>
      <p:sp>
        <p:nvSpPr>
          <p:cNvPr id="13" name="Static website">
            <a:extLst>
              <a:ext uri="{FF2B5EF4-FFF2-40B4-BE49-F238E27FC236}">
                <a16:creationId xmlns:a16="http://schemas.microsoft.com/office/drawing/2014/main" id="{FD2E0D52-2AF6-4DE4-BA50-BEE0649BF86B}"/>
              </a:ext>
            </a:extLst>
          </p:cNvPr>
          <p:cNvSpPr>
            <a:spLocks noGrp="1"/>
          </p:cNvSpPr>
          <p:nvPr/>
        </p:nvSpPr>
        <p:spPr>
          <a:xfrm>
            <a:off x="8143875" y="3619500"/>
            <a:ext cx="5810250" cy="1238250"/>
          </a:xfrm>
          <a:prstGeom prst="rect">
            <a:avLst/>
          </a:prstGeom>
          <a:solidFill>
            <a:srgbClr val="FFFFFF"/>
          </a:solidFill>
          <a:ln w="16193">
            <a:solidFill>
              <a:srgbClr val="CDD3D9"/>
            </a:solidFill>
          </a:ln>
        </p:spPr>
        <p:txBody>
          <a:bodyPr/>
          <a:lstStyle/>
          <a:p>
            <a:endParaRPr lang="en-US"/>
          </a:p>
        </p:txBody>
      </p:sp>
      <p:sp>
        <p:nvSpPr>
          <p:cNvPr id="14" name="Static website">
            <a:extLst>
              <a:ext uri="{FF2B5EF4-FFF2-40B4-BE49-F238E27FC236}">
                <a16:creationId xmlns:a16="http://schemas.microsoft.com/office/drawing/2014/main" id="{31573A91-B2AA-4D0B-A3BB-0B48A5E3E421}"/>
              </a:ext>
            </a:extLst>
          </p:cNvPr>
          <p:cNvSpPr>
            <a:spLocks noGrp="1"/>
          </p:cNvSpPr>
          <p:nvPr/>
        </p:nvSpPr>
        <p:spPr>
          <a:xfrm>
            <a:off x="8334375" y="3790950"/>
            <a:ext cx="5429250"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Static website</a:t>
            </a:r>
          </a:p>
        </p:txBody>
      </p:sp>
      <p:sp>
        <p:nvSpPr>
          <p:cNvPr id="15" name="JavaScript transport and assets">
            <a:extLst>
              <a:ext uri="{FF2B5EF4-FFF2-40B4-BE49-F238E27FC236}">
                <a16:creationId xmlns:a16="http://schemas.microsoft.com/office/drawing/2014/main" id="{D2E04C2F-C3C4-4305-8DC0-0D328734CDC1}"/>
              </a:ext>
            </a:extLst>
          </p:cNvPr>
          <p:cNvSpPr>
            <a:spLocks noGrp="1"/>
          </p:cNvSpPr>
          <p:nvPr/>
        </p:nvSpPr>
        <p:spPr>
          <a:xfrm>
            <a:off x="8334375" y="4343400"/>
            <a:ext cx="5429250" cy="45720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JavaScript transport and assets</a:t>
            </a:r>
          </a:p>
        </p:txBody>
      </p:sp>
      <p:sp>
        <p:nvSpPr>
          <p:cNvPr id="16" name="Web Worker + Pyodide">
            <a:extLst>
              <a:ext uri="{FF2B5EF4-FFF2-40B4-BE49-F238E27FC236}">
                <a16:creationId xmlns:a16="http://schemas.microsoft.com/office/drawing/2014/main" id="{5B3A2C68-418B-4C85-B989-3D2572840F06}"/>
              </a:ext>
            </a:extLst>
          </p:cNvPr>
          <p:cNvSpPr>
            <a:spLocks noGrp="1"/>
          </p:cNvSpPr>
          <p:nvPr/>
        </p:nvSpPr>
        <p:spPr>
          <a:xfrm>
            <a:off x="8143875" y="5715000"/>
            <a:ext cx="6334125" cy="1333500"/>
          </a:xfrm>
          <a:prstGeom prst="rect">
            <a:avLst/>
          </a:prstGeom>
          <a:solidFill>
            <a:srgbClr val="DDF2EC"/>
          </a:solidFill>
          <a:ln w="16193">
            <a:solidFill>
              <a:srgbClr val="147B70"/>
            </a:solidFill>
          </a:ln>
        </p:spPr>
        <p:txBody>
          <a:bodyPr/>
          <a:lstStyle/>
          <a:p>
            <a:endParaRPr lang="en-US"/>
          </a:p>
        </p:txBody>
      </p:sp>
      <p:sp>
        <p:nvSpPr>
          <p:cNvPr id="17" name="Web Worker + Pyodide">
            <a:extLst>
              <a:ext uri="{FF2B5EF4-FFF2-40B4-BE49-F238E27FC236}">
                <a16:creationId xmlns:a16="http://schemas.microsoft.com/office/drawing/2014/main" id="{D1EFB499-6908-49AE-AF11-19212B99044D}"/>
              </a:ext>
            </a:extLst>
          </p:cNvPr>
          <p:cNvSpPr>
            <a:spLocks noGrp="1"/>
          </p:cNvSpPr>
          <p:nvPr/>
        </p:nvSpPr>
        <p:spPr>
          <a:xfrm>
            <a:off x="8334375" y="5886450"/>
            <a:ext cx="5953125" cy="533400"/>
          </a:xfrm>
          <a:prstGeom prst="rect">
            <a:avLst/>
          </a:prstGeom>
          <a:noFill/>
          <a:ln w="0">
            <a:noFill/>
          </a:ln>
        </p:spPr>
        <p:txBody>
          <a:bodyPr wrap="square" lIns="0" tIns="0" rIns="0" bIns="0" anchor="t">
            <a:noAutofit/>
          </a:bodyPr>
          <a:lstStyle>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a:pPr algn="l">
              <a:buNone/>
              <a:defRPr sz="2325" b="1">
                <a:solidFill>
                  <a:srgbClr val="17273C"/>
                </a:solidFill>
                <a:latin typeface="Arial"/>
                <a:ea typeface="Arial"/>
                <a:cs typeface="Arial"/>
              </a:defRPr>
            </a:pPr>
            <a:r>
              <a:rPr sz="2325" b="1">
                <a:solidFill>
                  <a:srgbClr val="17273C"/>
                </a:solidFill>
                <a:latin typeface="Arial"/>
                <a:ea typeface="Arial"/>
                <a:cs typeface="Arial"/>
              </a:rPr>
              <a:t>Web Worker + Pyodide</a:t>
            </a:r>
          </a:p>
        </p:txBody>
      </p:sp>
      <p:sp>
        <p:nvSpPr>
          <p:cNvPr id="18" name="WebAssembly Python runs the same compiler">
            <a:extLst>
              <a:ext uri="{FF2B5EF4-FFF2-40B4-BE49-F238E27FC236}">
                <a16:creationId xmlns:a16="http://schemas.microsoft.com/office/drawing/2014/main" id="{19DD8A2C-F61B-4FF4-A2CB-B5E951438FC5}"/>
              </a:ext>
            </a:extLst>
          </p:cNvPr>
          <p:cNvSpPr>
            <a:spLocks noGrp="1"/>
          </p:cNvSpPr>
          <p:nvPr/>
        </p:nvSpPr>
        <p:spPr>
          <a:xfrm>
            <a:off x="8334375" y="6438900"/>
            <a:ext cx="5953125" cy="552450"/>
          </a:xfrm>
          <a:prstGeom prst="rect">
            <a:avLst/>
          </a:prstGeom>
          <a:noFill/>
          <a:ln w="0">
            <a:noFill/>
          </a:ln>
        </p:spPr>
        <p:txBody>
          <a:bodyPr wrap="square" lIns="0" tIns="0" rIns="0" bIns="0" anchor="t">
            <a:noAutofit/>
          </a:bodyPr>
          <a:lstStyle>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a:pPr algn="l">
              <a:buNone/>
              <a:defRPr sz="1875" b="0">
                <a:solidFill>
                  <a:srgbClr val="596577"/>
                </a:solidFill>
                <a:latin typeface="Arial"/>
                <a:ea typeface="Arial"/>
                <a:cs typeface="Arial"/>
              </a:defRPr>
            </a:pPr>
            <a:r>
              <a:rPr sz="1875" b="0">
                <a:solidFill>
                  <a:srgbClr val="596577"/>
                </a:solidFill>
                <a:latin typeface="Arial"/>
                <a:ea typeface="Arial"/>
                <a:cs typeface="Arial"/>
              </a:rPr>
              <a:t>WebAssembly Python runs the same compiler</a:t>
            </a:r>
          </a:p>
        </p:txBody>
      </p:sp>
      <p:sp>
        <p:nvSpPr>
          <p:cNvPr id="20" name="Pages deployment requires repository-owner configuratio">
            <a:extLst>
              <a:ext uri="{FF2B5EF4-FFF2-40B4-BE49-F238E27FC236}">
                <a16:creationId xmlns:a16="http://schemas.microsoft.com/office/drawing/2014/main" id="{50219AE2-05EA-4279-B1BA-568B995A2972}"/>
              </a:ext>
            </a:extLst>
          </p:cNvPr>
          <p:cNvSpPr>
            <a:spLocks noGrp="1"/>
          </p:cNvSpPr>
          <p:nvPr/>
        </p:nvSpPr>
        <p:spPr>
          <a:xfrm>
            <a:off x="781050" y="7381875"/>
            <a:ext cx="13335000" cy="552450"/>
          </a:xfrm>
          <a:prstGeom prst="rect">
            <a:avLst/>
          </a:prstGeom>
          <a:noFill/>
          <a:ln w="0">
            <a:noFill/>
          </a:ln>
        </p:spPr>
        <p:txBody>
          <a:bodyPr wrap="square" lIns="0" tIns="0" rIns="0" bIns="0" anchor="t">
            <a:noAutofit/>
          </a:bodyPr>
          <a:lstStyle>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a:pPr algn="l">
              <a:buNone/>
              <a:defRPr sz="2025" b="0">
                <a:solidFill>
                  <a:srgbClr val="596577"/>
                </a:solidFill>
                <a:latin typeface="Arial"/>
                <a:ea typeface="Arial"/>
                <a:cs typeface="Arial"/>
              </a:defRPr>
            </a:pPr>
            <a:r>
              <a:rPr sz="2025" b="0">
                <a:solidFill>
                  <a:srgbClr val="596577"/>
                </a:solidFill>
                <a:latin typeface="Arial"/>
                <a:ea typeface="Arial"/>
                <a:cs typeface="Arial"/>
              </a:rPr>
              <a:t>Pages deployment requires repository-owner configuration. The local IDE needs Python 3.11+.</a:t>
            </a:r>
          </a:p>
        </p:txBody>
      </p:sp>
    </p:spTree>
    <p:extLst>
      <p:ext uri="{BB962C8B-B14F-4D97-AF65-F5344CB8AC3E}">
        <p14:creationId xmlns:p14="http://schemas.microsoft.com/office/powerpoint/2010/main" val="9491716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0" name="Working demo: mixed syntax">
            <a:extLst>
              <a:ext uri="{FF2B5EF4-FFF2-40B4-BE49-F238E27FC236}">
                <a16:creationId xmlns:a16="http://schemas.microsoft.com/office/drawing/2014/main" id="{29447E30-7EA2-4D7F-A455-4CF4E978A1D3}"/>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defRPr sz="4350" b="1">
                <a:solidFill>
                  <a:srgbClr val="17273C"/>
                </a:solidFill>
                <a:latin typeface="Arial"/>
                <a:ea typeface="Arial"/>
                <a:cs typeface="Arial"/>
              </a:defRPr>
            </a:defPPr>
            <a:lvl1pPr>
              <a:defRPr sz="4350" b="1">
                <a:solidFill>
                  <a:srgbClr val="17273C"/>
                </a:solidFill>
                <a:latin typeface="Arial"/>
                <a:ea typeface="Arial"/>
                <a:cs typeface="Arial"/>
              </a:defRPr>
            </a:lvl1pPr>
            <a:lvl2pPr>
              <a:defRPr sz="4350" b="1">
                <a:solidFill>
                  <a:srgbClr val="17273C"/>
                </a:solidFill>
                <a:latin typeface="Arial"/>
                <a:ea typeface="Arial"/>
                <a:cs typeface="Arial"/>
              </a:defRPr>
            </a:lvl2pPr>
            <a:lvl3pPr>
              <a:defRPr sz="4350" b="1">
                <a:solidFill>
                  <a:srgbClr val="17273C"/>
                </a:solidFill>
                <a:latin typeface="Arial"/>
                <a:ea typeface="Arial"/>
                <a:cs typeface="Arial"/>
              </a:defRPr>
            </a:lvl3pPr>
            <a:lvl4pPr>
              <a:defRPr sz="4350" b="1">
                <a:solidFill>
                  <a:srgbClr val="17273C"/>
                </a:solidFill>
                <a:latin typeface="Arial"/>
                <a:ea typeface="Arial"/>
                <a:cs typeface="Arial"/>
              </a:defRPr>
            </a:lvl4pPr>
            <a:lvl5pPr>
              <a:defRPr sz="4350" b="1">
                <a:solidFill>
                  <a:srgbClr val="17273C"/>
                </a:solidFill>
                <a:latin typeface="Arial"/>
                <a:ea typeface="Arial"/>
                <a:cs typeface="Arial"/>
              </a:defRPr>
            </a:lvl5pPr>
            <a:lvl6pPr>
              <a:defRPr sz="4350" b="1">
                <a:solidFill>
                  <a:srgbClr val="17273C"/>
                </a:solidFill>
                <a:latin typeface="Arial"/>
                <a:ea typeface="Arial"/>
                <a:cs typeface="Arial"/>
              </a:defRPr>
            </a:lvl6pPr>
            <a:lvl7pPr>
              <a:defRPr sz="4350" b="1">
                <a:solidFill>
                  <a:srgbClr val="17273C"/>
                </a:solidFill>
                <a:latin typeface="Arial"/>
                <a:ea typeface="Arial"/>
                <a:cs typeface="Arial"/>
              </a:defRPr>
            </a:lvl7pPr>
            <a:lvl8pPr>
              <a:defRPr sz="4350" b="1">
                <a:solidFill>
                  <a:srgbClr val="17273C"/>
                </a:solidFill>
                <a:latin typeface="Arial"/>
                <a:ea typeface="Arial"/>
                <a:cs typeface="Arial"/>
              </a:defRPr>
            </a:lvl8pPr>
            <a:lvl9pPr>
              <a:defRPr sz="4350" b="1">
                <a:solidFill>
                  <a:srgbClr val="17273C"/>
                </a:solidFill>
                <a:latin typeface="Arial"/>
                <a:ea typeface="Arial"/>
                <a:cs typeface="Arial"/>
              </a:defRPr>
            </a:lvl9pPr>
          </a:lstStyle>
          <a:p>
            <a:pPr>
              <a:defRPr sz="4350" b="1">
                <a:solidFill>
                  <a:srgbClr val="17273C"/>
                </a:solidFill>
                <a:latin typeface="Arial"/>
                <a:ea typeface="Arial"/>
                <a:cs typeface="Arial"/>
              </a:defRPr>
            </a:pPr>
            <a:r>
              <a:rPr sz="4350" b="1">
                <a:solidFill>
                  <a:srgbClr val="17273C"/>
                </a:solidFill>
                <a:latin typeface="Arial"/>
                <a:ea typeface="Arial"/>
                <a:cs typeface="Arial"/>
              </a:rPr>
              <a:t>Working demo: mixed syntax</a:t>
            </a:r>
          </a:p>
        </p:txBody>
      </p:sp>
      <p:sp>
        <p:nvSpPr>
          <p:cNvPr id="2" name="p1_mixed.poly compiles and runs as one program">
            <a:extLst>
              <a:ext uri="{FF2B5EF4-FFF2-40B4-BE49-F238E27FC236}">
                <a16:creationId xmlns:a16="http://schemas.microsoft.com/office/drawing/2014/main" id="{684C9AF1-5C1B-4562-B456-F320E8D52971}"/>
              </a:ext>
            </a:extLst>
          </p:cNvPr>
          <p:cNvSpPr>
            <a:spLocks noGrp="1"/>
          </p:cNvSpPr>
          <p:nvPr/>
        </p:nvSpPr>
        <p:spPr>
          <a:xfrm>
            <a:off x="781050" y="1581150"/>
            <a:ext cx="13620750" cy="514350"/>
          </a:xfrm>
          <a:prstGeom prst="rect">
            <a:avLst/>
          </a:prstGeom>
          <a:noFill/>
          <a:ln w="0">
            <a:noFill/>
          </a:ln>
        </p:spPr>
        <p:txBody>
          <a:bodyPr wrap="square" lIns="0" tIns="0" rIns="0" bIns="0" anchor="t">
            <a:noAutofit/>
          </a:bodyPr>
          <a:lstStyle>
            <a:defPPr>
              <a:defRPr sz="2250" b="0">
                <a:solidFill>
                  <a:srgbClr val="596577"/>
                </a:solidFill>
                <a:latin typeface="Arial"/>
                <a:ea typeface="Arial"/>
                <a:cs typeface="Arial"/>
              </a:defRPr>
            </a:defPPr>
            <a:lvl1pPr>
              <a:defRPr sz="2250" b="0">
                <a:solidFill>
                  <a:srgbClr val="596577"/>
                </a:solidFill>
                <a:latin typeface="Arial"/>
                <a:ea typeface="Arial"/>
                <a:cs typeface="Arial"/>
              </a:defRPr>
            </a:lvl1pPr>
            <a:lvl2pPr>
              <a:defRPr sz="2250" b="0">
                <a:solidFill>
                  <a:srgbClr val="596577"/>
                </a:solidFill>
                <a:latin typeface="Arial"/>
                <a:ea typeface="Arial"/>
                <a:cs typeface="Arial"/>
              </a:defRPr>
            </a:lvl2pPr>
            <a:lvl3pPr>
              <a:defRPr sz="2250" b="0">
                <a:solidFill>
                  <a:srgbClr val="596577"/>
                </a:solidFill>
                <a:latin typeface="Arial"/>
                <a:ea typeface="Arial"/>
                <a:cs typeface="Arial"/>
              </a:defRPr>
            </a:lvl3pPr>
            <a:lvl4pPr>
              <a:defRPr sz="2250" b="0">
                <a:solidFill>
                  <a:srgbClr val="596577"/>
                </a:solidFill>
                <a:latin typeface="Arial"/>
                <a:ea typeface="Arial"/>
                <a:cs typeface="Arial"/>
              </a:defRPr>
            </a:lvl4pPr>
            <a:lvl5pPr>
              <a:defRPr sz="2250" b="0">
                <a:solidFill>
                  <a:srgbClr val="596577"/>
                </a:solidFill>
                <a:latin typeface="Arial"/>
                <a:ea typeface="Arial"/>
                <a:cs typeface="Arial"/>
              </a:defRPr>
            </a:lvl5pPr>
            <a:lvl6pPr>
              <a:defRPr sz="2250" b="0">
                <a:solidFill>
                  <a:srgbClr val="596577"/>
                </a:solidFill>
                <a:latin typeface="Arial"/>
                <a:ea typeface="Arial"/>
                <a:cs typeface="Arial"/>
              </a:defRPr>
            </a:lvl6pPr>
            <a:lvl7pPr>
              <a:defRPr sz="2250" b="0">
                <a:solidFill>
                  <a:srgbClr val="596577"/>
                </a:solidFill>
                <a:latin typeface="Arial"/>
                <a:ea typeface="Arial"/>
                <a:cs typeface="Arial"/>
              </a:defRPr>
            </a:lvl7pPr>
            <a:lvl8pPr>
              <a:defRPr sz="2250" b="0">
                <a:solidFill>
                  <a:srgbClr val="596577"/>
                </a:solidFill>
                <a:latin typeface="Arial"/>
                <a:ea typeface="Arial"/>
                <a:cs typeface="Arial"/>
              </a:defRPr>
            </a:lvl8pPr>
            <a:lvl9pPr>
              <a:defRPr sz="2250" b="0">
                <a:solidFill>
                  <a:srgbClr val="596577"/>
                </a:solidFill>
                <a:latin typeface="Arial"/>
                <a:ea typeface="Arial"/>
                <a:cs typeface="Arial"/>
              </a:defRPr>
            </a:lvl9pPr>
          </a:lstStyle>
          <a:p>
            <a:pPr>
              <a:defRPr sz="2250" b="0">
                <a:solidFill>
                  <a:srgbClr val="596577"/>
                </a:solidFill>
                <a:latin typeface="Arial"/>
                <a:ea typeface="Arial"/>
                <a:cs typeface="Arial"/>
              </a:defRPr>
            </a:pPr>
            <a:r>
              <a:rPr sz="2250" b="0">
                <a:solidFill>
                  <a:srgbClr val="596577"/>
                </a:solidFill>
                <a:latin typeface="Arial"/>
                <a:ea typeface="Arial"/>
                <a:cs typeface="Arial"/>
              </a:rPr>
              <a:t>p1_mixed.poly compiles and runs as one program</a:t>
            </a:r>
          </a:p>
        </p:txBody>
      </p:sp>
      <p:sp>
        <p:nvSpPr>
          <p:cNvPr id="3" name="29">
            <a:extLst>
              <a:ext uri="{FF2B5EF4-FFF2-40B4-BE49-F238E27FC236}">
                <a16:creationId xmlns:a16="http://schemas.microsoft.com/office/drawing/2014/main" id="{542C1708-3814-4388-9790-269641395FAB}"/>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defRPr sz="1500" b="0">
                <a:solidFill>
                  <a:srgbClr val="596577"/>
                </a:solidFill>
                <a:latin typeface="Arial"/>
                <a:ea typeface="Arial"/>
                <a:cs typeface="Arial"/>
              </a:defRPr>
            </a:defPPr>
            <a:lvl1pPr>
              <a:defRPr sz="1500" b="0">
                <a:solidFill>
                  <a:srgbClr val="596577"/>
                </a:solidFill>
                <a:latin typeface="Arial"/>
                <a:ea typeface="Arial"/>
                <a:cs typeface="Arial"/>
              </a:defRPr>
            </a:lvl1pPr>
            <a:lvl2pPr>
              <a:defRPr sz="1500" b="0">
                <a:solidFill>
                  <a:srgbClr val="596577"/>
                </a:solidFill>
                <a:latin typeface="Arial"/>
                <a:ea typeface="Arial"/>
                <a:cs typeface="Arial"/>
              </a:defRPr>
            </a:lvl2pPr>
            <a:lvl3pPr>
              <a:defRPr sz="1500" b="0">
                <a:solidFill>
                  <a:srgbClr val="596577"/>
                </a:solidFill>
                <a:latin typeface="Arial"/>
                <a:ea typeface="Arial"/>
                <a:cs typeface="Arial"/>
              </a:defRPr>
            </a:lvl3pPr>
            <a:lvl4pPr>
              <a:defRPr sz="1500" b="0">
                <a:solidFill>
                  <a:srgbClr val="596577"/>
                </a:solidFill>
                <a:latin typeface="Arial"/>
                <a:ea typeface="Arial"/>
                <a:cs typeface="Arial"/>
              </a:defRPr>
            </a:lvl4pPr>
            <a:lvl5pPr>
              <a:defRPr sz="1500" b="0">
                <a:solidFill>
                  <a:srgbClr val="596577"/>
                </a:solidFill>
                <a:latin typeface="Arial"/>
                <a:ea typeface="Arial"/>
                <a:cs typeface="Arial"/>
              </a:defRPr>
            </a:lvl5pPr>
            <a:lvl6pPr>
              <a:defRPr sz="1500" b="0">
                <a:solidFill>
                  <a:srgbClr val="596577"/>
                </a:solidFill>
                <a:latin typeface="Arial"/>
                <a:ea typeface="Arial"/>
                <a:cs typeface="Arial"/>
              </a:defRPr>
            </a:lvl6pPr>
            <a:lvl7pPr>
              <a:defRPr sz="1500" b="0">
                <a:solidFill>
                  <a:srgbClr val="596577"/>
                </a:solidFill>
                <a:latin typeface="Arial"/>
                <a:ea typeface="Arial"/>
                <a:cs typeface="Arial"/>
              </a:defRPr>
            </a:lvl7pPr>
            <a:lvl8pPr>
              <a:defRPr sz="1500" b="0">
                <a:solidFill>
                  <a:srgbClr val="596577"/>
                </a:solidFill>
                <a:latin typeface="Arial"/>
                <a:ea typeface="Arial"/>
                <a:cs typeface="Arial"/>
              </a:defRPr>
            </a:lvl8pPr>
            <a:lvl9pPr>
              <a:defRPr sz="1500" b="0">
                <a:solidFill>
                  <a:srgbClr val="596577"/>
                </a:solidFill>
                <a:latin typeface="Arial"/>
                <a:ea typeface="Arial"/>
                <a:cs typeface="Arial"/>
              </a:defRPr>
            </a:lvl9pPr>
          </a:lstStyle>
          <a:p>
            <a:pPr>
              <a:defRPr sz="1500" b="0">
                <a:solidFill>
                  <a:srgbClr val="596577"/>
                </a:solidFill>
                <a:latin typeface="Arial"/>
                <a:ea typeface="Arial"/>
                <a:cs typeface="Arial"/>
              </a:defRPr>
            </a:pPr>
            <a:r>
              <a:rPr sz="1500" b="0">
                <a:solidFill>
                  <a:srgbClr val="596577"/>
                </a:solidFill>
                <a:latin typeface="Arial"/>
                <a:ea typeface="Arial"/>
                <a:cs typeface="Arial"/>
              </a:rPr>
              <a:t>29</a:t>
            </a:r>
          </a:p>
        </p:txBody>
      </p:sp>
      <p:pic>
        <p:nvPicPr>
          <p:cNvPr id="4" name="Picture 3">
            <a:extLst>
              <a:ext uri="{FF2B5EF4-FFF2-40B4-BE49-F238E27FC236}">
                <a16:creationId xmlns:a16="http://schemas.microsoft.com/office/drawing/2014/main" id="{3CE919E3-B87D-4CC8-AF3B-F9DE2B04F545}"/>
              </a:ext>
            </a:extLst>
          </p:cNvPr>
          <p:cNvPicPr>
            <a:picLocks noChangeAspect="1"/>
          </p:cNvPicPr>
          <p:nvPr/>
        </p:nvPicPr>
        <p:blipFill>
          <a:blip r:embed="rId3"/>
          <a:stretch/>
        </p:blipFill>
        <p:spPr>
          <a:xfrm>
            <a:off x="764675" y="2209800"/>
            <a:ext cx="9424400" cy="4086225"/>
          </a:xfrm>
          <a:prstGeom prst="rect">
            <a:avLst/>
          </a:prstGeom>
        </p:spPr>
      </p:pic>
      <p:pic>
        <p:nvPicPr>
          <p:cNvPr id="5" name="Picture 4">
            <a:extLst>
              <a:ext uri="{FF2B5EF4-FFF2-40B4-BE49-F238E27FC236}">
                <a16:creationId xmlns:a16="http://schemas.microsoft.com/office/drawing/2014/main" id="{953B22B0-43E5-4469-B07F-764B81A9C265}"/>
              </a:ext>
            </a:extLst>
          </p:cNvPr>
          <p:cNvPicPr>
            <a:picLocks noChangeAspect="1"/>
          </p:cNvPicPr>
          <p:nvPr/>
        </p:nvPicPr>
        <p:blipFill>
          <a:blip r:embed="rId4"/>
          <a:stretch/>
        </p:blipFill>
        <p:spPr>
          <a:xfrm>
            <a:off x="762000" y="6345917"/>
            <a:ext cx="9429750" cy="1652816"/>
          </a:xfrm>
          <a:prstGeom prst="rect">
            <a:avLst/>
          </a:prstGeom>
        </p:spPr>
      </p:pic>
      <p:sp>
        <p:nvSpPr>
          <p:cNvPr id="6" name="Six syntax families">
            <a:extLst>
              <a:ext uri="{FF2B5EF4-FFF2-40B4-BE49-F238E27FC236}">
                <a16:creationId xmlns:a16="http://schemas.microsoft.com/office/drawing/2014/main" id="{6111188F-AA61-4E07-8816-B5E70059CB50}"/>
              </a:ext>
            </a:extLst>
          </p:cNvPr>
          <p:cNvSpPr>
            <a:spLocks noGrp="1"/>
          </p:cNvSpPr>
          <p:nvPr/>
        </p:nvSpPr>
        <p:spPr>
          <a:xfrm>
            <a:off x="10763250" y="2457450"/>
            <a:ext cx="3714750" cy="714375"/>
          </a:xfrm>
          <a:prstGeom prst="rect">
            <a:avLst/>
          </a:prstGeom>
          <a:noFill/>
          <a:ln w="0">
            <a:noFill/>
          </a:ln>
        </p:spPr>
        <p:txBody>
          <a:bodyPr wrap="square" lIns="0" tIns="0" rIns="0" bIns="0" anchor="t">
            <a:noAutofit/>
          </a:bodyPr>
          <a:lstStyle>
            <a:defPPr>
              <a:defRPr sz="2775" b="1">
                <a:solidFill>
                  <a:srgbClr val="2956D7"/>
                </a:solidFill>
                <a:latin typeface="Arial"/>
                <a:ea typeface="Arial"/>
                <a:cs typeface="Arial"/>
              </a:defRPr>
            </a:defPPr>
            <a:lvl1pPr>
              <a:defRPr sz="2775" b="1">
                <a:solidFill>
                  <a:srgbClr val="2956D7"/>
                </a:solidFill>
                <a:latin typeface="Arial"/>
                <a:ea typeface="Arial"/>
                <a:cs typeface="Arial"/>
              </a:defRPr>
            </a:lvl1pPr>
            <a:lvl2pPr>
              <a:defRPr sz="2775" b="1">
                <a:solidFill>
                  <a:srgbClr val="2956D7"/>
                </a:solidFill>
                <a:latin typeface="Arial"/>
                <a:ea typeface="Arial"/>
                <a:cs typeface="Arial"/>
              </a:defRPr>
            </a:lvl2pPr>
            <a:lvl3pPr>
              <a:defRPr sz="2775" b="1">
                <a:solidFill>
                  <a:srgbClr val="2956D7"/>
                </a:solidFill>
                <a:latin typeface="Arial"/>
                <a:ea typeface="Arial"/>
                <a:cs typeface="Arial"/>
              </a:defRPr>
            </a:lvl3pPr>
            <a:lvl4pPr>
              <a:defRPr sz="2775" b="1">
                <a:solidFill>
                  <a:srgbClr val="2956D7"/>
                </a:solidFill>
                <a:latin typeface="Arial"/>
                <a:ea typeface="Arial"/>
                <a:cs typeface="Arial"/>
              </a:defRPr>
            </a:lvl4pPr>
            <a:lvl5pPr>
              <a:defRPr sz="2775" b="1">
                <a:solidFill>
                  <a:srgbClr val="2956D7"/>
                </a:solidFill>
                <a:latin typeface="Arial"/>
                <a:ea typeface="Arial"/>
                <a:cs typeface="Arial"/>
              </a:defRPr>
            </a:lvl5pPr>
            <a:lvl6pPr>
              <a:defRPr sz="2775" b="1">
                <a:solidFill>
                  <a:srgbClr val="2956D7"/>
                </a:solidFill>
                <a:latin typeface="Arial"/>
                <a:ea typeface="Arial"/>
                <a:cs typeface="Arial"/>
              </a:defRPr>
            </a:lvl6pPr>
            <a:lvl7pPr>
              <a:defRPr sz="2775" b="1">
                <a:solidFill>
                  <a:srgbClr val="2956D7"/>
                </a:solidFill>
                <a:latin typeface="Arial"/>
                <a:ea typeface="Arial"/>
                <a:cs typeface="Arial"/>
              </a:defRPr>
            </a:lvl7pPr>
            <a:lvl8pPr>
              <a:defRPr sz="2775" b="1">
                <a:solidFill>
                  <a:srgbClr val="2956D7"/>
                </a:solidFill>
                <a:latin typeface="Arial"/>
                <a:ea typeface="Arial"/>
                <a:cs typeface="Arial"/>
              </a:defRPr>
            </a:lvl8pPr>
            <a:lvl9pPr>
              <a:defRPr sz="2775" b="1">
                <a:solidFill>
                  <a:srgbClr val="2956D7"/>
                </a:solidFill>
                <a:latin typeface="Arial"/>
                <a:ea typeface="Arial"/>
                <a:cs typeface="Arial"/>
              </a:defRPr>
            </a:lvl9pPr>
          </a:lstStyle>
          <a:p>
            <a:pPr>
              <a:defRPr sz="2775" b="1">
                <a:solidFill>
                  <a:srgbClr val="2956D7"/>
                </a:solidFill>
                <a:latin typeface="Arial"/>
                <a:ea typeface="Arial"/>
                <a:cs typeface="Arial"/>
              </a:defRPr>
            </a:pPr>
            <a:r>
              <a:rPr sz="2775" b="1">
                <a:solidFill>
                  <a:srgbClr val="2956D7"/>
                </a:solidFill>
                <a:latin typeface="Arial"/>
                <a:ea typeface="Arial"/>
                <a:cs typeface="Arial"/>
              </a:rPr>
              <a:t>Six syntax families</a:t>
            </a:r>
          </a:p>
        </p:txBody>
      </p:sp>
      <p:sp>
        <p:nvSpPr>
          <p:cNvPr id="7" name="A typed function processes&#10;an array. Different out">
            <a:extLst>
              <a:ext uri="{FF2B5EF4-FFF2-40B4-BE49-F238E27FC236}">
                <a16:creationId xmlns:a16="http://schemas.microsoft.com/office/drawing/2014/main" id="{35063EDA-5FE1-44BC-A32D-FD9A993A2FB7}"/>
              </a:ext>
            </a:extLst>
          </p:cNvPr>
          <p:cNvSpPr>
            <a:spLocks noGrp="1"/>
          </p:cNvSpPr>
          <p:nvPr/>
        </p:nvSpPr>
        <p:spPr>
          <a:xfrm>
            <a:off x="10763250" y="3476625"/>
            <a:ext cx="3714750" cy="1809750"/>
          </a:xfrm>
          <a:prstGeom prst="rect">
            <a:avLst/>
          </a:prstGeom>
          <a:noFill/>
          <a:ln w="0">
            <a:noFill/>
          </a:ln>
        </p:spPr>
        <p:txBody>
          <a:bodyPr wrap="square" lIns="0" tIns="0" rIns="0" bIns="0" anchor="t">
            <a:noAutofit/>
          </a:bodyPr>
          <a:lstStyle>
            <a:defPPr>
              <a:defRPr sz="2325" b="0">
                <a:solidFill>
                  <a:srgbClr val="17273C"/>
                </a:solidFill>
                <a:latin typeface="Arial"/>
                <a:ea typeface="Arial"/>
                <a:cs typeface="Arial"/>
              </a:defRPr>
            </a:defPPr>
            <a:lvl1pPr>
              <a:defRPr sz="2325" b="0">
                <a:solidFill>
                  <a:srgbClr val="17273C"/>
                </a:solidFill>
                <a:latin typeface="Arial"/>
                <a:ea typeface="Arial"/>
                <a:cs typeface="Arial"/>
              </a:defRPr>
            </a:lvl1pPr>
            <a:lvl2pPr>
              <a:defRPr sz="2325" b="0">
                <a:solidFill>
                  <a:srgbClr val="17273C"/>
                </a:solidFill>
                <a:latin typeface="Arial"/>
                <a:ea typeface="Arial"/>
                <a:cs typeface="Arial"/>
              </a:defRPr>
            </a:lvl2pPr>
            <a:lvl3pPr>
              <a:defRPr sz="2325" b="0">
                <a:solidFill>
                  <a:srgbClr val="17273C"/>
                </a:solidFill>
                <a:latin typeface="Arial"/>
                <a:ea typeface="Arial"/>
                <a:cs typeface="Arial"/>
              </a:defRPr>
            </a:lvl3pPr>
            <a:lvl4pPr>
              <a:defRPr sz="2325" b="0">
                <a:solidFill>
                  <a:srgbClr val="17273C"/>
                </a:solidFill>
                <a:latin typeface="Arial"/>
                <a:ea typeface="Arial"/>
                <a:cs typeface="Arial"/>
              </a:defRPr>
            </a:lvl4pPr>
            <a:lvl5pPr>
              <a:defRPr sz="2325" b="0">
                <a:solidFill>
                  <a:srgbClr val="17273C"/>
                </a:solidFill>
                <a:latin typeface="Arial"/>
                <a:ea typeface="Arial"/>
                <a:cs typeface="Arial"/>
              </a:defRPr>
            </a:lvl5pPr>
            <a:lvl6pPr>
              <a:defRPr sz="2325" b="0">
                <a:solidFill>
                  <a:srgbClr val="17273C"/>
                </a:solidFill>
                <a:latin typeface="Arial"/>
                <a:ea typeface="Arial"/>
                <a:cs typeface="Arial"/>
              </a:defRPr>
            </a:lvl6pPr>
            <a:lvl7pPr>
              <a:defRPr sz="2325" b="0">
                <a:solidFill>
                  <a:srgbClr val="17273C"/>
                </a:solidFill>
                <a:latin typeface="Arial"/>
                <a:ea typeface="Arial"/>
                <a:cs typeface="Arial"/>
              </a:defRPr>
            </a:lvl7pPr>
            <a:lvl8pPr>
              <a:defRPr sz="2325" b="0">
                <a:solidFill>
                  <a:srgbClr val="17273C"/>
                </a:solidFill>
                <a:latin typeface="Arial"/>
                <a:ea typeface="Arial"/>
                <a:cs typeface="Arial"/>
              </a:defRPr>
            </a:lvl8pPr>
            <a:lvl9pPr>
              <a:defRPr sz="2325" b="0">
                <a:solidFill>
                  <a:srgbClr val="17273C"/>
                </a:solidFill>
                <a:latin typeface="Arial"/>
                <a:ea typeface="Arial"/>
                <a:cs typeface="Arial"/>
              </a:defRPr>
            </a:lvl9pPr>
          </a:lstStyle>
          <a:p>
            <a:pPr>
              <a:defRPr sz="2325" b="0">
                <a:solidFill>
                  <a:srgbClr val="17273C"/>
                </a:solidFill>
                <a:latin typeface="Arial"/>
                <a:ea typeface="Arial"/>
                <a:cs typeface="Arial"/>
              </a:defRPr>
            </a:pPr>
            <a:r>
              <a:rPr sz="2325" b="0">
                <a:solidFill>
                  <a:srgbClr val="17273C"/>
                </a:solidFill>
                <a:latin typeface="Arial"/>
                <a:ea typeface="Arial"/>
                <a:cs typeface="Arial"/>
              </a:rPr>
              <a:t>A typed function processes</a:t>
            </a:r>
          </a:p>
          <a:p>
            <a:pPr>
              <a:defRPr sz="2325" b="0">
                <a:solidFill>
                  <a:srgbClr val="17273C"/>
                </a:solidFill>
                <a:latin typeface="Arial"/>
                <a:ea typeface="Arial"/>
                <a:cs typeface="Arial"/>
              </a:defRPr>
            </a:pPr>
            <a:r>
              <a:rPr sz="2325" b="0">
                <a:solidFill>
                  <a:srgbClr val="17273C"/>
                </a:solidFill>
                <a:latin typeface="Arial"/>
                <a:ea typeface="Arial"/>
                <a:cs typeface="Arial"/>
              </a:rPr>
              <a:t>an array. Different output</a:t>
            </a:r>
          </a:p>
          <a:p>
            <a:pPr>
              <a:defRPr sz="2325" b="0">
                <a:solidFill>
                  <a:srgbClr val="17273C"/>
                </a:solidFill>
                <a:latin typeface="Arial"/>
                <a:ea typeface="Arial"/>
                <a:cs typeface="Arial"/>
              </a:defRPr>
            </a:pPr>
            <a:r>
              <a:rPr sz="2325" b="0">
                <a:solidFill>
                  <a:srgbClr val="17273C"/>
                </a:solidFill>
                <a:latin typeface="Arial"/>
                <a:ea typeface="Arial"/>
                <a:cs typeface="Arial"/>
              </a:rPr>
              <a:t>syntaxes share its result.</a:t>
            </a:r>
          </a:p>
        </p:txBody>
      </p:sp>
      <p:sp>
        <p:nvSpPr>
          <p:cNvPr id="8" name="Successful execution">
            <a:extLst>
              <a:ext uri="{FF2B5EF4-FFF2-40B4-BE49-F238E27FC236}">
                <a16:creationId xmlns:a16="http://schemas.microsoft.com/office/drawing/2014/main" id="{6940CFCF-46E6-4FC5-BDB9-48A28FF00DB2}"/>
              </a:ext>
            </a:extLst>
          </p:cNvPr>
          <p:cNvSpPr>
            <a:spLocks noGrp="1"/>
          </p:cNvSpPr>
          <p:nvPr/>
        </p:nvSpPr>
        <p:spPr>
          <a:xfrm>
            <a:off x="10763250" y="5857875"/>
            <a:ext cx="3714750" cy="523875"/>
          </a:xfrm>
          <a:prstGeom prst="rect">
            <a:avLst/>
          </a:prstGeom>
          <a:noFill/>
          <a:ln w="0">
            <a:noFill/>
          </a:ln>
        </p:spPr>
        <p:txBody>
          <a:bodyPr wrap="square" lIns="0" tIns="0" rIns="0" bIns="0" anchor="t">
            <a:noAutofit/>
          </a:bodyPr>
          <a:lstStyle>
            <a:defPPr>
              <a:defRPr sz="2475" b="1">
                <a:solidFill>
                  <a:srgbClr val="147B70"/>
                </a:solidFill>
                <a:latin typeface="Arial"/>
                <a:ea typeface="Arial"/>
                <a:cs typeface="Arial"/>
              </a:defRPr>
            </a:defPPr>
            <a:lvl1pPr>
              <a:defRPr sz="2475" b="1">
                <a:solidFill>
                  <a:srgbClr val="147B70"/>
                </a:solidFill>
                <a:latin typeface="Arial"/>
                <a:ea typeface="Arial"/>
                <a:cs typeface="Arial"/>
              </a:defRPr>
            </a:lvl1pPr>
            <a:lvl2pPr>
              <a:defRPr sz="2475" b="1">
                <a:solidFill>
                  <a:srgbClr val="147B70"/>
                </a:solidFill>
                <a:latin typeface="Arial"/>
                <a:ea typeface="Arial"/>
                <a:cs typeface="Arial"/>
              </a:defRPr>
            </a:lvl2pPr>
            <a:lvl3pPr>
              <a:defRPr sz="2475" b="1">
                <a:solidFill>
                  <a:srgbClr val="147B70"/>
                </a:solidFill>
                <a:latin typeface="Arial"/>
                <a:ea typeface="Arial"/>
                <a:cs typeface="Arial"/>
              </a:defRPr>
            </a:lvl3pPr>
            <a:lvl4pPr>
              <a:defRPr sz="2475" b="1">
                <a:solidFill>
                  <a:srgbClr val="147B70"/>
                </a:solidFill>
                <a:latin typeface="Arial"/>
                <a:ea typeface="Arial"/>
                <a:cs typeface="Arial"/>
              </a:defRPr>
            </a:lvl4pPr>
            <a:lvl5pPr>
              <a:defRPr sz="2475" b="1">
                <a:solidFill>
                  <a:srgbClr val="147B70"/>
                </a:solidFill>
                <a:latin typeface="Arial"/>
                <a:ea typeface="Arial"/>
                <a:cs typeface="Arial"/>
              </a:defRPr>
            </a:lvl5pPr>
            <a:lvl6pPr>
              <a:defRPr sz="2475" b="1">
                <a:solidFill>
                  <a:srgbClr val="147B70"/>
                </a:solidFill>
                <a:latin typeface="Arial"/>
                <a:ea typeface="Arial"/>
                <a:cs typeface="Arial"/>
              </a:defRPr>
            </a:lvl6pPr>
            <a:lvl7pPr>
              <a:defRPr sz="2475" b="1">
                <a:solidFill>
                  <a:srgbClr val="147B70"/>
                </a:solidFill>
                <a:latin typeface="Arial"/>
                <a:ea typeface="Arial"/>
                <a:cs typeface="Arial"/>
              </a:defRPr>
            </a:lvl7pPr>
            <a:lvl8pPr>
              <a:defRPr sz="2475" b="1">
                <a:solidFill>
                  <a:srgbClr val="147B70"/>
                </a:solidFill>
                <a:latin typeface="Arial"/>
                <a:ea typeface="Arial"/>
                <a:cs typeface="Arial"/>
              </a:defRPr>
            </a:lvl8pPr>
            <a:lvl9pPr>
              <a:defRPr sz="2475" b="1">
                <a:solidFill>
                  <a:srgbClr val="147B70"/>
                </a:solidFill>
                <a:latin typeface="Arial"/>
                <a:ea typeface="Arial"/>
                <a:cs typeface="Arial"/>
              </a:defRPr>
            </a:lvl9pPr>
          </a:lstStyle>
          <a:p>
            <a:pPr>
              <a:defRPr sz="2475" b="1">
                <a:solidFill>
                  <a:srgbClr val="147B70"/>
                </a:solidFill>
                <a:latin typeface="Arial"/>
                <a:ea typeface="Arial"/>
                <a:cs typeface="Arial"/>
              </a:defRPr>
            </a:pPr>
            <a:r>
              <a:rPr sz="2475" b="1">
                <a:solidFill>
                  <a:srgbClr val="147B70"/>
                </a:solidFill>
                <a:latin typeface="Arial"/>
                <a:ea typeface="Arial"/>
                <a:cs typeface="Arial"/>
              </a:rPr>
              <a:t>Successful execution</a:t>
            </a:r>
          </a:p>
        </p:txBody>
      </p:sp>
      <p:sp>
        <p:nvSpPr>
          <p:cNvPr id="9" name="Five output lines&#10;194 VM instructions">
            <a:extLst>
              <a:ext uri="{FF2B5EF4-FFF2-40B4-BE49-F238E27FC236}">
                <a16:creationId xmlns:a16="http://schemas.microsoft.com/office/drawing/2014/main" id="{BAEBB3AA-0E5A-4A05-A156-421F6A832A6C}"/>
              </a:ext>
            </a:extLst>
          </p:cNvPr>
          <p:cNvSpPr>
            <a:spLocks noGrp="1"/>
          </p:cNvSpPr>
          <p:nvPr/>
        </p:nvSpPr>
        <p:spPr>
          <a:xfrm>
            <a:off x="10763250" y="6619875"/>
            <a:ext cx="3714750" cy="1000125"/>
          </a:xfrm>
          <a:prstGeom prst="rect">
            <a:avLst/>
          </a:prstGeom>
          <a:noFill/>
          <a:ln w="0">
            <a:noFill/>
          </a:ln>
        </p:spPr>
        <p:txBody>
          <a:bodyPr wrap="square" lIns="0" tIns="0" rIns="0" bIns="0" anchor="t">
            <a:noAutofit/>
          </a:bodyPr>
          <a:lstStyle>
            <a:defPPr>
              <a:defRPr sz="2325" b="0">
                <a:solidFill>
                  <a:srgbClr val="596577"/>
                </a:solidFill>
                <a:latin typeface="Arial"/>
                <a:ea typeface="Arial"/>
                <a:cs typeface="Arial"/>
              </a:defRPr>
            </a:defPPr>
            <a:lvl1pPr>
              <a:defRPr sz="2325" b="0">
                <a:solidFill>
                  <a:srgbClr val="596577"/>
                </a:solidFill>
                <a:latin typeface="Arial"/>
                <a:ea typeface="Arial"/>
                <a:cs typeface="Arial"/>
              </a:defRPr>
            </a:lvl1pPr>
            <a:lvl2pPr>
              <a:defRPr sz="2325" b="0">
                <a:solidFill>
                  <a:srgbClr val="596577"/>
                </a:solidFill>
                <a:latin typeface="Arial"/>
                <a:ea typeface="Arial"/>
                <a:cs typeface="Arial"/>
              </a:defRPr>
            </a:lvl2pPr>
            <a:lvl3pPr>
              <a:defRPr sz="2325" b="0">
                <a:solidFill>
                  <a:srgbClr val="596577"/>
                </a:solidFill>
                <a:latin typeface="Arial"/>
                <a:ea typeface="Arial"/>
                <a:cs typeface="Arial"/>
              </a:defRPr>
            </a:lvl3pPr>
            <a:lvl4pPr>
              <a:defRPr sz="2325" b="0">
                <a:solidFill>
                  <a:srgbClr val="596577"/>
                </a:solidFill>
                <a:latin typeface="Arial"/>
                <a:ea typeface="Arial"/>
                <a:cs typeface="Arial"/>
              </a:defRPr>
            </a:lvl4pPr>
            <a:lvl5pPr>
              <a:defRPr sz="2325" b="0">
                <a:solidFill>
                  <a:srgbClr val="596577"/>
                </a:solidFill>
                <a:latin typeface="Arial"/>
                <a:ea typeface="Arial"/>
                <a:cs typeface="Arial"/>
              </a:defRPr>
            </a:lvl5pPr>
            <a:lvl6pPr>
              <a:defRPr sz="2325" b="0">
                <a:solidFill>
                  <a:srgbClr val="596577"/>
                </a:solidFill>
                <a:latin typeface="Arial"/>
                <a:ea typeface="Arial"/>
                <a:cs typeface="Arial"/>
              </a:defRPr>
            </a:lvl6pPr>
            <a:lvl7pPr>
              <a:defRPr sz="2325" b="0">
                <a:solidFill>
                  <a:srgbClr val="596577"/>
                </a:solidFill>
                <a:latin typeface="Arial"/>
                <a:ea typeface="Arial"/>
                <a:cs typeface="Arial"/>
              </a:defRPr>
            </a:lvl7pPr>
            <a:lvl8pPr>
              <a:defRPr sz="2325" b="0">
                <a:solidFill>
                  <a:srgbClr val="596577"/>
                </a:solidFill>
                <a:latin typeface="Arial"/>
                <a:ea typeface="Arial"/>
                <a:cs typeface="Arial"/>
              </a:defRPr>
            </a:lvl8pPr>
            <a:lvl9pPr>
              <a:defRPr sz="2325" b="0">
                <a:solidFill>
                  <a:srgbClr val="596577"/>
                </a:solidFill>
                <a:latin typeface="Arial"/>
                <a:ea typeface="Arial"/>
                <a:cs typeface="Arial"/>
              </a:defRPr>
            </a:lvl9pPr>
          </a:lstStyle>
          <a:p>
            <a:pPr>
              <a:defRPr sz="2325" b="0">
                <a:solidFill>
                  <a:srgbClr val="596577"/>
                </a:solidFill>
                <a:latin typeface="Arial"/>
                <a:ea typeface="Arial"/>
                <a:cs typeface="Arial"/>
              </a:defRPr>
            </a:pPr>
            <a:r>
              <a:rPr sz="2325" b="0">
                <a:solidFill>
                  <a:srgbClr val="596577"/>
                </a:solidFill>
                <a:latin typeface="Arial"/>
                <a:ea typeface="Arial"/>
                <a:cs typeface="Arial"/>
              </a:rPr>
              <a:t>Five output lines</a:t>
            </a:r>
          </a:p>
          <a:p>
            <a:pPr>
              <a:defRPr sz="2325" b="0">
                <a:solidFill>
                  <a:srgbClr val="596577"/>
                </a:solidFill>
                <a:latin typeface="Arial"/>
                <a:ea typeface="Arial"/>
                <a:cs typeface="Arial"/>
              </a:defRPr>
            </a:pPr>
            <a:r>
              <a:rPr sz="2325" b="0">
                <a:solidFill>
                  <a:srgbClr val="596577"/>
                </a:solidFill>
                <a:latin typeface="Arial"/>
                <a:ea typeface="Arial"/>
                <a:cs typeface="Arial"/>
              </a:rPr>
              <a:t>194 VM instructions</a:t>
            </a:r>
          </a:p>
        </p:txBody>
      </p:sp>
    </p:spTree>
    <p:extLst>
      <p:ext uri="{BB962C8B-B14F-4D97-AF65-F5344CB8AC3E}">
        <p14:creationId xmlns:p14="http://schemas.microsoft.com/office/powerpoint/2010/main" val="17267653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0" name="Working demo: arrays and functions">
            <a:extLst>
              <a:ext uri="{FF2B5EF4-FFF2-40B4-BE49-F238E27FC236}">
                <a16:creationId xmlns:a16="http://schemas.microsoft.com/office/drawing/2014/main" id="{74A66B98-76C5-432C-825C-00BF1D928ADF}"/>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defRPr sz="4350" b="1">
                <a:solidFill>
                  <a:srgbClr val="17273C"/>
                </a:solidFill>
                <a:latin typeface="Arial"/>
                <a:ea typeface="Arial"/>
                <a:cs typeface="Arial"/>
              </a:defRPr>
            </a:defPPr>
            <a:lvl1pPr>
              <a:defRPr sz="4350" b="1">
                <a:solidFill>
                  <a:srgbClr val="17273C"/>
                </a:solidFill>
                <a:latin typeface="Arial"/>
                <a:ea typeface="Arial"/>
                <a:cs typeface="Arial"/>
              </a:defRPr>
            </a:lvl1pPr>
            <a:lvl2pPr>
              <a:defRPr sz="4350" b="1">
                <a:solidFill>
                  <a:srgbClr val="17273C"/>
                </a:solidFill>
                <a:latin typeface="Arial"/>
                <a:ea typeface="Arial"/>
                <a:cs typeface="Arial"/>
              </a:defRPr>
            </a:lvl2pPr>
            <a:lvl3pPr>
              <a:defRPr sz="4350" b="1">
                <a:solidFill>
                  <a:srgbClr val="17273C"/>
                </a:solidFill>
                <a:latin typeface="Arial"/>
                <a:ea typeface="Arial"/>
                <a:cs typeface="Arial"/>
              </a:defRPr>
            </a:lvl3pPr>
            <a:lvl4pPr>
              <a:defRPr sz="4350" b="1">
                <a:solidFill>
                  <a:srgbClr val="17273C"/>
                </a:solidFill>
                <a:latin typeface="Arial"/>
                <a:ea typeface="Arial"/>
                <a:cs typeface="Arial"/>
              </a:defRPr>
            </a:lvl4pPr>
            <a:lvl5pPr>
              <a:defRPr sz="4350" b="1">
                <a:solidFill>
                  <a:srgbClr val="17273C"/>
                </a:solidFill>
                <a:latin typeface="Arial"/>
                <a:ea typeface="Arial"/>
                <a:cs typeface="Arial"/>
              </a:defRPr>
            </a:lvl5pPr>
            <a:lvl6pPr>
              <a:defRPr sz="4350" b="1">
                <a:solidFill>
                  <a:srgbClr val="17273C"/>
                </a:solidFill>
                <a:latin typeface="Arial"/>
                <a:ea typeface="Arial"/>
                <a:cs typeface="Arial"/>
              </a:defRPr>
            </a:lvl6pPr>
            <a:lvl7pPr>
              <a:defRPr sz="4350" b="1">
                <a:solidFill>
                  <a:srgbClr val="17273C"/>
                </a:solidFill>
                <a:latin typeface="Arial"/>
                <a:ea typeface="Arial"/>
                <a:cs typeface="Arial"/>
              </a:defRPr>
            </a:lvl7pPr>
            <a:lvl8pPr>
              <a:defRPr sz="4350" b="1">
                <a:solidFill>
                  <a:srgbClr val="17273C"/>
                </a:solidFill>
                <a:latin typeface="Arial"/>
                <a:ea typeface="Arial"/>
                <a:cs typeface="Arial"/>
              </a:defRPr>
            </a:lvl8pPr>
            <a:lvl9pPr>
              <a:defRPr sz="4350" b="1">
                <a:solidFill>
                  <a:srgbClr val="17273C"/>
                </a:solidFill>
                <a:latin typeface="Arial"/>
                <a:ea typeface="Arial"/>
                <a:cs typeface="Arial"/>
              </a:defRPr>
            </a:lvl9pPr>
          </a:lstStyle>
          <a:p>
            <a:pPr>
              <a:defRPr sz="4350" b="1">
                <a:solidFill>
                  <a:srgbClr val="17273C"/>
                </a:solidFill>
                <a:latin typeface="Arial"/>
                <a:ea typeface="Arial"/>
                <a:cs typeface="Arial"/>
              </a:defRPr>
            </a:pPr>
            <a:r>
              <a:rPr sz="4350" b="1">
                <a:solidFill>
                  <a:srgbClr val="17273C"/>
                </a:solidFill>
                <a:latin typeface="Arial"/>
                <a:ea typeface="Arial"/>
                <a:cs typeface="Arial"/>
              </a:rPr>
              <a:t>Working demo: arrays and functions</a:t>
            </a:r>
          </a:p>
        </p:txBody>
      </p:sp>
      <p:sp>
        <p:nvSpPr>
          <p:cNvPr id="2" name="arrays_mixed.poly shares typed arrays across synta">
            <a:extLst>
              <a:ext uri="{FF2B5EF4-FFF2-40B4-BE49-F238E27FC236}">
                <a16:creationId xmlns:a16="http://schemas.microsoft.com/office/drawing/2014/main" id="{4525E501-A5A0-4901-9482-8524D6C2410E}"/>
              </a:ext>
            </a:extLst>
          </p:cNvPr>
          <p:cNvSpPr>
            <a:spLocks noGrp="1"/>
          </p:cNvSpPr>
          <p:nvPr/>
        </p:nvSpPr>
        <p:spPr>
          <a:xfrm>
            <a:off x="781050" y="1581150"/>
            <a:ext cx="13620750" cy="514350"/>
          </a:xfrm>
          <a:prstGeom prst="rect">
            <a:avLst/>
          </a:prstGeom>
          <a:noFill/>
          <a:ln w="0">
            <a:noFill/>
          </a:ln>
        </p:spPr>
        <p:txBody>
          <a:bodyPr wrap="square" lIns="0" tIns="0" rIns="0" bIns="0" anchor="t">
            <a:noAutofit/>
          </a:bodyPr>
          <a:lstStyle>
            <a:defPPr>
              <a:defRPr sz="2250" b="0">
                <a:solidFill>
                  <a:srgbClr val="596577"/>
                </a:solidFill>
                <a:latin typeface="Arial"/>
                <a:ea typeface="Arial"/>
                <a:cs typeface="Arial"/>
              </a:defRPr>
            </a:defPPr>
            <a:lvl1pPr>
              <a:defRPr sz="2250" b="0">
                <a:solidFill>
                  <a:srgbClr val="596577"/>
                </a:solidFill>
                <a:latin typeface="Arial"/>
                <a:ea typeface="Arial"/>
                <a:cs typeface="Arial"/>
              </a:defRPr>
            </a:lvl1pPr>
            <a:lvl2pPr>
              <a:defRPr sz="2250" b="0">
                <a:solidFill>
                  <a:srgbClr val="596577"/>
                </a:solidFill>
                <a:latin typeface="Arial"/>
                <a:ea typeface="Arial"/>
                <a:cs typeface="Arial"/>
              </a:defRPr>
            </a:lvl2pPr>
            <a:lvl3pPr>
              <a:defRPr sz="2250" b="0">
                <a:solidFill>
                  <a:srgbClr val="596577"/>
                </a:solidFill>
                <a:latin typeface="Arial"/>
                <a:ea typeface="Arial"/>
                <a:cs typeface="Arial"/>
              </a:defRPr>
            </a:lvl3pPr>
            <a:lvl4pPr>
              <a:defRPr sz="2250" b="0">
                <a:solidFill>
                  <a:srgbClr val="596577"/>
                </a:solidFill>
                <a:latin typeface="Arial"/>
                <a:ea typeface="Arial"/>
                <a:cs typeface="Arial"/>
              </a:defRPr>
            </a:lvl4pPr>
            <a:lvl5pPr>
              <a:defRPr sz="2250" b="0">
                <a:solidFill>
                  <a:srgbClr val="596577"/>
                </a:solidFill>
                <a:latin typeface="Arial"/>
                <a:ea typeface="Arial"/>
                <a:cs typeface="Arial"/>
              </a:defRPr>
            </a:lvl5pPr>
            <a:lvl6pPr>
              <a:defRPr sz="2250" b="0">
                <a:solidFill>
                  <a:srgbClr val="596577"/>
                </a:solidFill>
                <a:latin typeface="Arial"/>
                <a:ea typeface="Arial"/>
                <a:cs typeface="Arial"/>
              </a:defRPr>
            </a:lvl6pPr>
            <a:lvl7pPr>
              <a:defRPr sz="2250" b="0">
                <a:solidFill>
                  <a:srgbClr val="596577"/>
                </a:solidFill>
                <a:latin typeface="Arial"/>
                <a:ea typeface="Arial"/>
                <a:cs typeface="Arial"/>
              </a:defRPr>
            </a:lvl7pPr>
            <a:lvl8pPr>
              <a:defRPr sz="2250" b="0">
                <a:solidFill>
                  <a:srgbClr val="596577"/>
                </a:solidFill>
                <a:latin typeface="Arial"/>
                <a:ea typeface="Arial"/>
                <a:cs typeface="Arial"/>
              </a:defRPr>
            </a:lvl8pPr>
            <a:lvl9pPr>
              <a:defRPr sz="2250" b="0">
                <a:solidFill>
                  <a:srgbClr val="596577"/>
                </a:solidFill>
                <a:latin typeface="Arial"/>
                <a:ea typeface="Arial"/>
                <a:cs typeface="Arial"/>
              </a:defRPr>
            </a:lvl9pPr>
          </a:lstStyle>
          <a:p>
            <a:pPr>
              <a:defRPr sz="2250" b="0">
                <a:solidFill>
                  <a:srgbClr val="596577"/>
                </a:solidFill>
                <a:latin typeface="Arial"/>
                <a:ea typeface="Arial"/>
                <a:cs typeface="Arial"/>
              </a:defRPr>
            </a:pPr>
            <a:r>
              <a:rPr sz="2250" b="0">
                <a:solidFill>
                  <a:srgbClr val="596577"/>
                </a:solidFill>
                <a:latin typeface="Arial"/>
                <a:ea typeface="Arial"/>
                <a:cs typeface="Arial"/>
              </a:rPr>
              <a:t>arrays_mixed.poly shares typed arrays across syntax families</a:t>
            </a:r>
          </a:p>
        </p:txBody>
      </p:sp>
      <p:sp>
        <p:nvSpPr>
          <p:cNvPr id="3" name="30">
            <a:extLst>
              <a:ext uri="{FF2B5EF4-FFF2-40B4-BE49-F238E27FC236}">
                <a16:creationId xmlns:a16="http://schemas.microsoft.com/office/drawing/2014/main" id="{33ACCE60-4188-4669-99A1-EA563A25E566}"/>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defRPr sz="1500" b="0">
                <a:solidFill>
                  <a:srgbClr val="596577"/>
                </a:solidFill>
                <a:latin typeface="Arial"/>
                <a:ea typeface="Arial"/>
                <a:cs typeface="Arial"/>
              </a:defRPr>
            </a:defPPr>
            <a:lvl1pPr>
              <a:defRPr sz="1500" b="0">
                <a:solidFill>
                  <a:srgbClr val="596577"/>
                </a:solidFill>
                <a:latin typeface="Arial"/>
                <a:ea typeface="Arial"/>
                <a:cs typeface="Arial"/>
              </a:defRPr>
            </a:lvl1pPr>
            <a:lvl2pPr>
              <a:defRPr sz="1500" b="0">
                <a:solidFill>
                  <a:srgbClr val="596577"/>
                </a:solidFill>
                <a:latin typeface="Arial"/>
                <a:ea typeface="Arial"/>
                <a:cs typeface="Arial"/>
              </a:defRPr>
            </a:lvl2pPr>
            <a:lvl3pPr>
              <a:defRPr sz="1500" b="0">
                <a:solidFill>
                  <a:srgbClr val="596577"/>
                </a:solidFill>
                <a:latin typeface="Arial"/>
                <a:ea typeface="Arial"/>
                <a:cs typeface="Arial"/>
              </a:defRPr>
            </a:lvl3pPr>
            <a:lvl4pPr>
              <a:defRPr sz="1500" b="0">
                <a:solidFill>
                  <a:srgbClr val="596577"/>
                </a:solidFill>
                <a:latin typeface="Arial"/>
                <a:ea typeface="Arial"/>
                <a:cs typeface="Arial"/>
              </a:defRPr>
            </a:lvl4pPr>
            <a:lvl5pPr>
              <a:defRPr sz="1500" b="0">
                <a:solidFill>
                  <a:srgbClr val="596577"/>
                </a:solidFill>
                <a:latin typeface="Arial"/>
                <a:ea typeface="Arial"/>
                <a:cs typeface="Arial"/>
              </a:defRPr>
            </a:lvl5pPr>
            <a:lvl6pPr>
              <a:defRPr sz="1500" b="0">
                <a:solidFill>
                  <a:srgbClr val="596577"/>
                </a:solidFill>
                <a:latin typeface="Arial"/>
                <a:ea typeface="Arial"/>
                <a:cs typeface="Arial"/>
              </a:defRPr>
            </a:lvl6pPr>
            <a:lvl7pPr>
              <a:defRPr sz="1500" b="0">
                <a:solidFill>
                  <a:srgbClr val="596577"/>
                </a:solidFill>
                <a:latin typeface="Arial"/>
                <a:ea typeface="Arial"/>
                <a:cs typeface="Arial"/>
              </a:defRPr>
            </a:lvl7pPr>
            <a:lvl8pPr>
              <a:defRPr sz="1500" b="0">
                <a:solidFill>
                  <a:srgbClr val="596577"/>
                </a:solidFill>
                <a:latin typeface="Arial"/>
                <a:ea typeface="Arial"/>
                <a:cs typeface="Arial"/>
              </a:defRPr>
            </a:lvl8pPr>
            <a:lvl9pPr>
              <a:defRPr sz="1500" b="0">
                <a:solidFill>
                  <a:srgbClr val="596577"/>
                </a:solidFill>
                <a:latin typeface="Arial"/>
                <a:ea typeface="Arial"/>
                <a:cs typeface="Arial"/>
              </a:defRPr>
            </a:lvl9pPr>
          </a:lstStyle>
          <a:p>
            <a:pPr>
              <a:defRPr sz="1500" b="0">
                <a:solidFill>
                  <a:srgbClr val="596577"/>
                </a:solidFill>
                <a:latin typeface="Arial"/>
                <a:ea typeface="Arial"/>
                <a:cs typeface="Arial"/>
              </a:defRPr>
            </a:pPr>
            <a:r>
              <a:rPr sz="1500" b="0">
                <a:solidFill>
                  <a:srgbClr val="596577"/>
                </a:solidFill>
                <a:latin typeface="Arial"/>
                <a:ea typeface="Arial"/>
                <a:cs typeface="Arial"/>
              </a:rPr>
              <a:t>30</a:t>
            </a:r>
          </a:p>
        </p:txBody>
      </p:sp>
      <p:pic>
        <p:nvPicPr>
          <p:cNvPr id="4" name="Picture 3">
            <a:extLst>
              <a:ext uri="{FF2B5EF4-FFF2-40B4-BE49-F238E27FC236}">
                <a16:creationId xmlns:a16="http://schemas.microsoft.com/office/drawing/2014/main" id="{0095DDC8-A8FF-433C-9B8A-EA4077F4F01A}"/>
              </a:ext>
            </a:extLst>
          </p:cNvPr>
          <p:cNvPicPr>
            <a:picLocks noChangeAspect="1"/>
          </p:cNvPicPr>
          <p:nvPr/>
        </p:nvPicPr>
        <p:blipFill>
          <a:blip r:embed="rId3"/>
          <a:stretch/>
        </p:blipFill>
        <p:spPr>
          <a:xfrm>
            <a:off x="762000" y="2325471"/>
            <a:ext cx="9429750" cy="3740583"/>
          </a:xfrm>
          <a:prstGeom prst="rect">
            <a:avLst/>
          </a:prstGeom>
        </p:spPr>
      </p:pic>
      <p:pic>
        <p:nvPicPr>
          <p:cNvPr id="5" name="Picture 4">
            <a:extLst>
              <a:ext uri="{FF2B5EF4-FFF2-40B4-BE49-F238E27FC236}">
                <a16:creationId xmlns:a16="http://schemas.microsoft.com/office/drawing/2014/main" id="{AE1AE5C1-17F3-4FC4-A2CD-B095775B6FA1}"/>
              </a:ext>
            </a:extLst>
          </p:cNvPr>
          <p:cNvPicPr>
            <a:picLocks noChangeAspect="1"/>
          </p:cNvPicPr>
          <p:nvPr/>
        </p:nvPicPr>
        <p:blipFill>
          <a:blip r:embed="rId4"/>
          <a:stretch/>
        </p:blipFill>
        <p:spPr>
          <a:xfrm>
            <a:off x="762000" y="6345917"/>
            <a:ext cx="9429750" cy="1652816"/>
          </a:xfrm>
          <a:prstGeom prst="rect">
            <a:avLst/>
          </a:prstGeom>
        </p:spPr>
      </p:pic>
      <p:sp>
        <p:nvSpPr>
          <p:cNvPr id="6" name="Checked array access">
            <a:extLst>
              <a:ext uri="{FF2B5EF4-FFF2-40B4-BE49-F238E27FC236}">
                <a16:creationId xmlns:a16="http://schemas.microsoft.com/office/drawing/2014/main" id="{B55F09A2-B267-42CB-B81F-14B91C2A068C}"/>
              </a:ext>
            </a:extLst>
          </p:cNvPr>
          <p:cNvSpPr>
            <a:spLocks noGrp="1"/>
          </p:cNvSpPr>
          <p:nvPr/>
        </p:nvSpPr>
        <p:spPr>
          <a:xfrm>
            <a:off x="10763250" y="2524125"/>
            <a:ext cx="3714750" cy="857250"/>
          </a:xfrm>
          <a:prstGeom prst="rect">
            <a:avLst/>
          </a:prstGeom>
          <a:noFill/>
          <a:ln w="0">
            <a:noFill/>
          </a:ln>
        </p:spPr>
        <p:txBody>
          <a:bodyPr wrap="square" lIns="0" tIns="0" rIns="0" bIns="0" anchor="t">
            <a:noAutofit/>
          </a:bodyPr>
          <a:lstStyle>
            <a:defPPr>
              <a:defRPr sz="2700" b="1">
                <a:solidFill>
                  <a:srgbClr val="2956D7"/>
                </a:solidFill>
                <a:latin typeface="Arial"/>
                <a:ea typeface="Arial"/>
                <a:cs typeface="Arial"/>
              </a:defRPr>
            </a:defPPr>
            <a:lvl1pPr>
              <a:defRPr sz="2700" b="1">
                <a:solidFill>
                  <a:srgbClr val="2956D7"/>
                </a:solidFill>
                <a:latin typeface="Arial"/>
                <a:ea typeface="Arial"/>
                <a:cs typeface="Arial"/>
              </a:defRPr>
            </a:lvl1pPr>
            <a:lvl2pPr>
              <a:defRPr sz="2700" b="1">
                <a:solidFill>
                  <a:srgbClr val="2956D7"/>
                </a:solidFill>
                <a:latin typeface="Arial"/>
                <a:ea typeface="Arial"/>
                <a:cs typeface="Arial"/>
              </a:defRPr>
            </a:lvl2pPr>
            <a:lvl3pPr>
              <a:defRPr sz="2700" b="1">
                <a:solidFill>
                  <a:srgbClr val="2956D7"/>
                </a:solidFill>
                <a:latin typeface="Arial"/>
                <a:ea typeface="Arial"/>
                <a:cs typeface="Arial"/>
              </a:defRPr>
            </a:lvl3pPr>
            <a:lvl4pPr>
              <a:defRPr sz="2700" b="1">
                <a:solidFill>
                  <a:srgbClr val="2956D7"/>
                </a:solidFill>
                <a:latin typeface="Arial"/>
                <a:ea typeface="Arial"/>
                <a:cs typeface="Arial"/>
              </a:defRPr>
            </a:lvl4pPr>
            <a:lvl5pPr>
              <a:defRPr sz="2700" b="1">
                <a:solidFill>
                  <a:srgbClr val="2956D7"/>
                </a:solidFill>
                <a:latin typeface="Arial"/>
                <a:ea typeface="Arial"/>
                <a:cs typeface="Arial"/>
              </a:defRPr>
            </a:lvl5pPr>
            <a:lvl6pPr>
              <a:defRPr sz="2700" b="1">
                <a:solidFill>
                  <a:srgbClr val="2956D7"/>
                </a:solidFill>
                <a:latin typeface="Arial"/>
                <a:ea typeface="Arial"/>
                <a:cs typeface="Arial"/>
              </a:defRPr>
            </a:lvl6pPr>
            <a:lvl7pPr>
              <a:defRPr sz="2700" b="1">
                <a:solidFill>
                  <a:srgbClr val="2956D7"/>
                </a:solidFill>
                <a:latin typeface="Arial"/>
                <a:ea typeface="Arial"/>
                <a:cs typeface="Arial"/>
              </a:defRPr>
            </a:lvl7pPr>
            <a:lvl8pPr>
              <a:defRPr sz="2700" b="1">
                <a:solidFill>
                  <a:srgbClr val="2956D7"/>
                </a:solidFill>
                <a:latin typeface="Arial"/>
                <a:ea typeface="Arial"/>
                <a:cs typeface="Arial"/>
              </a:defRPr>
            </a:lvl8pPr>
            <a:lvl9pPr>
              <a:defRPr sz="2700" b="1">
                <a:solidFill>
                  <a:srgbClr val="2956D7"/>
                </a:solidFill>
                <a:latin typeface="Arial"/>
                <a:ea typeface="Arial"/>
                <a:cs typeface="Arial"/>
              </a:defRPr>
            </a:lvl9pPr>
          </a:lstStyle>
          <a:p>
            <a:pPr>
              <a:defRPr sz="2700" b="1">
                <a:solidFill>
                  <a:srgbClr val="2956D7"/>
                </a:solidFill>
                <a:latin typeface="Arial"/>
                <a:ea typeface="Arial"/>
                <a:cs typeface="Arial"/>
              </a:defRPr>
            </a:pPr>
            <a:r>
              <a:rPr sz="2700" b="1">
                <a:solidFill>
                  <a:srgbClr val="2956D7"/>
                </a:solidFill>
                <a:latin typeface="Arial"/>
                <a:ea typeface="Arial"/>
                <a:cs typeface="Arial"/>
              </a:rPr>
              <a:t>Checked array access</a:t>
            </a:r>
          </a:p>
        </p:txBody>
      </p:sp>
      <p:sp>
        <p:nvSpPr>
          <p:cNvPr id="7" name="An indexed update changes&#10;one element. The functio">
            <a:extLst>
              <a:ext uri="{FF2B5EF4-FFF2-40B4-BE49-F238E27FC236}">
                <a16:creationId xmlns:a16="http://schemas.microsoft.com/office/drawing/2014/main" id="{CBECFD9B-3F23-4A47-B983-27C5DBA1D7C5}"/>
              </a:ext>
            </a:extLst>
          </p:cNvPr>
          <p:cNvSpPr>
            <a:spLocks noGrp="1"/>
          </p:cNvSpPr>
          <p:nvPr/>
        </p:nvSpPr>
        <p:spPr>
          <a:xfrm>
            <a:off x="10763250" y="3686175"/>
            <a:ext cx="3714750" cy="1619250"/>
          </a:xfrm>
          <a:prstGeom prst="rect">
            <a:avLst/>
          </a:prstGeom>
          <a:noFill/>
          <a:ln w="0">
            <a:noFill/>
          </a:ln>
        </p:spPr>
        <p:txBody>
          <a:bodyPr wrap="square" lIns="0" tIns="0" rIns="0" bIns="0" anchor="t">
            <a:noAutofit/>
          </a:bodyPr>
          <a:lstStyle>
            <a:defPPr>
              <a:defRPr sz="2250" b="0">
                <a:solidFill>
                  <a:srgbClr val="17273C"/>
                </a:solidFill>
                <a:latin typeface="Arial"/>
                <a:ea typeface="Arial"/>
                <a:cs typeface="Arial"/>
              </a:defRPr>
            </a:defPPr>
            <a:lvl1pPr>
              <a:defRPr sz="2250" b="0">
                <a:solidFill>
                  <a:srgbClr val="17273C"/>
                </a:solidFill>
                <a:latin typeface="Arial"/>
                <a:ea typeface="Arial"/>
                <a:cs typeface="Arial"/>
              </a:defRPr>
            </a:lvl1pPr>
            <a:lvl2pPr>
              <a:defRPr sz="2250" b="0">
                <a:solidFill>
                  <a:srgbClr val="17273C"/>
                </a:solidFill>
                <a:latin typeface="Arial"/>
                <a:ea typeface="Arial"/>
                <a:cs typeface="Arial"/>
              </a:defRPr>
            </a:lvl2pPr>
            <a:lvl3pPr>
              <a:defRPr sz="2250" b="0">
                <a:solidFill>
                  <a:srgbClr val="17273C"/>
                </a:solidFill>
                <a:latin typeface="Arial"/>
                <a:ea typeface="Arial"/>
                <a:cs typeface="Arial"/>
              </a:defRPr>
            </a:lvl3pPr>
            <a:lvl4pPr>
              <a:defRPr sz="2250" b="0">
                <a:solidFill>
                  <a:srgbClr val="17273C"/>
                </a:solidFill>
                <a:latin typeface="Arial"/>
                <a:ea typeface="Arial"/>
                <a:cs typeface="Arial"/>
              </a:defRPr>
            </a:lvl4pPr>
            <a:lvl5pPr>
              <a:defRPr sz="2250" b="0">
                <a:solidFill>
                  <a:srgbClr val="17273C"/>
                </a:solidFill>
                <a:latin typeface="Arial"/>
                <a:ea typeface="Arial"/>
                <a:cs typeface="Arial"/>
              </a:defRPr>
            </a:lvl5pPr>
            <a:lvl6pPr>
              <a:defRPr sz="2250" b="0">
                <a:solidFill>
                  <a:srgbClr val="17273C"/>
                </a:solidFill>
                <a:latin typeface="Arial"/>
                <a:ea typeface="Arial"/>
                <a:cs typeface="Arial"/>
              </a:defRPr>
            </a:lvl6pPr>
            <a:lvl7pPr>
              <a:defRPr sz="2250" b="0">
                <a:solidFill>
                  <a:srgbClr val="17273C"/>
                </a:solidFill>
                <a:latin typeface="Arial"/>
                <a:ea typeface="Arial"/>
                <a:cs typeface="Arial"/>
              </a:defRPr>
            </a:lvl7pPr>
            <a:lvl8pPr>
              <a:defRPr sz="2250" b="0">
                <a:solidFill>
                  <a:srgbClr val="17273C"/>
                </a:solidFill>
                <a:latin typeface="Arial"/>
                <a:ea typeface="Arial"/>
                <a:cs typeface="Arial"/>
              </a:defRPr>
            </a:lvl8pPr>
            <a:lvl9pPr>
              <a:defRPr sz="2250" b="0">
                <a:solidFill>
                  <a:srgbClr val="17273C"/>
                </a:solidFill>
                <a:latin typeface="Arial"/>
                <a:ea typeface="Arial"/>
                <a:cs typeface="Arial"/>
              </a:defRPr>
            </a:lvl9pPr>
          </a:lstStyle>
          <a:p>
            <a:pPr>
              <a:defRPr sz="2250" b="0">
                <a:solidFill>
                  <a:srgbClr val="17273C"/>
                </a:solidFill>
                <a:latin typeface="Arial"/>
                <a:ea typeface="Arial"/>
                <a:cs typeface="Arial"/>
              </a:defRPr>
            </a:pPr>
            <a:r>
              <a:rPr sz="2250" b="0">
                <a:solidFill>
                  <a:srgbClr val="17273C"/>
                </a:solidFill>
                <a:latin typeface="Arial"/>
                <a:ea typeface="Arial"/>
                <a:cs typeface="Arial"/>
              </a:rPr>
              <a:t>An indexed update changes</a:t>
            </a:r>
          </a:p>
          <a:p>
            <a:pPr>
              <a:defRPr sz="2250" b="0">
                <a:solidFill>
                  <a:srgbClr val="17273C"/>
                </a:solidFill>
                <a:latin typeface="Arial"/>
                <a:ea typeface="Arial"/>
                <a:cs typeface="Arial"/>
              </a:defRPr>
            </a:pPr>
            <a:r>
              <a:rPr sz="2250" b="0">
                <a:solidFill>
                  <a:srgbClr val="17273C"/>
                </a:solidFill>
                <a:latin typeface="Arial"/>
                <a:ea typeface="Arial"/>
                <a:cs typeface="Arial"/>
              </a:rPr>
              <a:t>one element. The function</a:t>
            </a:r>
          </a:p>
          <a:p>
            <a:pPr>
              <a:defRPr sz="2250" b="0">
                <a:solidFill>
                  <a:srgbClr val="17273C"/>
                </a:solidFill>
                <a:latin typeface="Arial"/>
                <a:ea typeface="Arial"/>
                <a:cs typeface="Arial"/>
              </a:defRPr>
            </a:pPr>
            <a:r>
              <a:rPr sz="2250" b="0">
                <a:solidFill>
                  <a:srgbClr val="17273C"/>
                </a:solidFill>
                <a:latin typeface="Arial"/>
                <a:ea typeface="Arial"/>
                <a:cs typeface="Arial"/>
              </a:rPr>
              <a:t>computes the new sum.</a:t>
            </a:r>
          </a:p>
        </p:txBody>
      </p:sp>
      <p:sp>
        <p:nvSpPr>
          <p:cNvPr id="8" name="Output">
            <a:extLst>
              <a:ext uri="{FF2B5EF4-FFF2-40B4-BE49-F238E27FC236}">
                <a16:creationId xmlns:a16="http://schemas.microsoft.com/office/drawing/2014/main" id="{61334B9A-684D-450F-8160-2A19B553C28D}"/>
              </a:ext>
            </a:extLst>
          </p:cNvPr>
          <p:cNvSpPr>
            <a:spLocks noGrp="1"/>
          </p:cNvSpPr>
          <p:nvPr/>
        </p:nvSpPr>
        <p:spPr>
          <a:xfrm>
            <a:off x="10763250" y="5810250"/>
            <a:ext cx="3714750" cy="523875"/>
          </a:xfrm>
          <a:prstGeom prst="rect">
            <a:avLst/>
          </a:prstGeom>
          <a:noFill/>
          <a:ln w="0">
            <a:noFill/>
          </a:ln>
        </p:spPr>
        <p:txBody>
          <a:bodyPr wrap="square" lIns="0" tIns="0" rIns="0" bIns="0" anchor="t">
            <a:noAutofit/>
          </a:bodyPr>
          <a:lstStyle>
            <a:defPPr>
              <a:defRPr sz="2700" b="1">
                <a:solidFill>
                  <a:srgbClr val="147B70"/>
                </a:solidFill>
                <a:latin typeface="Arial"/>
                <a:ea typeface="Arial"/>
                <a:cs typeface="Arial"/>
              </a:defRPr>
            </a:defPPr>
            <a:lvl1pPr>
              <a:defRPr sz="2700" b="1">
                <a:solidFill>
                  <a:srgbClr val="147B70"/>
                </a:solidFill>
                <a:latin typeface="Arial"/>
                <a:ea typeface="Arial"/>
                <a:cs typeface="Arial"/>
              </a:defRPr>
            </a:lvl1pPr>
            <a:lvl2pPr>
              <a:defRPr sz="2700" b="1">
                <a:solidFill>
                  <a:srgbClr val="147B70"/>
                </a:solidFill>
                <a:latin typeface="Arial"/>
                <a:ea typeface="Arial"/>
                <a:cs typeface="Arial"/>
              </a:defRPr>
            </a:lvl2pPr>
            <a:lvl3pPr>
              <a:defRPr sz="2700" b="1">
                <a:solidFill>
                  <a:srgbClr val="147B70"/>
                </a:solidFill>
                <a:latin typeface="Arial"/>
                <a:ea typeface="Arial"/>
                <a:cs typeface="Arial"/>
              </a:defRPr>
            </a:lvl3pPr>
            <a:lvl4pPr>
              <a:defRPr sz="2700" b="1">
                <a:solidFill>
                  <a:srgbClr val="147B70"/>
                </a:solidFill>
                <a:latin typeface="Arial"/>
                <a:ea typeface="Arial"/>
                <a:cs typeface="Arial"/>
              </a:defRPr>
            </a:lvl4pPr>
            <a:lvl5pPr>
              <a:defRPr sz="2700" b="1">
                <a:solidFill>
                  <a:srgbClr val="147B70"/>
                </a:solidFill>
                <a:latin typeface="Arial"/>
                <a:ea typeface="Arial"/>
                <a:cs typeface="Arial"/>
              </a:defRPr>
            </a:lvl5pPr>
            <a:lvl6pPr>
              <a:defRPr sz="2700" b="1">
                <a:solidFill>
                  <a:srgbClr val="147B70"/>
                </a:solidFill>
                <a:latin typeface="Arial"/>
                <a:ea typeface="Arial"/>
                <a:cs typeface="Arial"/>
              </a:defRPr>
            </a:lvl6pPr>
            <a:lvl7pPr>
              <a:defRPr sz="2700" b="1">
                <a:solidFill>
                  <a:srgbClr val="147B70"/>
                </a:solidFill>
                <a:latin typeface="Arial"/>
                <a:ea typeface="Arial"/>
                <a:cs typeface="Arial"/>
              </a:defRPr>
            </a:lvl7pPr>
            <a:lvl8pPr>
              <a:defRPr sz="2700" b="1">
                <a:solidFill>
                  <a:srgbClr val="147B70"/>
                </a:solidFill>
                <a:latin typeface="Arial"/>
                <a:ea typeface="Arial"/>
                <a:cs typeface="Arial"/>
              </a:defRPr>
            </a:lvl8pPr>
            <a:lvl9pPr>
              <a:defRPr sz="2700" b="1">
                <a:solidFill>
                  <a:srgbClr val="147B70"/>
                </a:solidFill>
                <a:latin typeface="Arial"/>
                <a:ea typeface="Arial"/>
                <a:cs typeface="Arial"/>
              </a:defRPr>
            </a:lvl9pPr>
          </a:lstStyle>
          <a:p>
            <a:pPr>
              <a:defRPr sz="2700" b="1">
                <a:solidFill>
                  <a:srgbClr val="147B70"/>
                </a:solidFill>
                <a:latin typeface="Arial"/>
                <a:ea typeface="Arial"/>
                <a:cs typeface="Arial"/>
              </a:defRPr>
            </a:pPr>
            <a:r>
              <a:rPr sz="2700" b="1">
                <a:solidFill>
                  <a:srgbClr val="147B70"/>
                </a:solidFill>
                <a:latin typeface="Arial"/>
                <a:ea typeface="Arial"/>
                <a:cs typeface="Arial"/>
              </a:rPr>
              <a:t>Output</a:t>
            </a:r>
          </a:p>
        </p:txBody>
      </p:sp>
      <p:sp>
        <p:nvSpPr>
          <p:cNvPr id="9" name="15&#10;7&#10;[1, 7, 3, 4] 4">
            <a:extLst>
              <a:ext uri="{FF2B5EF4-FFF2-40B4-BE49-F238E27FC236}">
                <a16:creationId xmlns:a16="http://schemas.microsoft.com/office/drawing/2014/main" id="{7DB8C1D6-055B-453D-BC9E-69310708D947}"/>
              </a:ext>
            </a:extLst>
          </p:cNvPr>
          <p:cNvSpPr>
            <a:spLocks noGrp="1"/>
          </p:cNvSpPr>
          <p:nvPr/>
        </p:nvSpPr>
        <p:spPr>
          <a:xfrm>
            <a:off x="10763250" y="6477000"/>
            <a:ext cx="3714750" cy="1333500"/>
          </a:xfrm>
          <a:prstGeom prst="rect">
            <a:avLst/>
          </a:prstGeom>
          <a:noFill/>
          <a:ln w="0">
            <a:noFill/>
          </a:ln>
        </p:spPr>
        <p:txBody>
          <a:bodyPr wrap="square" lIns="0" tIns="0" rIns="0" bIns="0" anchor="t">
            <a:noAutofit/>
          </a:bodyPr>
          <a:lstStyle>
            <a:defPPr>
              <a:defRPr sz="2175" b="0">
                <a:solidFill>
                  <a:srgbClr val="17273C"/>
                </a:solidFill>
                <a:latin typeface="Courier New"/>
                <a:ea typeface="Courier New"/>
                <a:cs typeface="Courier New"/>
              </a:defRPr>
            </a:defPPr>
            <a:lvl1pPr>
              <a:defRPr sz="2175" b="0">
                <a:solidFill>
                  <a:srgbClr val="17273C"/>
                </a:solidFill>
                <a:latin typeface="Courier New"/>
                <a:ea typeface="Courier New"/>
                <a:cs typeface="Courier New"/>
              </a:defRPr>
            </a:lvl1pPr>
            <a:lvl2pPr>
              <a:defRPr sz="2175" b="0">
                <a:solidFill>
                  <a:srgbClr val="17273C"/>
                </a:solidFill>
                <a:latin typeface="Courier New"/>
                <a:ea typeface="Courier New"/>
                <a:cs typeface="Courier New"/>
              </a:defRPr>
            </a:lvl2pPr>
            <a:lvl3pPr>
              <a:defRPr sz="2175" b="0">
                <a:solidFill>
                  <a:srgbClr val="17273C"/>
                </a:solidFill>
                <a:latin typeface="Courier New"/>
                <a:ea typeface="Courier New"/>
                <a:cs typeface="Courier New"/>
              </a:defRPr>
            </a:lvl3pPr>
            <a:lvl4pPr>
              <a:defRPr sz="2175" b="0">
                <a:solidFill>
                  <a:srgbClr val="17273C"/>
                </a:solidFill>
                <a:latin typeface="Courier New"/>
                <a:ea typeface="Courier New"/>
                <a:cs typeface="Courier New"/>
              </a:defRPr>
            </a:lvl4pPr>
            <a:lvl5pPr>
              <a:defRPr sz="2175" b="0">
                <a:solidFill>
                  <a:srgbClr val="17273C"/>
                </a:solidFill>
                <a:latin typeface="Courier New"/>
                <a:ea typeface="Courier New"/>
                <a:cs typeface="Courier New"/>
              </a:defRPr>
            </a:lvl5pPr>
            <a:lvl6pPr>
              <a:defRPr sz="2175" b="0">
                <a:solidFill>
                  <a:srgbClr val="17273C"/>
                </a:solidFill>
                <a:latin typeface="Courier New"/>
                <a:ea typeface="Courier New"/>
                <a:cs typeface="Courier New"/>
              </a:defRPr>
            </a:lvl6pPr>
            <a:lvl7pPr>
              <a:defRPr sz="2175" b="0">
                <a:solidFill>
                  <a:srgbClr val="17273C"/>
                </a:solidFill>
                <a:latin typeface="Courier New"/>
                <a:ea typeface="Courier New"/>
                <a:cs typeface="Courier New"/>
              </a:defRPr>
            </a:lvl7pPr>
            <a:lvl8pPr>
              <a:defRPr sz="2175" b="0">
                <a:solidFill>
                  <a:srgbClr val="17273C"/>
                </a:solidFill>
                <a:latin typeface="Courier New"/>
                <a:ea typeface="Courier New"/>
                <a:cs typeface="Courier New"/>
              </a:defRPr>
            </a:lvl8pPr>
            <a:lvl9pPr>
              <a:defRPr sz="2175" b="0">
                <a:solidFill>
                  <a:srgbClr val="17273C"/>
                </a:solidFill>
                <a:latin typeface="Courier New"/>
                <a:ea typeface="Courier New"/>
                <a:cs typeface="Courier New"/>
              </a:defRPr>
            </a:lvl9pPr>
          </a:lstStyle>
          <a:p>
            <a:pPr>
              <a:defRPr sz="2175" b="0">
                <a:solidFill>
                  <a:srgbClr val="17273C"/>
                </a:solidFill>
                <a:latin typeface="Courier New"/>
                <a:ea typeface="Courier New"/>
                <a:cs typeface="Courier New"/>
              </a:defRPr>
            </a:pPr>
            <a:r>
              <a:rPr sz="2175" b="0">
                <a:solidFill>
                  <a:srgbClr val="17273C"/>
                </a:solidFill>
                <a:latin typeface="Courier New"/>
                <a:ea typeface="Courier New"/>
                <a:cs typeface="Courier New"/>
              </a:rPr>
              <a:t>15</a:t>
            </a:r>
          </a:p>
          <a:p>
            <a:pPr>
              <a:defRPr sz="2175" b="0">
                <a:solidFill>
                  <a:srgbClr val="17273C"/>
                </a:solidFill>
                <a:latin typeface="Courier New"/>
                <a:ea typeface="Courier New"/>
                <a:cs typeface="Courier New"/>
              </a:defRPr>
            </a:pPr>
            <a:r>
              <a:rPr sz="2175" b="0">
                <a:solidFill>
                  <a:srgbClr val="17273C"/>
                </a:solidFill>
                <a:latin typeface="Courier New"/>
                <a:ea typeface="Courier New"/>
                <a:cs typeface="Courier New"/>
              </a:rPr>
              <a:t>7</a:t>
            </a:r>
          </a:p>
          <a:p>
            <a:pPr>
              <a:defRPr sz="2175" b="0">
                <a:solidFill>
                  <a:srgbClr val="17273C"/>
                </a:solidFill>
                <a:latin typeface="Courier New"/>
                <a:ea typeface="Courier New"/>
                <a:cs typeface="Courier New"/>
              </a:defRPr>
            </a:pPr>
            <a:r>
              <a:rPr sz="2175" b="0">
                <a:solidFill>
                  <a:srgbClr val="17273C"/>
                </a:solidFill>
                <a:latin typeface="Courier New"/>
                <a:ea typeface="Courier New"/>
                <a:cs typeface="Courier New"/>
              </a:rPr>
              <a:t>[1, 7, 3, 4] 4</a:t>
            </a:r>
          </a:p>
        </p:txBody>
      </p:sp>
    </p:spTree>
    <p:extLst>
      <p:ext uri="{BB962C8B-B14F-4D97-AF65-F5344CB8AC3E}">
        <p14:creationId xmlns:p14="http://schemas.microsoft.com/office/powerpoint/2010/main" val="1958421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11" name="Working demo: optimized bytecode">
            <a:extLst>
              <a:ext uri="{FF2B5EF4-FFF2-40B4-BE49-F238E27FC236}">
                <a16:creationId xmlns:a16="http://schemas.microsoft.com/office/drawing/2014/main" id="{64BF057C-DABE-475F-B347-53B879FD99D3}"/>
              </a:ext>
            </a:extLst>
          </p:cNvPr>
          <p:cNvSpPr>
            <a:spLocks noGrp="1"/>
          </p:cNvSpPr>
          <p:nvPr/>
        </p:nvSpPr>
        <p:spPr>
          <a:xfrm>
            <a:off x="762000" y="600075"/>
            <a:ext cx="13620750" cy="857250"/>
          </a:xfrm>
          <a:prstGeom prst="rect">
            <a:avLst/>
          </a:prstGeom>
          <a:noFill/>
          <a:ln w="0">
            <a:noFill/>
          </a:ln>
        </p:spPr>
        <p:txBody>
          <a:bodyPr wrap="square" lIns="0" tIns="0" rIns="0" bIns="0" anchor="t">
            <a:noAutofit/>
          </a:bodyPr>
          <a:lstStyle>
            <a:defPPr>
              <a:defRPr sz="4350" b="1">
                <a:solidFill>
                  <a:srgbClr val="17273C"/>
                </a:solidFill>
                <a:latin typeface="Arial"/>
                <a:ea typeface="Arial"/>
                <a:cs typeface="Arial"/>
              </a:defRPr>
            </a:defPPr>
            <a:lvl1pPr>
              <a:defRPr sz="4350" b="1">
                <a:solidFill>
                  <a:srgbClr val="17273C"/>
                </a:solidFill>
                <a:latin typeface="Arial"/>
                <a:ea typeface="Arial"/>
                <a:cs typeface="Arial"/>
              </a:defRPr>
            </a:lvl1pPr>
            <a:lvl2pPr>
              <a:defRPr sz="4350" b="1">
                <a:solidFill>
                  <a:srgbClr val="17273C"/>
                </a:solidFill>
                <a:latin typeface="Arial"/>
                <a:ea typeface="Arial"/>
                <a:cs typeface="Arial"/>
              </a:defRPr>
            </a:lvl2pPr>
            <a:lvl3pPr>
              <a:defRPr sz="4350" b="1">
                <a:solidFill>
                  <a:srgbClr val="17273C"/>
                </a:solidFill>
                <a:latin typeface="Arial"/>
                <a:ea typeface="Arial"/>
                <a:cs typeface="Arial"/>
              </a:defRPr>
            </a:lvl3pPr>
            <a:lvl4pPr>
              <a:defRPr sz="4350" b="1">
                <a:solidFill>
                  <a:srgbClr val="17273C"/>
                </a:solidFill>
                <a:latin typeface="Arial"/>
                <a:ea typeface="Arial"/>
                <a:cs typeface="Arial"/>
              </a:defRPr>
            </a:lvl4pPr>
            <a:lvl5pPr>
              <a:defRPr sz="4350" b="1">
                <a:solidFill>
                  <a:srgbClr val="17273C"/>
                </a:solidFill>
                <a:latin typeface="Arial"/>
                <a:ea typeface="Arial"/>
                <a:cs typeface="Arial"/>
              </a:defRPr>
            </a:lvl5pPr>
            <a:lvl6pPr>
              <a:defRPr sz="4350" b="1">
                <a:solidFill>
                  <a:srgbClr val="17273C"/>
                </a:solidFill>
                <a:latin typeface="Arial"/>
                <a:ea typeface="Arial"/>
                <a:cs typeface="Arial"/>
              </a:defRPr>
            </a:lvl6pPr>
            <a:lvl7pPr>
              <a:defRPr sz="4350" b="1">
                <a:solidFill>
                  <a:srgbClr val="17273C"/>
                </a:solidFill>
                <a:latin typeface="Arial"/>
                <a:ea typeface="Arial"/>
                <a:cs typeface="Arial"/>
              </a:defRPr>
            </a:lvl7pPr>
            <a:lvl8pPr>
              <a:defRPr sz="4350" b="1">
                <a:solidFill>
                  <a:srgbClr val="17273C"/>
                </a:solidFill>
                <a:latin typeface="Arial"/>
                <a:ea typeface="Arial"/>
                <a:cs typeface="Arial"/>
              </a:defRPr>
            </a:lvl8pPr>
            <a:lvl9pPr>
              <a:defRPr sz="4350" b="1">
                <a:solidFill>
                  <a:srgbClr val="17273C"/>
                </a:solidFill>
                <a:latin typeface="Arial"/>
                <a:ea typeface="Arial"/>
                <a:cs typeface="Arial"/>
              </a:defRPr>
            </a:lvl9pPr>
          </a:lstStyle>
          <a:p>
            <a:pPr>
              <a:defRPr sz="4350" b="1">
                <a:solidFill>
                  <a:srgbClr val="17273C"/>
                </a:solidFill>
                <a:latin typeface="Arial"/>
                <a:ea typeface="Arial"/>
                <a:cs typeface="Arial"/>
              </a:defRPr>
            </a:pPr>
            <a:r>
              <a:rPr sz="4350" b="1">
                <a:solidFill>
                  <a:srgbClr val="17273C"/>
                </a:solidFill>
                <a:latin typeface="Arial"/>
                <a:ea typeface="Arial"/>
                <a:cs typeface="Arial"/>
              </a:rPr>
              <a:t>Working demo: optimized bytecode</a:t>
            </a:r>
          </a:p>
        </p:txBody>
      </p:sp>
      <p:sp>
        <p:nvSpPr>
          <p:cNvPr id="2" name="The compiled expression prints 20 with five execut">
            <a:extLst>
              <a:ext uri="{FF2B5EF4-FFF2-40B4-BE49-F238E27FC236}">
                <a16:creationId xmlns:a16="http://schemas.microsoft.com/office/drawing/2014/main" id="{38DEFAAD-22C1-4236-8DC8-54EA7DE88973}"/>
              </a:ext>
            </a:extLst>
          </p:cNvPr>
          <p:cNvSpPr>
            <a:spLocks noGrp="1"/>
          </p:cNvSpPr>
          <p:nvPr/>
        </p:nvSpPr>
        <p:spPr>
          <a:xfrm>
            <a:off x="781050" y="1581150"/>
            <a:ext cx="13620750" cy="514350"/>
          </a:xfrm>
          <a:prstGeom prst="rect">
            <a:avLst/>
          </a:prstGeom>
          <a:noFill/>
          <a:ln w="0">
            <a:noFill/>
          </a:ln>
        </p:spPr>
        <p:txBody>
          <a:bodyPr wrap="square" lIns="0" tIns="0" rIns="0" bIns="0" anchor="t">
            <a:noAutofit/>
          </a:bodyPr>
          <a:lstStyle>
            <a:defPPr>
              <a:defRPr sz="2250" b="0">
                <a:solidFill>
                  <a:srgbClr val="596577"/>
                </a:solidFill>
                <a:latin typeface="Arial"/>
                <a:ea typeface="Arial"/>
                <a:cs typeface="Arial"/>
              </a:defRPr>
            </a:defPPr>
            <a:lvl1pPr>
              <a:defRPr sz="2250" b="0">
                <a:solidFill>
                  <a:srgbClr val="596577"/>
                </a:solidFill>
                <a:latin typeface="Arial"/>
                <a:ea typeface="Arial"/>
                <a:cs typeface="Arial"/>
              </a:defRPr>
            </a:lvl1pPr>
            <a:lvl2pPr>
              <a:defRPr sz="2250" b="0">
                <a:solidFill>
                  <a:srgbClr val="596577"/>
                </a:solidFill>
                <a:latin typeface="Arial"/>
                <a:ea typeface="Arial"/>
                <a:cs typeface="Arial"/>
              </a:defRPr>
            </a:lvl2pPr>
            <a:lvl3pPr>
              <a:defRPr sz="2250" b="0">
                <a:solidFill>
                  <a:srgbClr val="596577"/>
                </a:solidFill>
                <a:latin typeface="Arial"/>
                <a:ea typeface="Arial"/>
                <a:cs typeface="Arial"/>
              </a:defRPr>
            </a:lvl3pPr>
            <a:lvl4pPr>
              <a:defRPr sz="2250" b="0">
                <a:solidFill>
                  <a:srgbClr val="596577"/>
                </a:solidFill>
                <a:latin typeface="Arial"/>
                <a:ea typeface="Arial"/>
                <a:cs typeface="Arial"/>
              </a:defRPr>
            </a:lvl4pPr>
            <a:lvl5pPr>
              <a:defRPr sz="2250" b="0">
                <a:solidFill>
                  <a:srgbClr val="596577"/>
                </a:solidFill>
                <a:latin typeface="Arial"/>
                <a:ea typeface="Arial"/>
                <a:cs typeface="Arial"/>
              </a:defRPr>
            </a:lvl5pPr>
            <a:lvl6pPr>
              <a:defRPr sz="2250" b="0">
                <a:solidFill>
                  <a:srgbClr val="596577"/>
                </a:solidFill>
                <a:latin typeface="Arial"/>
                <a:ea typeface="Arial"/>
                <a:cs typeface="Arial"/>
              </a:defRPr>
            </a:lvl6pPr>
            <a:lvl7pPr>
              <a:defRPr sz="2250" b="0">
                <a:solidFill>
                  <a:srgbClr val="596577"/>
                </a:solidFill>
                <a:latin typeface="Arial"/>
                <a:ea typeface="Arial"/>
                <a:cs typeface="Arial"/>
              </a:defRPr>
            </a:lvl7pPr>
            <a:lvl8pPr>
              <a:defRPr sz="2250" b="0">
                <a:solidFill>
                  <a:srgbClr val="596577"/>
                </a:solidFill>
                <a:latin typeface="Arial"/>
                <a:ea typeface="Arial"/>
                <a:cs typeface="Arial"/>
              </a:defRPr>
            </a:lvl8pPr>
            <a:lvl9pPr>
              <a:defRPr sz="2250" b="0">
                <a:solidFill>
                  <a:srgbClr val="596577"/>
                </a:solidFill>
                <a:latin typeface="Arial"/>
                <a:ea typeface="Arial"/>
                <a:cs typeface="Arial"/>
              </a:defRPr>
            </a:lvl9pPr>
          </a:lstStyle>
          <a:p>
            <a:pPr>
              <a:defRPr sz="2250" b="0">
                <a:solidFill>
                  <a:srgbClr val="596577"/>
                </a:solidFill>
                <a:latin typeface="Arial"/>
                <a:ea typeface="Arial"/>
                <a:cs typeface="Arial"/>
              </a:defRPr>
            </a:pPr>
            <a:r>
              <a:rPr sz="2250" b="0">
                <a:solidFill>
                  <a:srgbClr val="596577"/>
                </a:solidFill>
                <a:latin typeface="Arial"/>
                <a:ea typeface="Arial"/>
                <a:cs typeface="Arial"/>
              </a:rPr>
              <a:t>The compiled expression prints 20 with five executed VM instructions</a:t>
            </a:r>
          </a:p>
        </p:txBody>
      </p:sp>
      <p:sp>
        <p:nvSpPr>
          <p:cNvPr id="3" name="31">
            <a:extLst>
              <a:ext uri="{FF2B5EF4-FFF2-40B4-BE49-F238E27FC236}">
                <a16:creationId xmlns:a16="http://schemas.microsoft.com/office/drawing/2014/main" id="{B021AAE8-EE5B-4692-9E24-5B46562FDB7E}"/>
              </a:ext>
            </a:extLst>
          </p:cNvPr>
          <p:cNvSpPr>
            <a:spLocks noGrp="1"/>
          </p:cNvSpPr>
          <p:nvPr/>
        </p:nvSpPr>
        <p:spPr>
          <a:xfrm>
            <a:off x="13906500" y="8058150"/>
            <a:ext cx="609600" cy="257175"/>
          </a:xfrm>
          <a:prstGeom prst="rect">
            <a:avLst/>
          </a:prstGeom>
          <a:noFill/>
          <a:ln w="0">
            <a:noFill/>
          </a:ln>
        </p:spPr>
        <p:txBody>
          <a:bodyPr wrap="square" lIns="0" tIns="0" rIns="0" bIns="0" anchor="t">
            <a:noAutofit/>
          </a:bodyPr>
          <a:lstStyle>
            <a:defPPr>
              <a:defRPr sz="1500" b="0">
                <a:solidFill>
                  <a:srgbClr val="596577"/>
                </a:solidFill>
                <a:latin typeface="Arial"/>
                <a:ea typeface="Arial"/>
                <a:cs typeface="Arial"/>
              </a:defRPr>
            </a:defPPr>
            <a:lvl1pPr>
              <a:defRPr sz="1500" b="0">
                <a:solidFill>
                  <a:srgbClr val="596577"/>
                </a:solidFill>
                <a:latin typeface="Arial"/>
                <a:ea typeface="Arial"/>
                <a:cs typeface="Arial"/>
              </a:defRPr>
            </a:lvl1pPr>
            <a:lvl2pPr>
              <a:defRPr sz="1500" b="0">
                <a:solidFill>
                  <a:srgbClr val="596577"/>
                </a:solidFill>
                <a:latin typeface="Arial"/>
                <a:ea typeface="Arial"/>
                <a:cs typeface="Arial"/>
              </a:defRPr>
            </a:lvl2pPr>
            <a:lvl3pPr>
              <a:defRPr sz="1500" b="0">
                <a:solidFill>
                  <a:srgbClr val="596577"/>
                </a:solidFill>
                <a:latin typeface="Arial"/>
                <a:ea typeface="Arial"/>
                <a:cs typeface="Arial"/>
              </a:defRPr>
            </a:lvl3pPr>
            <a:lvl4pPr>
              <a:defRPr sz="1500" b="0">
                <a:solidFill>
                  <a:srgbClr val="596577"/>
                </a:solidFill>
                <a:latin typeface="Arial"/>
                <a:ea typeface="Arial"/>
                <a:cs typeface="Arial"/>
              </a:defRPr>
            </a:lvl4pPr>
            <a:lvl5pPr>
              <a:defRPr sz="1500" b="0">
                <a:solidFill>
                  <a:srgbClr val="596577"/>
                </a:solidFill>
                <a:latin typeface="Arial"/>
                <a:ea typeface="Arial"/>
                <a:cs typeface="Arial"/>
              </a:defRPr>
            </a:lvl5pPr>
            <a:lvl6pPr>
              <a:defRPr sz="1500" b="0">
                <a:solidFill>
                  <a:srgbClr val="596577"/>
                </a:solidFill>
                <a:latin typeface="Arial"/>
                <a:ea typeface="Arial"/>
                <a:cs typeface="Arial"/>
              </a:defRPr>
            </a:lvl6pPr>
            <a:lvl7pPr>
              <a:defRPr sz="1500" b="0">
                <a:solidFill>
                  <a:srgbClr val="596577"/>
                </a:solidFill>
                <a:latin typeface="Arial"/>
                <a:ea typeface="Arial"/>
                <a:cs typeface="Arial"/>
              </a:defRPr>
            </a:lvl7pPr>
            <a:lvl8pPr>
              <a:defRPr sz="1500" b="0">
                <a:solidFill>
                  <a:srgbClr val="596577"/>
                </a:solidFill>
                <a:latin typeface="Arial"/>
                <a:ea typeface="Arial"/>
                <a:cs typeface="Arial"/>
              </a:defRPr>
            </a:lvl8pPr>
            <a:lvl9pPr>
              <a:defRPr sz="1500" b="0">
                <a:solidFill>
                  <a:srgbClr val="596577"/>
                </a:solidFill>
                <a:latin typeface="Arial"/>
                <a:ea typeface="Arial"/>
                <a:cs typeface="Arial"/>
              </a:defRPr>
            </a:lvl9pPr>
          </a:lstStyle>
          <a:p>
            <a:pPr>
              <a:defRPr sz="1500" b="0">
                <a:solidFill>
                  <a:srgbClr val="596577"/>
                </a:solidFill>
                <a:latin typeface="Arial"/>
                <a:ea typeface="Arial"/>
                <a:cs typeface="Arial"/>
              </a:defRPr>
            </a:pPr>
            <a:r>
              <a:rPr sz="1500" b="0">
                <a:solidFill>
                  <a:srgbClr val="596577"/>
                </a:solidFill>
                <a:latin typeface="Arial"/>
                <a:ea typeface="Arial"/>
                <a:cs typeface="Arial"/>
              </a:rPr>
              <a:t>31</a:t>
            </a:r>
          </a:p>
        </p:txBody>
      </p:sp>
      <p:sp>
        <p:nvSpPr>
          <p:cNvPr id="4" name="Source in the IDE">
            <a:extLst>
              <a:ext uri="{FF2B5EF4-FFF2-40B4-BE49-F238E27FC236}">
                <a16:creationId xmlns:a16="http://schemas.microsoft.com/office/drawing/2014/main" id="{FF71CE31-C167-4ECD-98A0-7360219BCF4B}"/>
              </a:ext>
            </a:extLst>
          </p:cNvPr>
          <p:cNvSpPr>
            <a:spLocks noGrp="1"/>
          </p:cNvSpPr>
          <p:nvPr/>
        </p:nvSpPr>
        <p:spPr>
          <a:xfrm>
            <a:off x="781050" y="2476500"/>
            <a:ext cx="5143500" cy="476250"/>
          </a:xfrm>
          <a:prstGeom prst="rect">
            <a:avLst/>
          </a:prstGeom>
          <a:noFill/>
          <a:ln w="0">
            <a:noFill/>
          </a:ln>
        </p:spPr>
        <p:txBody>
          <a:bodyPr wrap="square" lIns="0" tIns="0" rIns="0" bIns="0" anchor="t">
            <a:noAutofit/>
          </a:bodyPr>
          <a:lstStyle>
            <a:defPPr>
              <a:defRPr sz="2625" b="1">
                <a:solidFill>
                  <a:srgbClr val="2956D7"/>
                </a:solidFill>
                <a:latin typeface="Arial"/>
                <a:ea typeface="Arial"/>
                <a:cs typeface="Arial"/>
              </a:defRPr>
            </a:defPPr>
            <a:lvl1pPr>
              <a:defRPr sz="2625" b="1">
                <a:solidFill>
                  <a:srgbClr val="2956D7"/>
                </a:solidFill>
                <a:latin typeface="Arial"/>
                <a:ea typeface="Arial"/>
                <a:cs typeface="Arial"/>
              </a:defRPr>
            </a:lvl1pPr>
            <a:lvl2pPr>
              <a:defRPr sz="2625" b="1">
                <a:solidFill>
                  <a:srgbClr val="2956D7"/>
                </a:solidFill>
                <a:latin typeface="Arial"/>
                <a:ea typeface="Arial"/>
                <a:cs typeface="Arial"/>
              </a:defRPr>
            </a:lvl2pPr>
            <a:lvl3pPr>
              <a:defRPr sz="2625" b="1">
                <a:solidFill>
                  <a:srgbClr val="2956D7"/>
                </a:solidFill>
                <a:latin typeface="Arial"/>
                <a:ea typeface="Arial"/>
                <a:cs typeface="Arial"/>
              </a:defRPr>
            </a:lvl3pPr>
            <a:lvl4pPr>
              <a:defRPr sz="2625" b="1">
                <a:solidFill>
                  <a:srgbClr val="2956D7"/>
                </a:solidFill>
                <a:latin typeface="Arial"/>
                <a:ea typeface="Arial"/>
                <a:cs typeface="Arial"/>
              </a:defRPr>
            </a:lvl4pPr>
            <a:lvl5pPr>
              <a:defRPr sz="2625" b="1">
                <a:solidFill>
                  <a:srgbClr val="2956D7"/>
                </a:solidFill>
                <a:latin typeface="Arial"/>
                <a:ea typeface="Arial"/>
                <a:cs typeface="Arial"/>
              </a:defRPr>
            </a:lvl5pPr>
            <a:lvl6pPr>
              <a:defRPr sz="2625" b="1">
                <a:solidFill>
                  <a:srgbClr val="2956D7"/>
                </a:solidFill>
                <a:latin typeface="Arial"/>
                <a:ea typeface="Arial"/>
                <a:cs typeface="Arial"/>
              </a:defRPr>
            </a:lvl6pPr>
            <a:lvl7pPr>
              <a:defRPr sz="2625" b="1">
                <a:solidFill>
                  <a:srgbClr val="2956D7"/>
                </a:solidFill>
                <a:latin typeface="Arial"/>
                <a:ea typeface="Arial"/>
                <a:cs typeface="Arial"/>
              </a:defRPr>
            </a:lvl7pPr>
            <a:lvl8pPr>
              <a:defRPr sz="2625" b="1">
                <a:solidFill>
                  <a:srgbClr val="2956D7"/>
                </a:solidFill>
                <a:latin typeface="Arial"/>
                <a:ea typeface="Arial"/>
                <a:cs typeface="Arial"/>
              </a:defRPr>
            </a:lvl8pPr>
            <a:lvl9pPr>
              <a:defRPr sz="2625" b="1">
                <a:solidFill>
                  <a:srgbClr val="2956D7"/>
                </a:solidFill>
                <a:latin typeface="Arial"/>
                <a:ea typeface="Arial"/>
                <a:cs typeface="Arial"/>
              </a:defRPr>
            </a:lvl9pPr>
          </a:lstStyle>
          <a:p>
            <a:pPr>
              <a:defRPr sz="2625" b="1">
                <a:solidFill>
                  <a:srgbClr val="2956D7"/>
                </a:solidFill>
                <a:latin typeface="Arial"/>
                <a:ea typeface="Arial"/>
                <a:cs typeface="Arial"/>
              </a:defRPr>
            </a:pPr>
            <a:r>
              <a:rPr sz="2625" b="1">
                <a:solidFill>
                  <a:srgbClr val="2956D7"/>
                </a:solidFill>
                <a:latin typeface="Arial"/>
                <a:ea typeface="Arial"/>
                <a:cs typeface="Arial"/>
              </a:rPr>
              <a:t>Source in the IDE</a:t>
            </a:r>
          </a:p>
        </p:txBody>
      </p:sp>
      <p:pic>
        <p:nvPicPr>
          <p:cNvPr id="5" name="Picture 4">
            <a:extLst>
              <a:ext uri="{FF2B5EF4-FFF2-40B4-BE49-F238E27FC236}">
                <a16:creationId xmlns:a16="http://schemas.microsoft.com/office/drawing/2014/main" id="{42ECD9A7-928F-4F53-9353-D64E203488AF}"/>
              </a:ext>
            </a:extLst>
          </p:cNvPr>
          <p:cNvPicPr>
            <a:picLocks noChangeAspect="1"/>
          </p:cNvPicPr>
          <p:nvPr/>
        </p:nvPicPr>
        <p:blipFill>
          <a:blip r:embed="rId3"/>
          <a:stretch/>
        </p:blipFill>
        <p:spPr>
          <a:xfrm>
            <a:off x="762000" y="3191637"/>
            <a:ext cx="5143500" cy="493776"/>
          </a:xfrm>
          <a:prstGeom prst="rect">
            <a:avLst/>
          </a:prstGeom>
        </p:spPr>
      </p:pic>
      <p:sp>
        <p:nvSpPr>
          <p:cNvPr id="6" name="Program output">
            <a:extLst>
              <a:ext uri="{FF2B5EF4-FFF2-40B4-BE49-F238E27FC236}">
                <a16:creationId xmlns:a16="http://schemas.microsoft.com/office/drawing/2014/main" id="{A5CEC3A1-D5BE-4E66-BE6C-5A7D63106088}"/>
              </a:ext>
            </a:extLst>
          </p:cNvPr>
          <p:cNvSpPr>
            <a:spLocks noGrp="1"/>
          </p:cNvSpPr>
          <p:nvPr/>
        </p:nvSpPr>
        <p:spPr>
          <a:xfrm>
            <a:off x="781050" y="4362450"/>
            <a:ext cx="5143500" cy="476250"/>
          </a:xfrm>
          <a:prstGeom prst="rect">
            <a:avLst/>
          </a:prstGeom>
          <a:noFill/>
          <a:ln w="0">
            <a:noFill/>
          </a:ln>
        </p:spPr>
        <p:txBody>
          <a:bodyPr wrap="square" lIns="0" tIns="0" rIns="0" bIns="0" anchor="t">
            <a:noAutofit/>
          </a:bodyPr>
          <a:lstStyle>
            <a:defPPr>
              <a:defRPr sz="2625" b="1">
                <a:solidFill>
                  <a:srgbClr val="2956D7"/>
                </a:solidFill>
                <a:latin typeface="Arial"/>
                <a:ea typeface="Arial"/>
                <a:cs typeface="Arial"/>
              </a:defRPr>
            </a:defPPr>
            <a:lvl1pPr>
              <a:defRPr sz="2625" b="1">
                <a:solidFill>
                  <a:srgbClr val="2956D7"/>
                </a:solidFill>
                <a:latin typeface="Arial"/>
                <a:ea typeface="Arial"/>
                <a:cs typeface="Arial"/>
              </a:defRPr>
            </a:lvl1pPr>
            <a:lvl2pPr>
              <a:defRPr sz="2625" b="1">
                <a:solidFill>
                  <a:srgbClr val="2956D7"/>
                </a:solidFill>
                <a:latin typeface="Arial"/>
                <a:ea typeface="Arial"/>
                <a:cs typeface="Arial"/>
              </a:defRPr>
            </a:lvl2pPr>
            <a:lvl3pPr>
              <a:defRPr sz="2625" b="1">
                <a:solidFill>
                  <a:srgbClr val="2956D7"/>
                </a:solidFill>
                <a:latin typeface="Arial"/>
                <a:ea typeface="Arial"/>
                <a:cs typeface="Arial"/>
              </a:defRPr>
            </a:lvl3pPr>
            <a:lvl4pPr>
              <a:defRPr sz="2625" b="1">
                <a:solidFill>
                  <a:srgbClr val="2956D7"/>
                </a:solidFill>
                <a:latin typeface="Arial"/>
                <a:ea typeface="Arial"/>
                <a:cs typeface="Arial"/>
              </a:defRPr>
            </a:lvl4pPr>
            <a:lvl5pPr>
              <a:defRPr sz="2625" b="1">
                <a:solidFill>
                  <a:srgbClr val="2956D7"/>
                </a:solidFill>
                <a:latin typeface="Arial"/>
                <a:ea typeface="Arial"/>
                <a:cs typeface="Arial"/>
              </a:defRPr>
            </a:lvl5pPr>
            <a:lvl6pPr>
              <a:defRPr sz="2625" b="1">
                <a:solidFill>
                  <a:srgbClr val="2956D7"/>
                </a:solidFill>
                <a:latin typeface="Arial"/>
                <a:ea typeface="Arial"/>
                <a:cs typeface="Arial"/>
              </a:defRPr>
            </a:lvl6pPr>
            <a:lvl7pPr>
              <a:defRPr sz="2625" b="1">
                <a:solidFill>
                  <a:srgbClr val="2956D7"/>
                </a:solidFill>
                <a:latin typeface="Arial"/>
                <a:ea typeface="Arial"/>
                <a:cs typeface="Arial"/>
              </a:defRPr>
            </a:lvl7pPr>
            <a:lvl8pPr>
              <a:defRPr sz="2625" b="1">
                <a:solidFill>
                  <a:srgbClr val="2956D7"/>
                </a:solidFill>
                <a:latin typeface="Arial"/>
                <a:ea typeface="Arial"/>
                <a:cs typeface="Arial"/>
              </a:defRPr>
            </a:lvl8pPr>
            <a:lvl9pPr>
              <a:defRPr sz="2625" b="1">
                <a:solidFill>
                  <a:srgbClr val="2956D7"/>
                </a:solidFill>
                <a:latin typeface="Arial"/>
                <a:ea typeface="Arial"/>
                <a:cs typeface="Arial"/>
              </a:defRPr>
            </a:lvl9pPr>
          </a:lstStyle>
          <a:p>
            <a:pPr>
              <a:defRPr sz="2625" b="1">
                <a:solidFill>
                  <a:srgbClr val="2956D7"/>
                </a:solidFill>
                <a:latin typeface="Arial"/>
                <a:ea typeface="Arial"/>
                <a:cs typeface="Arial"/>
              </a:defRPr>
            </a:pPr>
            <a:r>
              <a:rPr sz="2625" b="1">
                <a:solidFill>
                  <a:srgbClr val="2956D7"/>
                </a:solidFill>
                <a:latin typeface="Arial"/>
                <a:ea typeface="Arial"/>
                <a:cs typeface="Arial"/>
              </a:rPr>
              <a:t>Program output</a:t>
            </a:r>
          </a:p>
        </p:txBody>
      </p:sp>
      <p:pic>
        <p:nvPicPr>
          <p:cNvPr id="7" name="Picture 6">
            <a:extLst>
              <a:ext uri="{FF2B5EF4-FFF2-40B4-BE49-F238E27FC236}">
                <a16:creationId xmlns:a16="http://schemas.microsoft.com/office/drawing/2014/main" id="{4A0DD966-FD99-4D6B-A4AA-86378AFA5E9C}"/>
              </a:ext>
            </a:extLst>
          </p:cNvPr>
          <p:cNvPicPr>
            <a:picLocks noChangeAspect="1"/>
          </p:cNvPicPr>
          <p:nvPr/>
        </p:nvPicPr>
        <p:blipFill>
          <a:blip r:embed="rId4"/>
          <a:stretch/>
        </p:blipFill>
        <p:spPr>
          <a:xfrm>
            <a:off x="765402" y="4981575"/>
            <a:ext cx="5136696" cy="1438275"/>
          </a:xfrm>
          <a:prstGeom prst="rect">
            <a:avLst/>
          </a:prstGeom>
        </p:spPr>
      </p:pic>
      <p:pic>
        <p:nvPicPr>
          <p:cNvPr id="8" name="Picture 7">
            <a:extLst>
              <a:ext uri="{FF2B5EF4-FFF2-40B4-BE49-F238E27FC236}">
                <a16:creationId xmlns:a16="http://schemas.microsoft.com/office/drawing/2014/main" id="{B9C36F12-7857-4570-B6B8-133458B164C3}"/>
              </a:ext>
            </a:extLst>
          </p:cNvPr>
          <p:cNvPicPr>
            <a:picLocks noChangeAspect="1"/>
          </p:cNvPicPr>
          <p:nvPr/>
        </p:nvPicPr>
        <p:blipFill>
          <a:blip r:embed="rId5"/>
          <a:stretch/>
        </p:blipFill>
        <p:spPr>
          <a:xfrm>
            <a:off x="764422" y="6677025"/>
            <a:ext cx="3995657" cy="1047750"/>
          </a:xfrm>
          <a:prstGeom prst="rect">
            <a:avLst/>
          </a:prstGeom>
        </p:spPr>
      </p:pic>
      <p:sp>
        <p:nvSpPr>
          <p:cNvPr id="9" name="Generated instructions">
            <a:extLst>
              <a:ext uri="{FF2B5EF4-FFF2-40B4-BE49-F238E27FC236}">
                <a16:creationId xmlns:a16="http://schemas.microsoft.com/office/drawing/2014/main" id="{A02501AC-B7CC-4D7F-A441-86435E416B95}"/>
              </a:ext>
            </a:extLst>
          </p:cNvPr>
          <p:cNvSpPr>
            <a:spLocks noGrp="1"/>
          </p:cNvSpPr>
          <p:nvPr/>
        </p:nvSpPr>
        <p:spPr>
          <a:xfrm>
            <a:off x="6667500" y="2476500"/>
            <a:ext cx="7810500" cy="476250"/>
          </a:xfrm>
          <a:prstGeom prst="rect">
            <a:avLst/>
          </a:prstGeom>
          <a:noFill/>
          <a:ln w="0">
            <a:noFill/>
          </a:ln>
        </p:spPr>
        <p:txBody>
          <a:bodyPr wrap="square" lIns="0" tIns="0" rIns="0" bIns="0" anchor="t">
            <a:noAutofit/>
          </a:bodyPr>
          <a:lstStyle>
            <a:defPPr>
              <a:defRPr sz="2625" b="1">
                <a:solidFill>
                  <a:srgbClr val="2956D7"/>
                </a:solidFill>
                <a:latin typeface="Arial"/>
                <a:ea typeface="Arial"/>
                <a:cs typeface="Arial"/>
              </a:defRPr>
            </a:defPPr>
            <a:lvl1pPr>
              <a:defRPr sz="2625" b="1">
                <a:solidFill>
                  <a:srgbClr val="2956D7"/>
                </a:solidFill>
                <a:latin typeface="Arial"/>
                <a:ea typeface="Arial"/>
                <a:cs typeface="Arial"/>
              </a:defRPr>
            </a:lvl1pPr>
            <a:lvl2pPr>
              <a:defRPr sz="2625" b="1">
                <a:solidFill>
                  <a:srgbClr val="2956D7"/>
                </a:solidFill>
                <a:latin typeface="Arial"/>
                <a:ea typeface="Arial"/>
                <a:cs typeface="Arial"/>
              </a:defRPr>
            </a:lvl2pPr>
            <a:lvl3pPr>
              <a:defRPr sz="2625" b="1">
                <a:solidFill>
                  <a:srgbClr val="2956D7"/>
                </a:solidFill>
                <a:latin typeface="Arial"/>
                <a:ea typeface="Arial"/>
                <a:cs typeface="Arial"/>
              </a:defRPr>
            </a:lvl3pPr>
            <a:lvl4pPr>
              <a:defRPr sz="2625" b="1">
                <a:solidFill>
                  <a:srgbClr val="2956D7"/>
                </a:solidFill>
                <a:latin typeface="Arial"/>
                <a:ea typeface="Arial"/>
                <a:cs typeface="Arial"/>
              </a:defRPr>
            </a:lvl4pPr>
            <a:lvl5pPr>
              <a:defRPr sz="2625" b="1">
                <a:solidFill>
                  <a:srgbClr val="2956D7"/>
                </a:solidFill>
                <a:latin typeface="Arial"/>
                <a:ea typeface="Arial"/>
                <a:cs typeface="Arial"/>
              </a:defRPr>
            </a:lvl5pPr>
            <a:lvl6pPr>
              <a:defRPr sz="2625" b="1">
                <a:solidFill>
                  <a:srgbClr val="2956D7"/>
                </a:solidFill>
                <a:latin typeface="Arial"/>
                <a:ea typeface="Arial"/>
                <a:cs typeface="Arial"/>
              </a:defRPr>
            </a:lvl6pPr>
            <a:lvl7pPr>
              <a:defRPr sz="2625" b="1">
                <a:solidFill>
                  <a:srgbClr val="2956D7"/>
                </a:solidFill>
                <a:latin typeface="Arial"/>
                <a:ea typeface="Arial"/>
                <a:cs typeface="Arial"/>
              </a:defRPr>
            </a:lvl7pPr>
            <a:lvl8pPr>
              <a:defRPr sz="2625" b="1">
                <a:solidFill>
                  <a:srgbClr val="2956D7"/>
                </a:solidFill>
                <a:latin typeface="Arial"/>
                <a:ea typeface="Arial"/>
                <a:cs typeface="Arial"/>
              </a:defRPr>
            </a:lvl8pPr>
            <a:lvl9pPr>
              <a:defRPr sz="2625" b="1">
                <a:solidFill>
                  <a:srgbClr val="2956D7"/>
                </a:solidFill>
                <a:latin typeface="Arial"/>
                <a:ea typeface="Arial"/>
                <a:cs typeface="Arial"/>
              </a:defRPr>
            </a:lvl9pPr>
          </a:lstStyle>
          <a:p>
            <a:pPr>
              <a:defRPr sz="2625" b="1">
                <a:solidFill>
                  <a:srgbClr val="2956D7"/>
                </a:solidFill>
                <a:latin typeface="Arial"/>
                <a:ea typeface="Arial"/>
                <a:cs typeface="Arial"/>
              </a:defRPr>
            </a:pPr>
            <a:r>
              <a:rPr sz="2625" b="1">
                <a:solidFill>
                  <a:srgbClr val="2956D7"/>
                </a:solidFill>
                <a:latin typeface="Arial"/>
                <a:ea typeface="Arial"/>
                <a:cs typeface="Arial"/>
              </a:rPr>
              <a:t>Generated instructions</a:t>
            </a:r>
          </a:p>
        </p:txBody>
      </p:sp>
      <p:pic>
        <p:nvPicPr>
          <p:cNvPr id="10" name="Picture 9">
            <a:extLst>
              <a:ext uri="{FF2B5EF4-FFF2-40B4-BE49-F238E27FC236}">
                <a16:creationId xmlns:a16="http://schemas.microsoft.com/office/drawing/2014/main" id="{03D06CEB-262D-4021-94D7-4E4CA6EE5511}"/>
              </a:ext>
            </a:extLst>
          </p:cNvPr>
          <p:cNvPicPr>
            <a:picLocks noChangeAspect="1"/>
          </p:cNvPicPr>
          <p:nvPr/>
        </p:nvPicPr>
        <p:blipFill>
          <a:blip r:embed="rId6"/>
          <a:stretch/>
        </p:blipFill>
        <p:spPr>
          <a:xfrm>
            <a:off x="6667500" y="3191351"/>
            <a:ext cx="7810500" cy="4256723"/>
          </a:xfrm>
          <a:prstGeom prst="rect">
            <a:avLst/>
          </a:prstGeom>
        </p:spPr>
      </p:pic>
    </p:spTree>
    <p:extLst>
      <p:ext uri="{BB962C8B-B14F-4D97-AF65-F5344CB8AC3E}">
        <p14:creationId xmlns:p14="http://schemas.microsoft.com/office/powerpoint/2010/main" val="65726043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6407</Words>
  <Application>Microsoft Macintosh PowerPoint</Application>
  <DocSecurity>0</DocSecurity>
  <PresentationFormat>Custom</PresentationFormat>
  <Paragraphs>674</Paragraphs>
  <Slides>31</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Arial</vt:lpstr>
      <vt:lpstr>Courier New</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Umang Nagaji Vekariya</cp:lastModifiedBy>
  <cp:revision>1</cp:revision>
  <dcterms:created xsi:type="dcterms:W3CDTF">2026-10-26T13:19:34Z</dcterms:created>
  <dcterms:modified xsi:type="dcterms:W3CDTF">2026-10-26T13:23:19Z</dcterms:modified>
</cp:coreProperties>
</file>